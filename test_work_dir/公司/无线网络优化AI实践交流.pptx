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5.svg" ContentType="image/svg+xml"/>
  <Override PartName="/ppt/media/image106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7.svg" ContentType="image/svg+xml"/>
  <Override PartName="/ppt/media/image12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6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  <p:sldMasterId id="2147483680" r:id="rId4"/>
  </p:sldMasterIdLst>
  <p:notesMasterIdLst>
    <p:notesMasterId r:id="rId8"/>
  </p:notesMasterIdLst>
  <p:handoutMasterIdLst>
    <p:handoutMasterId r:id="rId36"/>
  </p:handoutMasterIdLst>
  <p:sldIdLst>
    <p:sldId id="684" r:id="rId5"/>
    <p:sldId id="806" r:id="rId6"/>
    <p:sldId id="765" r:id="rId7"/>
    <p:sldId id="744" r:id="rId9"/>
    <p:sldId id="743" r:id="rId10"/>
    <p:sldId id="760" r:id="rId11"/>
    <p:sldId id="674" r:id="rId12"/>
    <p:sldId id="675" r:id="rId13"/>
    <p:sldId id="763" r:id="rId14"/>
    <p:sldId id="685" r:id="rId15"/>
    <p:sldId id="677" r:id="rId16"/>
    <p:sldId id="766" r:id="rId17"/>
    <p:sldId id="807" r:id="rId18"/>
    <p:sldId id="679" r:id="rId19"/>
    <p:sldId id="682" r:id="rId20"/>
    <p:sldId id="755" r:id="rId21"/>
    <p:sldId id="780" r:id="rId22"/>
    <p:sldId id="808" r:id="rId23"/>
    <p:sldId id="16276" r:id="rId24"/>
    <p:sldId id="826" r:id="rId25"/>
    <p:sldId id="811" r:id="rId26"/>
    <p:sldId id="824" r:id="rId27"/>
    <p:sldId id="812" r:id="rId28"/>
    <p:sldId id="813" r:id="rId29"/>
    <p:sldId id="814" r:id="rId30"/>
    <p:sldId id="815" r:id="rId31"/>
    <p:sldId id="816" r:id="rId32"/>
    <p:sldId id="817" r:id="rId33"/>
    <p:sldId id="818" r:id="rId34"/>
    <p:sldId id="717" r:id="rId35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备片" id="{A8FE7705-198E-4186-B0AF-6B5611424880}">
          <p14:sldIdLst>
            <p14:sldId id="684"/>
            <p14:sldId id="806"/>
            <p14:sldId id="765"/>
            <p14:sldId id="744"/>
            <p14:sldId id="743"/>
            <p14:sldId id="760"/>
            <p14:sldId id="674"/>
            <p14:sldId id="675"/>
            <p14:sldId id="763"/>
            <p14:sldId id="685"/>
            <p14:sldId id="677"/>
            <p14:sldId id="766"/>
            <p14:sldId id="807"/>
            <p14:sldId id="679"/>
            <p14:sldId id="682"/>
            <p14:sldId id="755"/>
            <p14:sldId id="780"/>
            <p14:sldId id="808"/>
            <p14:sldId id="16276"/>
            <p14:sldId id="826"/>
            <p14:sldId id="811"/>
            <p14:sldId id="824"/>
            <p14:sldId id="812"/>
            <p14:sldId id="813"/>
            <p14:sldId id="814"/>
            <p14:sldId id="815"/>
            <p14:sldId id="816"/>
            <p14:sldId id="817"/>
            <p14:sldId id="818"/>
            <p14:sldId id="717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an zhu" initials="" lastIdx="12" clrIdx="0"/>
  <p:cmAuthor id="2077" name="57811" initials="5" lastIdx="0" clrIdx="2076"/>
  <p:cmAuthor id="1" name="陈泳璇1" initials="陈" lastIdx="1" clrIdx="0"/>
  <p:cmAuthor id="2078" name="zhoucuimei" initials="z" lastIdx="0" clrIdx="2077"/>
  <p:cmAuthor id="2" name="孙洁亮" initials="孙" lastIdx="1" clrIdx="0"/>
  <p:cmAuthor id="2079" name="cmit" initials="c" lastIdx="0" clrIdx="2078"/>
  <p:cmAuthor id="3" name="作者" initials="A" lastIdx="0" clrIdx="2"/>
  <p:cmAuthor id="2080" name="LiYuHong" initials="L" lastIdx="0" clrIdx="2079"/>
  <p:cmAuthor id="4" name="姜伟光" initials="姜" lastIdx="1" clrIdx="0"/>
  <p:cmAuthor id="2081" name="Xiao Xiamin" initials="XX" lastIdx="0" clrIdx="2080"/>
  <p:cmAuthor id="5" name="邓小梅3" initials="邓" lastIdx="1" clrIdx="2"/>
  <p:cmAuthor id="2082" name="刘瑞00088457" initials="刘瑞00088457" lastIdx="0" clrIdx="2081"/>
  <p:cmAuthor id="6" name="Administrator" initials="A" lastIdx="1" clrIdx="2"/>
  <p:cmAuthor id="2083" name="罗位国/应用平台研发部/软件开发中心/总行机关/ABC" initials="罗" lastIdx="0" clrIdx="2082"/>
  <p:cmAuthor id="7" name="Microsoft" initials="M" lastIdx="1" clrIdx="2"/>
  <p:cmAuthor id="2084" name="Zhang Xiaojing" initials="Z" lastIdx="0" clrIdx="2083"/>
  <p:cmAuthor id="8" name="宋洁然" initials="宋" lastIdx="2" clrIdx="1"/>
  <p:cmAuthor id="2085" name="fangyouxuan" initials="f" lastIdx="0" clrIdx="2084"/>
  <p:cmAuthor id="9" name="ming qiu" initials="m" lastIdx="17" clrIdx="1"/>
  <p:cmAuthor id="2086" name="韩晓宇00207529" initials="韩晓宇00207529" lastIdx="0" clrIdx="2085"/>
  <p:cmAuthor id="10" name="10107538" initials="1" lastIdx="1" clrIdx="9"/>
  <p:cmAuthor id="2087" name="石骥硕（市场）" initials="石" lastIdx="0" clrIdx="2086"/>
  <p:cmAuthor id="11" name="bokite" initials="b" lastIdx="2" clrIdx="10"/>
  <p:cmAuthor id="2088" name="leo ryuu" initials="lr" lastIdx="0" clrIdx="2087"/>
  <p:cmAuthor id="12" name="55088" initials="5" lastIdx="1" clrIdx="11"/>
  <p:cmAuthor id="2089" name="HHY" initials="H" lastIdx="0" clrIdx="2088"/>
  <p:cmAuthor id="13" name="vip2831" initials="v" lastIdx="1" clrIdx="13"/>
  <p:cmAuthor id="2090" name="林彬" initials="Bingo" lastIdx="0" clrIdx="2089"/>
  <p:cmAuthor id="14" name="John" initials="J" lastIdx="36" clrIdx="13"/>
  <p:cmAuthor id="2091" name="毕超峰" initials="毕" lastIdx="0" clrIdx="2090"/>
  <p:cmAuthor id="15" name="未知用户1" initials="未知用户1" lastIdx="1" clrIdx="1"/>
  <p:cmAuthor id="2092" name="zhaowdwx1@js.cmcc" initials="z" lastIdx="0" clrIdx="2091"/>
  <p:cmAuthor id="16" name="10078380" initials="1" lastIdx="1" clrIdx="15"/>
  <p:cmAuthor id="2093" name="Young" initials="Y" lastIdx="0" clrIdx="2092"/>
  <p:cmAuthor id="17" name="00035181" initials="0" lastIdx="1" clrIdx="16"/>
  <p:cmAuthor id="2094" name="Office" initials="O" lastIdx="0" clrIdx="2093"/>
  <p:cmAuthor id="18" name="张燕" initials="MSOffice" lastIdx="1" clrIdx="17"/>
  <p:cmAuthor id="2095" name="SMZ" initials="S" lastIdx="0" clrIdx="2094"/>
  <p:cmAuthor id="19" name="Saku Uchikawa" initials="S" lastIdx="11" clrIdx="0"/>
  <p:cmAuthor id="2096" name="My" initials="M" lastIdx="0" clrIdx="2095"/>
  <p:cmAuthor id="20" name="00065088" initials="0" lastIdx="2" clrIdx="19"/>
  <p:cmAuthor id="2097" name="hp430" initials="h" lastIdx="0" clrIdx="2096"/>
  <p:cmAuthor id="21" name="10066351" initials="1" lastIdx="2" clrIdx="0"/>
  <p:cmAuthor id="2098" name="YW" initials="Y" lastIdx="0" clrIdx="2097"/>
  <p:cmAuthor id="22" name="蔡建楠" initials="caijianna" lastIdx="15" clrIdx="17"/>
  <p:cmAuthor id="2099" name="闫丽娟00014464" initials="闫" lastIdx="0" clrIdx="2098"/>
  <p:cmAuthor id="23" name="10009110" initials="1" lastIdx="23" clrIdx="22"/>
  <p:cmAuthor id="2100" name="Alison" initials="A" lastIdx="0" clrIdx="2099"/>
  <p:cmAuthor id="24" name="cmcc" initials="c" lastIdx="5" clrIdx="23"/>
  <p:cmAuthor id="2101" name="张燕00036635" initials="张" lastIdx="0" clrIdx="2100"/>
  <p:cmAuthor id="25" name="徐亮" initials="XL" lastIdx="1" clrIdx="24"/>
  <p:cmAuthor id="2102" name="yangxinjian@gd.cmcc" initials="g" lastIdx="0" clrIdx="2101"/>
  <p:cmAuthor id="26" name="10270945" initials="1" lastIdx="2" clrIdx="25"/>
  <p:cmAuthor id="2103" name="齐 Mandy" initials="齐" lastIdx="0" clrIdx="2102"/>
  <p:cmAuthor id="27" name="10295142" initials="1" lastIdx="1" clrIdx="26"/>
  <p:cmAuthor id="2104" name="w x" initials="wx" lastIdx="0" clrIdx="2103"/>
  <p:cmAuthor id="28" name="Hou Yingfeng" initials="H" lastIdx="10" clrIdx="23"/>
  <p:cmAuthor id="2105" name="Derek bu" initials="Db" lastIdx="0" clrIdx="2104"/>
  <p:cmAuthor id="29" name="赵诚荣10027092" initials="赵" lastIdx="2" clrIdx="25"/>
  <p:cmAuthor id="2106" name="Wang Seven" initials="W" lastIdx="0" clrIdx="2105"/>
  <p:cmAuthor id="30" name="10056791" initials="ZTE" lastIdx="1" clrIdx="29"/>
  <p:cmAuthor id="2107" name="董 熙伟" initials="董" lastIdx="0" clrIdx="2106"/>
  <p:cmAuthor id="31" name="Author" initials="A" lastIdx="0" clrIdx="30"/>
  <p:cmAuthor id="2108" name="11916" initials="1" lastIdx="0" clrIdx="2107"/>
  <p:cmAuthor id="32" name="Qlstc" initials="Q" lastIdx="1" clrIdx="31"/>
  <p:cmAuthor id="2109" name="王 阿卡" initials="王" lastIdx="0" clrIdx="2108"/>
  <p:cmAuthor id="33" name="泾伦" initials="泾伦" lastIdx="1" clrIdx="32"/>
  <p:cmAuthor id="2110" name="朱皆一" initials="朱" lastIdx="0" clrIdx="2109"/>
  <p:cmAuthor id="34" name="Y Y" initials="YY" lastIdx="2" clrIdx="33"/>
  <p:cmAuthor id="2111" name="admin3" initials="a" lastIdx="0" clrIdx="2110"/>
  <p:cmAuthor id="35" name="Caixiaojin" initials="C" lastIdx="1" clrIdx="34"/>
  <p:cmAuthor id="2112" name="10077969" initials="10077969" lastIdx="0" clrIdx="2111"/>
  <p:cmAuthor id="36" name="关全全10258021" initials="关全全10258021" lastIdx="1" clrIdx="36"/>
  <p:cmAuthor id="2113" name="wdd" initials="w" lastIdx="0" clrIdx="2112"/>
  <p:cmAuthor id="37" name="黄珂10009187" initials="黄珂10009187" lastIdx="1" clrIdx="37"/>
  <p:cmAuthor id="2114" name="郑茂满" initials="Y" lastIdx="0" clrIdx="2113"/>
  <p:cmAuthor id="38" name="赵欣" initials="zx" lastIdx="4" clrIdx="37"/>
  <p:cmAuthor id="2115" name="lianghao1227@outlook.com" initials="l" lastIdx="0" clrIdx="2114"/>
  <p:cmAuthor id="39" name="CMCC #70" initials="c" lastIdx="1" clrIdx="38"/>
  <p:cmAuthor id="2116" name="许明" initials="许" lastIdx="0" clrIdx="2115"/>
  <p:cmAuthor id="40" name="Can Zhao (赵灿)-通信信息" initials="Can" lastIdx="1" clrIdx="39"/>
  <p:cmAuthor id="2117" name="电信集成" initials="电" lastIdx="0" clrIdx="2116"/>
  <p:cmAuthor id="41" name="admin" initials="a" lastIdx="1" clrIdx="40"/>
  <p:cmAuthor id="2118" name="10288631" initials="1" lastIdx="0" clrIdx="2117"/>
  <p:cmAuthor id="42" name="刘学芳" initials="刘" lastIdx="1" clrIdx="41"/>
  <p:cmAuthor id="2119" name="琳 李" initials="琳" lastIdx="0" clrIdx="2118"/>
  <p:cmAuthor id="43" name="Microsoft Office 用户" initials="MO用 [8] [6]" lastIdx="1" clrIdx="42"/>
  <p:cmAuthor id="2120" name="tuj" initials="t" lastIdx="0" clrIdx="2119"/>
  <p:cmAuthor id="44" name="cjj" initials="c" lastIdx="1" clrIdx="43"/>
  <p:cmAuthor id="2121" name="余大白" initials="余" lastIdx="0" clrIdx="2120"/>
  <p:cmAuthor id="45" name="赵琦" initials="赵" lastIdx="4" clrIdx="1"/>
  <p:cmAuthor id="2122" name="胡慧瑶" initials="胡" lastIdx="0" clrIdx="2121"/>
  <p:cmAuthor id="46" name="朱绍春" initials="朱" lastIdx="13" clrIdx="0"/>
  <p:cmAuthor id="2123" name="未知的使用者20" initials="未" lastIdx="0" clrIdx="2122"/>
  <p:cmAuthor id="47" name="44134" initials="4" lastIdx="1" clrIdx="46"/>
  <p:cmAuthor id="2124" name="赵依飞" initials="赵" lastIdx="0" clrIdx="2123"/>
  <p:cmAuthor id="48" name="kevin.huang" initials="k" lastIdx="3" clrIdx="47"/>
  <p:cmAuthor id="2125" name="庞亮亮10166231" initials="庞亮亮10166231" lastIdx="0" clrIdx="2124"/>
  <p:cmAuthor id="49" name="user" initials="u" lastIdx="2" clrIdx="48"/>
  <p:cmAuthor id="2126" name="未知的使用者15" initials="未" lastIdx="0" clrIdx="2125"/>
  <p:cmAuthor id="50" name="dell" initials="d" lastIdx="1" clrIdx="4"/>
  <p:cmAuthor id="2127" name="卷子&amp;雯子" initials="卷" lastIdx="0" clrIdx="2126"/>
  <p:cmAuthor id="51" name="peter" initials="p" lastIdx="1" clrIdx="50"/>
  <p:cmAuthor id="2128" name="范日怀" initials="范" lastIdx="0" clrIdx="2127"/>
  <p:cmAuthor id="52" name="何已龙" initials="何" lastIdx="2" clrIdx="2"/>
  <p:cmAuthor id="2129" name="15051" initials="1" lastIdx="0" clrIdx="2128"/>
  <p:cmAuthor id="53" name="Paul" initials="P" lastIdx="1" clrIdx="52"/>
  <p:cmAuthor id="2130" name="文雯" initials="文" lastIdx="0" clrIdx="2129"/>
  <p:cmAuthor id="54" name="未知用户6" initials="未" lastIdx="1" clrIdx="0"/>
  <p:cmAuthor id="2131" name="廖麗華" initials="廖" lastIdx="0" clrIdx="2130"/>
  <p:cmAuthor id="55" name="未知用户8" initials="未" lastIdx="1" clrIdx="0"/>
  <p:cmAuthor id="2132" name="richardchien" initials="r" lastIdx="0" clrIdx="2131"/>
  <p:cmAuthor id="56" name="Cmit" initials="C" lastIdx="1" clrIdx="55"/>
  <p:cmAuthor id="2133" name="cui yun" initials="cy" lastIdx="0" clrIdx="2132"/>
  <p:cmAuthor id="57" name="未知用户9" initials="未" lastIdx="1" clrIdx="0"/>
  <p:cmAuthor id="2134" name="未知的使用者21" initials="未" lastIdx="0" clrIdx="2133"/>
  <p:cmAuthor id="58" name="未知用户17" initials="未" lastIdx="1" clrIdx="1"/>
  <p:cmAuthor id="2135" name="August" initials="A" lastIdx="0" clrIdx="2134"/>
  <p:cmAuthor id="59" name="未知用户18" initials="未" lastIdx="1" clrIdx="0"/>
  <p:cmAuthor id="2136" name="daphne" initials="d" lastIdx="0" clrIdx="2135"/>
  <p:cmAuthor id="60" name="未知用户20" initials="未" lastIdx="1" clrIdx="0"/>
  <p:cmAuthor id="2137" name="Unknown User8" initials="U" lastIdx="0" clrIdx="2136"/>
  <p:cmAuthor id="61" name="GAO" initials="G" lastIdx="9" clrIdx="60"/>
  <p:cmAuthor id="2138" name="欧 志芳" initials="欧" lastIdx="0" clrIdx="2137"/>
  <p:cmAuthor id="62" name="lvxia" initials="l" lastIdx="2" clrIdx="61"/>
  <p:cmAuthor id="2139" name="xingwei hou" initials="xh" lastIdx="0" clrIdx="2138"/>
  <p:cmAuthor id="63" name="editor" initials="E" lastIdx="1" clrIdx="62"/>
  <p:cmAuthor id="2140" name="office" initials="o" lastIdx="0" clrIdx="2139"/>
  <p:cmAuthor id="64" name="johnnie" initials="j" lastIdx="3" clrIdx="63"/>
  <p:cmAuthor id="2141" name="周姣" initials="1" lastIdx="0" clrIdx="2140"/>
  <p:cmAuthor id="65" name="未知用户16" initials="未" lastIdx="4" clrIdx="0"/>
  <p:cmAuthor id="2142" name="luxu" initials="l" lastIdx="0" clrIdx="2141"/>
  <p:cmAuthor id="66" name="郝崇" initials="郝" lastIdx="4" clrIdx="1"/>
  <p:cmAuthor id="2143" name="倪峻胜" initials="倪" lastIdx="0" clrIdx="2142"/>
  <p:cmAuthor id="67" name="吴杰" initials="吴" lastIdx="1" clrIdx="0"/>
  <p:cmAuthor id="2144" name="未知的使用者62" initials="未" lastIdx="0" clrIdx="2143"/>
  <p:cmAuthor id="68" name="刘丽仙" initials="刘" lastIdx="4" clrIdx="33"/>
  <p:cmAuthor id="2145" name="未知的使用者58" initials="未" lastIdx="0" clrIdx="2144"/>
  <p:cmAuthor id="69" name="未知用户103" initials="" lastIdx="1" clrIdx="0"/>
  <p:cmAuthor id="2146" name="未知的使用者92" initials="未" lastIdx="0" clrIdx="2145"/>
  <p:cmAuthor id="70" name="杨艳霞" initials="杨" lastIdx="34" clrIdx="1"/>
  <p:cmAuthor id="2147" name="Christina" initials="C" lastIdx="0" clrIdx="2146"/>
  <p:cmAuthor id="71" name="未知的使用者42" initials="" lastIdx="1" clrIdx="0"/>
  <p:cmAuthor id="2148" name="jet" initials="j" lastIdx="0" clrIdx="2147"/>
  <p:cmAuthor id="72" name="未定义" initials="未" lastIdx="1" clrIdx="1"/>
  <p:cmAuthor id="2149" name="Unknown User25" initials="U" lastIdx="0" clrIdx="2148"/>
  <p:cmAuthor id="73" name="rq fan" initials="r" lastIdx="3" clrIdx="1"/>
  <p:cmAuthor id="2150" name="Unknown User28" initials="U" lastIdx="0" clrIdx="2149"/>
  <p:cmAuthor id="74" name="dingbo" initials="d" lastIdx="1" clrIdx="0"/>
  <p:cmAuthor id="2151" name="未知的使用者133" initials="未" lastIdx="0" clrIdx="2150"/>
  <p:cmAuthor id="75" name="李永欣" initials="李" lastIdx="1" clrIdx="0"/>
  <p:cmAuthor id="2152" name="未知的使用者135" initials="未" lastIdx="0" clrIdx="2151"/>
  <p:cmAuthor id="76" name="杨 亚媛" initials="杨" lastIdx="1" clrIdx="25"/>
  <p:cmAuthor id="2153" name="未知的使用者138" initials="未" lastIdx="0" clrIdx="2152"/>
  <p:cmAuthor id="77" name="许弘扬" initials="许" lastIdx="1" clrIdx="0"/>
  <p:cmAuthor id="2154" name="未知的使用者198" initials="未" lastIdx="0" clrIdx="2153"/>
  <p:cmAuthor id="78" name="未知用户23" initials="未" lastIdx="1" clrIdx="1"/>
  <p:cmAuthor id="2155" name="未知用户39" initials="未" lastIdx="0" clrIdx="2154"/>
  <p:cmAuthor id="79" name="未知用户24" initials="未" lastIdx="1" clrIdx="0"/>
  <p:cmAuthor id="2156" name="Admin" initials="A" lastIdx="0" clrIdx="2155"/>
  <p:cmAuthor id="80" name="未知用户25" initials="未" lastIdx="1" clrIdx="0"/>
  <p:cmAuthor id="2157" name="11617" initials="1" lastIdx="0" clrIdx="2156"/>
  <p:cmAuthor id="81" name="未知用户26" initials="未" lastIdx="1" clrIdx="0"/>
  <p:cmAuthor id="2158" name="李保印" initials="李" lastIdx="0" clrIdx="2157"/>
  <p:cmAuthor id="82" name="未知用户27" initials="未" lastIdx="1" clrIdx="0"/>
  <p:cmAuthor id="2159" name="huang" initials="h" lastIdx="0" clrIdx="2158"/>
  <p:cmAuthor id="83" name="未知用户28" initials="未" lastIdx="1" clrIdx="0"/>
  <p:cmAuthor id="2160" name="郎蕊" initials="郎" lastIdx="0" clrIdx="2159"/>
  <p:cmAuthor id="84" name="未知用户29" initials="未" lastIdx="1" clrIdx="0"/>
  <p:cmAuthor id="2161" name="Chun Chung YEH" initials="C" lastIdx="0" clrIdx="2160"/>
  <p:cmAuthor id="85" name="陈尚文" initials="陈" lastIdx="1" clrIdx="1"/>
  <p:cmAuthor id="2162" name="zhangchenghua" initials="z" lastIdx="0" clrIdx="2161"/>
  <p:cmAuthor id="86" name="张宏伟" initials="张" lastIdx="46" clrIdx="0"/>
  <p:cmAuthor id="2163" name="Vicky" initials="V" lastIdx="0" clrIdx="2162"/>
  <p:cmAuthor id="87" name="Yuan Hu" initials="Y" lastIdx="1" clrIdx="0"/>
  <p:cmAuthor id="2164" name="刘云轩" initials="刘" lastIdx="0" clrIdx="2163"/>
  <p:cmAuthor id="88" name="Pei" initials="P" lastIdx="0" clrIdx="1"/>
  <p:cmAuthor id="2165" name="未知的使用者81" initials="未" lastIdx="0" clrIdx="2164"/>
  <p:cmAuthor id="89" name="Ying Li" initials="Y" lastIdx="1" clrIdx="2"/>
  <p:cmAuthor id="2166" name="zxj" initials="z" lastIdx="0" clrIdx="2165"/>
  <p:cmAuthor id="90" name="李威" initials="李" lastIdx="1" clrIdx="3"/>
  <p:cmAuthor id="2167" name="未知用户123" initials="未" lastIdx="0" clrIdx="2166"/>
  <p:cmAuthor id="91" name="范作霖" initials="范" lastIdx="1" clrIdx="22"/>
  <p:cmAuthor id="2168" name="未知用户124" initials="未" lastIdx="0" clrIdx="2167"/>
  <p:cmAuthor id="92" name="李百秋" initials="李" lastIdx="3" clrIdx="21"/>
  <p:cmAuthor id="2169" name="剑碧 颜" initials="剑颜" lastIdx="0" clrIdx="2168"/>
  <p:cmAuthor id="93" name="张立鑫" initials="张" lastIdx="1" clrIdx="23"/>
  <p:cmAuthor id="2170" name="冯江宁" initials="U" lastIdx="0" clrIdx="2169"/>
  <p:cmAuthor id="94" name="杨静" initials="杨" lastIdx="1" clrIdx="22"/>
  <p:cmAuthor id="2171" name="宝玉 张" initials="宝张" lastIdx="0" clrIdx="2170"/>
  <p:cmAuthor id="95" name="包珊珊" initials="包" lastIdx="7" clrIdx="23"/>
  <p:cmAuthor id="2172" name="Johnny Hsieh" initials="J" lastIdx="0" clrIdx="2171"/>
  <p:cmAuthor id="96" name="YuQing" initials="Y" lastIdx="9" clrIdx="0"/>
  <p:cmAuthor id="2173" name="未知用户113" initials="未知用户113" lastIdx="0" clrIdx="2172"/>
  <p:cmAuthor id="97" name="Youwen Sun" initials="Y" lastIdx="3" clrIdx="1"/>
  <p:cmAuthor id="2174" name="未知用户85" initials="未" lastIdx="0" clrIdx="2173"/>
  <p:cmAuthor id="98" name="Microsoft 帐户" initials="M" lastIdx="1" clrIdx="0"/>
  <p:cmAuthor id="2175" name="单 善" initials="单" lastIdx="0" clrIdx="2174"/>
  <p:cmAuthor id="99" name="�ǲ�����" initials="�" lastIdx="1" clrIdx="35"/>
  <p:cmAuthor id="2176" name="Unknown User113" initials="U" lastIdx="0" clrIdx="2175"/>
  <p:cmAuthor id="100" name="牛宏民" initials="牛" lastIdx="2" clrIdx="0"/>
  <p:cmAuthor id="2177" name="Unknown User68" initials="U" lastIdx="0" clrIdx="2176"/>
  <p:cmAuthor id="101" name="未知的使用者16" initials="" lastIdx="6" clrIdx="0"/>
  <p:cmAuthor id="2178" name="Unknown User114" initials="U" lastIdx="0" clrIdx="2177"/>
  <p:cmAuthor id="102" name="毛香勤" initials="毛" lastIdx="26" clrIdx="6"/>
  <p:cmAuthor id="2179" name="Unknown User111" initials="U" lastIdx="0" clrIdx="2178"/>
  <p:cmAuthor id="103" name="dadi" initials="d" lastIdx="2" clrIdx="1"/>
  <p:cmAuthor id="2180" name="Unknown User63" initials="U" lastIdx="0" clrIdx="2179"/>
  <p:cmAuthor id="104" name="郑廷东" initials="郑" lastIdx="25" clrIdx="0"/>
  <p:cmAuthor id="2181" name="未知用户126" initials="未" lastIdx="0" clrIdx="2180"/>
  <p:cmAuthor id="105" name="张田田" initials="张" lastIdx="23" clrIdx="2"/>
  <p:cmAuthor id="2182" name="未知用户3" initials="未" lastIdx="0" clrIdx="2181"/>
  <p:cmAuthor id="106" name="杨彦伟" initials="杨" lastIdx="3" clrIdx="0"/>
  <p:cmAuthor id="2183" name="nancy" initials="n" lastIdx="0" clrIdx="2182"/>
  <p:cmAuthor id="107" name="徐光宇" initials="徐" lastIdx="1" clrIdx="0"/>
  <p:cmAuthor id="2184" name="王 黎黎" initials="王" lastIdx="0" clrIdx="2183"/>
  <p:cmAuthor id="108" name="mac" initials="m" lastIdx="1" clrIdx="0"/>
  <p:cmAuthor id="2185" name="Ted Su" initials="T" lastIdx="0" clrIdx="2184"/>
  <p:cmAuthor id="109" name="刘豹" initials="刘" lastIdx="0" clrIdx="0"/>
  <p:cmAuthor id="2186" name="未知用户129" initials="未" lastIdx="0" clrIdx="2185"/>
  <p:cmAuthor id="110" name="张艳芳" initials="张" lastIdx="3" clrIdx="0"/>
  <p:cmAuthor id="2187" name="未知用户125" initials="未" lastIdx="0" clrIdx="2186"/>
  <p:cmAuthor id="111" name="王志刚" initials="王" lastIdx="1" clrIdx="0"/>
  <p:cmAuthor id="2188" name="未知用户144" initials="未" lastIdx="0" clrIdx="2187"/>
  <p:cmAuthor id="112" name="孙大威" initials="孙" lastIdx="21" clrIdx="4"/>
  <p:cmAuthor id="2189" name="未知用户142" initials="未" lastIdx="0" clrIdx="2188"/>
  <p:cmAuthor id="113" name="徐杰" initials="徐" lastIdx="1" clrIdx="0"/>
  <p:cmAuthor id="2190" name="成国强_6jqyBN7N" initials="authorId_8148959" lastIdx="0" clrIdx="2189"/>
  <p:cmAuthor id="114" name="席美娟" initials="席" lastIdx="4" clrIdx="1"/>
  <p:cmAuthor id="475196944" name="姚琳" initials="姚" lastIdx="1133934" clrIdx="0"/>
  <p:cmAuthor id="2191" name="翔 张" initials="翔" lastIdx="0" clrIdx="2190"/>
  <p:cmAuthor id="115" name="朱海平" initials="朱" lastIdx="1" clrIdx="16"/>
  <p:cmAuthor id="475196945" name="chen" initials="c" lastIdx="1" clrIdx="2"/>
  <p:cmAuthor id="2192" name="my zhang" initials="mz" lastIdx="0" clrIdx="2191"/>
  <p:cmAuthor id="116" name="王景红" initials="王" lastIdx="6" clrIdx="3"/>
  <p:cmAuthor id="2193" name="未知用户190" initials="未" lastIdx="0" clrIdx="2192"/>
  <p:cmAuthor id="117" name="席金煜" initials="席" lastIdx="42" clrIdx="4"/>
  <p:cmAuthor id="2194" name="未知用户320" initials="未" lastIdx="0" clrIdx="2193"/>
  <p:cmAuthor id="118" name="樊佳佳" initials="樊" lastIdx="59" clrIdx="5"/>
  <p:cmAuthor id="2195" name="Unknown User116" initials="U" lastIdx="0" clrIdx="2194"/>
  <p:cmAuthor id="119" name="fgx" initials="f" lastIdx="6" clrIdx="6"/>
  <p:cmAuthor id="2196" name="ll z" initials="l" lastIdx="0" clrIdx="2195"/>
  <p:cmAuthor id="120" name="郑汝鸿" initials="郑" lastIdx="2" clrIdx="0"/>
  <p:cmAuthor id="2197" name="未知用户180" initials="未" lastIdx="0" clrIdx="2196"/>
  <p:cmAuthor id="121" name="杨秀丰" initials="杨" lastIdx="62" clrIdx="2"/>
  <p:cmAuthor id="2198" name="未知用户188" initials="未" lastIdx="0" clrIdx="2197"/>
  <p:cmAuthor id="122" name="惠莲" initials="惠" lastIdx="37" clrIdx="4"/>
  <p:cmAuthor id="2199" name="aaaaaa apple" initials="a" lastIdx="0" clrIdx="2198"/>
  <p:cmAuthor id="123" name="邢辰凤" initials="邢" lastIdx="45" clrIdx="7"/>
  <p:cmAuthor id="2200" name="bu" initials="b" lastIdx="0" clrIdx="2199"/>
  <p:cmAuthor id="124" name="liang ma" initials="l" lastIdx="1" clrIdx="35"/>
  <p:cmAuthor id="2201" name="未知用户310" initials="未" lastIdx="0" clrIdx="2200"/>
  <p:cmAuthor id="125" name="高永刚" initials="高" lastIdx="2" clrIdx="36"/>
  <p:cmAuthor id="2202" name="Ying Lou" initials="Y" lastIdx="0" clrIdx="2201"/>
  <p:cmAuthor id="126" name="未知用户46" initials="未" lastIdx="1" clrIdx="1"/>
  <p:cmAuthor id="2203" name="刘佳佳" initials="刘" lastIdx="0" clrIdx="2202"/>
  <p:cmAuthor id="127" name="未知用户47" initials="未" lastIdx="1" clrIdx="0"/>
  <p:cmAuthor id="2204" name="红旗的理想" initials="红" lastIdx="0" clrIdx="2203"/>
  <p:cmAuthor id="128" name="未知用户42" initials="未" lastIdx="2" clrIdx="2"/>
  <p:cmAuthor id="2205" name="shq316" initials="s" lastIdx="0" clrIdx="2204"/>
  <p:cmAuthor id="129" name="未知用户43" initials="未" lastIdx="1" clrIdx="0"/>
  <p:cmAuthor id="2206" name="shq316@vod365.com" initials="s" lastIdx="0" clrIdx="2205"/>
  <p:cmAuthor id="130" name="未知用户48" initials="未" lastIdx="34" clrIdx="0"/>
  <p:cmAuthor id="2207" name="yang fengyu" initials="yf" lastIdx="0" clrIdx="2206"/>
  <p:cmAuthor id="131" name="未知用户49" initials="未" lastIdx="10" clrIdx="0"/>
  <p:cmAuthor id="2208" name="李 鑫" initials="李" lastIdx="0" clrIdx="2207"/>
  <p:cmAuthor id="132" name="未知用户50" initials="未" lastIdx="4" clrIdx="0"/>
  <p:cmAuthor id="2209" name="王 辰斌" initials="王" lastIdx="0" clrIdx="2208"/>
  <p:cmAuthor id="133" name="未知用户51" initials="未" lastIdx="1" clrIdx="0"/>
  <p:cmAuthor id="2210" name="未知用户228" initials="未" lastIdx="0" clrIdx="2209"/>
  <p:cmAuthor id="134" name="未知用户52" initials="未" lastIdx="10" clrIdx="0"/>
  <p:cmAuthor id="2211" name="win7" initials="w" lastIdx="0" clrIdx="2210"/>
  <p:cmAuthor id="135" name="未知用户53" initials="未" lastIdx="1" clrIdx="0"/>
  <p:cmAuthor id="2212" name="蓝礼健" initials="蓝" lastIdx="0" clrIdx="2211"/>
  <p:cmAuthor id="136" name="未知用户54" initials="未" lastIdx="8" clrIdx="0"/>
  <p:cmAuthor id="2213" name="frankyang" initials="f" lastIdx="0" clrIdx="2212"/>
  <p:cmAuthor id="137" name="未知用户55" initials="未" lastIdx="1" clrIdx="0"/>
  <p:cmAuthor id="2214" name="璇 安" initials="璇" lastIdx="0" clrIdx="2213"/>
  <p:cmAuthor id="138" name="未知用户56" initials="未" lastIdx="1" clrIdx="0"/>
  <p:cmAuthor id="2215" name="18937034561@189.cn" initials="1" lastIdx="0" clrIdx="2214"/>
  <p:cmAuthor id="139" name="未知用户57" initials="未" lastIdx="4" clrIdx="0"/>
  <p:cmAuthor id="2216" name="李金金" initials="李金金" lastIdx="0" clrIdx="2215"/>
  <p:cmAuthor id="140" name="未知用户58" initials="未" lastIdx="4" clrIdx="33"/>
  <p:cmAuthor id="2217" name="未知用户260" initials="未" lastIdx="0" clrIdx="2216"/>
  <p:cmAuthor id="141" name="未知用户59" initials="未" lastIdx="4" clrIdx="0"/>
  <p:cmAuthor id="2218" name="未知用户248" initials="未" lastIdx="0" clrIdx="2217"/>
  <p:cmAuthor id="142" name="光启" initials="光" lastIdx="1" clrIdx="0"/>
  <p:cmAuthor id="2219" name="kechuying" initials="k" lastIdx="0" clrIdx="2218"/>
  <p:cmAuthor id="143" name="侯雪飞" initials="侯" lastIdx="2" clrIdx="0"/>
  <p:cmAuthor id="2220" name="钟 泽楷" initials="钟" lastIdx="0" clrIdx="2219"/>
  <p:cmAuthor id="144" name="太海峰" initials="太" lastIdx="1" clrIdx="34"/>
  <p:cmAuthor id="2221" name="周 保旭" initials="周" lastIdx="0" clrIdx="2220"/>
  <p:cmAuthor id="145" name="hk z" initials="hz" lastIdx="1" clrIdx="37"/>
  <p:cmAuthor id="2222" name="张建勇" initials="u" lastIdx="0" clrIdx="2221"/>
  <p:cmAuthor id="146" name="未知用户108" initials="" lastIdx="1" clrIdx="0"/>
  <p:cmAuthor id="2223" name="lvyiheng" initials="l" lastIdx="0" clrIdx="2222"/>
  <p:cmAuthor id="147" name="吕姗" initials="吕" lastIdx="1" clrIdx="146"/>
  <p:cmAuthor id="2224" name="tongweishu" initials="t" lastIdx="0" clrIdx="2223"/>
  <p:cmAuthor id="148" name="linyd" initials="" lastIdx="3" clrIdx="1"/>
  <p:cmAuthor id="2225" name="h07423" initials="h" lastIdx="0" clrIdx="2224"/>
  <p:cmAuthor id="149" name="未知用户12" initials="未" lastIdx="1" clrIdx="0"/>
  <p:cmAuthor id="2226" name="周智" initials="C" lastIdx="0" clrIdx="2225"/>
  <p:cmAuthor id="150" name="未知的使用者31" initials="" lastIdx="1" clrIdx="0"/>
  <p:cmAuthor id="2227" name="Lei zhenhao" initials="Lz" lastIdx="0" clrIdx="2226"/>
  <p:cmAuthor id="151" name="未知用户81" initials="" lastIdx="1" clrIdx="0"/>
  <p:cmAuthor id="2228" name="wangbo (A)" initials="w(" lastIdx="0" clrIdx="2227"/>
  <p:cmAuthor id="152" name="未知用户115" initials="" lastIdx="1" clrIdx="0"/>
  <p:cmAuthor id="2229" name="lvyiheng@gx.cmcc" initials="l" lastIdx="0" clrIdx="2228"/>
  <p:cmAuthor id="153" name="黄 俊楠" initials="黄" lastIdx="1" clrIdx="93"/>
  <p:cmAuthor id="2230" name="wang sai" initials="ws" lastIdx="0" clrIdx="2229"/>
  <p:cmAuthor id="154" name="未知的使用者68" initials="" lastIdx="1" clrIdx="0"/>
  <p:cmAuthor id="2231" name="乐" initials="乐" lastIdx="0" clrIdx="2230"/>
  <p:cmAuthor id="155" name="mm" initials="" lastIdx="1" clrIdx="0"/>
  <p:cmAuthor id="2232" name="黄海宁" initials="黄" lastIdx="0" clrIdx="2231"/>
  <p:cmAuthor id="156" name="未知用户15" initials="" lastIdx="1" clrIdx="0"/>
  <p:cmAuthor id="2233" name="liaoshijian" initials="l" lastIdx="0" clrIdx="2232"/>
  <p:cmAuthor id="157" name="朱晓瑜" initials="" lastIdx="54" clrIdx="0"/>
  <p:cmAuthor id="2234" name="BOYUN SU" initials="B" lastIdx="0" clrIdx="2233"/>
  <p:cmAuthor id="158" name="不明使用者20" initials="" lastIdx="1" clrIdx="0"/>
  <p:cmAuthor id="2235" name="Xiaominghao(GuangXi,NPS)" initials="X" lastIdx="0" clrIdx="2234"/>
  <p:cmAuthor id="159" name="未知用户82" initials="" lastIdx="1" clrIdx="0"/>
  <p:cmAuthor id="2236" name="jiajunjie (A)" initials="j(" lastIdx="0" clrIdx="2235"/>
  <p:cmAuthor id="160" name="未知的使用者7" initials="" lastIdx="2" clrIdx="0"/>
  <p:cmAuthor id="2237" name="杨子将" initials="杨" lastIdx="0" clrIdx="2236"/>
  <p:cmAuthor id="2238" name="64808" initials="6" lastIdx="0" clrIdx="2237"/>
  <p:cmAuthor id="162" name="未知的使用者55" initials="" lastIdx="1" clrIdx="0"/>
  <p:cmAuthor id="2239" name="zhangyuqiu" initials="z" lastIdx="0" clrIdx="2238"/>
  <p:cmAuthor id="163" name="未知的使用者111" initials="" lastIdx="1" clrIdx="0"/>
  <p:cmAuthor id="2240" name="邹洪文" initials="邹" lastIdx="0" clrIdx="2239"/>
  <p:cmAuthor id="164" name="未知的使用者50" initials="" lastIdx="1" clrIdx="0"/>
  <p:cmAuthor id="2241" name="G" initials="G" lastIdx="0" clrIdx="2240"/>
  <p:cmAuthor id="165" name="未知的使用者11" initials="" lastIdx="1" clrIdx="0"/>
  <p:cmAuthor id="2242" name="杨浚帆" initials="杨" lastIdx="0" clrIdx="2241"/>
  <p:cmAuthor id="166" name="未知的使用者33" initials="未" lastIdx="1" clrIdx="0"/>
  <p:cmAuthor id="2243" name="zhangjingsgs2@js.cmcc" initials="z" lastIdx="0" clrIdx="2242"/>
  <p:cmAuthor id="167" name="未知用户106" initials="未" lastIdx="1" clrIdx="0"/>
  <p:cmAuthor id="2244" name="周芳|zhoufang" initials="周" lastIdx="0" clrIdx="2243"/>
  <p:cmAuthor id="168" name="未知用户116" initials="" lastIdx="1" clrIdx="1"/>
  <p:cmAuthor id="2245" name="徐振华" initials="徐" lastIdx="0" clrIdx="2244"/>
  <p:cmAuthor id="169" name="未知的使用者150" initials="未" lastIdx="1" clrIdx="0"/>
  <p:cmAuthor id="2246" name="simon" initials="s" lastIdx="0" clrIdx="2245"/>
  <p:cmAuthor id="170" name="未知的使用者69" initials="" lastIdx="1" clrIdx="1"/>
  <p:cmAuthor id="2247" name="93707" initials="9" lastIdx="0" clrIdx="2246"/>
  <p:cmAuthor id="171" name="未知的使用者112" initials="" lastIdx="1" clrIdx="1"/>
  <p:cmAuthor id="2248" name="熘?" initials="熘" lastIdx="0" clrIdx="2247"/>
  <p:cmAuthor id="172" name="梁亚栋" initials="梁" lastIdx="776053" clrIdx="0"/>
  <p:cmAuthor id="2249" name="dingenshi" initials="d" lastIdx="0" clrIdx="2248"/>
  <p:cmAuthor id="173" name="Kevin Hu" initials="" lastIdx="1" clrIdx="0"/>
  <p:cmAuthor id="2250" name="tc_tjc" initials="t" lastIdx="0" clrIdx="2249"/>
  <p:cmAuthor id="174" name="未知的使用者38" initials="" lastIdx="1" clrIdx="0"/>
  <p:cmAuthor id="2251" name="sunjf" initials="s" lastIdx="0" clrIdx="2250"/>
  <p:cmAuthor id="175" name="唐可欣" initials="" lastIdx="1" clrIdx="0"/>
  <p:cmAuthor id="2252" name="taowei" initials="t" lastIdx="0" clrIdx="2251"/>
  <p:cmAuthor id="176" name="未知的使用者8" initials="" lastIdx="1" clrIdx="0"/>
  <p:cmAuthor id="2253" name="中星 叶" initials="中" lastIdx="0" clrIdx="2252"/>
  <p:cmAuthor id="177" name="王晨|wangchen6" initials="王晨" lastIdx="1" clrIdx="176"/>
  <p:cmAuthor id="2254" name="倚海听风" initials="倚" lastIdx="0" clrIdx="2253"/>
  <p:cmAuthor id="178" name="P00035_jeremy" initials="" lastIdx="1" clrIdx="0"/>
  <p:cmAuthor id="2255" name="CodonMedical" initials="C" lastIdx="0" clrIdx="2254"/>
  <p:cmAuthor id="179" name="Unknown User7" initials="" lastIdx="1" clrIdx="0"/>
  <p:cmAuthor id="2256" name="Yvonne Lin" initials="Y" lastIdx="0" clrIdx="2255"/>
  <p:cmAuthor id="180" name="muzi wei" initials="" lastIdx="1" clrIdx="0"/>
  <p:cmAuthor id="2257" name="Helms, Hans-Joachim {MDBA~Basel}" initials="H" lastIdx="0" clrIdx="2256"/>
  <p:cmAuthor id="181" name="未知的使用者41" initials="" lastIdx="1" clrIdx="0"/>
  <p:cmAuthor id="2258" name="hanycsgs1@js.cmcc" initials="h" lastIdx="0" clrIdx="2257"/>
  <p:cmAuthor id="182" name="未知的使用者13" initials="" lastIdx="1" clrIdx="0"/>
  <p:cmAuthor id="2259" name="刘风香" initials="刘" lastIdx="0" clrIdx="2258"/>
  <p:cmAuthor id="183" name="djj" initials="" lastIdx="2" clrIdx="0"/>
  <p:cmAuthor id="2260" name="Meredith Kalish" initials="M" lastIdx="0" clrIdx="2259"/>
  <p:cmAuthor id="184" name="未知用户117" initials="" lastIdx="1" clrIdx="2"/>
  <p:cmAuthor id="2261" name="Daniel Clyde (HI)" initials="D" lastIdx="0" clrIdx="2260"/>
  <p:cmAuthor id="185" name="赵丽丽" initials="赵" lastIdx="6" clrIdx="3"/>
  <p:cmAuthor id="364056745" name="华" initials="华" lastIdx="1" clrIdx="60"/>
  <p:cmAuthor id="2262" name="Fitzpatrick, Nicole {MGAO~Basel}" initials="F" lastIdx="0" clrIdx="2261"/>
  <p:cmAuthor id="186" name="未知用户13" initials="" lastIdx="1" clrIdx="0"/>
  <p:cmAuthor id="2263" name="Kate Rijnen" initials="K" lastIdx="0" clrIdx="2262"/>
  <p:cmAuthor id="187" name="不明使用者21" initials="" lastIdx="1" clrIdx="0"/>
  <p:cmAuthor id="2264" name="Machackova, Zuzana {MDAO~Basel}" initials="M" lastIdx="0" clrIdx="2263"/>
  <p:cmAuthor id="188" name="YUMINGNJ" initials="" lastIdx="3" clrIdx="0"/>
  <p:cmAuthor id="2265" name="Bart Baranowski (HI)" initials="B" lastIdx="0" clrIdx="2264"/>
  <p:cmAuthor id="189" name="未知的使用者52" initials="" lastIdx="1" clrIdx="1"/>
  <p:cmAuthor id="2266" name="Helen Keyworth (HI)" initials="H" lastIdx="0" clrIdx="2265"/>
  <p:cmAuthor id="190" name="未知用户109" initials="" lastIdx="1" clrIdx="1"/>
  <p:cmAuthor id="2267" name="Andrew Moss (HI)" initials="A" lastIdx="0" clrIdx="2266"/>
  <p:cmAuthor id="191" name="Unknown User117" initials="U" lastIdx="10" clrIdx="0"/>
  <p:cmAuthor id="2268" name="David Morgan (HI)" initials="D" lastIdx="0" clrIdx="2267"/>
  <p:cmAuthor id="192" name="thomas" initials="" lastIdx="1" clrIdx="49"/>
  <p:cmAuthor id="2269" name="Kate Sillitoe (HI)" initials="K" lastIdx="0" clrIdx="2268"/>
  <p:cmAuthor id="193" name="未知的使用者3" initials="" lastIdx="7" clrIdx="1"/>
  <p:cmAuthor id="2270" name="孟轩君" initials="孟" lastIdx="0" clrIdx="2269"/>
  <p:cmAuthor id="194" name="未知用户14" initials="" lastIdx="1" clrIdx="0"/>
  <p:cmAuthor id="2271" name="hpguan" initials="h" lastIdx="0" clrIdx="2270"/>
  <p:cmAuthor id="195" name="Unknown User65" initials="U" lastIdx="1" clrIdx="0"/>
  <p:cmAuthor id="2272" name="甘源" initials="甘" lastIdx="0" clrIdx="2271"/>
  <p:cmAuthor id="196" name="未知用户98" initials="" lastIdx="1" clrIdx="2"/>
  <p:cmAuthor id="2273" name="何富军" initials="何" lastIdx="0" clrIdx="2272"/>
  <p:cmAuthor id="197" name="Windows 用户" initials="" lastIdx="1" clrIdx="0"/>
  <p:cmAuthor id="2274" name="闫秀丽" initials="闫" lastIdx="0" clrIdx="2273"/>
  <p:cmAuthor id="198" name="未知用户83" initials="" lastIdx="1" clrIdx="1"/>
  <p:cmAuthor id="2275" name="fafa" initials="f" lastIdx="0" clrIdx="2274"/>
  <p:cmAuthor id="199" name="未知用户61" initials="" lastIdx="8" clrIdx="0"/>
  <p:cmAuthor id="2276" name="古二蛋" initials="古" lastIdx="0" clrIdx="2275"/>
  <p:cmAuthor id="200" name="張秀娟" initials="" lastIdx="1" clrIdx="2"/>
  <p:cmAuthor id="2277" name="qatr130" initials="q" lastIdx="0" clrIdx="2276"/>
  <p:cmAuthor id="201" name="Jason Wang" initials="" lastIdx="1" clrIdx="0"/>
  <p:cmAuthor id="2278" name="phoenixdhz" initials="p" lastIdx="0" clrIdx="2277"/>
  <p:cmAuthor id="202" name="不明使用者18" initials="" lastIdx="0" clrIdx="1"/>
  <p:cmAuthor id="2279" name="wanghao31" initials="w" lastIdx="0" clrIdx="2278"/>
  <p:cmAuthor id="2280" name="袁正海" initials="袁" lastIdx="0" clrIdx="2279"/>
  <p:cmAuthor id="204" name="未知的使用者72" initials="" lastIdx="1" clrIdx="0"/>
  <p:cmAuthor id="2281" name="未知用户86" initials="未" lastIdx="0" clrIdx="2280"/>
  <p:cmAuthor id="205" name="未知的使用者48" initials="" lastIdx="1" clrIdx="0"/>
  <p:cmAuthor id="2282" name="未知用户95" initials="未" lastIdx="0" clrIdx="2281"/>
  <p:cmAuthor id="206" name="未知的使用者104" initials="" lastIdx="1" clrIdx="0"/>
  <p:cmAuthor id="2283" name="过 去" initials="过" lastIdx="0" clrIdx="2282"/>
  <p:cmAuthor id="207" name="未知用户60" initials="" lastIdx="1" clrIdx="0"/>
  <p:cmAuthor id="2284" name="ChinaUser" initials="C" lastIdx="0" clrIdx="2283"/>
  <p:cmAuthor id="208" name="未知的使用者39" initials="未" lastIdx="10" clrIdx="0"/>
  <p:cmAuthor id="2285" name="EDY" initials="E" lastIdx="0" clrIdx="2284"/>
  <p:cmAuthor id="209" name="Shawna Strickland" initials="" lastIdx="2" clrIdx="0"/>
  <p:cmAuthor id="2286" name="songchuanyuan@ha.cmcc" initials="songchuanyuan@ha.cmcc" lastIdx="0" clrIdx="2285"/>
  <p:cmAuthor id="210" name="未知的使用者36" initials="" lastIdx="3" clrIdx="1"/>
  <p:cmAuthor id="2287" name="康康仔" initials="康" lastIdx="0" clrIdx="2286"/>
  <p:cmAuthor id="211" name="未知的使用者76" initials="未" lastIdx="1" clrIdx="0"/>
  <p:cmAuthor id="2288" name="孙超" initials="孙" lastIdx="0" clrIdx="2287"/>
  <p:cmAuthor id="212" name="Daniel Wuu" initials="" lastIdx="1" clrIdx="0"/>
  <p:cmAuthor id="2289" name="wangxiaoxuan@ha.cmcc" initials="w" lastIdx="0" clrIdx="2288"/>
  <p:cmAuthor id="2290" name="Li Pengling" initials="L" lastIdx="0" clrIdx="2289"/>
  <p:cmAuthor id="214" name="未知的使用者14" initials="" lastIdx="2" clrIdx="0"/>
  <p:cmAuthor id="2291" name="张方徐" initials="张" lastIdx="0" clrIdx="2290"/>
  <p:cmAuthor id="215" name="云峰 贾" initials="云" lastIdx="2" clrIdx="0"/>
  <p:cmAuthor id="2292" name="谢美娟00091379" initials="谢" lastIdx="0" clrIdx="2291"/>
  <p:cmAuthor id="216" name="未知的使用者197" initials="未" lastIdx="8" clrIdx="0"/>
  <p:cmAuthor id="2293" name="马晓宁" initials="马" lastIdx="0" clrIdx="2292"/>
  <p:cmAuthor id="217" name="Ashley Eberenz" initials="" lastIdx="7" clrIdx="1"/>
  <p:cmAuthor id="2294" name="星 爵" initials="星" lastIdx="0" clrIdx="2293"/>
  <p:cmAuthor id="218" name="不明使用者19" initials="" lastIdx="1" clrIdx="0"/>
  <p:cmAuthor id="2295" name="10039985" initials="1" lastIdx="0" clrIdx="2294"/>
  <p:cmAuthor id="219" name="qiantong" initials="" lastIdx="3" clrIdx="1"/>
  <p:cmAuthor id="2296" name="S 风" initials="S风" lastIdx="0" clrIdx="2295"/>
  <p:cmAuthor id="220" name="未知的使用者74" initials="" lastIdx="1" clrIdx="0"/>
  <p:cmAuthor id="2297" name="huangjianye" initials="8" lastIdx="0" clrIdx="2296"/>
  <p:cmAuthor id="221" name="未知的使用者23" initials="" lastIdx="1" clrIdx="0"/>
  <p:cmAuthor id="2298" name="汪卓" initials="wangzhuo@hb.cmcc" lastIdx="0" clrIdx="2297"/>
  <p:cmAuthor id="222" name="未知的使用者1" initials="" lastIdx="8" clrIdx="0"/>
  <p:cmAuthor id="2299" name="k03383417" initials="k" lastIdx="0" clrIdx="2298"/>
  <p:cmAuthor id="223" name="116304" initials="" lastIdx="1" clrIdx="1"/>
  <p:cmAuthor id="2300" name="chenlin@fj.cmcc" initials="chenlin@fj.cmcc" lastIdx="0" clrIdx="2299"/>
  <p:cmAuthor id="224" name="未知用户31" initials="未" lastIdx="1" clrIdx="1"/>
  <p:cmAuthor id="2301" name="10288204" initials="1" lastIdx="0" clrIdx="2300"/>
  <p:cmAuthor id="225" name="R affer" initials="" lastIdx="1" clrIdx="0"/>
  <p:cmAuthor id="2302" name="余佳伟" initials="1" lastIdx="0" clrIdx="2301"/>
  <p:cmAuthor id="226" name="qihua-DCMS" initials="" lastIdx="0" clrIdx="0"/>
  <p:cmAuthor id="2303" name="lily" initials="l" lastIdx="0" clrIdx="2302"/>
  <p:cmAuthor id="2304" name="zhoum" initials="z" lastIdx="0" clrIdx="2303"/>
  <p:cmAuthor id="228" name="未知的使用者95" initials="" lastIdx="1" clrIdx="0"/>
  <p:cmAuthor id="2305" name="10033224" initials="1" lastIdx="0" clrIdx="2304"/>
  <p:cmAuthor id="229" name="未知的使用者168" initials="未" lastIdx="1" clrIdx="0"/>
  <p:cmAuthor id="2306" name="ningdan@gx.cmcc" initials="n" lastIdx="0" clrIdx="2305"/>
  <p:cmAuthor id="230" name="未知的使用者32" initials="" lastIdx="1" clrIdx="0"/>
  <p:cmAuthor id="2307" name="10054047" initials="1" lastIdx="0" clrIdx="2306"/>
  <p:cmAuthor id="231" name="未知的使用者49" initials="" lastIdx="1" clrIdx="0"/>
  <p:cmAuthor id="2308" name="梁田" initials="梁" lastIdx="0" clrIdx="2307"/>
  <p:cmAuthor id="232" name="Unknown User26" initials="U" lastIdx="1" clrIdx="1"/>
  <p:cmAuthor id="2309" name="15719214165@163.com" initials="1" lastIdx="0" clrIdx="2308"/>
  <p:cmAuthor id="233" name="yuexuejun" initials="" lastIdx="3" clrIdx="0"/>
  <p:cmAuthor id="2310" name="wubin" initials="w" lastIdx="0" clrIdx="2309"/>
  <p:cmAuthor id="234" name="未知的使用者71" initials="" lastIdx="1" clrIdx="1"/>
  <p:cmAuthor id="2311" name="kangzhongwei@ha.cmcc" initials="kangzhongwei@ha.cmcc" lastIdx="0" clrIdx="2310"/>
  <p:cmAuthor id="235" name="未知的使用者105" initials="" lastIdx="1" clrIdx="0"/>
  <p:cmAuthor id="2312" name="毛松苗|maosm" initials="毛松苗" lastIdx="0" clrIdx="2311"/>
  <p:cmAuthor id="236" name="Unknown User70" initials="" lastIdx="1" clrIdx="0"/>
  <p:cmAuthor id="2313" name="86150" initials="8" lastIdx="0" clrIdx="2312"/>
  <p:cmAuthor id="237" name="clinchen" initials="" lastIdx="0" clrIdx="1"/>
  <p:cmAuthor id="2314" name="杨国" initials="杨" lastIdx="0" clrIdx="2313"/>
  <p:cmAuthor id="2315" name="haomingLiu" initials="h" lastIdx="0" clrIdx="2314"/>
  <p:cmAuthor id="239" name="hanjuncompany" initials="" lastIdx="1" clrIdx="0"/>
  <p:cmAuthor id="2316" name="蒋洁" initials="T" lastIdx="0" clrIdx="2315"/>
  <p:cmAuthor id="240" name="kathy chen" initials="" lastIdx="3" clrIdx="0"/>
  <p:cmAuthor id="2317" name="fangy" initials="f" lastIdx="0" clrIdx="2316"/>
  <p:cmAuthor id="241" name="未知的使用者63" initials="" lastIdx="1" clrIdx="0"/>
  <p:cmAuthor id="2318" name="zhangyu" initials="z" lastIdx="0" clrIdx="2317"/>
  <p:cmAuthor id="242" name="未知的使用者64" initials="" lastIdx="3" clrIdx="1"/>
  <p:cmAuthor id="2319" name="610007" initials="6" lastIdx="0" clrIdx="2318"/>
  <p:cmAuthor id="243" name="未知的使用者47" initials="" lastIdx="1" clrIdx="0"/>
  <p:cmAuthor id="2320" name="10092163" initials="1" lastIdx="0" clrIdx="2319"/>
  <p:cmAuthor id="244" name="未知的使用者60" initials="" lastIdx="8" clrIdx="0"/>
  <p:cmAuthor id="2321" name="10157624" initials="1" lastIdx="0" clrIdx="2320"/>
  <p:cmAuthor id="245" name="未知的使用者59" initials="" lastIdx="1" clrIdx="0"/>
  <p:cmAuthor id="2322" name="ZMM" initials="Z" lastIdx="0" clrIdx="2321"/>
  <p:cmAuthor id="246" name="未知的使用者54" initials="" lastIdx="1" clrIdx="0"/>
  <p:cmAuthor id="2323" name="戚志良|qizl" initials="戚志良" lastIdx="0" clrIdx="2322"/>
  <p:cmAuthor id="247" name="未知的使用者66" initials="" lastIdx="8" clrIdx="0"/>
  <p:cmAuthor id="2324" name="罗志刚" initials="罗" lastIdx="0" clrIdx="2323"/>
  <p:cmAuthor id="248" name="未知的使用者65" initials="" lastIdx="1" clrIdx="0"/>
  <p:cmAuthor id="2325" name="10074243" initials="张禹" lastIdx="0" clrIdx="2324"/>
  <p:cmAuthor id="249" name="未知的使用者106" initials="" lastIdx="3" clrIdx="1"/>
  <p:cmAuthor id="2326" name="殷江培10047781" initials="殷江培10047781" lastIdx="0" clrIdx="2325"/>
  <p:cmAuthor id="250" name="未知的使用者107" initials="" lastIdx="1" clrIdx="1"/>
  <p:cmAuthor id="2327" name="10247586" initials="Nikodemus" lastIdx="0" clrIdx="2326"/>
  <p:cmAuthor id="251" name="未知的使用者108" initials="" lastIdx="1" clrIdx="0"/>
  <p:cmAuthor id="2328" name="10247451" initials="1" lastIdx="0" clrIdx="2327"/>
  <p:cmAuthor id="252" name="未知的使用者86" initials="" lastIdx="1" clrIdx="0"/>
  <p:cmAuthor id="2329" name="王健|qzwj" initials="王健" lastIdx="0" clrIdx="2328"/>
  <p:cmAuthor id="253" name="未知的使用者116" initials="" lastIdx="1" clrIdx="1"/>
  <p:cmAuthor id="708433798" name="jialuo" initials="j" lastIdx="0" clrIdx="0"/>
  <p:cmAuthor id="2330" name="袁一欢|yuanyihuan" initials="袁一欢" lastIdx="0" clrIdx="2329"/>
  <p:cmAuthor id="254" name="未知的使用者44" initials="" lastIdx="1" clrIdx="0"/>
  <p:cmAuthor id="708433799" name="蘇建明 fatty_BFjaamIF" initials="authorId_241790624" lastIdx="0" clrIdx="0"/>
  <p:cmAuthor id="2331" name="Kevin" initials="K" lastIdx="0" clrIdx="2330"/>
  <p:cmAuthor id="255" name="未知的使用者37" initials="" lastIdx="1" clrIdx="0"/>
  <p:cmAuthor id="708433800" name="董克荣" initials="董" lastIdx="1" clrIdx="708433799"/>
  <p:cmAuthor id="2332" name="fangzixuan" initials="f" lastIdx="0" clrIdx="2331"/>
  <p:cmAuthor id="256" name="未知的使用者126" initials="" lastIdx="1" clrIdx="0"/>
  <p:cmAuthor id="2333" name="王莹|wangying49" initials="王莹" lastIdx="0" clrIdx="2332"/>
  <p:cmAuthor id="257" name="未知的使用者127" initials="" lastIdx="3" clrIdx="1"/>
  <p:cmAuthor id="2334" name="Gaoyang (China NPS C&amp;SI)" initials="G(NC" lastIdx="0" clrIdx="2333"/>
  <p:cmAuthor id="258" name="未知的使用者128" initials="" lastIdx="1" clrIdx="1"/>
  <p:cmAuthor id="2335" name="jj wu" initials="jw" lastIdx="0" clrIdx="2334"/>
  <p:cmAuthor id="259" name="未知的使用者124" initials="" lastIdx="1" clrIdx="0"/>
  <p:cmAuthor id="2336" name="钱加栋 💤" initials="钱" lastIdx="0" clrIdx="2335"/>
  <p:cmAuthor id="260" name="未知的使用者125" initials="" lastIdx="1" clrIdx="0"/>
  <p:cmAuthor id="2337" name="jinglu" initials="j" lastIdx="0" clrIdx="2336"/>
  <p:cmAuthor id="261" name="Sara Chen" initials="" lastIdx="1" clrIdx="0"/>
  <p:cmAuthor id="2338" name="13910" initials="1" lastIdx="0" clrIdx="2337"/>
  <p:cmAuthor id="262" name="huang gerrard" initials="" lastIdx="1" clrIdx="0"/>
  <p:cmAuthor id="2339" name="梦娜" initials="梦娜" lastIdx="0" clrIdx="2338"/>
  <p:cmAuthor id="263" name="未知用户170" initials="" lastIdx="1" clrIdx="0"/>
  <p:cmAuthor id="2340" name="00021840" initials="0" lastIdx="0" clrIdx="2339"/>
  <p:cmAuthor id="264" name="未知用户171" initials="" lastIdx="5" clrIdx="1"/>
  <p:cmAuthor id="2341" name="10005481" initials="1" lastIdx="0" clrIdx="2340"/>
  <p:cmAuthor id="265" name="未知用户172" initials="" lastIdx="1" clrIdx="1"/>
  <p:cmAuthor id="2342" name="10095622" initials="1" lastIdx="0" clrIdx="2341"/>
  <p:cmAuthor id="266" name="未知用户173" initials="" lastIdx="1" clrIdx="0"/>
  <p:cmAuthor id="2343" name="00284818" initials="0" lastIdx="0" clrIdx="2342"/>
  <p:cmAuthor id="267" name="未知用户149" initials="" lastIdx="1" clrIdx="0"/>
  <p:cmAuthor id="2344" name="00222279" initials="0" lastIdx="0" clrIdx="2343"/>
  <p:cmAuthor id="268" name="未知用户150" initials="" lastIdx="1" clrIdx="0"/>
  <p:cmAuthor id="2345" name="郗卓宁" initials="郗" lastIdx="0" clrIdx="2344"/>
  <p:cmAuthor id="269" name="未知用户151" initials="" lastIdx="2" clrIdx="0"/>
  <p:cmAuthor id="2346" name="LF T" initials="L" lastIdx="0" clrIdx="2345"/>
  <p:cmAuthor id="270" name="未知用户152" initials="" lastIdx="8" clrIdx="0"/>
  <p:cmAuthor id="2347" name="未知用户2" initials="未知用户2" lastIdx="0" clrIdx="2346"/>
  <p:cmAuthor id="271" name="未知用户153" initials="" lastIdx="8" clrIdx="0"/>
  <p:cmAuthor id="272" name="未知用户154" initials="" lastIdx="1" clrIdx="0"/>
  <p:cmAuthor id="2349" name="未知用户4" initials="未知用户4" lastIdx="0" clrIdx="2348"/>
  <p:cmAuthor id="273" name="未知用户155" initials="" lastIdx="1" clrIdx="0"/>
  <p:cmAuthor id="2350" name="未知用户5" initials="未知用户5" lastIdx="0" clrIdx="2349"/>
  <p:cmAuthor id="274" name="未知用户41" initials="" lastIdx="8" clrIdx="0"/>
  <p:cmAuthor id="275" name="未知用户44" initials="" lastIdx="1" clrIdx="0"/>
  <p:cmAuthor id="2352" name="未知用户7" initials="未知用户7" lastIdx="0" clrIdx="2351"/>
  <p:cmAuthor id="276" name="未知用户45" initials="" lastIdx="1" clrIdx="0"/>
  <p:cmAuthor id="277" name="未知用户156" initials="" lastIdx="10" clrIdx="0"/>
  <p:cmAuthor id="2354" name="干田|gantian" initials="干田" lastIdx="0" clrIdx="2353"/>
  <p:cmAuthor id="278" name="未知用户64" initials="" lastIdx="1" clrIdx="0"/>
  <p:cmAuthor id="2355" name="陆佳|lujia1" initials="陆佳" lastIdx="0" clrIdx="2354"/>
  <p:cmAuthor id="279" name="未知用户65" initials="" lastIdx="1" clrIdx="0"/>
  <p:cmAuthor id="2356" name="shiheyun@zj.cmcc" initials="shiheyun@zj.cmcc" lastIdx="0" clrIdx="2355"/>
  <p:cmAuthor id="280" name="未知用户68" initials="" lastIdx="1" clrIdx="0"/>
  <p:cmAuthor id="2357" name="xmyn" initials="x" lastIdx="0" clrIdx="2356"/>
  <p:cmAuthor id="281" name="未知用户69" initials="" lastIdx="2" clrIdx="0"/>
  <p:cmAuthor id="2358" name="CHN0012081" initials="C" lastIdx="0" clrIdx="2357"/>
  <p:cmAuthor id="282" name="未知用户70" initials="" lastIdx="1" clrIdx="1"/>
  <p:cmAuthor id="2359" name="清影 黄" initials="清影" lastIdx="0" clrIdx="2358"/>
  <p:cmAuthor id="283" name="未知用户71" initials="" lastIdx="1" clrIdx="0"/>
  <p:cmAuthor id="2360" name="18329053695@139.com" initials="1" lastIdx="0" clrIdx="2359"/>
  <p:cmAuthor id="284" name="未知用户72" initials="" lastIdx="1" clrIdx="0"/>
  <p:cmAuthor id="2361" name="远 姚" initials="远姚" lastIdx="0" clrIdx="2360"/>
  <p:cmAuthor id="285" name="未知用户73" initials="" lastIdx="2" clrIdx="0"/>
  <p:cmAuthor id="2362" name="SeishouMaru" initials="S" lastIdx="0" clrIdx="2361"/>
  <p:cmAuthor id="2363" name="Charley" initials="C" lastIdx="0" clrIdx="2362"/>
  <p:cmAuthor id="2364" name="lilan" initials="l" lastIdx="0" clrIdx="2363"/>
  <p:cmAuthor id="2365" name="王东10086377" initials="王东10086377" lastIdx="0" clrIdx="2364"/>
  <p:cmAuthor id="289" name="MA15" initials="" lastIdx="1" clrIdx="0"/>
  <p:cmAuthor id="2366" name="wangxi (D)" initials="w" lastIdx="0" clrIdx="2365"/>
  <p:cmAuthor id="2367" name="田海兰" initials="田" lastIdx="0" clrIdx="2366"/>
  <p:cmAuthor id="291" name="未知用户96" initials="" lastIdx="1" clrIdx="0"/>
  <p:cmAuthor id="2368" name="Windows10" initials="W" lastIdx="0" clrIdx="2367"/>
  <p:cmAuthor id="2369" name="liyanyan" initials="l" lastIdx="0" clrIdx="2368"/>
  <p:cmAuthor id="293" name="未知用户97" initials="" lastIdx="2" clrIdx="0"/>
  <p:cmAuthor id="2370" name="zyiiif" initials="z" lastIdx="0" clrIdx="2369"/>
  <p:cmAuthor id="294" name="未知用户40" initials="" lastIdx="5" clrIdx="1"/>
  <p:cmAuthor id="2371" name="悠雲" initials="悠" lastIdx="0" clrIdx="2370"/>
  <p:cmAuthor id="2372" name="吴小荣|wuxiaorong5" initials="吴小荣" lastIdx="0" clrIdx="2371"/>
  <p:cmAuthor id="296" name="未知用户100" initials="" lastIdx="1" clrIdx="0"/>
  <p:cmAuthor id="2373" name="王晓龙" initials="王" lastIdx="0" clrIdx="2372"/>
  <p:cmAuthor id="297" name="未知用户101" initials="" lastIdx="1" clrIdx="0"/>
  <p:cmAuthor id="2374" name="李成龙" initials="李" lastIdx="0" clrIdx="2373"/>
  <p:cmAuthor id="2375" name="梁芬" initials="梁" lastIdx="0" clrIdx="2374"/>
  <p:cmAuthor id="2376" name="wangleiit2" initials="w" lastIdx="0" clrIdx="2375"/>
  <p:cmAuthor id="300" name="未知用户32" initials="" lastIdx="1" clrIdx="0"/>
  <p:cmAuthor id="47245819" name="群智集" initials="群" lastIdx="0" clrIdx="0"/>
  <p:cmAuthor id="2377" name="杜彦洁" initials="杜" lastIdx="0" clrIdx="2376"/>
  <p:cmAuthor id="301" name="未知用户33" initials="" lastIdx="1" clrIdx="0"/>
  <p:cmAuthor id="47245820" name="郏 鹏" initials="郏" lastIdx="1" clrIdx="16"/>
  <p:cmAuthor id="2378" name="赵承智" initials="赵" lastIdx="0" clrIdx="2377"/>
  <p:cmAuthor id="302" name="未知用户34" initials="" lastIdx="2" clrIdx="0"/>
  <p:cmAuthor id="47245821" name="郏鹏" initials="M" lastIdx="1" clrIdx="17"/>
  <p:cmAuthor id="2379" name="WPS_1468166496" initials="W" lastIdx="0" clrIdx="2378"/>
  <p:cmAuthor id="2380" name="youran" initials="y" lastIdx="0" clrIdx="2379"/>
  <p:cmAuthor id="47245822" name="ma jialin" initials="mj" lastIdx="1" clrIdx="41"/>
  <p:cmAuthor id="304" name="未知的使用者109" initials="" lastIdx="5" clrIdx="1"/>
  <p:cmAuthor id="47245823" name="刘海娜|liuhaina" initials="W用" lastIdx="1" clrIdx="36"/>
  <p:cmAuthor id="2381" name="WPS_1551318853" initials="W" lastIdx="0" clrIdx="2380"/>
  <p:cmAuthor id="305" name="未知的使用者122" initials="" lastIdx="1" clrIdx="0"/>
  <p:cmAuthor id="2382" name="颜满美" initials="颜" lastIdx="0" clrIdx="2381"/>
  <p:cmAuthor id="306" name="未知的使用者123" initials="" lastIdx="8" clrIdx="0"/>
  <p:cmAuthor id="2383" name="兔小丽莎" initials="兔" lastIdx="0" clrIdx="2382"/>
  <p:cmAuthor id="307" name="未知用户93" initials="" lastIdx="1" clrIdx="0"/>
  <p:cmAuthor id="2384" name="一只小R" initials="一" lastIdx="0" clrIdx="2383"/>
  <p:cmAuthor id="308" name="未知用户90" initials="" lastIdx="5" clrIdx="1"/>
  <p:cmAuthor id="2385" name="BAECHU" initials="B" lastIdx="0" clrIdx="2384"/>
  <p:cmAuthor id="309" name="未知用户91" initials="" lastIdx="0" clrIdx="1"/>
  <p:cmAuthor id="2386" name="Y．" initials="Y" lastIdx="0" clrIdx="2385"/>
  <p:cmAuthor id="310" name="未知用户92" initials="" lastIdx="1" clrIdx="0"/>
  <p:cmAuthor id="2387" name="天天向上" initials="天" lastIdx="0" clrIdx="2386"/>
  <p:cmAuthor id="311" name="未知用户74" initials="" lastIdx="5" clrIdx="1"/>
  <p:cmAuthor id="2388" name="1a" initials="1" lastIdx="0" clrIdx="2387"/>
  <p:cmAuthor id="312" name="未知用户75" initials="" lastIdx="8" clrIdx="0"/>
  <p:cmAuthor id="2389" name="ChenJK" initials="C" lastIdx="0" clrIdx="2388"/>
  <p:cmAuthor id="313" name="未知用户76" initials="" lastIdx="1" clrIdx="0"/>
  <p:cmAuthor id="2390" name="puppy" initials="p" lastIdx="0" clrIdx="2389"/>
  <p:cmAuthor id="314" name="未知用户77" initials="" lastIdx="8" clrIdx="0"/>
  <p:cmAuthor id="2391" name="cjgndjh" initials="c" lastIdx="0" clrIdx="2390"/>
  <p:cmAuthor id="315" name="未知用户78" initials="" lastIdx="8" clrIdx="0"/>
  <p:cmAuthor id="2392" name="yan" initials="y" lastIdx="0" clrIdx="2391"/>
  <p:cmAuthor id="316" name="未知用户79" initials="" lastIdx="1" clrIdx="0"/>
  <p:cmAuthor id="2393" name="风驻的街角" initials="风" lastIdx="0" clrIdx="2392"/>
  <p:cmAuthor id="317" name="未知用户80" initials="" lastIdx="1" clrIdx="0"/>
  <p:cmAuthor id="2394" name="liuchang1" initials="l" lastIdx="0" clrIdx="2393"/>
  <p:cmAuthor id="318" name="Harry xu" initials="" lastIdx="1" clrIdx="0"/>
  <p:cmAuthor id="2395" name="yingchenlu" initials="y" lastIdx="0" clrIdx="2394"/>
  <p:cmAuthor id="319" name="Clifford" initials="C" lastIdx="2" clrIdx="318"/>
  <p:cmAuthor id="2396" name="阿汪Nevermore" initials="阿" lastIdx="0" clrIdx="2395"/>
  <p:cmAuthor id="320" name="未知用户35" initials="未" lastIdx="1" clrIdx="0"/>
  <p:cmAuthor id="2397" name="wujx" initials="w" lastIdx="0" clrIdx="2396"/>
  <p:cmAuthor id="321" name="未知用户111" initials="未" lastIdx="1" clrIdx="1"/>
  <p:cmAuthor id="2398" name="郑小云|qzzxy1" initials="郑小云" lastIdx="0" clrIdx="2397"/>
  <p:cmAuthor id="322" name="沙俊杰00140688" initials="沙" lastIdx="1" clrIdx="50"/>
  <p:cmAuthor id="2399" name="健康诗" initials="健" lastIdx="0" clrIdx="2398"/>
  <p:cmAuthor id="323" name="chenjianwei" initials="c" lastIdx="1" clrIdx="322"/>
  <p:cmAuthor id="2400" name="oyibana" initials="o" lastIdx="0" clrIdx="2399"/>
  <p:cmAuthor id="324" name="郭婧" initials="郭" lastIdx="1" clrIdx="323"/>
  <p:cmAuthor id="2401" name="Jessie。" initials="J" lastIdx="0" clrIdx="2400"/>
  <p:cmAuthor id="325" name="刘春杰10244342" initials="刘" lastIdx="1" clrIdx="41"/>
  <p:cmAuthor id="2402" name="丰小美" initials="丰" lastIdx="0" clrIdx="2401"/>
  <p:cmAuthor id="326" name="10010600" initials="1" lastIdx="1" clrIdx="325"/>
  <p:cmAuthor id="2403" name="我超棒的" initials="我" lastIdx="0" clrIdx="2402"/>
  <p:cmAuthor id="327" name="10205805" initials="1" lastIdx="1" clrIdx="326"/>
  <p:cmAuthor id="2404" name="V" initials="V" lastIdx="0" clrIdx="2403"/>
  <p:cmAuthor id="328" name="10255708" initials="1" lastIdx="1" clrIdx="327"/>
  <p:cmAuthor id="2405" name="妮可．罗宾" initials="妮" lastIdx="0" clrIdx="2404"/>
  <p:cmAuthor id="329" name="邱银杰" initials="邱" lastIdx="2" clrIdx="328"/>
  <p:cmAuthor id="2406" name="fengyao6" initials="f" lastIdx="0" clrIdx="2405"/>
  <p:cmAuthor id="330" name="0045000519" initials="0" lastIdx="1" clrIdx="0"/>
  <p:cmAuthor id="2407" name="gong虽" initials="g" lastIdx="0" clrIdx="2406"/>
  <p:cmAuthor id="331" name="WHF" initials="W" lastIdx="0" clrIdx="50"/>
  <p:cmAuthor id="2408" name="zyy" initials="z" lastIdx="0" clrIdx="2407"/>
  <p:cmAuthor id="332" name="Liu, Hongqing (NSB - CN/Shanghai)" initials="L" lastIdx="1" clrIdx="41"/>
  <p:cmAuthor id="2409" name="阿七" initials="阿" lastIdx="0" clrIdx="2408"/>
  <p:cmAuthor id="333" name="10080095" initials="1" lastIdx="1" clrIdx="332"/>
  <p:cmAuthor id="2410" name="HOMY L" initials="HL" lastIdx="0" clrIdx="2409"/>
  <p:cmAuthor id="334" name="10240466" initials="1" lastIdx="1" clrIdx="333"/>
  <p:cmAuthor id="2411" name="JIANG QUN" initials="J" lastIdx="0" clrIdx="2410"/>
  <p:cmAuthor id="335" name="JZX" initials="J" lastIdx="2" clrIdx="50"/>
  <p:cmAuthor id="2412" name="10278788" initials="1" lastIdx="0" clrIdx="2411"/>
  <p:cmAuthor id="336" name="赵怡彬1" initials="赵" lastIdx="1" clrIdx="335"/>
  <p:cmAuthor id="2413" name="苏建冲" initials="苏" lastIdx="0" clrIdx="2412"/>
  <p:cmAuthor id="337" name="李 少峰" initials="李" lastIdx="1" clrIdx="33"/>
  <p:cmAuthor id="2414" name="未知用户127" initials="未" lastIdx="0" clrIdx="2413"/>
  <p:cmAuthor id="338" name="10327298" initials="1" lastIdx="1" clrIdx="337"/>
  <p:cmAuthor id="2415" name="蒋 宗臣" initials="蒋" lastIdx="0" clrIdx="2414"/>
  <p:cmAuthor id="339" name="黄媛媛" initials="黄" lastIdx="1" clrIdx="0"/>
  <p:cmAuthor id="2416" name="何 伟" initials="何" lastIdx="0" clrIdx="2415"/>
  <p:cmAuthor id="340" name="lya" initials="l" lastIdx="1" clrIdx="339"/>
  <p:cmAuthor id="2417" name="xq" initials="x" lastIdx="0" clrIdx="2416"/>
  <p:cmAuthor id="341" name="10096825" initials="1" lastIdx="1" clrIdx="340"/>
  <p:cmAuthor id="2418" name="晨曦_n6n2bAVB" initials="晨" lastIdx="0" clrIdx="2417"/>
  <p:cmAuthor id="342" name="张家慧" initials="张" lastIdx="1" clrIdx="0"/>
  <p:cmAuthor id="2419" name="张 曦" initials="张" lastIdx="0" clrIdx="2418"/>
  <p:cmAuthor id="343" name="PB399" initials="P" lastIdx="1" clrIdx="43"/>
  <p:cmAuthor id="2420" name="hxm" initials="h" lastIdx="0" clrIdx="2419"/>
  <p:cmAuthor id="344" name="10072673" initials="1" lastIdx="3" clrIdx="343"/>
  <p:cmAuthor id="2421" name="zhangqiang" initials="z" lastIdx="0" clrIdx="2420"/>
  <p:cmAuthor id="345" name="邓洁" initials="邓" lastIdx="1" clrIdx="0"/>
  <p:cmAuthor id="2422" name="hauwei" initials="h" lastIdx="0" clrIdx="2421"/>
  <p:cmAuthor id="346" name="MarkAlice" initials="M" lastIdx="1" clrIdx="345"/>
  <p:cmAuthor id="2423" name="王计艳" initials="WJY" lastIdx="0" clrIdx="2422"/>
  <p:cmAuthor id="347" name="10011274@zte.intra" initials="1" lastIdx="9" clrIdx="346"/>
  <p:cmAuthor id="2424" name="张久仙" initials="zjx" lastIdx="0" clrIdx="2423"/>
  <p:cmAuthor id="348" name="10207586" initials="1" lastIdx="1" clrIdx="347"/>
  <p:cmAuthor id="2425" name="slm" initials="X" lastIdx="0" clrIdx="2424"/>
  <p:cmAuthor id="349" name="10170716" initials="1" lastIdx="1" clrIdx="348"/>
  <p:cmAuthor id="2426" name="ThinkPad" initials="T" lastIdx="0" clrIdx="2425"/>
  <p:cmAuthor id="350" name="00001457" initials="0" lastIdx="1" clrIdx="349"/>
  <p:cmAuthor id="2427" name="yushuping" initials="y" lastIdx="0" clrIdx="2426"/>
  <p:cmAuthor id="351" name="未知的使用者173" initials="未" lastIdx="1" clrIdx="0"/>
  <p:cmAuthor id="2428" name="Lennox" initials="L" lastIdx="0" clrIdx="2427"/>
  <p:cmAuthor id="352" name="盛枫10333537" initials="盛" lastIdx="1" clrIdx="351"/>
  <p:cmAuthor id="2429" name="512003617@qq.com" initials="5" lastIdx="0" clrIdx="2428"/>
  <p:cmAuthor id="353" name="刘威" initials="liuwei" lastIdx="1" clrIdx="352"/>
  <p:cmAuthor id="2430" name="李 力里" initials="李" lastIdx="0" clrIdx="2429"/>
  <p:cmAuthor id="354" name="朱红新10208100" initials="朱" lastIdx="10" clrIdx="50"/>
  <p:cmAuthor id="2431" name="My world" initials="M" lastIdx="0" clrIdx="2430"/>
  <p:cmAuthor id="355" name="lirui" initials="l" lastIdx="1" clrIdx="48"/>
  <p:cmAuthor id="2432" name="Liwencai" initials="L" lastIdx="0" clrIdx="2431"/>
  <p:cmAuthor id="2433" name="wangxuemeish" initials="wangxuemeish" lastIdx="0" clrIdx="2432"/>
  <p:cmAuthor id="357" name="10067286" initials="1" lastIdx="1" clrIdx="354"/>
  <p:cmAuthor id="2434" name="huangxiyue@sd.chinamobile.com" initials="h" lastIdx="0" clrIdx="2433"/>
  <p:cmAuthor id="358" name="未知的使用者186" initials="未" lastIdx="1" clrIdx="0"/>
  <p:cmAuthor id="2435" name="liuyish" initials="liuyish" lastIdx="0" clrIdx="2434"/>
  <p:cmAuthor id="359" name="MA YOU" initials="M" lastIdx="1" clrIdx="23"/>
  <p:cmAuthor id="2436" name="任涛10036216" initials="任涛10036216" lastIdx="0" clrIdx="2435"/>
  <p:cmAuthor id="360" name="未知的使用者176" initials="未" lastIdx="1" clrIdx="0"/>
  <p:cmAuthor id="2437" name="10207204" initials="1" lastIdx="0" clrIdx="2436"/>
  <p:cmAuthor id="2438" name="Liangdp" initials="L" lastIdx="0" clrIdx="2437"/>
  <p:cmAuthor id="362" name="未知的使用者178" initials="未" lastIdx="1" clrIdx="0"/>
  <p:cmAuthor id="2439" name="c ff" initials="fc" lastIdx="0" clrIdx="2438"/>
  <p:cmAuthor id="363" name="未知的使用者179" initials="未" lastIdx="1" clrIdx="0"/>
  <p:cmAuthor id="2440" name="ding ruiwen" initials="d" lastIdx="0" clrIdx="2439"/>
  <p:cmAuthor id="364" name="10260821" initials="1" lastIdx="1" clrIdx="363"/>
  <p:cmAuthor id="2441" name="cjh" initials="c" lastIdx="0" clrIdx="2440"/>
  <p:cmAuthor id="365" name="liuyanxue" initials="l" lastIdx="1" clrIdx="364"/>
  <p:cmAuthor id="2442" name="Lenovo" initials="L" lastIdx="0" clrIdx="2441"/>
  <p:cmAuthor id="366" name="钟 潇文" initials="钟" lastIdx="1" clrIdx="50"/>
  <p:cmAuthor id="2443" name="19056" initials="1" lastIdx="0" clrIdx="2442"/>
  <p:cmAuthor id="367" name="Wangjian (Frank)" initials="W" lastIdx="1" clrIdx="44"/>
  <p:cmAuthor id="2444" name="ZTE" initials="Z" lastIdx="0" clrIdx="2443"/>
  <p:cmAuthor id="368" name="Think" initials="T" lastIdx="2" clrIdx="40"/>
  <p:cmAuthor id="2445" name="10035857" initials="1" lastIdx="0" clrIdx="2444"/>
  <p:cmAuthor id="369" name="wangdaiyuan" initials="w" lastIdx="1" clrIdx="368"/>
  <p:cmAuthor id="2446" name="赦生贪狼" initials="赦" lastIdx="0" clrIdx="2445"/>
  <p:cmAuthor id="370" name="赵泽盛10022760" initials="赵" lastIdx="1" clrIdx="50"/>
  <p:cmAuthor id="2447" name="wei long" initials="wl" lastIdx="0" clrIdx="2446"/>
  <p:cmAuthor id="2448" name="lujiaxiong" initials="l" lastIdx="0" clrIdx="2447"/>
  <p:cmAuthor id="372" name="Vincent" initials="VZ" lastIdx="1" clrIdx="371"/>
  <p:cmAuthor id="2449" name="路 宇浩" initials="路" lastIdx="0" clrIdx="2448"/>
  <p:cmAuthor id="2450" name="10029265@zte.intra" initials="1" lastIdx="0" clrIdx="2449"/>
  <p:cmAuthor id="374" name="未知的使用者146" initials="未" lastIdx="1" clrIdx="0"/>
  <p:cmAuthor id="2451" name="tianyuan@cmhi.cmcc" initials="tianyuan@cmhi.cmcc" lastIdx="0" clrIdx="2450"/>
  <p:cmAuthor id="2452" name="孙傲" initials="孙" lastIdx="0" clrIdx="2451"/>
  <p:cmAuthor id="376" name="00334816" initials="0" lastIdx="1" clrIdx="375"/>
  <p:cmAuthor id="2453" name="USER580282" initials="U" lastIdx="0" clrIdx="2452"/>
  <p:cmAuthor id="377" name="10073055" initials="1" lastIdx="1" clrIdx="376"/>
  <p:cmAuthor id="2454" name="wangyajuan@hq.cmcc" initials="w" lastIdx="0" clrIdx="2453"/>
  <p:cmAuthor id="378" name="00005049" initials="0" lastIdx="1" clrIdx="377"/>
  <p:cmAuthor id="2455" name="00087583" initials="0" lastIdx="0" clrIdx="2454"/>
  <p:cmAuthor id="379" name="10024364" initials="1" lastIdx="1" clrIdx="378"/>
  <p:cmAuthor id="2456" name="X1Carbon" initials="X" lastIdx="0" clrIdx="2455"/>
  <p:cmAuthor id="380" name="sharon" initials="s" lastIdx="1" clrIdx="84"/>
  <p:cmAuthor id="2457" name="王思源" initials="M.C" lastIdx="0" clrIdx="2456"/>
  <p:cmAuthor id="381" name="未知用户131" initials="未" lastIdx="1" clrIdx="2"/>
  <p:cmAuthor id="2458" name="zhoubaihui@hq.cmcc" initials="zhoubaihui@hq.cmcc" lastIdx="0" clrIdx="2457"/>
  <p:cmAuthor id="382" name="未知用户132" initials="未" lastIdx="1" clrIdx="0"/>
  <p:cmAuthor id="2459" name="nanzi" initials="n" lastIdx="0" clrIdx="2458"/>
  <p:cmAuthor id="383" name="未知的使用者194" initials="未" lastIdx="1" clrIdx="0"/>
  <p:cmAuthor id="2460" name="周丹媛" initials="周" lastIdx="0" clrIdx="2459"/>
  <p:cmAuthor id="2461" name="gt" initials="g" lastIdx="0" clrIdx="2460"/>
  <p:cmAuthor id="2462" name="10181563" initials="1" lastIdx="0" clrIdx="2461"/>
  <p:cmAuthor id="386" name="未知用户137" initials="未" lastIdx="10" clrIdx="0"/>
  <p:cmAuthor id="2463" name="00196605" initials="0" lastIdx="0" clrIdx="2462"/>
  <p:cmAuthor id="387" name="未知用户136" initials="未" lastIdx="1" clrIdx="1"/>
  <p:cmAuthor id="2464" name="熊先奎10009191" initials="熊" lastIdx="0" clrIdx="2463"/>
  <p:cmAuthor id="2465" name="王渝斐" initials="王" lastIdx="0" clrIdx="2464"/>
  <p:cmAuthor id="2466" name="taoyu@hq.cmcc" initials="taoyu@hq." lastIdx="0" clrIdx="2465"/>
  <p:cmAuthor id="390" name="未知的使用者201" initials="未" lastIdx="8" clrIdx="0"/>
  <p:cmAuthor id="2467" name="liyite" initials="l" lastIdx="0" clrIdx="2466"/>
  <p:cmAuthor id="391" name="未知的使用者202" initials="未" lastIdx="0" clrIdx="1"/>
  <p:cmAuthor id="2468" name="Ma Loong" initials="ML" lastIdx="0" clrIdx="2467"/>
  <p:cmAuthor id="392" name="未知的使用者171" initials="未" lastIdx="3" clrIdx="1"/>
  <p:cmAuthor id="2469" name="Kaiyuan" initials="K" lastIdx="0" clrIdx="2468"/>
  <p:cmAuthor id="393" name="未知的使用者195" initials="未" lastIdx="1" clrIdx="1"/>
  <p:cmAuthor id="2470" name="刘 芷倩" initials="刘" lastIdx="0" clrIdx="2469"/>
  <p:cmAuthor id="2471" name="lmj lmj" initials="ll" lastIdx="0" clrIdx="2470"/>
  <p:cmAuthor id="395" name="10240440" initials="1" lastIdx="1" clrIdx="394"/>
  <p:cmAuthor id="2472" name="gedawei@hq.cmcc" initials="A" lastIdx="0" clrIdx="2471"/>
  <p:cmAuthor id="396" name="未知的使用者222" initials="" lastIdx="5" clrIdx="1"/>
  <p:cmAuthor id="2473" name="Zhong Zheng" initials="zz" lastIdx="0" clrIdx="2472"/>
  <p:cmAuthor id="397" name="未知的使用者203" initials="未" lastIdx="1" clrIdx="0"/>
  <p:cmAuthor id="2474" name="suxin" initials="s" lastIdx="0" clrIdx="2473"/>
  <p:cmAuthor id="398" name="10169052" initials="TC" lastIdx="2" clrIdx="397"/>
  <p:cmAuthor id="2475" name="Ridens_fANzQbIR" initials="authorId_441933391" lastIdx="0" clrIdx="2474"/>
  <p:cmAuthor id="399" name="10326543" initials="1" lastIdx="4" clrIdx="398"/>
  <p:cmAuthor id="2476" name="一桶木头屑" initials="一" lastIdx="0" clrIdx="2475"/>
  <p:cmAuthor id="2477" name="baixiwei" initials="bxw" lastIdx="0" clrIdx="2476"/>
  <p:cmAuthor id="2478" name="B DJ" initials="BD" lastIdx="0" clrIdx="2477"/>
  <p:cmAuthor id="402" name="未知用户133" initials="未" lastIdx="1" clrIdx="0"/>
  <p:cmAuthor id="2479" name="yixiaozhen@hq.cmcc" initials="g" lastIdx="0" clrIdx="2478"/>
  <p:cmAuthor id="403" name="未知的使用者218" initials="" lastIdx="1" clrIdx="2"/>
  <p:cmAuthor id="2480" name="YuMiao" initials="YM" lastIdx="0" clrIdx="2479"/>
  <p:cmAuthor id="404" name="未知的使用者219" initials="" lastIdx="8" clrIdx="0"/>
  <p:cmAuthor id="2481" name="尚宇翔" initials="尚" lastIdx="0" clrIdx="2480"/>
  <p:cmAuthor id="2482" name="张志云" initials="张" lastIdx="0" clrIdx="2481"/>
  <p:cmAuthor id="2483" name="jiafei" initials="j" lastIdx="0" clrIdx="2482"/>
  <p:cmAuthor id="2484" name="Mengxue Pan" initials="MP" lastIdx="0" clrIdx="2483"/>
  <p:cmAuthor id="2485" name="朱明威" initials="zmw" lastIdx="0" clrIdx="2484"/>
  <p:cmAuthor id="2486" name="Juliet猪立业" initials="J" lastIdx="0" clrIdx="2485"/>
  <p:cmAuthor id="410" name="未知的使用者232" initials="" lastIdx="8" clrIdx="0"/>
  <p:cmAuthor id="2487" name="咩咩so" initials="咩" lastIdx="0" clrIdx="2486"/>
  <p:cmAuthor id="411" name="alpha" initials="a" lastIdx="1" clrIdx="0"/>
  <p:cmAuthor id="2488" name="zhaoxingxing" initials="xing" lastIdx="0" clrIdx="2487"/>
  <p:cmAuthor id="412" name="未知的使用者161" initials="未" lastIdx="1" clrIdx="0"/>
  <p:cmAuthor id="2489" name="zhuzenghao" initials="z" lastIdx="0" clrIdx="2488"/>
  <p:cmAuthor id="413" name="未知的使用者130" initials="" lastIdx="3" clrIdx="0"/>
  <p:cmAuthor id="2490" name="山西公司集团客户部季文海" initials="山" lastIdx="0" clrIdx="2489"/>
  <p:cmAuthor id="414" name="Unknown User22" initials="U" lastIdx="1" clrIdx="0"/>
  <p:cmAuthor id="2491" name="山西公司集团客户部DICT及云能力中心高新宇" initials="山" lastIdx="0" clrIdx="2490"/>
  <p:cmAuthor id="415" name="未知用户184" initials="未" lastIdx="1" clrIdx="1"/>
  <p:cmAuthor id="2492" name="XJL" initials="X" lastIdx="0" clrIdx="2491"/>
  <p:cmAuthor id="2493" name="guanxiaoyu" initials="g" lastIdx="0" clrIdx="2492"/>
  <p:cmAuthor id="417" name="Unknown User23" initials="U" lastIdx="1" clrIdx="0"/>
  <p:cmAuthor id="2494" name="秀迎 郝" initials="秀郝" lastIdx="0" clrIdx="2493"/>
  <p:cmAuthor id="418" name="未知的使用者75" initials="未" lastIdx="1" clrIdx="0"/>
  <p:cmAuthor id="2495" name="Yangli(Tianjin,NPS)" initials="Y" lastIdx="0" clrIdx="2494"/>
  <p:cmAuthor id="419" name="未知用户182" initials="未" lastIdx="1" clrIdx="49"/>
  <p:cmAuthor id="2496" name="林炳" initials="G" lastIdx="0" clrIdx="2495"/>
  <p:cmAuthor id="420" name="未知用户204" initials="未" lastIdx="1" clrIdx="0"/>
  <p:cmAuthor id="2497" name="熊文剑" initials="熊" lastIdx="0" clrIdx="2496"/>
  <p:cmAuthor id="2498" name="罗斌" initials="NM" lastIdx="0" clrIdx="2497"/>
  <p:cmAuthor id="422" name="未知用户193" initials="未" lastIdx="3" clrIdx="0"/>
  <p:cmAuthor id="2499" name="on my way tian" initials="ot" lastIdx="0" clrIdx="2498"/>
  <p:cmAuthor id="423" name="未知用户194" initials="未" lastIdx="1" clrIdx="0"/>
  <p:cmAuthor id="2500" name="chensiyuan" initials="c" lastIdx="0" clrIdx="2499"/>
  <p:cmAuthor id="424" name="未知用户187" initials="未" lastIdx="10" clrIdx="0"/>
  <p:cmAuthor id="2501" name="zhanglanxin" initials="z" lastIdx="0" clrIdx="2500"/>
  <p:cmAuthor id="425" name="未知用户63" initials="未" lastIdx="1" clrIdx="0"/>
  <p:cmAuthor id="2502" name="kaiwen huang" initials="k" lastIdx="0" clrIdx="2501"/>
  <p:cmAuthor id="426" name="未知的使用者102" initials="未" lastIdx="5" clrIdx="1"/>
  <p:cmAuthor id="2503" name="贾丹阳" initials="J" lastIdx="0" clrIdx="2502"/>
  <p:cmAuthor id="427" name="未知的使用者61" initials="未" lastIdx="1" clrIdx="0"/>
  <p:cmAuthor id="2504" name="zd" initials="z" lastIdx="0" clrIdx="2503"/>
  <p:cmAuthor id="428" name="仝德志" initials="仝" lastIdx="1" clrIdx="0"/>
  <p:cmAuthor id="2505" name="joann" initials="j" lastIdx="0" clrIdx="2504"/>
  <p:cmAuthor id="429" name="未知用户112" initials="未" lastIdx="4" clrIdx="0"/>
  <p:cmAuthor id="2506" name="佳乐baby" initials="佳" lastIdx="0" clrIdx="2505"/>
  <p:cmAuthor id="430" name="未知的使用者183" initials="未" lastIdx="5" clrIdx="1"/>
  <p:cmAuthor id="2507" name="19483" initials="1" lastIdx="0" clrIdx="2506"/>
  <p:cmAuthor id="431" name="未知用户162" initials="未" lastIdx="1" clrIdx="1"/>
  <p:cmAuthor id="2508" name="Andy.Tiller" initials="A" lastIdx="0" clrIdx="2507"/>
  <p:cmAuthor id="432" name="未知用户163" initials="未" lastIdx="1" clrIdx="0"/>
  <p:cmAuthor id="2509" name="烬飞默途" initials="烬" lastIdx="0" clrIdx="2508"/>
  <p:cmAuthor id="433" name="針對所選的門市進行小範圍實驗，捕捉驅動績效的關鍵影響因子" initials="針" lastIdx="1" clrIdx="0"/>
  <p:cmAuthor id="2510" name="xuzhudan" initials="x" lastIdx="0" clrIdx="2509"/>
  <p:cmAuthor id="434" name="未知用户161" initials="未" lastIdx="1" clrIdx="0"/>
  <p:cmAuthor id="2511" name="Aimee-Zhang" initials="A" lastIdx="0" clrIdx="2510"/>
  <p:cmAuthor id="435" name="未知的使用者114" initials="未" lastIdx="1" clrIdx="0"/>
  <p:cmAuthor id="2512" name="山西公司集团客户部杨天翼" initials="山" lastIdx="0" clrIdx="2511"/>
  <p:cmAuthor id="436" name="未知用户164" initials="未" lastIdx="1" clrIdx="0"/>
  <p:cmAuthor id="2513" name="彭楷博" initials="彭" lastIdx="0" clrIdx="2512"/>
  <p:cmAuthor id="437" name="未知的使用者184" initials="未" lastIdx="8" clrIdx="0"/>
  <p:cmAuthor id="2514" name="zhangting" initials="z" lastIdx="0" clrIdx="2513"/>
  <p:cmAuthor id="438" name="未知的使用者185" initials="未" lastIdx="10" clrIdx="0"/>
  <p:cmAuthor id="2515" name="lidi" initials="l" lastIdx="0" clrIdx="2514"/>
  <p:cmAuthor id="439" name="未知用户10" initials="未" lastIdx="1" clrIdx="0"/>
  <p:cmAuthor id="2516" name="li yx" initials="ly" lastIdx="0" clrIdx="2515"/>
  <p:cmAuthor id="440" name="未知的使用者175" initials="未" lastIdx="8" clrIdx="0"/>
  <p:cmAuthor id="2517" name="lianzi (A)" initials="l(" lastIdx="0" clrIdx="2516"/>
  <p:cmAuthor id="441" name="未知的使用者151" initials="未" lastIdx="1" clrIdx="0"/>
  <p:cmAuthor id="2518" name="wanglei" initials="w" lastIdx="0" clrIdx="2517"/>
  <p:cmAuthor id="442" name="未知的使用者187" initials="未" lastIdx="1" clrIdx="0"/>
  <p:cmAuthor id="2519" name="Wangjinbo (Hangzhou, NTD)" initials="W(N" lastIdx="0" clrIdx="2518"/>
  <p:cmAuthor id="443" name="未知的使用者88" initials="未" lastIdx="1" clrIdx="1"/>
  <p:cmAuthor id="2520" name="溚溚" initials="溚" lastIdx="0" clrIdx="2519"/>
  <p:cmAuthor id="444" name="未知用户192" initials="未" lastIdx="1" clrIdx="0"/>
  <p:cmAuthor id="2521" name="sunpp" initials="s" lastIdx="0" clrIdx="2520"/>
  <p:cmAuthor id="445" name="未知用户203" initials="未" lastIdx="1" clrIdx="1"/>
  <p:cmAuthor id="2522" name="赵建华" initials="赵" lastIdx="0" clrIdx="2521"/>
  <p:cmAuthor id="446" name="未知的使用者181" initials="未" lastIdx="7" clrIdx="1"/>
  <p:cmAuthor id="2523" name="泽斌 王" initials="泽斌" lastIdx="0" clrIdx="2522"/>
  <p:cmAuthor id="447" name="未知的使用者170" initials="未" lastIdx="43" clrIdx="1"/>
  <p:cmAuthor id="2524" name="罗振（借调）" initials="U" lastIdx="0" clrIdx="2523"/>
  <p:cmAuthor id="448" name="未知的使用者190" initials="未" lastIdx="1" clrIdx="1"/>
  <p:cmAuthor id="2525" name="佟 鑫" initials="佟" lastIdx="0" clrIdx="2524"/>
  <p:cmAuthor id="449" name="未知的使用者191" initials="未" lastIdx="1" clrIdx="0"/>
  <p:cmAuthor id="2526" name="xieyx1356@163.com" initials="x" lastIdx="0" clrIdx="2525"/>
  <p:cmAuthor id="450" name="未知的使用者141" initials="未" lastIdx="8" clrIdx="0"/>
  <p:cmAuthor id="2527" name="Wenjing Zhang" initials="W" lastIdx="0" clrIdx="2526"/>
  <p:cmAuthor id="451" name="未知的使用者142" initials="未" lastIdx="1" clrIdx="0"/>
  <p:cmAuthor id="2528" name="huangsisi1@zj.cmcc" initials="huangsisi1@zj.cmcc" lastIdx="0" clrIdx="2527"/>
  <p:cmAuthor id="452" name="徐 正国" initials="徐" lastIdx="1" clrIdx="45"/>
  <p:cmAuthor id="2529" name="刘倩倩_vEFzEfqy" initials="authorId_601669028" lastIdx="0" clrIdx="2528"/>
  <p:cmAuthor id="453" name="未知的使用者143" initials="未" lastIdx="1" clrIdx="0"/>
  <p:cmAuthor id="2530" name="李俊杰|jllijunjie" initials="李俊杰" lastIdx="0" clrIdx="2529"/>
  <p:cmAuthor id="454" name="王薇（政企）" initials="王" lastIdx="1" clrIdx="57"/>
  <p:cmAuthor id="2531" name="常海防（咪咕）" initials="X" lastIdx="0" clrIdx="2530"/>
  <p:cmAuthor id="455" name="未知的使用者144" initials="未" lastIdx="1" clrIdx="0"/>
  <p:cmAuthor id="2532" name="cai hongfu" initials="ch" lastIdx="0" clrIdx="2531"/>
  <p:cmAuthor id="456" name="未知的使用者145" initials="未" lastIdx="1" clrIdx="0"/>
  <p:cmAuthor id="2533" name="lsj" initials="l" lastIdx="0" clrIdx="2532"/>
  <p:cmAuthor id="457" name="未知用户165" initials="未" lastIdx="1" clrIdx="0"/>
  <p:cmAuthor id="2534" name="rx" initials="r" lastIdx="0" clrIdx="2533"/>
  <p:cmAuthor id="458" name="未知的使用者147" initials="未" lastIdx="1" clrIdx="0"/>
  <p:cmAuthor id="2535" name="yaosx" initials="y" lastIdx="0" clrIdx="2534"/>
  <p:cmAuthor id="459" name="未知用户166" initials="未" lastIdx="8" clrIdx="0"/>
  <p:cmAuthor id="2536" name="莫失" initials="莫" lastIdx="0" clrIdx="2535"/>
  <p:cmAuthor id="460" name="未知的使用者149" initials="未" lastIdx="8" clrIdx="0"/>
  <p:cmAuthor id="2537" name="王玲玲|wanglingling35" initials="王玲玲" lastIdx="0" clrIdx="2536"/>
  <p:cmAuthor id="461" name="未知用户167" initials="未" lastIdx="1" clrIdx="0"/>
  <p:cmAuthor id="2538" name="项捷|xiangjie" initials="项捷" lastIdx="0" clrIdx="2537"/>
  <p:cmAuthor id="462" name="未知用户168" initials="未" lastIdx="1" clrIdx="0"/>
  <p:cmAuthor id="2539" name="beilu ni" initials="bn" lastIdx="0" clrIdx="2538"/>
  <p:cmAuthor id="463" name="未知用户169" initials="未" lastIdx="1" clrIdx="1"/>
  <p:cmAuthor id="2540" name="廖佩贞" initials="廖" lastIdx="0" clrIdx="2539"/>
  <p:cmAuthor id="464" name="未知用户202" initials="未" lastIdx="8" clrIdx="0"/>
  <p:cmAuthor id="2541" name="刘凯（网络）" initials="刘" lastIdx="0" clrIdx="2540"/>
  <p:cmAuthor id="465" name="未知的使用者220" initials="未" lastIdx="7" clrIdx="1"/>
  <p:cmAuthor id="2542" name="sunxing" initials="s" lastIdx="0" clrIdx="2541"/>
  <p:cmAuthor id="466" name="未知用户134" initials="未" lastIdx="10" clrIdx="0"/>
  <p:cmAuthor id="2543" name="X1 Carbon" initials="X" lastIdx="0" clrIdx="2542"/>
  <p:cmAuthor id="467" name="未知用户135" initials="未" lastIdx="1" clrIdx="0"/>
  <p:cmAuthor id="2544" name="zhushjie" initials="z" lastIdx="0" clrIdx="2543"/>
  <p:cmAuthor id="468" name="未知用户205" initials="未" lastIdx="1" clrIdx="0"/>
  <p:cmAuthor id="2545" name="dd" initials="蒋熠" lastIdx="0" clrIdx="2544"/>
  <p:cmAuthor id="469" name="未知的使用者157" initials="未" lastIdx="1" clrIdx="0"/>
  <p:cmAuthor id="2546" name="Xianke Zeng" initials="XZ" lastIdx="0" clrIdx="2545"/>
  <p:cmAuthor id="470" name="未知的使用者204" initials="未" lastIdx="1" clrIdx="0"/>
  <p:cmAuthor id="2547" name="金郁波_6Bf27JbI" initials="authorId_491789302" lastIdx="0" clrIdx="2546"/>
  <p:cmAuthor id="471" name="Yoyo Wu" initials="Y" lastIdx="2" clrIdx="0"/>
  <p:cmAuthor id="2548" name="y z" initials="yz" lastIdx="0" clrIdx="2547"/>
  <p:cmAuthor id="472" name="zhangbin" initials="z" lastIdx="6" clrIdx="0"/>
  <p:cmAuthor id="2549" name="Wangliqun (Quentin)" initials="W(" lastIdx="0" clrIdx="2548"/>
  <p:cmAuthor id="473" name="Arno.Du(杜明星)" initials="A" lastIdx="0" clrIdx="0"/>
  <p:cmAuthor id="2550" name="刘婷_YvUjNvY3" initials="authorId_1628" lastIdx="0" clrIdx="2549"/>
  <p:cmAuthor id="474" name="未知用户174" initials="未" lastIdx="1" clrIdx="0"/>
  <p:cmAuthor id="2551" name="asdf" initials="a" lastIdx="0" clrIdx="2550"/>
  <p:cmAuthor id="475" name="未知用户175" initials="未" lastIdx="1" clrIdx="1"/>
  <p:cmAuthor id="2552" name="gaoco" initials="g" lastIdx="0" clrIdx="2551"/>
  <p:cmAuthor id="476" name="Unknown User27" initials="U" lastIdx="1" clrIdx="0"/>
  <p:cmAuthor id="2553" name="刘梦莹" initials="刘" lastIdx="0" clrIdx="2552"/>
  <p:cmAuthor id="477" name="未知的使用者208" initials="未" lastIdx="1" clrIdx="0"/>
  <p:cmAuthor id="2554" name="张逸晨" initials="张" lastIdx="0" clrIdx="2553"/>
  <p:cmAuthor id="478" name="Unknown User112" initials="U" lastIdx="1" clrIdx="0"/>
  <p:cmAuthor id="2555" name="张洁01-lhq" initials="张" lastIdx="0" clrIdx="2554"/>
  <p:cmAuthor id="479" name="Unknown User59" initials="U" lastIdx="1" clrIdx="0"/>
  <p:cmAuthor id="2556" name="chenmin" initials="c" lastIdx="0" clrIdx="2555"/>
  <p:cmAuthor id="480" name="未知用户176" initials="未" lastIdx="1" clrIdx="0"/>
  <p:cmAuthor id="2557" name="杨惠芬|tzyhf" initials="杨" lastIdx="0" clrIdx="2556"/>
  <p:cmAuthor id="481" name="未知的使用者249" initials="未" lastIdx="43" clrIdx="1"/>
  <p:cmAuthor id="2558" name="未知用户273" initials="未" lastIdx="0" clrIdx="2557"/>
  <p:cmAuthor id="482" name="未知的使用者250" initials="未" lastIdx="1" clrIdx="0"/>
  <p:cmAuthor id="2559" name="李楠10204198" initials="MSOffice" lastIdx="0" clrIdx="2558"/>
  <p:cmAuthor id="483" name="未知的使用者251" initials="未" lastIdx="1" clrIdx="0"/>
  <p:cmAuthor id="2560" name="孙金凤" initials="SJF" lastIdx="0" clrIdx="2559"/>
  <p:cmAuthor id="484" name="未知的使用者246" initials="未" lastIdx="1" clrIdx="1"/>
  <p:cmAuthor id="2561" name="翟栋_VBFrBjyM" initials="authorId_AK20221026:AK20221029HCSFPP10055482" lastIdx="0" clrIdx="2560"/>
  <p:cmAuthor id="485" name="未知的使用者224" initials="未" lastIdx="1" clrIdx="0"/>
  <p:cmAuthor id="2562" name="yuwp" initials="y" lastIdx="0" clrIdx="2561"/>
  <p:cmAuthor id="486" name="未知的使用者252" initials="未" lastIdx="1" clrIdx="0"/>
  <p:cmAuthor id="2563" name="文军 傅" initials="文傅" lastIdx="0" clrIdx="2562"/>
  <p:cmAuthor id="487" name="未知的使用者253" initials="未" lastIdx="1" clrIdx="0"/>
  <p:cmAuthor id="2564" name="未知用户334" initials="未" lastIdx="0" clrIdx="2563"/>
  <p:cmAuthor id="488" name="未知的使用者192" initials="未" lastIdx="1" clrIdx="0"/>
  <p:cmAuthor id="2565" name="未知用户342" initials="未" lastIdx="0" clrIdx="2564"/>
  <p:cmAuthor id="489" name="未知的使用者254" initials="未" lastIdx="1" clrIdx="0"/>
  <p:cmAuthor id="2566" name="cjr" initials="c" lastIdx="0" clrIdx="2565"/>
  <p:cmAuthor id="490" name="未知的使用者255" initials="未" lastIdx="1" clrIdx="0"/>
  <p:cmAuthor id="2567" name="朱 坚" initials="朱" lastIdx="0" clrIdx="2566"/>
  <p:cmAuthor id="491" name="未知的使用者226" initials="未" lastIdx="8" clrIdx="0"/>
  <p:cmAuthor id="2568" name="XU bright" initials="Xb" lastIdx="0" clrIdx="2567"/>
  <p:cmAuthor id="492" name="未知用户195" initials="未" lastIdx="1" clrIdx="0"/>
  <p:cmAuthor id="2569" name="Dell" initials="D" lastIdx="0" clrIdx="2568"/>
  <p:cmAuthor id="493" name="raymond luan" initials="r" lastIdx="0" clrIdx="0"/>
  <p:cmAuthor id="2570" name="AutoBVT" initials="" lastIdx="0" clrIdx="2569"/>
  <p:cmAuthor id="494" name="未知用户208" initials="未" lastIdx="1" clrIdx="0"/>
  <p:cmAuthor id="2571" name="10040068" initials="hpy" lastIdx="0" clrIdx="2570"/>
  <p:cmAuthor id="495" name="未知用户198" initials="未" lastIdx="1" clrIdx="0"/>
  <p:cmAuthor id="2572" name="warre" initials="w" lastIdx="0" clrIdx="2571"/>
  <p:cmAuthor id="496" name="未知用户209" initials="未" lastIdx="1" clrIdx="0"/>
  <p:cmAuthor id="2573" name="hw" initials="h" lastIdx="0" clrIdx="2572"/>
  <p:cmAuthor id="497" name="未知用户36" initials="未" lastIdx="1" clrIdx="0"/>
  <p:cmAuthor id="2574" name="Mr.Wu" initials="M" lastIdx="0" clrIdx="2573"/>
  <p:cmAuthor id="498" name="Evonlin" initials="E" lastIdx="2" clrIdx="2"/>
  <p:cmAuthor id="2575" name="dsdas" initials="d" lastIdx="0" clrIdx="2574"/>
  <p:cmAuthor id="499" name="WANGZF" initials="W" lastIdx="4" clrIdx="2"/>
  <p:cmAuthor id="2576" name="victoryxs" initials="v" lastIdx="0" clrIdx="2575"/>
  <p:cmAuthor id="500" name="未知用户94" initials="未" lastIdx="0" clrIdx="1"/>
  <p:cmAuthor id="2577" name="weibh" initials="w" lastIdx="0" clrIdx="2576"/>
  <p:cmAuthor id="501" name="未知的使用者188" initials="未" lastIdx="1" clrIdx="0"/>
  <p:cmAuthor id="2578" name="hxh" initials="hxh" lastIdx="0" clrIdx="2577"/>
  <p:cmAuthor id="502" name="未知用户118" initials="未" lastIdx="1" clrIdx="0"/>
  <p:cmAuthor id="2579" name="XJ" initials="X" lastIdx="0" clrIdx="2578"/>
  <p:cmAuthor id="503" name="未知用户119" initials="未" lastIdx="5" clrIdx="1"/>
  <p:cmAuthor id="2580" name="不明使用者54" initials="不" lastIdx="0" clrIdx="2579"/>
  <p:cmAuthor id="504" name="未知用户120" initials="未" lastIdx="8" clrIdx="0"/>
  <p:cmAuthor id="2581" name="未知用户212" initials="未" lastIdx="0" clrIdx="2580"/>
  <p:cmAuthor id="505" name="未知用户121" initials="未" lastIdx="1" clrIdx="0"/>
  <p:cmAuthor id="2582" name="未知用户177" initials="未" lastIdx="0" clrIdx="2581"/>
  <p:cmAuthor id="506" name="未知用户122" initials="未" lastIdx="1" clrIdx="0"/>
  <p:cmAuthor id="2583" name="未知用户179" initials="未" lastIdx="0" clrIdx="2582"/>
  <p:cmAuthor id="507" name="梅芬 吳" initials="梅" lastIdx="1" clrIdx="85"/>
  <p:cmAuthor id="2584" name="未知用户185" initials="未" lastIdx="0" clrIdx="2583"/>
  <p:cmAuthor id="508" name="未知的使用者134" initials="未" lastIdx="1" clrIdx="0"/>
  <p:cmAuthor id="2585" name="wushihang" initials="w" lastIdx="0" clrIdx="2584"/>
  <p:cmAuthor id="509" name="未知的使用者136" initials="未" lastIdx="1" clrIdx="0"/>
  <p:cmAuthor id="2586" name="zsc" initials="z" lastIdx="0" clrIdx="2585"/>
  <p:cmAuthor id="510" name="未知的使用者139" initials="未" lastIdx="1" clrIdx="0"/>
  <p:cmAuthor id="2587" name="fuyuhan" initials="f" lastIdx="0" clrIdx="2586"/>
  <p:cmAuthor id="511" name="未知的使用者247" initials="未" lastIdx="6" clrIdx="0"/>
  <p:cmAuthor id="2588" name="Hey！Judy" initials="H" lastIdx="0" clrIdx="2587"/>
  <p:cmAuthor id="512" name="未知的使用者174" initials="未" lastIdx="1" clrIdx="0"/>
  <p:cmAuthor id="2589" name="陈思曦_Z3Ivji6B" initials="authorId_AK20221026:AK20221029HCSFPP10055444" lastIdx="0" clrIdx="2588"/>
  <p:cmAuthor id="2590" name="12462" initials="1" lastIdx="0" clrIdx="2589"/>
  <p:cmAuthor id="2591" name="罗叶" initials="罗" lastIdx="0" clrIdx="2590"/>
  <p:cmAuthor id="515" name="13757" initials="1" lastIdx="1" clrIdx="514"/>
  <p:cmAuthor id="2592" name="黄林" initials="黄" lastIdx="0" clrIdx="2591"/>
  <p:cmAuthor id="516" name="David" initials="D" lastIdx="1" clrIdx="515"/>
  <p:cmAuthor id="2593" name="10335529" initials="1" lastIdx="0" clrIdx="2592"/>
  <p:cmAuthor id="517" name="liyamei" initials="l" lastIdx="1" clrIdx="516"/>
  <p:cmAuthor id="2594" name="yenai" initials="y" lastIdx="0" clrIdx="2593"/>
  <p:cmAuthor id="2595" name="HuaFEEng" initials="H" lastIdx="0" clrIdx="2594"/>
  <p:cmAuthor id="2596" name="I_u6feq6Zr" initials="I" lastIdx="0" clrIdx="2595"/>
  <p:cmAuthor id="2597" name="13783587607" initials="1" lastIdx="0" clrIdx="2596"/>
  <p:cmAuthor id="2598" name="段瑞祥" initials="段" lastIdx="0" clrIdx="2597"/>
  <p:cmAuthor id="522" name="未知用户269" initials="未" lastIdx="2" clrIdx="0"/>
  <p:cmAuthor id="2599" name="liuti" initials="l" lastIdx="0" clrIdx="2598"/>
  <p:cmAuthor id="2600" name="tianatan" initials="t" lastIdx="0" clrIdx="2599"/>
  <p:cmAuthor id="524" name="未知的使用者227" initials="未" lastIdx="2" clrIdx="0"/>
  <p:cmAuthor id="2601" name="/ 七安 /" initials="/" lastIdx="0" clrIdx="2600"/>
  <p:cmAuthor id="525" name="未知的使用者270" initials="未" lastIdx="1" clrIdx="0"/>
  <p:cmAuthor id="2602" name="樊敏" initials="樊敏" lastIdx="0" clrIdx="2601"/>
  <p:cmAuthor id="526" name="未知的使用者228" initials="未" lastIdx="8" clrIdx="0"/>
  <p:cmAuthor id="2603" name="wangxinping" initials="w" lastIdx="0" clrIdx="2602"/>
  <p:cmAuthor id="527" name="未知的使用者229" initials="未" lastIdx="8" clrIdx="0"/>
  <p:cmAuthor id="2604" name="Nancy Chang" initials="NC" lastIdx="0" clrIdx="2603"/>
  <p:cmAuthor id="528" name="未知的使用者230" initials="未" lastIdx="1" clrIdx="0"/>
  <p:cmAuthor id="2605" name="lk" initials="l" lastIdx="0" clrIdx="2604"/>
  <p:cmAuthor id="529" name="未知的使用者231" initials="未" lastIdx="1" clrIdx="0"/>
  <p:cmAuthor id="2606" name="zhixuan zhang (张志轩)" initials="z" lastIdx="0" clrIdx="2605"/>
  <p:cmAuthor id="530" name="未知的使用者256" initials="未" lastIdx="1" clrIdx="0"/>
  <p:cmAuthor id="2607" name="js" initials="j" lastIdx="0" clrIdx="2606"/>
  <p:cmAuthor id="531" name="未知的使用者233" initials="未" lastIdx="1" clrIdx="0"/>
  <p:cmAuthor id="2608" name="zhaohongze" initials="z" lastIdx="0" clrIdx="2607"/>
  <p:cmAuthor id="532" name="未知的使用者234" initials="未" lastIdx="10" clrIdx="0"/>
  <p:cmAuthor id="2609" name="行 朱" initials="行朱" lastIdx="0" clrIdx="2608"/>
  <p:cmAuthor id="533" name="未知的使用者235" initials="未" lastIdx="1" clrIdx="0"/>
  <p:cmAuthor id="2610" name="zhang hugo" initials="z" lastIdx="0" clrIdx="2609"/>
  <p:cmAuthor id="534" name="未知的使用者236" initials="未" lastIdx="1" clrIdx="0"/>
  <p:cmAuthor id="2611" name="何继伟" initials="何" lastIdx="0" clrIdx="2610"/>
  <p:cmAuthor id="535" name="未知的使用者257" initials="未" lastIdx="1" clrIdx="0"/>
  <p:cmAuthor id="2612" name="tissy" initials="t" lastIdx="0" clrIdx="2611"/>
  <p:cmAuthor id="536" name="未知的使用者237" initials="未" lastIdx="1" clrIdx="0"/>
  <p:cmAuthor id="2613" name="jianglong" initials="j" lastIdx="0" clrIdx="2612"/>
  <p:cmAuthor id="537" name="未知的使用者238" initials="未" lastIdx="2" clrIdx="0"/>
  <p:cmAuthor id="2614" name="pc" initials="p" lastIdx="0" clrIdx="2613"/>
  <p:cmAuthor id="538" name="未知的使用者239" initials="未" lastIdx="1" clrIdx="1"/>
  <p:cmAuthor id="2615" name="张陈通|zhangchentong1" initials="张陈通" lastIdx="0" clrIdx="2614"/>
  <p:cmAuthor id="539" name="未知的使用者240" initials="未" lastIdx="1" clrIdx="0"/>
  <p:cmAuthor id="2616" name="haifengwang077@gmail.com" initials="MOU" lastIdx="0" clrIdx="2615"/>
  <p:cmAuthor id="540" name="未知的使用者241" initials="未" lastIdx="1" clrIdx="0"/>
  <p:cmAuthor id="2617" name="之之" initials="之之" lastIdx="0" clrIdx="2616"/>
  <p:cmAuthor id="541" name="未知的使用者242" initials="未" lastIdx="2" clrIdx="0"/>
  <p:cmAuthor id="2618" name="Xue Xu（CMCC）" initials="xx" lastIdx="0" clrIdx="2617"/>
  <p:cmAuthor id="542" name="未知的使用者243" initials="未" lastIdx="1" clrIdx="0"/>
  <p:cmAuthor id="2619" name="小马" initials="小" lastIdx="0" clrIdx="2618"/>
  <p:cmAuthor id="543" name="未知的使用者258" initials="未" lastIdx="8" clrIdx="0"/>
  <p:cmAuthor id="2620" name="chenyanyan" initials="c" lastIdx="0" clrIdx="2619"/>
  <p:cmAuthor id="544" name="未知的使用者259" initials="未" lastIdx="1" clrIdx="0"/>
  <p:cmAuthor id="2621" name="仲玲" initials="仲" lastIdx="0" clrIdx="2620"/>
  <p:cmAuthor id="545" name="未知的使用者260" initials="未" lastIdx="1" clrIdx="0"/>
  <p:cmAuthor id="2622" name="1206988966@qq.com" initials="1" lastIdx="0" clrIdx="2621"/>
  <p:cmAuthor id="546" name="未知的使用者261" initials="未" lastIdx="11" clrIdx="0"/>
  <p:cmAuthor id="2623" name="李毅君" initials="李" lastIdx="0" clrIdx="2622"/>
  <p:cmAuthor id="547" name="未知的使用者262" initials="未" lastIdx="7" clrIdx="1"/>
  <p:cmAuthor id="2624" name="liukaihao" initials="l" lastIdx="0" clrIdx="2623"/>
  <p:cmAuthor id="548" name="未知的使用者263" initials="未" lastIdx="1" clrIdx="2"/>
  <p:cmAuthor id="2625" name="Huxiaojian" initials="H" lastIdx="0" clrIdx="2624"/>
  <p:cmAuthor id="549" name="未知的使用者264" initials="未" lastIdx="1" clrIdx="0"/>
  <p:cmAuthor id="2626" name="zhang" initials="z" lastIdx="0" clrIdx="2625"/>
  <p:cmAuthor id="550" name="未知的使用者265" initials="未" lastIdx="1" clrIdx="0"/>
  <p:cmAuthor id="2627" name="viva zheng" initials="vz" lastIdx="0" clrIdx="2626"/>
  <p:cmAuthor id="551" name="未知的使用者266" initials="未" lastIdx="1" clrIdx="1"/>
  <p:cmAuthor id="2628" name="庹海忠" initials="authorId_373375431" lastIdx="0" clrIdx="2627"/>
  <p:cmAuthor id="552" name="未知的使用者267" initials="未" lastIdx="1" clrIdx="0"/>
  <p:cmAuthor id="2629" name="Dongzhichao (Charles)" initials="D(" lastIdx="0" clrIdx="2628"/>
  <p:cmAuthor id="553" name="未知的使用者268" initials="未" lastIdx="2" clrIdx="0"/>
  <p:cmAuthor id="2630" name="gh666 S" initials="gS" lastIdx="0" clrIdx="2629"/>
  <p:cmAuthor id="554" name="未知的使用者269" initials="未" lastIdx="7" clrIdx="1"/>
  <p:cmAuthor id="2631" name="ghostcat" initials="g" lastIdx="0" clrIdx="2630"/>
  <p:cmAuthor id="555" name="lillian" initials="l" lastIdx="1" clrIdx="0"/>
  <p:cmAuthor id="2632" name="Rebecca XiaoqianZhang" initials="rebezhang" lastIdx="0" clrIdx="2631"/>
  <p:cmAuthor id="556" name="未知用户197" initials="未" lastIdx="1" clrIdx="0"/>
  <p:cmAuthor id="2633" name="嘉琦" initials="嘉琦" lastIdx="0" clrIdx="2632"/>
  <p:cmAuthor id="557" name="未知用户157" initials="未" lastIdx="8" clrIdx="0"/>
  <p:cmAuthor id="2634" name="田宇恒" initials="田" lastIdx="0" clrIdx="2633"/>
  <p:cmAuthor id="558" name="未知用户158" initials="未" lastIdx="2" clrIdx="0"/>
  <p:cmAuthor id="2635" name="Mars" initials="M" lastIdx="0" clrIdx="2634"/>
  <p:cmAuthor id="559" name="未知用户159" initials="未" lastIdx="1" clrIdx="0"/>
  <p:cmAuthor id="2636" name="张伟凡" initials="zhangwf" lastIdx="0" clrIdx="2635"/>
  <p:cmAuthor id="560" name="未知用户160" initials="未" lastIdx="2" clrIdx="0"/>
  <p:cmAuthor id="2637" name="孙赟/产品研发部/浙江融创公司/Zmcc" initials="孙赟" lastIdx="0" clrIdx="2636"/>
  <p:cmAuthor id="2638" name="杨大龙" initials="杨大龙" lastIdx="0" clrIdx="2637"/>
  <p:cmAuthor id="562" name="順天" initials="順" lastIdx="1" clrIdx="0"/>
  <p:cmAuthor id="2639" name="李如旁" initials="李如旁" lastIdx="0" clrIdx="2638"/>
  <p:cmAuthor id="563" name=" " initials="" lastIdx="6" clrIdx="85"/>
  <p:cmAuthor id="2640" name="zjhao" initials="z" lastIdx="0" clrIdx="2639"/>
  <p:cmAuthor id="564" name="未知用户319" initials="未" lastIdx="1" clrIdx="0"/>
  <p:cmAuthor id="2641" name="keneng" initials="k" lastIdx="0" clrIdx="2640"/>
  <p:cmAuthor id="565" name="未知用户222" initials="未" lastIdx="1" clrIdx="0"/>
  <p:cmAuthor id="2642" name="fanshaowen" initials="f" lastIdx="0" clrIdx="2641"/>
  <p:cmAuthor id="566" name="未知用户87" initials="未" lastIdx="1" clrIdx="0"/>
  <p:cmAuthor id="2643" name="zhengqianqian9" initials="z" lastIdx="0" clrIdx="2642"/>
  <p:cmAuthor id="567" name="未知用户88" initials="未" lastIdx="1" clrIdx="0"/>
  <p:cmAuthor id="2644" name="yexu" initials="y" lastIdx="0" clrIdx="2643"/>
  <p:cmAuthor id="568" name="未知用户89" initials="未" lastIdx="1" clrIdx="0"/>
  <p:cmAuthor id="2645" name="方小伟|lqfxw" initials="方小伟" lastIdx="0" clrIdx="2644"/>
  <p:cmAuthor id="569" name="未知用户211" initials="未" lastIdx="8" clrIdx="0"/>
  <p:cmAuthor id="2646" name="陈盛伟" initials="陈盛伟" lastIdx="0" clrIdx="2645"/>
  <p:cmAuthor id="570" name="未知用户110" initials="未" lastIdx="1" clrIdx="0"/>
  <p:cmAuthor id="2647" name="Ziyang" initials="Z" lastIdx="0" clrIdx="2646"/>
  <p:cmAuthor id="571" name="未知用户293" initials="未" lastIdx="1" clrIdx="0"/>
  <p:cmAuthor id="2648" name="admin/Zmcc" initials="admin" lastIdx="0" clrIdx="2647"/>
  <p:cmAuthor id="572" name="未知用户234" initials="未" lastIdx="7" clrIdx="1"/>
  <p:cmAuthor id="2649" name="柯能|keneng" initials="柯能" lastIdx="0" clrIdx="2648"/>
  <p:cmAuthor id="2650" name="樊 现静" initials="樊" lastIdx="0" clrIdx="2649"/>
  <p:cmAuthor id="574" name="未知用户278" initials="未" lastIdx="1" clrIdx="0"/>
  <p:cmAuthor id="2651" name="zhangxiaoyang" initials="z" lastIdx="0" clrIdx="2650"/>
  <p:cmAuthor id="575" name="未知用户279" initials="未" lastIdx="1" clrIdx="0"/>
  <p:cmAuthor id="2652" name="大亨" initials="大" lastIdx="0" clrIdx="2651"/>
  <p:cmAuthor id="576" name="未知用户280" initials="未" lastIdx="4" clrIdx="2"/>
  <p:cmAuthor id="2653" name="yemin16" initials="yemin16" lastIdx="0" clrIdx="2652"/>
  <p:cmAuthor id="577" name="未知用户281" initials="未" lastIdx="1" clrIdx="0"/>
  <p:cmAuthor id="2654" name="李芝兰" initials="李" lastIdx="0" clrIdx="2653"/>
  <p:cmAuthor id="578" name="未知用户282" initials="未" lastIdx="3" clrIdx="1"/>
  <p:cmAuthor id="2655" name="shery" initials="s" lastIdx="0" clrIdx="2654"/>
  <p:cmAuthor id="579" name="未知用户283" initials="未" lastIdx="1" clrIdx="1"/>
  <p:cmAuthor id="2656" name="USER674487" initials="U" lastIdx="0" clrIdx="2655"/>
  <p:cmAuthor id="580" name="未知用户284" initials="未" lastIdx="1" clrIdx="0"/>
  <p:cmAuthor id="2657" name="阿郭" initials="阿" lastIdx="0" clrIdx="2656"/>
  <p:cmAuthor id="581" name="未知用户285" initials="未" lastIdx="8" clrIdx="0"/>
  <p:cmAuthor id="2658" name="wswsbo" initials="w" lastIdx="0" clrIdx="2657"/>
  <p:cmAuthor id="582" name="未知的使用者205" initials="未" lastIdx="0" clrIdx="1"/>
  <p:cmAuthor id="2659" name="Carith" initials="C" lastIdx="0" clrIdx="2658"/>
  <p:cmAuthor id="583" name="78234500@qq.com" initials="7" lastIdx="1" clrIdx="0"/>
  <p:cmAuthor id="2660" name="WPS_1672491172" initials="W" lastIdx="0" clrIdx="2659"/>
  <p:cmAuthor id="2661" name="丁" initials="丁" lastIdx="0" clrIdx="2660"/>
  <p:cmAuthor id="585" name="未知用户290" initials="未" lastIdx="2" clrIdx="0"/>
  <p:cmAuthor id="2662" name="fxy" initials="f" lastIdx="0" clrIdx="2661"/>
  <p:cmAuthor id="586" name="未知用户291" initials="未" lastIdx="8" clrIdx="0"/>
  <p:cmAuthor id="2663" name="琦莹 吴" initials="琦莹" lastIdx="0" clrIdx="2662"/>
  <p:cmAuthor id="587" name="未知用户292" initials="未" lastIdx="1" clrIdx="0"/>
  <p:cmAuthor id="2664" name="提笔忘字" initials="提" lastIdx="0" clrIdx="2663"/>
  <p:cmAuthor id="2665" name="艾启明" initials="A" lastIdx="0" clrIdx="2664"/>
  <p:cmAuthor id="589" name="未知用户295" initials="未" lastIdx="1" clrIdx="0"/>
  <p:cmAuthor id="2666" name="马苑铭" initials="马" lastIdx="0" clrIdx="2665"/>
  <p:cmAuthor id="590" name="未知用户297" initials="未" lastIdx="1" clrIdx="0"/>
  <p:cmAuthor id="2667" name="王新尧" initials="王" lastIdx="0" clrIdx="2666"/>
  <p:cmAuthor id="591" name="panjm" initials="p" lastIdx="1" clrIdx="0"/>
  <p:cmAuthor id="2668" name="Shadow" initials="S" lastIdx="0" clrIdx="2667"/>
  <p:cmAuthor id="592" name="ye gusong" initials="y" lastIdx="1" clrIdx="0"/>
  <p:cmAuthor id="2669" name="军豪 李" initials="军豪" lastIdx="0" clrIdx="2668"/>
  <p:cmAuthor id="593" name="wei muzi" initials="w" lastIdx="1" clrIdx="4"/>
  <p:cmAuthor id="2670" name="企业用户_803309284" initials="企" lastIdx="0" clrIdx="2669"/>
  <p:cmAuthor id="594" name="孙" initials="孙" lastIdx="1" clrIdx="50"/>
  <p:cmAuthor id="2671" name="Chenpeiran(S)" initials="C" lastIdx="0" clrIdx="2670"/>
  <p:cmAuthor id="595" name="liuchunhua199110" initials="l" lastIdx="3" clrIdx="3"/>
  <p:cmAuthor id="2672" name="yanghaitao (G)" initials="y(" lastIdx="0" clrIdx="2671"/>
  <p:cmAuthor id="596" name="Microsoft Office User" initials="M" lastIdx="2" clrIdx="86"/>
  <p:cmAuthor id="597" name="未知用户256" initials="未" lastIdx="1" clrIdx="0"/>
  <p:cmAuthor id="598" name="未知用户257" initials="未" lastIdx="1" clrIdx="0"/>
  <p:cmAuthor id="599" name="未知用户258" initials="未" lastIdx="8" clrIdx="0"/>
  <p:cmAuthor id="600" name="未知用户287" initials="未" lastIdx="0" clrIdx="1"/>
  <p:cmAuthor id="601" name="未知用户288" initials="未" lastIdx="1" clrIdx="0"/>
  <p:cmAuthor id="604" name="未知的使用者140" initials="未" lastIdx="1" clrIdx="1"/>
  <p:cmAuthor id="605" name="yudi lin" initials="y" lastIdx="0" clrIdx="0"/>
  <p:cmAuthor id="606" name="未知用户249" initials="未" lastIdx="1" clrIdx="0"/>
  <p:cmAuthor id="607" name="liuzga" initials="l" lastIdx="1" clrIdx="3"/>
  <p:cmAuthor id="608" name="49554261@qq.com" initials="4" lastIdx="2" clrIdx="2"/>
  <p:cmAuthor id="609" name="未知用户230" initials="未" lastIdx="1" clrIdx="0"/>
  <p:cmAuthor id="610" name="11839" initials="1" lastIdx="1" clrIdx="609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zhangchen" initials="z" lastIdx="1" clrIdx="614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5" name="未知用户235" initials="未" lastIdx="1" clrIdx="2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3" name="Carol Kelly" initials="C" lastIdx="1" clrIdx="0"/>
  <p:cmAuthor id="634" name="未知的使用者155" initials="未" lastIdx="1" clrIdx="0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9" name="qijf" initials="q" lastIdx="2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yangxy" initials="y" lastIdx="1" clrIdx="88"/>
  <p:cmAuthor id="667" name="未知用户311" initials="未" lastIdx="2" clrIdx="0"/>
  <p:cmAuthor id="668" name="未知用户312" initials="未" lastIdx="1" clrIdx="0"/>
  <p:cmAuthor id="670" name="未知用户314" initials="未" lastIdx="1" clrIdx="1"/>
  <p:cmAuthor id="671" name="晓  曲" initials="晓" lastIdx="1" clrIdx="0"/>
  <p:cmAuthor id="673" name="未知用户216" initials="未" lastIdx="1" clrIdx="0"/>
  <p:cmAuthor id="674" name="孟连磊" initials="孟" lastIdx="1" clrIdx="0"/>
  <p:cmAuthor id="676" name="未知的使用者177" initials="未" lastIdx="8" clrIdx="0"/>
  <p:cmAuthor id="697" name="幸全" initials="幸全" lastIdx="0" clrIdx="696"/>
  <p:cmAuthor id="698" name="wanwan" initials="w" lastIdx="0" clrIdx="697"/>
  <p:cmAuthor id="699" name="wangwei" initials="vv" lastIdx="0" clrIdx="698"/>
  <p:cmAuthor id="700" name="xuruoyun" initials="x" lastIdx="0" clrIdx="699"/>
  <p:cmAuthor id="701" name="guoxx" initials="g" lastIdx="0" clrIdx="700"/>
  <p:cmAuthor id="702" name="PJ Landwehrle" initials="P" lastIdx="0" clrIdx="701"/>
  <p:cmAuthor id="703" name="Steve Thorne" initials="S" lastIdx="0" clrIdx="702"/>
  <p:cmAuthor id="704" name="smkhan" initials="s" lastIdx="0" clrIdx="703"/>
  <p:cmAuthor id="705" name="李超（IT）" initials="李" lastIdx="0" clrIdx="704"/>
  <p:cmAuthor id="706" name="朱磊" initials="朱" lastIdx="0" clrIdx="705"/>
  <p:cmAuthor id="707" name="李岩（IT）" initials="李" lastIdx="0" clrIdx="706"/>
  <p:cmAuthor id="708" name="13686" initials="1" lastIdx="0" clrIdx="707"/>
  <p:cmAuthor id="709" name="hq" initials="h" lastIdx="0" clrIdx="708"/>
  <p:cmAuthor id="710" name="sunyufang" initials="s" lastIdx="0" clrIdx="709"/>
  <p:cmAuthor id="711" name="屠琰华|tuyanhua" initials="屠琰华" lastIdx="0" clrIdx="710"/>
  <p:cmAuthor id="712" name="孙忆雯|sunyiwen" initials="孙忆雯" lastIdx="0" clrIdx="711"/>
  <p:cmAuthor id="713" name="M lk" initials="Ml" lastIdx="0" clrIdx="712"/>
  <p:cmAuthor id="714" name="10206899" initials="1" lastIdx="0" clrIdx="713"/>
  <p:cmAuthor id="715" name="陈辉|chenhui41" initials="陈辉" lastIdx="0" clrIdx="714"/>
  <p:cmAuthor id="716" name="彦涛 徐" initials="彦徐" lastIdx="0" clrIdx="715"/>
  <p:cmAuthor id="717" name="未知用户21" initials="未" lastIdx="0" clrIdx="716"/>
  <p:cmAuthor id="718" name="郑屹峰|zhengyif" initials="郑屹峰" lastIdx="0" clrIdx="717"/>
  <p:cmAuthor id="719" name="张雷" initials="张" lastIdx="0" clrIdx="718"/>
  <p:cmAuthor id="720" name="yang xiaomin" initials="yx" lastIdx="0" clrIdx="719"/>
  <p:cmAuthor id="721" name="刘天龙" initials="ltl" lastIdx="0" clrIdx="720"/>
  <p:cmAuthor id="722" name="B YY" initials="BY" lastIdx="0" clrIdx="721"/>
  <p:cmAuthor id="723" name="10040290" initials="1" lastIdx="0" clrIdx="722"/>
  <p:cmAuthor id="724" name="puchengzu" initials="p" lastIdx="0" clrIdx="723"/>
  <p:cmAuthor id="725" name="Tina W" initials="TW" lastIdx="0" clrIdx="724"/>
  <p:cmAuthor id="726" name="00070164" initials="0" lastIdx="0" clrIdx="725"/>
  <p:cmAuthor id="727" name="10087098" initials="1" lastIdx="0" clrIdx="726"/>
  <p:cmAuthor id="728" name="zhouwd" initials="1" lastIdx="0" clrIdx="727"/>
  <p:cmAuthor id="729" name="马云飞10014438" initials="马" lastIdx="0" clrIdx="728"/>
  <p:cmAuthor id="730" name="10025093" initials="1" lastIdx="0" clrIdx="729"/>
  <p:cmAuthor id="731" name="User" initials="U" lastIdx="0" clrIdx="730"/>
  <p:cmAuthor id="732" name="baiby" initials="baiby" lastIdx="0" clrIdx="731"/>
  <p:cmAuthor id="733" name="Mia Vida Villanueva" initials="MVV" lastIdx="0" clrIdx="732"/>
  <p:cmAuthor id="734" name="未知用户443" initials="未" lastIdx="0" clrIdx="733"/>
  <p:cmAuthor id="735" name="Helpdesk" initials="H" lastIdx="0" clrIdx="734"/>
  <p:cmAuthor id="736" name="未知用户411" initials="未" lastIdx="0" clrIdx="735"/>
  <p:cmAuthor id="737" name="莫霄雁" initials="莫" lastIdx="0" clrIdx="736"/>
  <p:cmAuthor id="738" name="未知用户444" initials="未" lastIdx="0" clrIdx="737"/>
  <p:cmAuthor id="739" name="未知用户413" initials="未" lastIdx="0" clrIdx="738"/>
  <p:cmAuthor id="740" name="章晨衍/经营分析室/市场部/hzzmcc/Zmcc" initials="章" lastIdx="0" clrIdx="739"/>
  <p:cmAuthor id="741" name="sunqi" initials="s" lastIdx="0" clrIdx="740"/>
  <p:cmAuthor id="742" name="未知用户445" initials="未" lastIdx="0" clrIdx="741"/>
  <p:cmAuthor id="743" name="许贝旎" initials="许" lastIdx="0" clrIdx="742"/>
  <p:cmAuthor id="744" name="未知用户446" initials="未" lastIdx="0" clrIdx="743"/>
  <p:cmAuthor id="745" name="刘家玮" initials="刘" lastIdx="0" clrIdx="744"/>
  <p:cmAuthor id="746" name="zqsgs" initials="z" lastIdx="0" clrIdx="745"/>
  <p:cmAuthor id="747" name="未知用户447" initials="未" lastIdx="0" clrIdx="746"/>
  <p:cmAuthor id="748" name="石晓利" initials="C" lastIdx="0" clrIdx="747"/>
  <p:cmAuthor id="749" name="未知用户448" initials="未" lastIdx="0" clrIdx="748"/>
  <p:cmAuthor id="750" name="未知用户333" initials="未" lastIdx="0" clrIdx="749"/>
  <p:cmAuthor id="751" name="zhangbaolin" initials="z" lastIdx="0" clrIdx="750"/>
  <p:cmAuthor id="752" name="未知用户417" initials="未" lastIdx="0" clrIdx="751"/>
  <p:cmAuthor id="753" name="未知用户449" initials="未" lastIdx="0" clrIdx="752"/>
  <p:cmAuthor id="754" name="未知用户418" initials="未" lastIdx="0" clrIdx="753"/>
  <p:cmAuthor id="755" name="未知用户450" initials="未" lastIdx="0" clrIdx="754"/>
  <p:cmAuthor id="756" name="未知用户423" initials="未" lastIdx="0" clrIdx="755"/>
  <p:cmAuthor id="757" name="未知用户424" initials="未" lastIdx="0" clrIdx="756"/>
  <p:cmAuthor id="758" name="未知用户425" initials="未" lastIdx="0" clrIdx="757"/>
  <p:cmAuthor id="759" name="WHX" initials="W" lastIdx="0" clrIdx="758"/>
  <p:cmAuthor id="760" name="未知用户451" initials="未" lastIdx="0" clrIdx="759"/>
  <p:cmAuthor id="761" name="未知用户452" initials="未" lastIdx="0" clrIdx="760"/>
  <p:cmAuthor id="762" name="杨 文节" initials="" lastIdx="0" clrIdx="761"/>
  <p:cmAuthor id="763" name="未知用户453" initials="未" lastIdx="0" clrIdx="762"/>
  <p:cmAuthor id="764" name="未知用户454" initials="未" lastIdx="0" clrIdx="763"/>
  <p:cmAuthor id="765" name="未知用户455" initials="未" lastIdx="0" clrIdx="764"/>
  <p:cmAuthor id="766" name="未知用户456" initials="未" lastIdx="0" clrIdx="765"/>
  <p:cmAuthor id="767" name="未知用户457" initials="未" lastIdx="0" clrIdx="766"/>
  <p:cmAuthor id="768" name="未知用户458" initials="未" lastIdx="0" clrIdx="767"/>
  <p:cmAuthor id="769" name="風輕 雲淡" initials="風輕" lastIdx="0" clrIdx="768"/>
  <p:cmAuthor id="770" name="张 青山" initials="张" lastIdx="0" clrIdx="769"/>
  <p:cmAuthor id="771" name="张青山" initials="张青山" lastIdx="0" clrIdx="770"/>
  <p:cmAuthor id="772" name="zrf" initials="zrf" lastIdx="0" clrIdx="771"/>
  <p:cmAuthor id="773" name="A6910@365ms.vip" initials="A" lastIdx="0" clrIdx="772"/>
  <p:cmAuthor id="774" name="A6910" initials="A" lastIdx="0" clrIdx="773"/>
  <p:cmAuthor id="775" name="gulib" initials="g" lastIdx="0" clrIdx="774"/>
  <p:cmAuthor id="776" name="进 揭" initials="进" lastIdx="0" clrIdx="775"/>
  <p:cmAuthor id="777" name="10133177" initials="1" lastIdx="0" clrIdx="776"/>
  <p:cmAuthor id="778" name="ASUS" initials="A" lastIdx="0" clrIdx="777"/>
  <p:cmAuthor id="779" name="郑银萍|zhengyinping" initials="郑银萍" lastIdx="0" clrIdx="778"/>
  <p:cmAuthor id="780" name="leilinghong" initials="l" lastIdx="0" clrIdx="779"/>
  <p:cmAuthor id="781" name="cmri" initials="c" lastIdx="0" clrIdx="780"/>
  <p:cmAuthor id="782" name="黄通东_MbQvnUvu" initials="黄" lastIdx="0" clrIdx="781"/>
  <p:cmAuthor id="783" name="10015046" initials="1" lastIdx="0" clrIdx="782"/>
  <p:cmAuthor id="784" name="migu" initials="m" lastIdx="0" clrIdx="783"/>
  <p:cmAuthor id="785" name="未知用户271" initials="未" lastIdx="0" clrIdx="784"/>
  <p:cmAuthor id="786" name="10072453" initials="1" lastIdx="0" clrIdx="785"/>
  <p:cmAuthor id="787" name="未知用户388" initials="未" lastIdx="0" clrIdx="786"/>
  <p:cmAuthor id="788" name="wuxinyu10@zj.cmcc" initials="w" lastIdx="0" clrIdx="787"/>
  <p:cmAuthor id="789" name="Lenovo User" initials="L" lastIdx="0" clrIdx="788"/>
  <p:cmAuthor id="790" name="未知用户224" initials="未" lastIdx="0" clrIdx="789"/>
  <p:cmAuthor id="791" name="成玉玉" initials="成" lastIdx="0" clrIdx="790"/>
  <p:cmAuthor id="792" name="caipeiyuan@sd.cmcc" initials="c" lastIdx="0" clrIdx="791"/>
  <p:cmAuthor id="381437688" name="谢学斌" initials="谢" lastIdx="0" clrIdx="0"/>
  <p:cmAuthor id="793" name="张雅琦" initials="张" lastIdx="0" clrIdx="792"/>
  <p:cmAuthor id="794" name="朱悦龙" initials="朱" lastIdx="0" clrIdx="793"/>
  <p:cmAuthor id="795" name="evil" initials="e" lastIdx="0" clrIdx="794"/>
  <p:cmAuthor id="796" name="未知用户259" initials="未" lastIdx="0" clrIdx="795"/>
  <p:cmAuthor id="797" name="吕志勇" initials="吕" lastIdx="0" clrIdx="796"/>
  <p:cmAuthor id="798" name="叶得会" initials="叶" lastIdx="0" clrIdx="797"/>
  <p:cmAuthor id="799" name="yq_yaoxin@bj.cmcc" initials="yq_yaoxin@bj.cmcc" lastIdx="0" clrIdx="798"/>
  <p:cmAuthor id="800" name="未知的使用者113" initials="" lastIdx="0" clrIdx="799"/>
  <p:cmAuthor id="801" name="Paisy" initials="P" lastIdx="0" clrIdx="800"/>
  <p:cmAuthor id="803" name="Xiaosu Wang" initials="X" lastIdx="0" clrIdx="802"/>
  <p:cmAuthor id="804" name="未知用户270" initials="未" lastIdx="0" clrIdx="803"/>
  <p:cmAuthor id="805" name="USER631805" initials="U" lastIdx="0" clrIdx="804"/>
  <p:cmAuthor id="806" name="zhangbai" initials="z" lastIdx="0" clrIdx="805"/>
  <p:cmAuthor id="807" name="未知用户19" initials="未" lastIdx="0" clrIdx="806"/>
  <p:cmAuthor id="808" name="Nero" initials="N" lastIdx="0" clrIdx="807"/>
  <p:cmAuthor id="809" name="yifan song" initials="y" lastIdx="0" clrIdx="808"/>
  <p:cmAuthor id="810" name="00332340" initials="0" lastIdx="0" clrIdx="809"/>
  <p:cmAuthor id="811" name="00260515" initials="HRP" lastIdx="0" clrIdx="810"/>
  <p:cmAuthor id="812" name="莊安君" initials="莊" lastIdx="0" clrIdx="811"/>
  <p:cmAuthor id="813" name="未知的使用者73" initials="" lastIdx="0" clrIdx="812"/>
  <p:cmAuthor id="814" name="陳建璋" initials="陳" lastIdx="0" clrIdx="813"/>
  <p:cmAuthor id="815" name="建璋" initials="建" lastIdx="0" clrIdx="814"/>
  <p:cmAuthor id="816" name="77482" initials="7" lastIdx="0" clrIdx="815"/>
  <p:cmAuthor id="817" name="yi tian" initials="y" lastIdx="0" clrIdx="816"/>
  <p:cmAuthor id="818" name="未知用户265" initials="未" lastIdx="0" clrIdx="817"/>
  <p:cmAuthor id="819" name="yj W" initials="y" lastIdx="0" clrIdx="818"/>
  <p:cmAuthor id="820" name="未知用户267" initials="未" lastIdx="0" clrIdx="819"/>
  <p:cmAuthor id="821" name="liuxie" initials="l" lastIdx="0" clrIdx="820"/>
  <p:cmAuthor id="822" name="张因然10112423" initials="1" lastIdx="0" clrIdx="821"/>
  <p:cmAuthor id="823" name="未知用户241" initials="未" lastIdx="0" clrIdx="822"/>
  <p:cmAuthor id="824" name="未知用户242" initials="未" lastIdx="0" clrIdx="823"/>
  <p:cmAuthor id="825" name="杨强" initials="杨" lastIdx="0" clrIdx="824"/>
  <p:cmAuthor id="826" name="10024885" initials="1" lastIdx="0" clrIdx="825"/>
  <p:cmAuthor id="827" name="檀晟 陈" initials="檀晟" lastIdx="0" clrIdx="826"/>
  <p:cmAuthor id="828" name="未知用户227" initials="未" lastIdx="0" clrIdx="827"/>
  <p:cmAuthor id="829" name="未知用户298" initials="未" lastIdx="0" clrIdx="828"/>
  <p:cmAuthor id="830" name="未知用户299" initials="未" lastIdx="0" clrIdx="829"/>
  <p:cmAuthor id="831" name="10181267" initials="1" lastIdx="0" clrIdx="830"/>
  <p:cmAuthor id="832" name="未知用户302" initials="未" lastIdx="0" clrIdx="831"/>
  <p:cmAuthor id="833" name="10009993" initials="1" lastIdx="0" clrIdx="832"/>
  <p:cmAuthor id="834" name="10023731" initials="1" lastIdx="0" clrIdx="833"/>
  <p:cmAuthor id="835" name="許詩婕" initials="許" lastIdx="0" clrIdx="834"/>
  <p:cmAuthor id="836" name="niujie" initials="c" lastIdx="0" clrIdx="835"/>
  <p:cmAuthor id="837" name="minil" initials="m" lastIdx="0" clrIdx="836"/>
  <p:cmAuthor id="838" name="15106" initials="1" lastIdx="0" clrIdx="837"/>
  <p:cmAuthor id="839" name="赵 璐" initials="赵" lastIdx="0" clrIdx="838"/>
  <p:cmAuthor id="840" name="Zhu, Hawk" initials="Z" lastIdx="0" clrIdx="839"/>
  <p:cmAuthor id="841" name="tanjp" initials="t" lastIdx="0" clrIdx="840"/>
  <p:cmAuthor id="842" name="YS" initials="Y" lastIdx="0" clrIdx="841"/>
  <p:cmAuthor id="843" name="10285279" initials="1" lastIdx="0" clrIdx="842"/>
  <p:cmAuthor id="844" name="Jdi" initials="J" lastIdx="0" clrIdx="843"/>
  <p:cmAuthor id="845" name="未知用户337" initials="未" lastIdx="0" clrIdx="844"/>
  <p:cmAuthor id="846" name="未知用户239" initials="未" lastIdx="0" clrIdx="845"/>
  <p:cmAuthor id="847" name="chenmh" initials="c" lastIdx="0" clrIdx="846"/>
  <p:cmAuthor id="848" name="WPS_1679281038" initials="W" lastIdx="0" clrIdx="847"/>
  <p:cmAuthor id="849" name="CVTEr" initials="C" lastIdx="0" clrIdx="848"/>
  <p:cmAuthor id="850" name="June C" initials="J" lastIdx="0" clrIdx="849"/>
  <p:cmAuthor id="851" name="00270" initials="0" lastIdx="0" clrIdx="850"/>
  <p:cmAuthor id="852" name="杨占军" initials="杨" lastIdx="0" clrIdx="851"/>
  <p:cmAuthor id="853" name="IBM_USER" initials="I" lastIdx="0" clrIdx="852"/>
  <p:cmAuthor id="854" name="aa" initials="a" lastIdx="0" clrIdx="853"/>
  <p:cmAuthor id="855" name="shinevin liu" initials="s" lastIdx="0" clrIdx="854"/>
  <p:cmAuthor id="856" name="Davidpeng" initials="D" lastIdx="0" clrIdx="855"/>
  <p:cmAuthor id="857" name="dbc" initials="d" lastIdx="0" clrIdx="856"/>
  <p:cmAuthor id="858" name="吴军影" initials="吴" lastIdx="0" clrIdx="857"/>
  <p:cmAuthor id="859" name="夏泽宇" initials="夏" lastIdx="0" clrIdx="858"/>
  <p:cmAuthor id="860" name="冯学沛" initials="冯" lastIdx="0" clrIdx="859"/>
  <p:cmAuthor id="861" name="未知的使用者119" initials="" lastIdx="0" clrIdx="860"/>
  <p:cmAuthor id="862" name="杨 超" initials="杨" lastIdx="0" clrIdx="861"/>
  <p:cmAuthor id="863" name="董艺萱00344473" initials="董艺萱003444" lastIdx="0" clrIdx="862"/>
  <p:cmAuthor id="864" name="Rex" initials="R" lastIdx="0" clrIdx="863"/>
  <p:cmAuthor id="865" name="10076178" initials="1" lastIdx="0" clrIdx="864"/>
  <p:cmAuthor id="866" name="10145512" initials="1" lastIdx="0" clrIdx="865"/>
  <p:cmAuthor id="867" name="10169602" initials="1" lastIdx="0" clrIdx="866"/>
  <p:cmAuthor id="868" name="10225041" initials="1" lastIdx="0" clrIdx="867"/>
  <p:cmAuthor id="869" name="00158845" initials="0" lastIdx="0" clrIdx="868"/>
  <p:cmAuthor id="870" name="未知的使用者67" initials="" lastIdx="0" clrIdx="869"/>
  <p:cmAuthor id="871" name="10201331" initials="1" lastIdx="0" clrIdx="870"/>
  <p:cmAuthor id="872" name="小智" initials="小" lastIdx="0" clrIdx="871"/>
  <p:cmAuthor id="873" name="10078316" initials="1" lastIdx="0" clrIdx="872"/>
  <p:cmAuthor id="874" name="齐登宝" initials="齐" lastIdx="0" clrIdx="873"/>
  <p:cmAuthor id="875" name="不明使用者56" initials="不" lastIdx="0" clrIdx="874"/>
  <p:cmAuthor id="876" name="永月墨夜" initials="永" lastIdx="0" clrIdx="875"/>
  <p:cmAuthor id="877" name="李哲(ZheLi)-顺丰科技" initials="a" lastIdx="0" clrIdx="876"/>
  <p:cmAuthor id="878" name="Echo" initials="E" lastIdx="0" clrIdx="877"/>
  <p:cmAuthor id="879" name="李 晓菲" initials="李" lastIdx="0" clrIdx="878"/>
  <p:cmAuthor id="880" name="sjzx" initials="s" lastIdx="0" clrIdx="879"/>
  <p:cmAuthor id="881" name="yang.yuan" initials="y" lastIdx="0" clrIdx="880"/>
  <p:cmAuthor id="882" name="王娟" initials="1" lastIdx="0" clrIdx="881"/>
  <p:cmAuthor id="883" name="qyke" initials="q" lastIdx="0" clrIdx="882"/>
  <p:cmAuthor id="884" name="dengwanting" initials="d" lastIdx="0" clrIdx="883"/>
  <p:cmAuthor id="885" name="Wenjing zhou" initials="Wz" lastIdx="0" clrIdx="884"/>
  <p:cmAuthor id="886" name="gus9@chinaunicom.cn" initials="g" lastIdx="0" clrIdx="885"/>
  <p:cmAuthor id="887" name="未知的使用者26" initials="未" lastIdx="0" clrIdx="886"/>
  <p:cmAuthor id="888" name="未知的使用者43" initials="未" lastIdx="0" clrIdx="887"/>
  <p:cmAuthor id="889" name="Aqf" initials="A" lastIdx="0" clrIdx="888"/>
  <p:cmAuthor id="890" name="8310" initials="8" lastIdx="0" clrIdx="889"/>
  <p:cmAuthor id="891" name="林煦/SGS/FMCC" initials="林" lastIdx="0" clrIdx="890"/>
  <p:cmAuthor id="892" name="陈振中|chenzhenz" initials="陈振中" lastIdx="0" clrIdx="891"/>
  <p:cmAuthor id="893" name="SHY" initials="S" lastIdx="0" clrIdx="892"/>
  <p:cmAuthor id="894" name="10099398" initials="1" lastIdx="0" clrIdx="893"/>
  <p:cmAuthor id="895" name="杨柳" initials="柳" lastIdx="0" clrIdx="894"/>
  <p:cmAuthor id="896" name="10090896" initials="1" lastIdx="0" clrIdx="895"/>
  <p:cmAuthor id="897" name="WPS_1686010660" initials="W" lastIdx="0" clrIdx="896"/>
  <p:cmAuthor id="898" name="未知的使用者77" initials="未" lastIdx="0" clrIdx="897"/>
  <p:cmAuthor id="899" name="未知的使用者78" initials="未" lastIdx="0" clrIdx="898"/>
  <p:cmAuthor id="900" name="49261" initials="4" lastIdx="0" clrIdx="899"/>
  <p:cmAuthor id="901" name="KZY" initials="K" lastIdx="0" clrIdx="900"/>
  <p:cmAuthor id="902" name="未知的使用者82" initials="未" lastIdx="0" clrIdx="901"/>
  <p:cmAuthor id="903" name="梁叶欢" initials="梁" lastIdx="0" clrIdx="902"/>
  <p:cmAuthor id="904" name="zhaoqi" initials="z" lastIdx="0" clrIdx="903"/>
  <p:cmAuthor id="905" name="CMCC" initials="C" lastIdx="0" clrIdx="904"/>
  <p:cmAuthor id="906" name="wuyanna" initials="w" lastIdx="0" clrIdx="905"/>
  <p:cmAuthor id="907" name="郝佳宁" initials="郝" lastIdx="0" clrIdx="906"/>
  <p:cmAuthor id="908" name="hwjjjjjjjj" initials="h" lastIdx="0" clrIdx="907"/>
  <p:cmAuthor id="909" name="CHRISYU" initials="C" lastIdx="0" clrIdx="908"/>
  <p:cmAuthor id="910" name="远" initials="远" lastIdx="0" clrIdx="909"/>
  <p:cmAuthor id="911" name="张波" initials="张" lastIdx="0" clrIdx="910"/>
  <p:cmAuthor id="912" name="胡益铭" initials="胡" lastIdx="0" clrIdx="911"/>
  <p:cmAuthor id="913" name="fymyamin" initials="f" lastIdx="0" clrIdx="912"/>
  <p:cmAuthor id="914" name="张璐" initials="张" lastIdx="0" clrIdx="913"/>
  <p:cmAuthor id="915" name="Wu, Jing 1. (NSB - CN/Hangzhou)" initials="WJ1(C" lastIdx="0" clrIdx="914"/>
  <p:cmAuthor id="916" name="朱毓澄|zhuyucheng2" initials="朱毓澄" lastIdx="0" clrIdx="915"/>
  <p:cmAuthor id="917" name="chenjiayue" initials="c" lastIdx="0" clrIdx="916"/>
  <p:cmAuthor id="918" name="未知用户178" initials="未" lastIdx="0" clrIdx="917"/>
  <p:cmAuthor id="919" name="PC" initials="P" lastIdx="0" clrIdx="918"/>
  <p:cmAuthor id="920" name="未知用户186" initials="未" lastIdx="0" clrIdx="919"/>
  <p:cmAuthor id="921" name="未知的使用者169" initials="未" lastIdx="0" clrIdx="920"/>
  <p:cmAuthor id="922" name="未知的使用者182" initials="未" lastIdx="0" clrIdx="921"/>
  <p:cmAuthor id="923" name="未知的使用者162" initials="未" lastIdx="0" clrIdx="922"/>
  <p:cmAuthor id="924" name="未知的使用者152" initials="未" lastIdx="0" clrIdx="923"/>
  <p:cmAuthor id="925" name="未知的使用者180" initials="未" lastIdx="0" clrIdx="924"/>
  <p:cmAuthor id="926" name="59314" initials="5" lastIdx="0" clrIdx="925"/>
  <p:cmAuthor id="927" name="未知的使用者148" initials="未" lastIdx="0" clrIdx="926"/>
  <p:cmAuthor id="928" name="未知用户138" initials="未" lastIdx="0" clrIdx="927"/>
  <p:cmAuthor id="929" name="未知用户130" initials="未" lastIdx="0" clrIdx="928"/>
  <p:cmAuthor id="930" name="俊呈 賴" initials="俊呈" lastIdx="0" clrIdx="929"/>
  <p:cmAuthor id="931" name="未知的使用者221" initials="" lastIdx="0" clrIdx="930"/>
  <p:cmAuthor id="932" name="未知的使用者223" initials="" lastIdx="0" clrIdx="931"/>
  <p:cmAuthor id="933" name="未知的使用者225" initials="" lastIdx="0" clrIdx="932"/>
  <p:cmAuthor id="934" name="未知的使用者217" initials="" lastIdx="0" clrIdx="933"/>
  <p:cmAuthor id="935" name="孙遒_UnMrQ36N" initials="authorId_1008746-10054700" lastIdx="0" clrIdx="934"/>
  <p:cmAuthor id="936" name="DaiZhengYuan" initials="D" lastIdx="0" clrIdx="935"/>
  <p:cmAuthor id="937" name="xuting@sn.cmcc" initials="A" lastIdx="0" clrIdx="936"/>
  <p:cmAuthor id="938" name="未知的使用者131" initials="" lastIdx="0" clrIdx="937"/>
  <p:cmAuthor id="939" name="未知的使用者132" initials="" lastIdx="0" clrIdx="938"/>
  <p:cmAuthor id="940" name="未知的使用者206" initials="" lastIdx="0" clrIdx="939"/>
  <p:cmAuthor id="941" name="Zhenning" initials="zh" lastIdx="0" clrIdx="940"/>
  <p:cmAuthor id="942" name="Kent" initials="K" lastIdx="0" clrIdx="941"/>
  <p:cmAuthor id="943" name="liuyang" initials="l" lastIdx="0" clrIdx="942"/>
  <p:cmAuthor id="944" name="罗展业_U7fmaI3i" initials="authorId_577460781" lastIdx="0" clrIdx="943"/>
  <p:cmAuthor id="945" name="王嘉偉" initials="王" lastIdx="0" clrIdx="944"/>
  <p:cmAuthor id="946" name="未知的使用者210" initials="" lastIdx="0" clrIdx="945"/>
  <p:cmAuthor id="947" name="未知的使用者211" initials="" lastIdx="0" clrIdx="946"/>
  <p:cmAuthor id="948" name="未知的使用者212" initials="" lastIdx="0" clrIdx="947"/>
  <p:cmAuthor id="949" name="未知的使用者213" initials="" lastIdx="0" clrIdx="948"/>
  <p:cmAuthor id="950" name="未知的使用者214" initials="" lastIdx="0" clrIdx="949"/>
  <p:cmAuthor id="951" name="未知的使用者215" initials="" lastIdx="0" clrIdx="950"/>
  <p:cmAuthor id="952" name="未知的使用者216" initials="" lastIdx="0" clrIdx="951"/>
  <p:cmAuthor id="953" name="Xia Ting" initials="X" lastIdx="0" clrIdx="952"/>
  <p:cmAuthor id="954" name="未知用户191" initials="未" lastIdx="0" clrIdx="953"/>
  <p:cmAuthor id="955" name="未知的使用者163" initials="未" lastIdx="0" clrIdx="954"/>
  <p:cmAuthor id="956" name="未知的使用者165" initials="未" lastIdx="0" clrIdx="955"/>
  <p:cmAuthor id="957" name="未知的使用者158" initials="未" lastIdx="0" clrIdx="956"/>
  <p:cmAuthor id="958" name="未知的使用者166" initials="未" lastIdx="0" clrIdx="957"/>
  <p:cmAuthor id="959" name="未知的使用者167" initials="未" lastIdx="0" clrIdx="958"/>
  <p:cmAuthor id="960" name="未知的使用者159" initials="未" lastIdx="0" clrIdx="959"/>
  <p:cmAuthor id="961" name="未知的使用者160" initials="未" lastIdx="0" clrIdx="960"/>
  <p:cmAuthor id="962" name="不明使用者7" initials="不" lastIdx="0" clrIdx="961"/>
  <p:cmAuthor id="963" name="未知用户139" initials="未" lastIdx="0" clrIdx="962"/>
  <p:cmAuthor id="964" name="Unknown User24" initials="U" lastIdx="0" clrIdx="963"/>
  <p:cmAuthor id="965" name="黄 晓贤" initials="黄" lastIdx="0" clrIdx="964"/>
  <p:cmAuthor id="966" name="乐燕" initials="乐" lastIdx="0" clrIdx="965"/>
  <p:cmAuthor id="967" name="未知用户141" initials="未" lastIdx="0" clrIdx="966"/>
  <p:cmAuthor id="968" name="未知用户145" initials="未" lastIdx="0" clrIdx="967"/>
  <p:cmAuthor id="969" name="goforever814" initials="g" lastIdx="0" clrIdx="968"/>
  <p:cmAuthor id="970" name="未知用户140" initials="未" lastIdx="0" clrIdx="969"/>
  <p:cmAuthor id="971" name="未知用户143" initials="未" lastIdx="0" clrIdx="970"/>
  <p:cmAuthor id="972" name="未知用户148" initials="未" lastIdx="0" clrIdx="971"/>
  <p:cmAuthor id="691587970" name="小延魔法师" initials="小" lastIdx="1126286" clrIdx="0"/>
  <p:cmAuthor id="973" name="未知用户207" initials="未" lastIdx="0" clrIdx="972"/>
  <p:cmAuthor id="691587971" name="李皓月" initials="g" lastIdx="1" clrIdx="43"/>
  <p:cmAuthor id="974" name="未知用户289" initials="未" lastIdx="0" clrIdx="973"/>
  <p:cmAuthor id="691587972" name="NTKO" initials="H" lastIdx="2" clrIdx="45"/>
  <p:cmAuthor id="975" name="未知用户206" initials="未" lastIdx="0" clrIdx="974"/>
  <p:cmAuthor id="691587973" name="箭琼 李" initials="箭李" lastIdx="1" clrIdx="147"/>
  <p:cmAuthor id="976" name="未知的使用者207" initials="未" lastIdx="0" clrIdx="975"/>
  <p:cmAuthor id="691587974" name="he feng" initials="hf" lastIdx="1" clrIdx="51"/>
  <p:cmAuthor id="977" name="未知的使用者189" initials="未" lastIdx="0" clrIdx="976"/>
  <p:cmAuthor id="691587975" name="zdl" initials="z" lastIdx="1" clrIdx="52"/>
  <p:cmAuthor id="978" name="徐首泽" initials="徐" lastIdx="0" clrIdx="977"/>
  <p:cmAuthor id="691587976" name="lihaibin (A)" initials="l(" lastIdx="1" clrIdx="191251537"/>
  <p:cmAuthor id="979" name="未知的使用者193" initials="未" lastIdx="0" clrIdx="978"/>
  <p:cmAuthor id="691587977" name="丁华乐_qaMraEby" initials="authorId_616659736" lastIdx="0" clrIdx="0"/>
  <p:cmAuthor id="980" name="未知的使用者209" initials="未" lastIdx="0" clrIdx="979"/>
  <p:cmAuthor id="691587978" name="罗平_QfY3MnyU" initials="authorId_1512265542" lastIdx="0" clrIdx="0"/>
  <p:cmAuthor id="981" name="未知用户146" initials="未" lastIdx="0" clrIdx="980"/>
  <p:cmAuthor id="691587979" name="虞新颖_36fmV3QV" initials="authorId_321496044" lastIdx="0" clrIdx="0"/>
  <p:cmAuthor id="982" name="未知用户147" initials="未" lastIdx="0" clrIdx="981"/>
  <p:cmAuthor id="691587980" name="鲁琪_ayIzYrYZ" initials="authorId_602698507" lastIdx="0" clrIdx="0"/>
  <p:cmAuthor id="983" name="未知的使用者96" initials="未" lastIdx="0" clrIdx="982"/>
  <p:cmAuthor id="691587981" name="黄百成_m6Jjq6bQ" initials="authorId_901868002" lastIdx="0" clrIdx="0"/>
  <p:cmAuthor id="984" name="郭 浩" initials="郭" lastIdx="0" clrIdx="983"/>
  <p:cmAuthor id="985" name="未知用户255" initials="未" lastIdx="0" clrIdx="984"/>
  <p:cmAuthor id="986" name="未知的使用者153" initials="未" lastIdx="0" clrIdx="985"/>
  <p:cmAuthor id="987" name="未知的使用者154" initials="未" lastIdx="0" clrIdx="986"/>
  <p:cmAuthor id="988" name="未知的使用者156" initials="未" lastIdx="0" clrIdx="987"/>
  <p:cmAuthor id="989" name="Alex" initials="A" lastIdx="0" clrIdx="988"/>
  <p:cmAuthor id="990" name="未知用户246" initials="未" lastIdx="0" clrIdx="989"/>
  <p:cmAuthor id="991" name="未知的使用者129" initials="未" lastIdx="0" clrIdx="990"/>
  <p:cmAuthor id="992" name="未知的使用者164" initials="未" lastIdx="0" clrIdx="991"/>
  <p:cmAuthor id="993" name="未知的使用者172" initials="未" lastIdx="0" clrIdx="992"/>
  <p:cmAuthor id="994" name="未知用户261" initials="未" lastIdx="0" clrIdx="993"/>
  <p:cmAuthor id="995" name="未知用户250" initials="未" lastIdx="0" clrIdx="994"/>
  <p:cmAuthor id="996" name="未知用户272" initials="未" lastIdx="0" clrIdx="995"/>
  <p:cmAuthor id="997" name="张婷婷" initials="c" lastIdx="0" clrIdx="996"/>
  <p:cmAuthor id="998" name="孟令坤" initials="MLK" lastIdx="0" clrIdx="997"/>
  <p:cmAuthor id="999" name="未知的使用者200" initials="未" lastIdx="0" clrIdx="998"/>
  <p:cmAuthor id="1000" name="huawei" initials="h" lastIdx="0" clrIdx="999"/>
  <p:cmAuthor id="1001" name="xujiangli@zj.cmcc" initials="xujiangli@zj.cmcc" lastIdx="0" clrIdx="1000"/>
  <p:cmAuthor id="1002" name="刘晖" initials="刘" lastIdx="0" clrIdx="1001"/>
  <p:cmAuthor id="1003" name="manman" initials="m" lastIdx="0" clrIdx="1002"/>
  <p:cmAuthor id="1004" name="未知用户201" initials="未" lastIdx="0" clrIdx="1003"/>
  <p:cmAuthor id="1005" name="Sying" initials="S" lastIdx="0" clrIdx="1004"/>
  <p:cmAuthor id="1006" name="guanhh" initials="g" lastIdx="0" clrIdx="1005"/>
  <p:cmAuthor id="1007" name="未知用户181" initials="未" lastIdx="0" clrIdx="1006"/>
  <p:cmAuthor id="1008" name="catherine" initials="c" lastIdx="0" clrIdx="1007"/>
  <p:cmAuthor id="1009" name="未知的使用者89" initials="未" lastIdx="0" clrIdx="1008"/>
  <p:cmAuthor id="1010" name="未知用户266" initials="未" lastIdx="0" clrIdx="1009"/>
  <p:cmAuthor id="1011" name="未知用户243" initials="未" lastIdx="0" clrIdx="1010"/>
  <p:cmAuthor id="1012" name="未知用户196" initials="未" lastIdx="0" clrIdx="1011"/>
  <p:cmAuthor id="1013" name="GYD" initials="G" lastIdx="0" clrIdx="1012"/>
  <p:cmAuthor id="1014" name="未知用户200" initials="未" lastIdx="0" clrIdx="1013"/>
  <p:cmAuthor id="1015" name="未知用户214" initials="未" lastIdx="0" clrIdx="1014"/>
  <p:cmAuthor id="1016" name="未知用户215" initials="未" lastIdx="0" clrIdx="1015"/>
  <p:cmAuthor id="1017" name="未知用户231" initials="未" lastIdx="0" clrIdx="1016"/>
  <p:cmAuthor id="1018" name="未知用户233" initials="未" lastIdx="0" clrIdx="1017"/>
  <p:cmAuthor id="1019" name="未知用户236" initials="未" lastIdx="0" clrIdx="1018"/>
  <p:cmAuthor id="1020" name="未知用户240" initials="未" lastIdx="0" clrIdx="1019"/>
  <p:cmAuthor id="1021" name="v15194" initials="v" lastIdx="0" clrIdx="1020"/>
  <p:cmAuthor id="1022" name="岳晓丽" initials="岳" lastIdx="0" clrIdx="1021"/>
  <p:cmAuthor id="1023" name="gj" initials="g" lastIdx="0" clrIdx="1022"/>
  <p:cmAuthor id="1024" name="姚丽娟" initials="姚" lastIdx="0" clrIdx="1023"/>
  <p:cmAuthor id="1025" name="wells" initials="w" lastIdx="0" clrIdx="1024"/>
  <p:cmAuthor id="1026" name="zhangxiaoyan" initials="z" lastIdx="0" clrIdx="1025"/>
  <p:cmAuthor id="1027" name="李阳" initials="liyang37@ha.cmcc" lastIdx="0" clrIdx="1026"/>
  <p:cmAuthor id="1028" name="王启良" initials="王" lastIdx="0" clrIdx="1027"/>
  <p:cmAuthor id="1029" name="吴鹏" initials="吴" lastIdx="0" clrIdx="1028"/>
  <p:cmAuthor id="1030" name="刘浩" initials="刘" lastIdx="0" clrIdx="1029"/>
  <p:cmAuthor id="1031" name="Vivian Liu" initials="VL" lastIdx="0" clrIdx="1030"/>
  <p:cmAuthor id="1032" name="张翼飞" initials="zhangyifei@ha.cmcc" lastIdx="0" clrIdx="1031"/>
  <p:cmAuthor id="1033" name="李 富岩" initials="李" lastIdx="0" clrIdx="1032"/>
  <p:cmAuthor id="1034" name="wjy" initials="w" lastIdx="0" clrIdx="1033"/>
  <p:cmAuthor id="1035" name="尹睿哲" initials="尹" lastIdx="0" clrIdx="1034"/>
  <p:cmAuthor id="1036" name="Sharon" initials="S" lastIdx="0" clrIdx="1035"/>
  <p:cmAuthor id="1037" name="想不出昵称" initials="想" lastIdx="0" clrIdx="1036"/>
  <p:cmAuthor id="1038" name="shuai fu" initials="sf" lastIdx="0" clrIdx="1037"/>
  <p:cmAuthor id="1039" name="shenbina" initials="s" lastIdx="0" clrIdx="1038"/>
  <p:cmAuthor id="1040" name="未知用户245" initials="未" lastIdx="0" clrIdx="1039"/>
  <p:cmAuthor id="1041" name="Kathy" initials="K" lastIdx="0" clrIdx="1040"/>
  <p:cmAuthor id="1042" name="未知用户387" initials="未" lastIdx="0" clrIdx="1041"/>
  <p:cmAuthor id="1043" name="未知用户354" initials="未" lastIdx="0" clrIdx="1042"/>
  <p:cmAuthor id="1044" name="10344322" initials="1" lastIdx="0" clrIdx="1043"/>
  <p:cmAuthor id="1045" name="winner1 chan" initials="wc" lastIdx="0" clrIdx="1044"/>
  <p:cmAuthor id="1046" name="未知用户332" initials="未" lastIdx="0" clrIdx="1045"/>
  <p:cmAuthor id="1047" name="未知用户217" initials="未" lastIdx="0" clrIdx="1046"/>
  <p:cmAuthor id="1048" name="cai yan" initials="cy" lastIdx="0" clrIdx="1047"/>
  <p:cmAuthor id="1049" name="俊晔 邱" initials="俊" lastIdx="0" clrIdx="1048"/>
  <p:cmAuthor id="1050" name="annie.gts@outlook.com" initials="a" lastIdx="0" clrIdx="1049"/>
  <p:cmAuthor id="1051" name="杨 升格" initials="杨" lastIdx="0" clrIdx="1050"/>
  <p:cmAuthor id="1052" name="Unknown User80" initials="U" lastIdx="0" clrIdx="1051"/>
  <p:cmAuthor id="1053" name="cy" initials="c" lastIdx="0" clrIdx="1052"/>
  <p:cmAuthor id="1054" name="lxm" initials="l" lastIdx="0" clrIdx="1053"/>
  <p:cmAuthor id="1055" name="yesg" initials="y" lastIdx="0" clrIdx="1054"/>
  <p:cmAuthor id="1056" name="陳珮琪" initials="陳珮琪" lastIdx="0" clrIdx="1055"/>
  <p:cmAuthor id="1057" name="未知用户277" initials="未" lastIdx="0" clrIdx="1056"/>
  <p:cmAuthor id="1058" name="soling" initials="s" lastIdx="0" clrIdx="1057"/>
  <p:cmAuthor id="1059" name="李 骁" initials="李" lastIdx="0" clrIdx="1058"/>
  <p:cmAuthor id="1060" name="Tome" initials="T" lastIdx="0" clrIdx="1059"/>
  <p:cmAuthor id="1061" name="gusong ye" initials="g" lastIdx="0" clrIdx="1060"/>
  <p:cmAuthor id="1062" name="未知的使用者97" initials="未" lastIdx="0" clrIdx="1061"/>
  <p:cmAuthor id="1063" name="未知用户301" initials="未" lastIdx="0" clrIdx="1062"/>
  <p:cmAuthor id="1064" name="未知用户306" initials="未" lastIdx="0" clrIdx="1063"/>
  <p:cmAuthor id="1065" name="未知用户308" initials="未" lastIdx="0" clrIdx="1064"/>
  <p:cmAuthor id="1066" name="Stacy Chiang" initials="S" lastIdx="0" clrIdx="1065"/>
  <p:cmAuthor id="1067" name="未知用户315" initials="未" lastIdx="0" clrIdx="1066"/>
  <p:cmAuthor id="1068" name="未知用户316" initials="未" lastIdx="0" clrIdx="1067"/>
  <p:cmAuthor id="1069" name="未知用户317" initials="未" lastIdx="0" clrIdx="1068"/>
  <p:cmAuthor id="1070" name="未知用户318" initials="未" lastIdx="0" clrIdx="1069"/>
  <p:cmAuthor id="1071" name="chen hui" initials="c" lastIdx="0" clrIdx="1070"/>
  <p:cmAuthor id="1072" name="未知用户244" initials="未" lastIdx="0" clrIdx="1071"/>
  <p:cmAuthor id="1073" name="未知用户322" initials="未" lastIdx="0" clrIdx="1072"/>
  <p:cmAuthor id="1074" name="未知用户323" initials="未" lastIdx="0" clrIdx="1073"/>
  <p:cmAuthor id="1075" name="未知用户324" initials="未" lastIdx="0" clrIdx="1074"/>
  <p:cmAuthor id="1076" name="wangxinhui" initials="w" lastIdx="0" clrIdx="1075"/>
  <p:cmAuthor id="1077" name="未知用户276" initials="未" lastIdx="0" clrIdx="1076"/>
  <p:cmAuthor id="1078" name="未知用户363" initials="未" lastIdx="0" clrIdx="1077"/>
  <p:cmAuthor id="1079" name="未知用户459" initials="未" lastIdx="0" clrIdx="1078"/>
  <p:cmAuthor id="1080" name="未知用户470" initials="未" lastIdx="0" clrIdx="1079"/>
  <p:cmAuthor id="1081" name="未知用户325" initials="未" lastIdx="0" clrIdx="1080"/>
  <p:cmAuthor id="1082" name="未知用户326" initials="未" lastIdx="0" clrIdx="1081"/>
  <p:cmAuthor id="1083" name="未知用户365" initials="未" lastIdx="0" clrIdx="1082"/>
  <p:cmAuthor id="1084" name="未知用户460" initials="未" lastIdx="0" clrIdx="1083"/>
  <p:cmAuthor id="1085" name="未知用户366" initials="未" lastIdx="0" clrIdx="1084"/>
  <p:cmAuthor id="1086" name="未知用户461" initials="未" lastIdx="0" clrIdx="1085"/>
  <p:cmAuthor id="1087" name="未知用户367" initials="未" lastIdx="0" clrIdx="1086"/>
  <p:cmAuthor id="1088" name="未知用户462" initials="未" lastIdx="0" clrIdx="1087"/>
  <p:cmAuthor id="1089" name="未知用户463" initials="未" lastIdx="0" clrIdx="1088"/>
  <p:cmAuthor id="1090" name="未知用户368" initials="未" lastIdx="0" clrIdx="1089"/>
  <p:cmAuthor id="1091" name="未知用户464" initials="未" lastIdx="0" clrIdx="1090"/>
  <p:cmAuthor id="1092" name="未知用户369" initials="未" lastIdx="0" clrIdx="1091"/>
  <p:cmAuthor id="1093" name="未知用户465" initials="未" lastIdx="0" clrIdx="1092"/>
  <p:cmAuthor id="1094" name="未知用户466" initials="未" lastIdx="0" clrIdx="1093"/>
  <p:cmAuthor id="1095" name="未知用户467" initials="未" lastIdx="0" clrIdx="1094"/>
  <p:cmAuthor id="1096" name="未知用户468" initials="未" lastIdx="0" clrIdx="1095"/>
  <p:cmAuthor id="1097" name="未知用户426" initials="未" lastIdx="0" clrIdx="1096"/>
  <p:cmAuthor id="1098" name="未知用户371" initials="未" lastIdx="0" clrIdx="1097"/>
  <p:cmAuthor id="1099" name="未知用户372" initials="未" lastIdx="0" clrIdx="1098"/>
  <p:cmAuthor id="1100" name="未知用户373" initials="未" lastIdx="0" clrIdx="1099"/>
  <p:cmAuthor id="1101" name="未知用户374" initials="未" lastIdx="0" clrIdx="1100"/>
  <p:cmAuthor id="1102" name="未知用户469" initials="未" lastIdx="0" clrIdx="1101"/>
  <p:cmAuthor id="1103" name="未知用户427" initials="未" lastIdx="0" clrIdx="1102"/>
  <p:cmAuthor id="1104" name="蘇建明 fatty" initials="蘇" lastIdx="0" clrIdx="1103"/>
  <p:cmAuthor id="1105" name="未知用户375" initials="未" lastIdx="0" clrIdx="1104"/>
  <p:cmAuthor id="1106" name="未知用户376" initials="未" lastIdx="0" clrIdx="1105"/>
  <p:cmAuthor id="1107" name="未知用户377" initials="未" lastIdx="0" clrIdx="1106"/>
  <p:cmAuthor id="1108" name="未知用户428" initials="未" lastIdx="0" clrIdx="1107"/>
  <p:cmAuthor id="1109" name="未知用户378" initials="未" lastIdx="0" clrIdx="1108"/>
  <p:cmAuthor id="1110" name="未知用户379" initials="未" lastIdx="0" clrIdx="1109"/>
  <p:cmAuthor id="1111" name="未知用户339" initials="未" lastIdx="0" clrIdx="1110"/>
  <p:cmAuthor id="1112" name="未知用户380" initials="未" lastIdx="0" clrIdx="1111"/>
  <p:cmAuthor id="1113" name="未知用户381" initials="未" lastIdx="0" clrIdx="1112"/>
  <p:cmAuthor id="1114" name="未知用户382" initials="未" lastIdx="0" clrIdx="1113"/>
  <p:cmAuthor id="1115" name="未知用户383" initials="未" lastIdx="0" clrIdx="1114"/>
  <p:cmAuthor id="1116" name="未知用户384" initials="未" lastIdx="0" clrIdx="1115"/>
  <p:cmAuthor id="1117" name="未知用户294" initials="未" lastIdx="0" clrIdx="1116"/>
  <p:cmAuthor id="1118" name="未知用户385" initials="未" lastIdx="0" clrIdx="1117"/>
  <p:cmAuthor id="1119" name="未知用户386" initials="未" lastIdx="0" clrIdx="1118"/>
  <p:cmAuthor id="1120" name="未知用户429" initials="未" lastIdx="0" clrIdx="1119"/>
  <p:cmAuthor id="1121" name="未知用户430" initials="未" lastIdx="0" clrIdx="1120"/>
  <p:cmAuthor id="1122" name="未知用户389" initials="未" lastIdx="0" clrIdx="1121"/>
  <p:cmAuthor id="1123" name="未知用户350" initials="未" lastIdx="0" clrIdx="1122"/>
  <p:cmAuthor id="1124" name="未知用户431" initials="未" lastIdx="0" clrIdx="1123"/>
  <p:cmAuthor id="1125" name="未知用户351" initials="未" lastIdx="0" clrIdx="1124"/>
  <p:cmAuthor id="1126" name="未知用户432" initials="未" lastIdx="0" clrIdx="1125"/>
  <p:cmAuthor id="1127" name="lmj" initials="l" lastIdx="0" clrIdx="1126"/>
  <p:cmAuthor id="1128" name="未知用户392" initials="未" lastIdx="0" clrIdx="1127"/>
  <p:cmAuthor id="1129" name="平凡" initials="平" lastIdx="0" clrIdx="1128"/>
  <p:cmAuthor id="1130" name="未知用户433" initials="未" lastIdx="0" clrIdx="1129"/>
  <p:cmAuthor id="1131" name="未知用户434" initials="未" lastIdx="0" clrIdx="1130"/>
  <p:cmAuthor id="1132" name="未知用户393" initials="未" lastIdx="0" clrIdx="1131"/>
  <p:cmAuthor id="1133" name="张志越" initials="张" lastIdx="0" clrIdx="1132"/>
  <p:cmAuthor id="1134" name="未知用户435" initials="未" lastIdx="0" clrIdx="1133"/>
  <p:cmAuthor id="1135" name="未知用户356" initials="未" lastIdx="0" clrIdx="1134"/>
  <p:cmAuthor id="1136" name="未知用户436" initials="未" lastIdx="0" clrIdx="1135"/>
  <p:cmAuthor id="1137" name="未知用户396" initials="未" lastIdx="0" clrIdx="1136"/>
  <p:cmAuthor id="1138" name="因心化十" initials="因" lastIdx="0" clrIdx="1137"/>
  <p:cmAuthor id="1139" name="未知用户437" initials="未" lastIdx="0" clrIdx="1138"/>
  <p:cmAuthor id="1140" name="未知用户397" initials="未" lastIdx="0" clrIdx="1139"/>
  <p:cmAuthor id="1141" name="未知用户419" initials="未" lastIdx="0" clrIdx="1140"/>
  <p:cmAuthor id="1142" name="未知用户399" initials="未" lastIdx="0" clrIdx="1141"/>
  <p:cmAuthor id="1143" name="未知用户438" initials="未" lastIdx="0" clrIdx="1142"/>
  <p:cmAuthor id="146566726" name="高飞" initials="高" lastIdx="0" clrIdx="0"/>
  <p:cmAuthor id="1144" name="LYF" initials="L" lastIdx="0" clrIdx="1143"/>
  <p:cmAuthor id="146566727" name="xzb1" initials="x" lastIdx="1" clrIdx="1"/>
  <p:cmAuthor id="1145" name="未知用户401" initials="未" lastIdx="0" clrIdx="1144"/>
  <p:cmAuthor id="1146" name="liuqi" initials="l" lastIdx="0" clrIdx="1145"/>
  <p:cmAuthor id="1147" name="未知用户402" initials="未" lastIdx="0" clrIdx="1146"/>
  <p:cmAuthor id="1148" name="YangXuke" initials="Y" lastIdx="0" clrIdx="1147"/>
  <p:cmAuthor id="1149" name="未知用户403" initials="未" lastIdx="0" clrIdx="1148"/>
  <p:cmAuthor id="1150" name="huangyumei" initials="h" lastIdx="0" clrIdx="1149"/>
  <p:cmAuthor id="1151" name="未知用户327" initials="未" lastIdx="0" clrIdx="1150"/>
  <p:cmAuthor id="1152" name="65800706@qq.com" initials="" lastIdx="0" clrIdx="1151"/>
  <p:cmAuthor id="1153" name="未知用户404" initials="未" lastIdx="0" clrIdx="1152"/>
  <p:cmAuthor id="1154" name="黄崑" initials="HK" lastIdx="0" clrIdx="1153"/>
  <p:cmAuthor id="1155" name="未知用户405" initials="未" lastIdx="0" clrIdx="1154"/>
  <p:cmAuthor id="1156" name="殷 凯" initials="凯殷" lastIdx="0" clrIdx="1155"/>
  <p:cmAuthor id="1157" name="未知用户439" initials="未" lastIdx="0" clrIdx="1156"/>
  <p:cmAuthor id="1158" name="未知用户406" initials="未" lastIdx="0" clrIdx="1157"/>
  <p:cmAuthor id="1159" name="Chen Qian/PHY Research &amp; Standard Lab /SRC-Beijing/Staff Engineer/Samsung Electronics" initials="CQR&amp;SL/EE" lastIdx="0" clrIdx="1158"/>
  <p:cmAuthor id="1160" name="未知用户440" initials="未" lastIdx="0" clrIdx="1159"/>
  <p:cmAuthor id="1161" name="zzheng" initials="ZZ" lastIdx="0" clrIdx="1160"/>
  <p:cmAuthor id="1162" name="未知用户441" initials="未" lastIdx="0" clrIdx="1161"/>
  <p:cmAuthor id="1163" name="未知用户442" initials="未" lastIdx="0" clrIdx="1162"/>
  <p:cmAuthor id="1164" name="未知用户409" initials="未" lastIdx="0" clrIdx="1163"/>
  <p:cmAuthor id="1165" name="未知用户471" initials="未" lastIdx="0" clrIdx="1164"/>
  <p:cmAuthor id="1166" name="未知用户472" initials="未" lastIdx="0" clrIdx="1165"/>
  <p:cmAuthor id="1167" name="未知用户473" initials="未" lastIdx="0" clrIdx="1166"/>
  <p:cmAuthor id="1168" name="未知用户475" initials="未" lastIdx="0" clrIdx="1167"/>
  <p:cmAuthor id="1169" name="未知用户476" initials="未" lastIdx="0" clrIdx="1168"/>
  <p:cmAuthor id="1170" name="未知用户489" initials="未" lastIdx="0" clrIdx="1169"/>
  <p:cmAuthor id="1171" name="未知用户488" initials="未" lastIdx="0" clrIdx="1170"/>
  <p:cmAuthor id="1172" name="未知用户490" initials="未" lastIdx="0" clrIdx="1171"/>
  <p:cmAuthor id="1173" name="未知用户477" initials="未" lastIdx="0" clrIdx="1172"/>
  <p:cmAuthor id="1174" name="未知用户478" initials="未" lastIdx="0" clrIdx="1173"/>
  <p:cmAuthor id="1175" name="未知用户480" initials="未" lastIdx="0" clrIdx="1174"/>
  <p:cmAuthor id="1176" name="未知用户481" initials="未" lastIdx="0" clrIdx="1175"/>
  <p:cmAuthor id="1177" name="未知用户484" initials="未" lastIdx="0" clrIdx="1176"/>
  <p:cmAuthor id="1178" name="未知用户487" initials="未" lastIdx="0" clrIdx="1177"/>
  <p:cmAuthor id="1179" name="部室管理员/软件开发中心/总行机关/ABC" initials="部" lastIdx="0" clrIdx="1178"/>
  <p:cmAuthor id="1180" name="zilong.li" initials="z" lastIdx="0" clrIdx="1179"/>
  <p:cmAuthor id="1181" name="seki" initials="s" lastIdx="0" clrIdx="1180"/>
  <p:cmAuthor id="1182" name="GY&amp;CXX" initials="G" lastIdx="0" clrIdx="1181"/>
  <p:cmAuthor id="1183" name="张晓燕(内蒙古巴彦淖尔)" initials="张" lastIdx="0" clrIdx="1182"/>
  <p:cmAuthor id="1184" name="shenyanning-001" initials="s" lastIdx="0" clrIdx="1183"/>
  <p:cmAuthor id="1185" name="Evander Wan" initials="E" lastIdx="0" clrIdx="1184"/>
  <p:cmAuthor id="1186" name="hh" initials="h" lastIdx="0" clrIdx="1185"/>
  <p:cmAuthor id="1187" name="Hope0187" initials="H" lastIdx="0" clrIdx="1186"/>
  <p:cmAuthor id="1188" name="daiyi06" initials="d" lastIdx="0" clrIdx="1187"/>
  <p:cmAuthor id="1189" name="James Conard" initials="J" lastIdx="0" clrIdx="1188"/>
  <p:cmAuthor id="1190" name="Cpic" initials="C" lastIdx="0" clrIdx="1189"/>
  <p:cmAuthor id="1191" name="刘 念" initials="刘" lastIdx="0" clrIdx="1190"/>
  <p:cmAuthor id="1192" name="Wangzhi gang" initials="W" lastIdx="0" clrIdx="1191"/>
  <p:cmAuthor id="1193" name="李柯然" initials="李" lastIdx="0" clrIdx="1192"/>
  <p:cmAuthor id="1194" name="LENOVO" initials="L" lastIdx="0" clrIdx="1193"/>
  <p:cmAuthor id="1195" name="王玉" initials="王" lastIdx="0" clrIdx="1194"/>
  <p:cmAuthor id="1196" name="Ming Zuo" initials="M" lastIdx="0" clrIdx="1195"/>
  <p:cmAuthor id="1197" name="dreamsummit" initials="d" lastIdx="0" clrIdx="1196"/>
  <p:cmAuthor id="1198" name="张 博" initials="张" lastIdx="0" clrIdx="1197"/>
  <p:cmAuthor id="1199" name="LS" initials="L" lastIdx="0" clrIdx="1198"/>
  <p:cmAuthor id="1200" name="McGlasson, Louise" initials="M" lastIdx="0" clrIdx="1199"/>
  <p:cmAuthor id="1201" name="Morgan, Aaron" initials="M" lastIdx="0" clrIdx="1200"/>
  <p:cmAuthor id="1202" name="weige" initials="w" lastIdx="0" clrIdx="1201"/>
  <p:cmAuthor id="1203" name="李 俊琦" initials="李" lastIdx="0" clrIdx="1202"/>
  <p:cmAuthor id="1204" name="沈 鹤" initials="沈" lastIdx="0" clrIdx="1203"/>
  <p:cmAuthor id="1205" name="jilin" initials="j" lastIdx="0" clrIdx="1204"/>
  <p:cmAuthor id="1206" name="王保青-pah" initials="王" lastIdx="0" clrIdx="1205"/>
  <p:cmAuthor id="1207" name="Jason Li" initials="J" lastIdx="0" clrIdx="1206"/>
  <p:cmAuthor id="1208" name="duxingge" initials="d" lastIdx="0" clrIdx="1207"/>
  <p:cmAuthor id="1209" name="yingchao xi" initials="y" lastIdx="0" clrIdx="1208"/>
  <p:cmAuthor id="1210" name="depeng diao" initials="d" lastIdx="0" clrIdx="1209"/>
  <p:cmAuthor id="1211" name="amyzhang" initials="a" lastIdx="0" clrIdx="1210"/>
  <p:cmAuthor id="1212" name="JerryW" initials="J" lastIdx="0" clrIdx="1211"/>
  <p:cmAuthor id="1213" name="shenyy" initials="s" lastIdx="0" clrIdx="1212"/>
  <p:cmAuthor id="1214" name="Jason Cheung" initials="J" lastIdx="0" clrIdx="1213"/>
  <p:cmAuthor id="1215" name="刘笑" initials="刘" lastIdx="0" clrIdx="1214"/>
  <p:cmAuthor id="1216" name="Maggie" initials="M" lastIdx="0" clrIdx="1215"/>
  <p:cmAuthor id="1217" name="曹劲然" initials="曹" lastIdx="0" clrIdx="1216"/>
  <p:cmAuthor id="1218" name="未知用户407" initials="未" lastIdx="0" clrIdx="1217"/>
  <p:cmAuthor id="1219" name="未知用户398" initials="未" lastIdx="0" clrIdx="1218"/>
  <p:cmAuthor id="1220" name="未知用户400" initials="未" lastIdx="0" clrIdx="1219"/>
  <p:cmAuthor id="1221" name="未知用户421" initials="未" lastIdx="0" clrIdx="1220"/>
  <p:cmAuthor id="1222" name="伟哥" initials="伟哥" lastIdx="0" clrIdx="1221"/>
  <p:cmAuthor id="1223" name="wlj352" initials="w" lastIdx="0" clrIdx="1222"/>
  <p:cmAuthor id="1224" name="朗 月" initials="朗" lastIdx="0" clrIdx="1223"/>
  <p:cmAuthor id="1225" name="sk" initials="s" lastIdx="0" clrIdx="1224"/>
  <p:cmAuthor id="1226" name="俞涛" initials="翟" lastIdx="0" clrIdx="1225"/>
  <p:cmAuthor id="1227" name="A" initials="A" lastIdx="0" clrIdx="1226"/>
  <p:cmAuthor id="1228" name="大攀" initials="大" lastIdx="0" clrIdx="1227"/>
  <p:cmAuthor id="1229" name="时光" initials="时" lastIdx="0" clrIdx="1228"/>
  <p:cmAuthor id="1230" name="lzy" initials="8" lastIdx="0" clrIdx="1229"/>
  <p:cmAuthor id="1231" name="13488749431手机用户" initials="1" lastIdx="0" clrIdx="1230"/>
  <p:cmAuthor id="1232" name="田景" initials="田" lastIdx="0" clrIdx="1231"/>
  <p:cmAuthor id="1233" name="曹丽" initials="曹" lastIdx="0" clrIdx="1232"/>
  <p:cmAuthor id="1234" name="10096786" initials="1" lastIdx="0" clrIdx="1233"/>
  <p:cmAuthor id="1235" name="10225611" initials="1" lastIdx="0" clrIdx="1234"/>
  <p:cmAuthor id="1236" name="FAN" initials="F" lastIdx="0" clrIdx="1235"/>
  <p:cmAuthor id="1237" name="sunaoran" initials="s" lastIdx="0" clrIdx="1236"/>
  <p:cmAuthor id="1238" name="ZTEczq" initials="1" lastIdx="0" clrIdx="1237"/>
  <p:cmAuthor id="1239" name="10010178" initials="1" lastIdx="0" clrIdx="1238"/>
  <p:cmAuthor id="1240" name="10054361" initials="1" lastIdx="0" clrIdx="1239"/>
  <p:cmAuthor id="1241" name="10140710" initials="1" lastIdx="0" clrIdx="1240"/>
  <p:cmAuthor id="1242" name="10116818" initials="1" lastIdx="0" clrIdx="1241"/>
  <p:cmAuthor id="1243" name="谷昊洋" initials="谷" lastIdx="0" clrIdx="1242"/>
  <p:cmAuthor id="1244" name="guoxin7" initials="g" lastIdx="0" clrIdx="1243"/>
  <p:cmAuthor id="1245" name="加薪" initials="加" lastIdx="0" clrIdx="1244"/>
  <p:cmAuthor id="1246" name="左敏" initials="ZM" lastIdx="0" clrIdx="1245"/>
  <p:cmAuthor id="1247" name="wuyiye" initials="wyy" lastIdx="0" clrIdx="1246"/>
  <p:cmAuthor id="1248" name="KA KA" initials="KK" lastIdx="0" clrIdx="1247"/>
  <p:cmAuthor id="1249" name="Liangbin (Adam)" initials="L(" lastIdx="0" clrIdx="1248"/>
  <p:cmAuthor id="1250" name="李婧宜_YBferYVR" initials="authorId_1217247658" lastIdx="0" clrIdx="1249"/>
  <p:cmAuthor id="1251" name="hm" initials="h" lastIdx="0" clrIdx="1250"/>
  <p:cmAuthor id="1252" name="zhangjing" initials="z" lastIdx="0" clrIdx="1251"/>
  <p:cmAuthor id="1253" name="86158" initials="8" lastIdx="0" clrIdx="1252"/>
  <p:cmAuthor id="1254" name="hys2" initials="h" lastIdx="0" clrIdx="1253"/>
  <p:cmAuthor id="1255" name="丁芙蓉" initials="丁" lastIdx="0" clrIdx="1254"/>
  <p:cmAuthor id="244146375" name="王仁琦" initials="王" lastIdx="1" clrIdx="662"/>
  <p:cmAuthor id="1256" name="Cai Ava" initials="CA" lastIdx="0" clrIdx="1255"/>
  <p:cmAuthor id="1257" name="亮" initials="亮" lastIdx="0" clrIdx="1256"/>
  <p:cmAuthor id="1258" name="Y KN" initials="YK" lastIdx="0" clrIdx="1257"/>
  <p:cmAuthor id="1259" name="詹 昌平" initials="詹" lastIdx="0" clrIdx="1258"/>
  <p:cmAuthor id="1260" name="allnu" initials="a" lastIdx="0" clrIdx="1259"/>
  <p:cmAuthor id="1261" name="Ma, Jun A." initials="M" lastIdx="0" clrIdx="1260"/>
  <p:cmAuthor id="1262" name="未知的使用者117" initials="未" lastIdx="0" clrIdx="1261"/>
  <p:cmAuthor id="1263" name="cs" initials="x" lastIdx="0" clrIdx="1262"/>
  <p:cmAuthor id="1264" name="qianh" initials="q" lastIdx="0" clrIdx="1263"/>
  <p:cmAuthor id="1265" name="陈德豪" initials="陈" lastIdx="0" clrIdx="1264"/>
  <p:cmAuthor id="1266" name="余艳丽" initials="余" lastIdx="0" clrIdx="1265"/>
  <p:cmAuthor id="1267" name="吕晓敏" initials="吕" lastIdx="0" clrIdx="1266"/>
  <p:cmAuthor id="1268" name="zhaiyajing (C)" initials="z(" lastIdx="0" clrIdx="1267"/>
  <p:cmAuthor id="1269" name="远远远远远" initials="远" lastIdx="0" clrIdx="1268"/>
  <p:cmAuthor id="1270" name="jinpengcheng" initials="j" lastIdx="0" clrIdx="1269"/>
  <p:cmAuthor id="1271" name="俊 刘" initials="俊刘" lastIdx="0" clrIdx="1270"/>
  <p:cmAuthor id="1272" name="fuhao" initials="f" lastIdx="0" clrIdx="1271"/>
  <p:cmAuthor id="1273" name="Xutao(X)" initials="X" lastIdx="0" clrIdx="1272"/>
  <p:cmAuthor id="1274" name="王磊_EBzqrmu2" initials="authorId_1330164327" lastIdx="0" clrIdx="1273"/>
  <p:cmAuthor id="1275" name="魏宇田" initials="魏" lastIdx="0" clrIdx="1274"/>
  <p:cmAuthor id="1276" name="刚刚好_RBZbyEj2" initials="authorId_256324335" lastIdx="0" clrIdx="1275"/>
  <p:cmAuthor id="210492765" name="施普希（菜菜）" initials="施" lastIdx="0" clrIdx="0"/>
  <p:cmAuthor id="1277" name="林之怡" initials="林" lastIdx="0" clrIdx="1276"/>
  <p:cmAuthor id="210492766" name="yu 1" initials="y1" lastIdx="1" clrIdx="19"/>
  <p:cmAuthor id="1278" name="Shuhan Zhu" initials="S" lastIdx="0" clrIdx="1277"/>
  <p:cmAuthor id="210492767" name="李 嘉" initials="李" lastIdx="1" clrIdx="26"/>
  <p:cmAuthor id="1279" name="未知用户189" initials="未" lastIdx="0" clrIdx="1278"/>
  <p:cmAuthor id="210492768" name="汪 丹丹" initials="汪" lastIdx="1" clrIdx="52"/>
  <p:cmAuthor id="1280" name="夏先生" initials="夏" lastIdx="0" clrIdx="1279"/>
  <p:cmAuthor id="1281" name="妍" initials="妍" lastIdx="0" clrIdx="1280"/>
  <p:cmAuthor id="1282" name="niuniu" initials="n" lastIdx="0" clrIdx="1281"/>
  <p:cmAuthor id="1283" name="Tomorrow" initials="T" lastIdx="0" clrIdx="1282"/>
  <p:cmAuthor id="1284" name="洋仔" initials="洋" lastIdx="0" clrIdx="1283"/>
  <p:cmAuthor id="1285" name="zw zhou" initials="zz" lastIdx="0" clrIdx="1284"/>
  <p:cmAuthor id="1286" name="桃豆豆" initials="桃" lastIdx="0" clrIdx="1285"/>
  <p:cmAuthor id="1287" name="刁航宇" initials="刁" lastIdx="0" clrIdx="1286"/>
  <p:cmAuthor id="1288" name="✨ Nicole " initials="✨" lastIdx="0" clrIdx="1287"/>
  <p:cmAuthor id="1289" name="李凤仪" initials="李" lastIdx="0" clrIdx="1288"/>
  <p:cmAuthor id="1290" name="于洁" initials="于" lastIdx="0" clrIdx="1289"/>
  <p:cmAuthor id="1291" name="Cool" initials="C" lastIdx="0" clrIdx="1290"/>
  <p:cmAuthor id="1292" name="小州Gg" initials="小" lastIdx="0" clrIdx="1291"/>
  <p:cmAuthor id="1293" name="." initials="." lastIdx="0" clrIdx="1292"/>
  <p:cmAuthor id="1294" name="李宁" initials="李" lastIdx="0" clrIdx="1293"/>
  <p:cmAuthor id="1295" name="马宇媛" initials="马" lastIdx="0" clrIdx="1294"/>
  <p:cmAuthor id="1296" name="X13-Y" initials="X" lastIdx="0" clrIdx="1295"/>
  <p:cmAuthor id="1297" name="哎呀呀何牙牙" initials="哎" lastIdx="0" clrIdx="1296"/>
  <p:cmAuthor id="1298" name="罗志军" initials="罗" lastIdx="0" clrIdx="1297"/>
  <p:cmAuthor id="1299" name="gmcc" initials="g" lastIdx="0" clrIdx="1298"/>
  <p:cmAuthor id="1300" name="zzzz" initials="z" lastIdx="0" clrIdx="1299"/>
  <p:cmAuthor id="1301" name="王旭" initials="王" lastIdx="0" clrIdx="1300"/>
  <p:cmAuthor id="1302" name=" 胖哒慧" initials="" lastIdx="0" clrIdx="1301"/>
  <p:cmAuthor id="1303" name="天天" initials="天" lastIdx="0" clrIdx="1302"/>
  <p:cmAuthor id="1304" name="colin" initials="c" lastIdx="0" clrIdx="1303"/>
  <p:cmAuthor id="1305" name="小阳光" initials="小" lastIdx="0" clrIdx="1304"/>
  <p:cmAuthor id="1306" name="初七之月亮" initials="初" lastIdx="0" clrIdx="1305"/>
  <p:cmAuthor id="1307" name="谭淼" initials="谭" lastIdx="0" clrIdx="1306"/>
  <p:cmAuthor id="1308" name="JeanMayLee" initials="J" lastIdx="0" clrIdx="1307"/>
  <p:cmAuthor id="8535702" name="曾蓓/贝贝" initials="曾" lastIdx="0" clrIdx="0"/>
  <p:cmAuthor id="1309" name="WPS_1602979380" initials="W" lastIdx="0" clrIdx="1308"/>
  <p:cmAuthor id="1310" name="Jason" initials="J" lastIdx="0" clrIdx="1309"/>
  <p:cmAuthor id="1311" name="WPS" initials="W" lastIdx="0" clrIdx="1310"/>
  <p:cmAuthor id="1312" name=" LION" initials=" " lastIdx="0" clrIdx="1311"/>
  <p:cmAuthor id="1313" name="康斯坦尼斯拉夫斯基" initials="康" lastIdx="0" clrIdx="1312"/>
  <p:cmAuthor id="1314" name="SFY" initials="S" lastIdx="0" clrIdx="1313"/>
  <p:cmAuthor id="1315" name="kk" initials="k" lastIdx="0" clrIdx="1314"/>
  <p:cmAuthor id="1316" name="J0" initials="J" lastIdx="0" clrIdx="1315"/>
  <p:cmAuthor id="1317" name="WIN10" initials="W" lastIdx="0" clrIdx="1316"/>
  <p:cmAuthor id="1318" name="Q" initials="Q" lastIdx="0" clrIdx="1317"/>
  <p:cmAuthor id="1319" name="182----2928" initials="1" lastIdx="0" clrIdx="1318"/>
  <p:cmAuthor id="1320" name="Frank" initials="F" lastIdx="0" clrIdx="1319"/>
  <p:cmAuthor id="1321" name="张松蕾" initials="C" lastIdx="0" clrIdx="1320"/>
  <p:cmAuthor id="1322" name="M" initials="IT" lastIdx="0" clrIdx="1321"/>
  <p:cmAuthor id="1323" name="Wanglexun(Leo,CMCC Marketing)" initials="WM" lastIdx="0" clrIdx="1322"/>
  <p:cmAuthor id="1324" name="johnさん雲起" initials="j" lastIdx="0" clrIdx="1323"/>
  <p:cmAuthor id="1325" name="chris" initials="c" lastIdx="0" clrIdx="1324"/>
  <p:cmAuthor id="1326" name="微信用户" initials="微" lastIdx="0" clrIdx="1325"/>
  <p:cmAuthor id="1327" name="勿忘初心" initials="勿" lastIdx="0" clrIdx="1326"/>
  <p:cmAuthor id="1328" name="Fanny" initials="F" lastIdx="0" clrIdx="1327"/>
  <p:cmAuthor id="1329" name="Guojianhong (Alexander)" initials="G(" lastIdx="0" clrIdx="1328"/>
  <p:cmAuthor id="1330" name="begin" initials="b" lastIdx="0" clrIdx="1329"/>
  <p:cmAuthor id="1331" name="LBB" initials="L" lastIdx="0" clrIdx="1330"/>
  <p:cmAuthor id="1332" name="cyq" initials="c" lastIdx="0" clrIdx="1331"/>
  <p:cmAuthor id="1333" name="WPS_1669175722" initials="W" lastIdx="0" clrIdx="1332"/>
  <p:cmAuthor id="1334" name="半暖时光" initials="半" lastIdx="0" clrIdx="1333"/>
  <p:cmAuthor id="1335" name="杜立旺" initials="杜" lastIdx="0" clrIdx="1334"/>
  <p:cmAuthor id="1336" name="yangsong" initials="y" lastIdx="0" clrIdx="1335"/>
  <p:cmAuthor id="1337" name="PENG" initials="P" lastIdx="0" clrIdx="1336"/>
  <p:cmAuthor id="1338" name="Miao" initials="M" lastIdx="0" clrIdx="1337"/>
  <p:cmAuthor id="1339" name="Oscar" initials="O" lastIdx="0" clrIdx="1338"/>
  <p:cmAuthor id="1340" name="黄常宇" initials="黄" lastIdx="0" clrIdx="1339"/>
  <p:cmAuthor id="1341" name="任静" initials="任" lastIdx="0" clrIdx="1340"/>
  <p:cmAuthor id="1342" name="依依" initials="依" lastIdx="0" clrIdx="1341"/>
  <p:cmAuthor id="1343" name="Ohayolanda" initials="O" lastIdx="0" clrIdx="1342"/>
  <p:cmAuthor id="1344" name="戴停" initials="戴" lastIdx="0" clrIdx="1343"/>
  <p:cmAuthor id="1345" name="`Mark." initials="`" lastIdx="0" clrIdx="1344"/>
  <p:cmAuthor id="1346" name="jh d" initials="jd" lastIdx="0" clrIdx="1345"/>
  <p:cmAuthor id="1347" name="桑榆" initials="桑" lastIdx="0" clrIdx="1346"/>
  <p:cmAuthor id="1348" name="王 成岩" initials="王" lastIdx="0" clrIdx="1347"/>
  <p:cmAuthor id="1349" name="陶夏溦" initials="陶夏溦" lastIdx="0" clrIdx="1348"/>
  <p:cmAuthor id="1350" name="Mmm" initials="M" lastIdx="0" clrIdx="1349"/>
  <p:cmAuthor id="1351" name="CabayJenne" initials="C" lastIdx="0" clrIdx="1350"/>
  <p:cmAuthor id="1352" name="邢开" initials="邢" lastIdx="0" clrIdx="1351"/>
  <p:cmAuthor id="1353" name="糕酥...●—●" initials="糕" lastIdx="0" clrIdx="1352"/>
  <p:cmAuthor id="1354" name="Baymax" initials="B" lastIdx="0" clrIdx="1353"/>
  <p:cmAuthor id="1355" name="赵永成" initials="赵" lastIdx="0" clrIdx="1354"/>
  <p:cmAuthor id="1356" name="16640" initials="1" lastIdx="0" clrIdx="1355"/>
  <p:cmAuthor id="1357" name="袖盈嘉茉" initials="袖" lastIdx="0" clrIdx="1356"/>
  <p:cmAuthor id="1358" name="袁昭成" initials="袁" lastIdx="0" clrIdx="1357"/>
  <p:cmAuthor id="1359" name="西赆南琛" initials="西" lastIdx="0" clrIdx="1358"/>
  <p:cmAuthor id="1360" name="武戎" initials="武" lastIdx="0" clrIdx="1359"/>
  <p:cmAuthor id="1361" name="骑蜗牛私奔" initials="骑" lastIdx="0" clrIdx="1360"/>
  <p:cmAuthor id="1362" name="奇点" initials="奇" lastIdx="0" clrIdx="1361"/>
  <p:cmAuthor id="1363" name="刘付平" initials="刘" lastIdx="0" clrIdx="1362"/>
  <p:cmAuthor id="1364" name="晚·峰" initials="晚" lastIdx="0" clrIdx="1363"/>
  <p:cmAuthor id="1365" name="ccc" initials="c" lastIdx="0" clrIdx="1364"/>
  <p:cmAuthor id="1366" name="张鑫" initials="张" lastIdx="0" clrIdx="1365"/>
  <p:cmAuthor id="1367" name="车旭" initials="车" lastIdx="0" clrIdx="1366"/>
  <p:cmAuthor id="1368" name="Pearson.Zhao" initials="P" lastIdx="0" clrIdx="1367"/>
  <p:cmAuthor id="1369" name="DldUlcks" initials="D" lastIdx="0" clrIdx="1368"/>
  <p:cmAuthor id="1370" name="WPS_1716908770" initials="W" lastIdx="0" clrIdx="1369"/>
  <p:cmAuthor id="1371" name="Mr Keating" initials="M" lastIdx="0" clrIdx="1370"/>
  <p:cmAuthor id="1372" name="吴开云" initials="吴" lastIdx="0" clrIdx="1371"/>
  <p:cmAuthor id="1373" name="于浣" initials="于" lastIdx="0" clrIdx="1372"/>
  <p:cmAuthor id="1374" name="李进进" initials="李" lastIdx="0" clrIdx="1373"/>
  <p:cmAuthor id="1375" name="小粟勺" initials="小" lastIdx="0" clrIdx="1374"/>
  <p:cmAuthor id="191251535" name="沈霄雷" initials="沈" lastIdx="833089" clrIdx="0"/>
  <p:cmAuthor id="1376" name="黄炜" initials="黄" lastIdx="0" clrIdx="1375"/>
  <p:cmAuthor id="191251536" name="李奇" initials="奇奇" lastIdx="1" clrIdx="23"/>
  <p:cmAuthor id="1377" name="zhaojunjie" initials="z" lastIdx="0" clrIdx="1376"/>
  <p:cmAuthor id="191251537" name="周 辉" initials="周" lastIdx="1" clrIdx="34"/>
  <p:cmAuthor id="1378" name="YY" initials="Y" lastIdx="0" clrIdx="1377"/>
  <p:cmAuthor id="191251538" name="渠沛" initials="渠" lastIdx="1" clrIdx="35"/>
  <p:cmAuthor id="1379" name="lihui" initials="l" lastIdx="0" clrIdx="1378"/>
  <p:cmAuthor id="191251539" name="席琛" initials="" lastIdx="0" clrIdx="58"/>
  <p:cmAuthor id="1380" name="木漏れ日" initials="木" lastIdx="0" clrIdx="1379"/>
  <p:cmAuthor id="191251540" name="韩剑侠" initials="P" lastIdx="1" clrIdx="41"/>
  <p:cmAuthor id="1381" name="张磊" initials="张" lastIdx="0" clrIdx="1380"/>
  <p:cmAuthor id="1382" name="XIAN" initials="X" lastIdx="0" clrIdx="1381"/>
  <p:cmAuthor id="1383" name="weilizz" initials="weilizz" lastIdx="0" clrIdx="1382"/>
  <p:cmAuthor id="1384" name="Wang lei" initials="W" lastIdx="0" clrIdx="1383"/>
  <p:cmAuthor id="1385" name="shanshuyao@sd.cmcc" initials="shanshuyao@sd.cmcc" lastIdx="0" clrIdx="1384"/>
  <p:cmAuthor id="1386" name="guoshasha@hq.cmcc" initials="guoshasha" lastIdx="0" clrIdx="1385"/>
  <p:cmAuthor id="1387" name="刘佳颖" initials="刘" lastIdx="0" clrIdx="1386"/>
  <p:cmAuthor id="1388" name="Daigy" initials="D" lastIdx="0" clrIdx="1387"/>
  <p:cmAuthor id="1389" name="姜香利" initials="姜" lastIdx="0" clrIdx="1388"/>
  <p:cmAuthor id="1390" name="wink" initials="w" lastIdx="0" clrIdx="1389"/>
  <p:cmAuthor id="1391" name="WPS_1592556096" initials="W" lastIdx="0" clrIdx="1390"/>
  <p:cmAuthor id="1392" name="张裴" initials="张" lastIdx="0" clrIdx="1391"/>
  <p:cmAuthor id="1393" name="吴体华" initials="吴" lastIdx="0" clrIdx="1392"/>
  <p:cmAuthor id="1394" name="lin" initials="l" lastIdx="0" clrIdx="1393"/>
  <p:cmAuthor id="1395" name="q1521" initials="q" lastIdx="0" clrIdx="1394"/>
  <p:cmAuthor id="1396" name="10036782" initials="1" lastIdx="0" clrIdx="1395"/>
  <p:cmAuthor id="1397" name="番茄^_^" initials="番" lastIdx="0" clrIdx="1396"/>
  <p:cmAuthor id="1398" name="许愿池的~" initials="许" lastIdx="0" clrIdx="1397"/>
  <p:cmAuthor id="1399" name="00025099" initials="0" lastIdx="0" clrIdx="1398"/>
  <p:cmAuthor id="1400" name="00242950" initials="0" lastIdx="0" clrIdx="1399"/>
  <p:cmAuthor id="1401" name="10129659" initials="1" lastIdx="0" clrIdx="1400"/>
  <p:cmAuthor id="1402" name="10033218" initials="1" lastIdx="0" clrIdx="1401"/>
  <p:cmAuthor id="1403" name="-facile" initials="-" lastIdx="0" clrIdx="1402"/>
  <p:cmAuthor id="1404" name="bing" initials="b" lastIdx="0" clrIdx="1403"/>
  <p:cmAuthor id="1405" name="jinfanbo" initials="j" lastIdx="0" clrIdx="1404"/>
  <p:cmAuthor id="1406" name="Tea" initials="T" lastIdx="0" clrIdx="1405"/>
  <p:cmAuthor id="1407" name="储贤民" initials="储" lastIdx="0" clrIdx="1406"/>
  <p:cmAuthor id="1408" name="guron" initials="g" lastIdx="0" clrIdx="1407"/>
  <p:cmAuthor id="1409" name="微笑" initials="微" lastIdx="0" clrIdx="1408"/>
  <p:cmAuthor id="1410" name="鱼爱吃猫8" initials="鱼" lastIdx="0" clrIdx="1409"/>
  <p:cmAuthor id="1411" name="小迷糊" initials="小" lastIdx="0" clrIdx="1410"/>
  <p:cmAuthor id="1412" name="梅杰" initials="梅" lastIdx="0" clrIdx="1411"/>
  <p:cmAuthor id="1413" name="月亮是我啃弯的" initials="月" lastIdx="0" clrIdx="1412"/>
  <p:cmAuthor id="1414" name="UOS" initials="U" lastIdx="0" clrIdx="1413"/>
  <p:cmAuthor id="1415" name="甲骨文飞行家" initials="甲" lastIdx="0" clrIdx="1414"/>
  <p:cmAuthor id="1416" name="潘继儒" initials="潘" lastIdx="0" clrIdx="1415"/>
  <p:cmAuthor id="1417" name="亭子" initials="亭" lastIdx="0" clrIdx="1416"/>
  <p:cmAuthor id="1418" name="ocean" initials="o" lastIdx="0" clrIdx="1417"/>
  <p:cmAuthor id="1419" name="Chen Qiyang" initials="C" lastIdx="0" clrIdx="1418"/>
  <p:cmAuthor id="1420" name="Halfmoon" initials="H" lastIdx="0" clrIdx="1419"/>
  <p:cmAuthor id="1421" name="xxx" initials="x" lastIdx="0" clrIdx="1420"/>
  <p:cmAuthor id="1422" name="施静伟" initials="施" lastIdx="0" clrIdx="1421"/>
  <p:cmAuthor id="1423" name="李强" initials="A" lastIdx="0" clrIdx="1422"/>
  <p:cmAuthor id="1424" name="文森特" initials="文" lastIdx="0" clrIdx="1423"/>
  <p:cmAuthor id="1425" name="W_L" initials="W" lastIdx="0" clrIdx="1424"/>
  <p:cmAuthor id="1426" name="闫硕" initials="闫" lastIdx="0" clrIdx="1425"/>
  <p:cmAuthor id="1427" name="赵东升/客户服务部/Zmcc" initials="赵东升" lastIdx="0" clrIdx="1426"/>
  <p:cmAuthor id="1428" name="刘川江" initials="刘川江" lastIdx="0" clrIdx="1427"/>
  <p:cmAuthor id="1429" name="10043354" initials="LCW" lastIdx="0" clrIdx="1428"/>
  <p:cmAuthor id="1430" name="10015127" initials="1" lastIdx="0" clrIdx="1429"/>
  <p:cmAuthor id="1431" name="Marcus A Janke" initials="MAJ" lastIdx="0" clrIdx="1430"/>
  <p:cmAuthor id="1432" name="张卷_yAvqimae" initials="authorId_354867255" lastIdx="0" clrIdx="1431"/>
  <p:cmAuthor id="1433" name="Benjamin J Grigsby" initials="BJG" lastIdx="0" clrIdx="1432"/>
  <p:cmAuthor id="1434" name="Mingming Cai" initials="MC" lastIdx="0" clrIdx="1433"/>
  <p:cmAuthor id="1435" name="Jeannette L Chu" initials="J" lastIdx="0" clrIdx="1434"/>
  <p:cmAuthor id="1436" name="ZZ" initials="zhedlzhao" lastIdx="0" clrIdx="1435"/>
  <p:cmAuthor id="1437" name="lankun" initials="l" lastIdx="0" clrIdx="1436"/>
  <p:cmAuthor id="1438" name="苗丁仁10181802" initials="苗" lastIdx="0" clrIdx="1437"/>
  <p:cmAuthor id="1439" name="李楠10047711" initials="李楠10047711" lastIdx="0" clrIdx="1438"/>
  <p:cmAuthor id="1440" name="HP" initials="H" lastIdx="0" clrIdx="1439"/>
  <p:cmAuthor id="1441" name="孟令希" initials="孟令希" lastIdx="0" clrIdx="1440"/>
  <p:cmAuthor id="1442" name="dang" initials="d" lastIdx="0" clrIdx="1441"/>
  <p:cmAuthor id="1443" name="nalpha" initials="n" lastIdx="0" clrIdx="1442"/>
  <p:cmAuthor id="1444" name="song song" initials="s" lastIdx="0" clrIdx="1443"/>
  <p:cmAuthor id="1445" name="曾阿婷" initials="曾" lastIdx="0" clrIdx="1444"/>
  <p:cmAuthor id="1446" name="李飞" initials="李飞" lastIdx="0" clrIdx="1445"/>
  <p:cmAuthor id="1447" name="ting yue" initials="t" lastIdx="0" clrIdx="1446"/>
  <p:cmAuthor id="1448" name="未知用户22" initials="未" lastIdx="0" clrIdx="1447"/>
  <p:cmAuthor id="1449" name="david bin" initials="d" lastIdx="0" clrIdx="1448"/>
  <p:cmAuthor id="1450" name="MLOONG" initials="M" lastIdx="0" clrIdx="1449"/>
  <p:cmAuthor id="1453" name="林 卓" initials="" lastIdx="0" clrIdx="1452"/>
  <p:cmAuthor id="1454" name="Norton" initials="" lastIdx="0" clrIdx="1453"/>
  <p:cmAuthor id="1455" name="苗茜" initials="" lastIdx="0" clrIdx="1454"/>
  <p:cmAuthor id="1456" name="Liu Dong" initials="L" lastIdx="0" clrIdx="1455"/>
  <p:cmAuthor id="1457" name="Zhao Jing" initials="Z" lastIdx="0" clrIdx="1456"/>
  <p:cmAuthor id="1458" name="Xin Wang (IB)" initials="X" lastIdx="0" clrIdx="1457"/>
  <p:cmAuthor id="1459" name="YANQING BAO" initials="Y" lastIdx="0" clrIdx="1458"/>
  <p:cmAuthor id="1460" name="Haiyang Wang" initials="H" lastIdx="0" clrIdx="1459"/>
  <p:cmAuthor id="1461" name="Roet-Reinking, Nathalie" initials="R" lastIdx="0" clrIdx="1460"/>
  <p:cmAuthor id="1462" name="张金龙" initials="张" lastIdx="0" clrIdx="1461"/>
  <p:cmAuthor id="1463" name="祝惠蓉" initials="祝" lastIdx="0" clrIdx="1462"/>
  <p:cmAuthor id="1464" name="陈俊奕" initials="陈俊奕" lastIdx="0" clrIdx="1463"/>
  <p:cmAuthor id="1465" name="宋海锐" initials="宋" lastIdx="0" clrIdx="1464"/>
  <p:cmAuthor id="1466" name="张 明晖" initials="张" lastIdx="0" clrIdx="1465"/>
  <p:cmAuthor id="1467" name="xiaver xiaver" initials="xx" lastIdx="0" clrIdx="1466"/>
  <p:cmAuthor id="1468" name="韩军伟" initials="韩" lastIdx="0" clrIdx="1467"/>
  <p:cmAuthor id="1469" name="刘 阳春" initials="刘" lastIdx="0" clrIdx="1468"/>
  <p:cmAuthor id="1470" name="三农金融事业部综合员" initials="三" lastIdx="0" clrIdx="1469"/>
  <p:cmAuthor id="1471" name="郭欣萍" initials="郭" lastIdx="0" clrIdx="1470"/>
  <p:cmAuthor id="1472" name="唐思源" initials="唐" lastIdx="0" clrIdx="1471"/>
  <p:cmAuthor id="1473" name="何 静" initials="何" lastIdx="0" clrIdx="1472"/>
  <p:cmAuthor id="1474" name="孟萦" initials="孟" lastIdx="0" clrIdx="1473"/>
  <p:cmAuthor id="1475" name="彬 罗" initials="彬" lastIdx="0" clrIdx="1474"/>
  <p:cmAuthor id="1476" name="ts" initials="t" lastIdx="0" clrIdx="1475"/>
  <p:cmAuthor id="1477" name="1 mac" initials="1" lastIdx="0" clrIdx="1476"/>
  <p:cmAuthor id="1478" name="Jinyi" initials="J" lastIdx="0" clrIdx="1477"/>
  <p:cmAuthor id="1479" name="江涛 李" initials="江" lastIdx="0" clrIdx="1478"/>
  <p:cmAuthor id="1480" name="林雪" initials="林" lastIdx="0" clrIdx="1479"/>
  <p:cmAuthor id="1481" name="Zhanwei Xiao(CUC SRD2-HZ-FZ)" initials="Z" lastIdx="0" clrIdx="1480"/>
  <p:cmAuthor id="1482" name="李佳" initials="李" lastIdx="0" clrIdx="1481"/>
  <p:cmAuthor id="1483" name="diana.cheng" initials="d" lastIdx="0" clrIdx="1482"/>
  <p:cmAuthor id="1484" name="黄欣悦" initials="黄" lastIdx="0" clrIdx="1483"/>
  <p:cmAuthor id="1485" name="Zhou, Jane Ye" initials="Z" lastIdx="0" clrIdx="1484"/>
  <p:cmAuthor id="1486" name="Doris Tan" initials="D" lastIdx="0" clrIdx="1485"/>
  <p:cmAuthor id="1487" name="Joy HL Sang" initials="J" lastIdx="0" clrIdx="1486"/>
  <p:cmAuthor id="1488" name="冯智强" initials="冯" lastIdx="0" clrIdx="1487"/>
  <p:cmAuthor id="1489" name="Zhou, Joey (IBD)" initials="Z" lastIdx="0" clrIdx="1488"/>
  <p:cmAuthor id="1490" name="孙运海" initials="孙" lastIdx="0" clrIdx="1489"/>
  <p:cmAuthor id="1491" name="浩 陈" initials="浩" lastIdx="0" clrIdx="1490"/>
  <p:cmAuthor id="1492" name="wumin" initials="w" lastIdx="0" clrIdx="1491"/>
  <p:cmAuthor id="1493" name="岳文甲" initials="岳" lastIdx="0" clrIdx="1492"/>
  <p:cmAuthor id="1494" name="91huhang" initials="9" lastIdx="0" clrIdx="1493"/>
  <p:cmAuthor id="1495" name="Ms" initials="M" lastIdx="0" clrIdx="1494"/>
  <p:cmAuthor id="1496" name="Franca, Ryan {MDAO~Basel}" initials="F" lastIdx="0" clrIdx="1495"/>
  <p:cmAuthor id="1497" name="李传波" initials="李" lastIdx="0" clrIdx="1496"/>
  <p:cmAuthor id="1498" name="45383746@qq.com" initials="4" lastIdx="0" clrIdx="1497"/>
  <p:cmAuthor id="1499" name="hauk guan" initials="h" lastIdx="0" clrIdx="1498"/>
  <p:cmAuthor id="1500" name="sierra" initials="s" lastIdx="0" clrIdx="1499"/>
  <p:cmAuthor id="1501" name="陈艳" initials="陈" lastIdx="0" clrIdx="1500"/>
  <p:cmAuthor id="1502" name="王 公然" initials="王" lastIdx="0" clrIdx="1501"/>
  <p:cmAuthor id="1503" name="MC SYSTEM" initials="M" lastIdx="0" clrIdx="1502"/>
  <p:cmAuthor id="1504" name="spring_ren" initials="s" lastIdx="0" clrIdx="1503"/>
  <p:cmAuthor id="1505" name="李璐---寿险总公司营销管理部" initials="李" lastIdx="0" clrIdx="1504"/>
  <p:cmAuthor id="1506" name="xuqing" initials="x" lastIdx="0" clrIdx="1505"/>
  <p:cmAuthor id="1507" name="王顶" initials="王" lastIdx="0" clrIdx="1506"/>
  <p:cmAuthor id="1508" name="13810" initials="1" lastIdx="0" clrIdx="1507"/>
  <p:cmAuthor id="1509" name="pengfei shen" initials="ps" lastIdx="0" clrIdx="1508"/>
  <p:cmAuthor id="1510" name="chenglong ren" initials="cr" lastIdx="0" clrIdx="1509"/>
  <p:cmAuthor id="1511" name="zhangchunxiao" initials="z" lastIdx="0" clrIdx="1510"/>
  <p:cmAuthor id="1512" name="Nada" initials="N" lastIdx="0" clrIdx="1511"/>
  <p:cmAuthor id="1513" name="程 瑜檬" initials="程" lastIdx="0" clrIdx="1512"/>
  <p:cmAuthor id="1514" name="未知用户355" initials="未" lastIdx="0" clrIdx="1513"/>
  <p:cmAuthor id="1515" name="liudehou" initials="l" lastIdx="0" clrIdx="1514"/>
  <p:cmAuthor id="1516" name="zhangxin" initials="z" lastIdx="0" clrIdx="1515"/>
  <p:cmAuthor id="1517" name="未知用户357" initials="未" lastIdx="0" clrIdx="1516"/>
  <p:cmAuthor id="1518" name="未知用户362" initials="未" lastIdx="0" clrIdx="1517"/>
  <p:cmAuthor id="1519" name="lc xue" initials="lx" lastIdx="0" clrIdx="1518"/>
  <p:cmAuthor id="1520" name="孟芳芳（借调）" initials="V" lastIdx="0" clrIdx="1519"/>
  <p:cmAuthor id="1521" name="YaoChunfen" initials="Y" lastIdx="0" clrIdx="1520"/>
  <p:cmAuthor id="1522" name="cheng" initials="c" lastIdx="0" clrIdx="1521"/>
  <p:cmAuthor id="1523" name="周辉" initials="周" lastIdx="0" clrIdx="1522"/>
  <p:cmAuthor id="1524" name="郭雨婷" initials="郭" lastIdx="0" clrIdx="1523"/>
  <p:cmAuthor id="1525" name="yanhexin" initials="y" lastIdx="0" clrIdx="1524"/>
  <p:cmAuthor id="1526" name="孟 昕" initials="孟" lastIdx="0" clrIdx="1525"/>
  <p:cmAuthor id="1527" name="WZ" initials="W" lastIdx="0" clrIdx="1526"/>
  <p:cmAuthor id="1528" name="宁" initials="宁" lastIdx="0" clrIdx="1527"/>
  <p:cmAuthor id="1529" name="李蕾00009994" initials="李" lastIdx="0" clrIdx="1528"/>
  <p:cmAuthor id="1530" name="10118178" initials="1" lastIdx="0" clrIdx="1529"/>
  <p:cmAuthor id="1531" name="10045953" initials="1" lastIdx="0" clrIdx="1530"/>
  <p:cmAuthor id="1532" name="rev2" initials="c" lastIdx="0" clrIdx="1531"/>
  <p:cmAuthor id="1533" name="安 宝来" initials="安" lastIdx="0" clrIdx="1532"/>
  <p:cmAuthor id="1534" name="未知用户474" initials="未" lastIdx="0" clrIdx="1533"/>
  <p:cmAuthor id="394525608" name="仇怿俊" initials="仇" lastIdx="0" clrIdx="0"/>
  <p:cmAuthor id="1535" name="feng xingbo" initials="fx" lastIdx="0" clrIdx="1534"/>
  <p:cmAuthor id="394525609" name="Jimmy-Power" initials="J" lastIdx="1" clrIdx="43"/>
  <p:cmAuthor id="1536" name="fei Ren" initials="fR" lastIdx="0" clrIdx="1535"/>
  <p:cmAuthor id="394525610" name="罗 罗" initials="罗" lastIdx="1" clrIdx="37"/>
  <p:cmAuthor id="1537" name="ZJK" initials="Z" lastIdx="0" clrIdx="1536"/>
  <p:cmAuthor id="394525611" name="lvjun" initials="l" lastIdx="2" clrIdx="40"/>
  <p:cmAuthor id="1538" name="IrisH" initials="I" lastIdx="0" clrIdx="1537"/>
  <p:cmAuthor id="394525612" name="goulei" initials="g" lastIdx="2" clrIdx="41"/>
  <p:cmAuthor id="1539" name="邹申" initials="邹" lastIdx="0" clrIdx="1538"/>
  <p:cmAuthor id="1540" name="未知用户479" initials="未" lastIdx="0" clrIdx="1539"/>
  <p:cmAuthor id="1541" name="luoli" initials="L" lastIdx="0" clrIdx="1540"/>
  <p:cmAuthor id="1542" name="尹瑶瑶" initials="YYY" lastIdx="0" clrIdx="1541"/>
  <p:cmAuthor id="1543" name="cjlbuster" initials="c" lastIdx="0" clrIdx="1542"/>
  <p:cmAuthor id="1411827" name="黄晓平" initials="黄" lastIdx="0" clrIdx="0"/>
  <p:cmAuthor id="1544" name="未知用户482" initials="未" lastIdx="0" clrIdx="1543"/>
  <p:cmAuthor id="1411828" name="徐琳00159163" initials="徐琳00159163" lastIdx="1" clrIdx="37"/>
  <p:cmAuthor id="1545" name="sizhao@cmsr.cmcc" initials="S" lastIdx="0" clrIdx="1544"/>
  <p:cmAuthor id="1411829" name="张静_Anua7Nne" initials="authorId_935319063" lastIdx="0" clrIdx="0"/>
  <p:cmAuthor id="1546" name="未知用户483" initials="未" lastIdx="0" clrIdx="1545"/>
  <p:cmAuthor id="1411830" name="唐 赛" initials="唐" lastIdx="1" clrIdx="45"/>
  <p:cmAuthor id="1547" name="22720" initials="2" lastIdx="0" clrIdx="1546"/>
  <p:cmAuthor id="1548" name="未知用户485" initials="未" lastIdx="0" clrIdx="1547"/>
  <p:cmAuthor id="1549" name="rongyue" initials="r" lastIdx="0" clrIdx="1548"/>
  <p:cmAuthor id="1550" name="未知用户486" initials="未" lastIdx="0" clrIdx="1549"/>
  <p:cmAuthor id="1551" name="任智杰" initials="renzhijie" lastIdx="0" clrIdx="1550"/>
  <p:cmAuthor id="1552" name="tongtong" initials="t" lastIdx="0" clrIdx="1551"/>
  <p:cmAuthor id="1553" name="Chengli" initials="C" lastIdx="0" clrIdx="1552"/>
  <p:cmAuthor id="1554" name="未知的使用者40" initials="" lastIdx="0" clrIdx="1553"/>
  <p:cmAuthor id="1555" name="未知的使用者87" initials="" lastIdx="0" clrIdx="1554"/>
  <p:cmAuthor id="1556" name="曾红" initials="" lastIdx="0" clrIdx="1555"/>
  <p:cmAuthor id="1557" name="未知的使用者90" initials="" lastIdx="0" clrIdx="1556"/>
  <p:cmAuthor id="1558" name="未知的使用者29" initials="" lastIdx="0" clrIdx="1557"/>
  <p:cmAuthor id="1559" name="未知的使用者91" initials="" lastIdx="0" clrIdx="1558"/>
  <p:cmAuthor id="1560" name="未知的使用者98" initials="" lastIdx="0" clrIdx="1559"/>
  <p:cmAuthor id="1561" name="liucunri" initials="" lastIdx="0" clrIdx="1560"/>
  <p:cmAuthor id="1562" name="zxc" initials="z" lastIdx="0" clrIdx="1561"/>
  <p:cmAuthor id="1563" name="Unknown User48" initials="" lastIdx="0" clrIdx="1562"/>
  <p:cmAuthor id="1564" name="Unknown User52" initials="" lastIdx="0" clrIdx="1563"/>
  <p:cmAuthor id="1565" name="Unknown User50" initials="" lastIdx="0" clrIdx="1564"/>
  <p:cmAuthor id="1566" name="未知的使用者120" initials="" lastIdx="0" clrIdx="1565"/>
  <p:cmAuthor id="1567" name="px" initials="" lastIdx="0" clrIdx="1566"/>
  <p:cmAuthor id="1568" name="Sky123.Org" initials="" lastIdx="0" clrIdx="1567"/>
  <p:cmAuthor id="1569" name="xinping liu" initials="xl" lastIdx="0" clrIdx="1568"/>
  <p:cmAuthor id="1570" name="elfinhsu" initials="" lastIdx="0" clrIdx="1569"/>
  <p:cmAuthor id="1571" name="Lina Hang(联通上海市上海市分公司)" initials="LH" lastIdx="0" clrIdx="1570"/>
  <p:cmAuthor id="1572" name="微软用户" initials="" lastIdx="0" clrIdx="1571"/>
  <p:cmAuthor id="1573" name="未知的使用者24" initials="" lastIdx="0" clrIdx="1572"/>
  <p:cmAuthor id="1574" name="Mary Feil-Jacobs" initials="" lastIdx="0" clrIdx="1573"/>
  <p:cmAuthor id="1575" name="LiuHui" initials="" lastIdx="0" clrIdx="1574"/>
  <p:cmAuthor id="1576" name="未知的使用者45" initials="" lastIdx="0" clrIdx="1575"/>
  <p:cmAuthor id="1577" name="王鹏凯" initials="" lastIdx="0" clrIdx="1576"/>
  <p:cmAuthor id="1578" name="未知用户104" initials="" lastIdx="0" clrIdx="1577"/>
  <p:cmAuthor id="1579" name="未知的使用者10" initials="" lastIdx="0" clrIdx="1578"/>
  <p:cmAuthor id="1580" name="未知的使用者93" initials="" lastIdx="0" clrIdx="1579"/>
  <p:cmAuthor id="1581" name="LeeElva" initials="" lastIdx="0" clrIdx="1580"/>
  <p:cmAuthor id="1582" name="未知用户99" initials="" lastIdx="0" clrIdx="1581"/>
  <p:cmAuthor id="1583" name="未知的使用者34" initials="" lastIdx="0" clrIdx="1582"/>
  <p:cmAuthor id="1584" name="未知的使用者115" initials="" lastIdx="0" clrIdx="1583"/>
  <p:cmAuthor id="1585" name="lianghb" initials="" lastIdx="0" clrIdx="1584"/>
  <p:cmAuthor id="1586" name="Deanna Schuler (Bookey Consulting)" initials="" lastIdx="0" clrIdx="1585"/>
  <p:cmAuthor id="1587" name="未知的使用者57" initials="" lastIdx="0" clrIdx="1586"/>
  <p:cmAuthor id="1588" name="未知的使用者35" initials="" lastIdx="0" clrIdx="1587"/>
  <p:cmAuthor id="1589" name="未知用户102" initials="" lastIdx="0" clrIdx="1588"/>
  <p:cmAuthor id="1590" name="maxine" initials="" lastIdx="0" clrIdx="1589"/>
  <p:cmAuthor id="353158055" name="韩雨" initials="韩" lastIdx="0" clrIdx="0"/>
  <p:cmAuthor id="1591" name="未知的使用者121" initials="" lastIdx="0" clrIdx="1590"/>
  <p:cmAuthor id="1592" name="未知的使用者12" initials="" lastIdx="0" clrIdx="1591"/>
  <p:cmAuthor id="1593" name="周元元" initials="" lastIdx="0" clrIdx="1592"/>
  <p:cmAuthor id="1594" name="未知的使用者27" initials="" lastIdx="0" clrIdx="1593"/>
  <p:cmAuthor id="1595" name="未知的使用者30" initials="" lastIdx="0" clrIdx="1594"/>
  <p:cmAuthor id="1596" name="未知的使用者53" initials="" lastIdx="0" clrIdx="1595"/>
  <p:cmAuthor id="1597" name="未知的使用者25" initials="" lastIdx="0" clrIdx="1596"/>
  <p:cmAuthor id="1598" name="liupeng" initials="" lastIdx="0" clrIdx="1597"/>
  <p:cmAuthor id="1599" name="AbuSina" initials="" lastIdx="0" clrIdx="1598"/>
  <p:cmAuthor id="1600" name="hl sun" initials="" lastIdx="0" clrIdx="1599"/>
  <p:cmAuthor id="1601" name="未知的使用者94" initials="" lastIdx="0" clrIdx="1600"/>
  <p:cmAuthor id="1602" name="未知用户66" initials="" lastIdx="0" clrIdx="1601"/>
  <p:cmAuthor id="1603" name="周宏達JerryChou" initials="" lastIdx="0" clrIdx="1602"/>
  <p:cmAuthor id="1604" name="未知的使用者56" initials="" lastIdx="0" clrIdx="1603"/>
  <p:cmAuthor id="1605" name="未知的使用者22" initials="" lastIdx="0" clrIdx="1604"/>
  <p:cmAuthor id="1606" name="未知的使用者103" initials="" lastIdx="0" clrIdx="1605"/>
  <p:cmAuthor id="1607" name="Wenwen" initials="" lastIdx="0" clrIdx="1606"/>
  <p:cmAuthor id="1608" name="未知的使用者28" initials="" lastIdx="0" clrIdx="1607"/>
  <p:cmAuthor id="1609" name="未知用户67" initials="" lastIdx="0" clrIdx="1608"/>
  <p:cmAuthor id="1610" name="未知用户114" initials="" lastIdx="0" clrIdx="1609"/>
  <p:cmAuthor id="1611" name="未知的使用者46" initials="" lastIdx="0" clrIdx="1610"/>
  <p:cmAuthor id="1612" name="未知的使用者9" initials="" lastIdx="0" clrIdx="1611"/>
  <p:cmAuthor id="1613" name="未知用户62" initials="" lastIdx="0" clrIdx="1612"/>
  <p:cmAuthor id="1614" name="yuanzh" initials="" lastIdx="0" clrIdx="1613"/>
  <p:cmAuthor id="1615" name="不明使用者57" initials="" lastIdx="0" clrIdx="1614"/>
  <p:cmAuthor id="1616" name="未知的使用者110" initials="" lastIdx="0" clrIdx="1615"/>
  <p:cmAuthor id="1617" name="ztolei@163.com" initials="z" lastIdx="0" clrIdx="1616"/>
  <p:cmAuthor id="1618" name="方朝军/产品推动室/产品开发推广部/总公司" initials="方" lastIdx="0" clrIdx="1617"/>
  <p:cmAuthor id="1619" name="张钰" initials="张" lastIdx="0" clrIdx="1618"/>
  <p:cmAuthor id="1620" name="unicom" initials="" lastIdx="0" clrIdx="1619"/>
  <p:cmAuthor id="1621" name="孙 笑庆" initials="孙" lastIdx="0" clrIdx="1620"/>
  <p:cmAuthor id="1622" name="mei shuo" initials="mei shuo" lastIdx="0" clrIdx="1621"/>
  <p:cmAuthor id="1623" name="mouse zz" initials="mz" lastIdx="0" clrIdx="1622"/>
  <p:cmAuthor id="1624" name="zhangzhongmin" initials="zhangzhongmin" lastIdx="0" clrIdx="1623"/>
  <p:cmAuthor id="1625" name="唐芸" initials="唐" lastIdx="0" clrIdx="1624"/>
  <p:cmAuthor id="1626" name="范汗杰10197873" initials="范" lastIdx="0" clrIdx="1625"/>
  <p:cmAuthor id="1627" name="倪燕子00036324" initials="倪" lastIdx="0" clrIdx="1626"/>
  <p:cmAuthor id="1628" name="王林10186938" initials="王" lastIdx="0" clrIdx="1627"/>
  <p:cmAuthor id="1629" name="李锦" initials="李" lastIdx="0" clrIdx="1628"/>
  <p:cmAuthor id="1630" name="lll" initials="l" lastIdx="0" clrIdx="1629"/>
  <p:cmAuthor id="1631" name="10339982" initials="1" lastIdx="0" clrIdx="1630"/>
  <p:cmAuthor id="1632" name="王波10142735" initials="王" lastIdx="0" clrIdx="1631"/>
  <p:cmAuthor id="1633" name="邵生" initials="邵" lastIdx="0" clrIdx="1632"/>
  <p:cmAuthor id="1634" name="刘 乾" initials="刘" lastIdx="0" clrIdx="1633"/>
  <p:cmAuthor id="1635" name="Eraser-CV_732yNZVB" initials="authorId_935319539" lastIdx="0" clrIdx="1634"/>
  <p:cmAuthor id="1636" name="wangchangkun@cmhi.cmcc" initials="wangchangkun@cmhi.cmcc" lastIdx="0" clrIdx="1635"/>
  <p:cmAuthor id="1637" name="song manyi" initials="s" lastIdx="0" clrIdx="1636"/>
  <p:cmAuthor id="1638" name="江莉萍|jiangliping" initials="江" lastIdx="0" clrIdx="1637"/>
  <p:cmAuthor id="1639" name="云成龙_JVVjiM7N" initials="云" lastIdx="0" clrIdx="1638"/>
  <p:cmAuthor id="1640" name="10223621" initials="1" lastIdx="0" clrIdx="1639"/>
  <p:cmAuthor id="1641" name="tinti" initials="t" lastIdx="0" clrIdx="1640"/>
  <p:cmAuthor id="1642" name="10090812" initials="1" lastIdx="0" clrIdx="1641"/>
  <p:cmAuthor id="1643" name="张力方" initials="张" lastIdx="0" clrIdx="1642"/>
  <p:cmAuthor id="1644" name="likeyu" initials="kk" lastIdx="0" clrIdx="1643"/>
  <p:cmAuthor id="1645" name="褚新宇" initials="c" lastIdx="0" clrIdx="1644"/>
  <p:cmAuthor id="1646" name="shye_EbMrZnMJ" initials="authorId_858303361" lastIdx="0" clrIdx="1645"/>
  <p:cmAuthor id="1647" name="administrator" initials="ad" lastIdx="0" clrIdx="1646"/>
  <p:cmAuthor id="1648" name="ZSX" initials="TP" lastIdx="0" clrIdx="1647"/>
  <p:cmAuthor id="1649" name="Qungang Liu" initials="QL" lastIdx="0" clrIdx="1648"/>
  <p:cmAuthor id="1650" name="piccotina" initials="p" lastIdx="0" clrIdx="1649"/>
  <p:cmAuthor id="1651" name="未知用户229" initials="未" lastIdx="0" clrIdx="1650"/>
  <p:cmAuthor id="1652" name="未知用户262" initials="未" lastIdx="0" clrIdx="1651"/>
  <p:cmAuthor id="1653" name="未知用户390" initials="未" lastIdx="0" clrIdx="1652"/>
  <p:cmAuthor id="1654" name="未知用户391" initials="未" lastIdx="0" clrIdx="1653"/>
  <p:cmAuthor id="1655" name="未知用户394" initials="未" lastIdx="0" clrIdx="1654"/>
  <p:cmAuthor id="1656" name="未知用户395" initials="未" lastIdx="0" clrIdx="1655"/>
  <p:cmAuthor id="1657" name="未知用户420" initials="未" lastIdx="0" clrIdx="1656"/>
  <p:cmAuthor id="1658" name="未知用户422" initials="未" lastIdx="0" clrIdx="1657"/>
  <p:cmAuthor id="1659" name="HZS00" initials="H" lastIdx="0" clrIdx="1658"/>
  <p:cmAuthor id="1660" name="wenle369@sina.com" initials="w" lastIdx="0" clrIdx="1659"/>
  <p:cmAuthor id="1661" name="554154816@qq.com" initials="5" lastIdx="0" clrIdx="1660"/>
  <p:cmAuthor id="1662" name="未知用户232" initials="未" lastIdx="0" clrIdx="1661"/>
  <p:cmAuthor id="1663" name="未知用户226" initials="未" lastIdx="0" clrIdx="1662"/>
  <p:cmAuthor id="1664" name="lp" initials="l" lastIdx="0" clrIdx="1663"/>
  <p:cmAuthor id="1665" name="张正明" initials="张" lastIdx="0" clrIdx="1664"/>
  <p:cmAuthor id="1666" name="FANG SUN" initials="F" lastIdx="0" clrIdx="1665"/>
  <p:cmAuthor id="1667" name="未知用户416" initials="未" lastIdx="0" clrIdx="1666"/>
  <p:cmAuthor id="1668" name="未知用户408" initials="未" lastIdx="0" clrIdx="1667"/>
  <p:cmAuthor id="1669" name="未知用户412" initials="未" lastIdx="0" clrIdx="1668"/>
  <p:cmAuthor id="1670" name="未知用户414" initials="未" lastIdx="0" clrIdx="1669"/>
  <p:cmAuthor id="1671" name="未知用户415" initials="未" lastIdx="0" clrIdx="1670"/>
  <p:cmAuthor id="1672" name="da lin" initials="dl" lastIdx="0" clrIdx="1671"/>
  <p:cmAuthor id="1673" name="Zhao Yecheng" initials="ZY" lastIdx="0" clrIdx="1672"/>
  <p:cmAuthor id="1674" name="未知用户370" initials="未" lastIdx="0" clrIdx="1673"/>
  <p:cmAuthor id="1675" name="法章 田" initials="法田" lastIdx="0" clrIdx="1674"/>
  <p:cmAuthor id="1676" name="未知用户286" initials="未" lastIdx="0" clrIdx="1675"/>
  <p:cmAuthor id="1677" name="未知用户352" initials="未" lastIdx="0" clrIdx="1676"/>
  <p:cmAuthor id="1678" name="zh" initials="z" lastIdx="0" clrIdx="1677"/>
  <p:cmAuthor id="1679" name="成思远" initials="成" lastIdx="0" clrIdx="1678"/>
  <p:cmAuthor id="1680" name="jiangmm10" initials="j" lastIdx="0" clrIdx="1679"/>
  <p:cmAuthor id="1681" name="田延刚" initials="田" lastIdx="0" clrIdx="1680"/>
  <p:cmAuthor id="1682" name="晴朗天空" initials="晴" lastIdx="0" clrIdx="1681"/>
  <p:cmAuthor id="1683" name="王皓天" initials="A" lastIdx="0" clrIdx="1682"/>
  <p:cmAuthor id="1684" name="dongxin" initials="d" lastIdx="0" clrIdx="1683"/>
  <p:cmAuthor id="1685" name="谢海明" initials="谢" lastIdx="0" clrIdx="1684"/>
  <p:cmAuthor id="1686" name="姗SHAN" initials="姗" lastIdx="0" clrIdx="1685"/>
  <p:cmAuthor id="1687" name="韩莹莹" initials="韩" lastIdx="0" clrIdx="1686"/>
  <p:cmAuthor id="1688" name="文斌" initials="文" lastIdx="0" clrIdx="1687"/>
  <p:cmAuthor id="1689" name="Julia Jia" initials="J" lastIdx="0" clrIdx="1688"/>
  <p:cmAuthor id="1690" name="类" initials="类" lastIdx="0" clrIdx="1689"/>
  <p:cmAuthor id="1691" name="碳酸 碳酸" initials="碳碳" lastIdx="0" clrIdx="1690"/>
  <p:cmAuthor id="1692" name="段甜甜" initials="段" lastIdx="0" clrIdx="1691"/>
  <p:cmAuthor id="1693" name="macos" initials="m" lastIdx="0" clrIdx="1692"/>
  <p:cmAuthor id="1694" name="Zou Yongxu" initials="Z" lastIdx="0" clrIdx="1693"/>
  <p:cmAuthor id="1695" name="zhoupeng" initials="z" lastIdx="0" clrIdx="1694"/>
  <p:cmAuthor id="1696" name="shy" initials="s" lastIdx="0" clrIdx="1695"/>
  <p:cmAuthor id="1697" name="Randolph" initials="R" lastIdx="0" clrIdx="1696"/>
  <p:cmAuthor id="1698" name="何 玉庆" initials="何" lastIdx="0" clrIdx="1697"/>
  <p:cmAuthor id="1699" name="cmcc-Yuxuan Xie" initials="c" lastIdx="0" clrIdx="1698"/>
  <p:cmAuthor id="1700" name="zhangxinyao" initials="z" lastIdx="0" clrIdx="1699"/>
  <p:cmAuthor id="1701" name="yang li" initials="yl" lastIdx="0" clrIdx="1700"/>
  <p:cmAuthor id="1702" name="彭润" initials="彭" lastIdx="0" clrIdx="1701"/>
  <p:cmAuthor id="1703" name="李 里" initials="李" lastIdx="0" clrIdx="1702"/>
  <p:cmAuthor id="1704" name="小 红马" initials="小" lastIdx="0" clrIdx="1703"/>
  <p:cmAuthor id="1705" name="10012269" initials="1" lastIdx="0" clrIdx="1704"/>
  <p:cmAuthor id="1706" name="Liu Jialin" initials="LJ" lastIdx="0" clrIdx="1705"/>
  <p:cmAuthor id="1707" name="lenovo" initials="l" lastIdx="0" clrIdx="1706"/>
  <p:cmAuthor id="1708" name="朱 楠楠" initials="朱" lastIdx="0" clrIdx="1707"/>
  <p:cmAuthor id="1709" name="孟震" initials="孟" lastIdx="0" clrIdx="1708"/>
  <p:cmAuthor id="1710" name="Athena" initials="c" lastIdx="0" clrIdx="1709"/>
  <p:cmAuthor id="1711" name="XUWEI" initials="X" lastIdx="0" clrIdx="1710"/>
  <p:cmAuthor id="1712" name="仉 凯" initials="仉" lastIdx="0" clrIdx="1711"/>
  <p:cmAuthor id="1713" name="yuange" initials="y" lastIdx="0" clrIdx="1712"/>
  <p:cmAuthor id="1714" name="姜文静" initials="姜" lastIdx="0" clrIdx="1713"/>
  <p:cmAuthor id="1715" name="admin7" initials="l" lastIdx="0" clrIdx="1714"/>
  <p:cmAuthor id="1716" name="54423" initials="5" lastIdx="0" clrIdx="1715"/>
  <p:cmAuthor id="1717" name="方方" initials="方" lastIdx="0" clrIdx="1716"/>
  <p:cmAuthor id="1718" name="tuhh" initials="t" lastIdx="0" clrIdx="1717"/>
  <p:cmAuthor id="1719" name="庞付娟" initials="庞" lastIdx="0" clrIdx="1718"/>
  <p:cmAuthor id="1720" name="hy-tkyl" initials="h" lastIdx="0" clrIdx="1719"/>
  <p:cmAuthor id="1721" name="黄元" initials="黄" lastIdx="0" clrIdx="1720"/>
  <p:cmAuthor id="1722" name="未知用户37" initials="未" lastIdx="0" clrIdx="1721"/>
  <p:cmAuthor id="1723" name="胡君" initials="胡" lastIdx="0" clrIdx="1722"/>
  <p:cmAuthor id="1724" name="FrogPrince1121" initials="F" lastIdx="0" clrIdx="1723"/>
  <p:cmAuthor id="1725" name="冰箱" initials="冰" lastIdx="0" clrIdx="1724"/>
  <p:cmAuthor id="1726" name="刘莹" initials="刘" lastIdx="0" clrIdx="1725"/>
  <p:cmAuthor id="1727" name="朱粒" initials="朱" lastIdx="0" clrIdx="1726"/>
  <p:cmAuthor id="1728" name="stillu" initials="s" lastIdx="0" clrIdx="1727"/>
  <p:cmAuthor id="1729" name="H1900" initials="H" lastIdx="0" clrIdx="1728"/>
  <p:cmAuthor id="1730" name="liquanxi" initials="l" lastIdx="0" clrIdx="1729"/>
  <p:cmAuthor id="1731" name="未知用户38" initials="未" lastIdx="0" clrIdx="1730"/>
  <p:cmAuthor id="1732" name="viola_yang" initials="" lastIdx="0" clrIdx="1731"/>
  <p:cmAuthor id="1733" name="minty minty" initials="m" lastIdx="0" clrIdx="1732"/>
  <p:cmAuthor id="1734" name="CHEN LONG" initials="C" lastIdx="0" clrIdx="1733"/>
  <p:cmAuthor id="1735" name="徐 宁" initials="徐" lastIdx="0" clrIdx="1734"/>
  <p:cmAuthor id="1736" name="罗彬" initials="罗" lastIdx="0" clrIdx="1735"/>
  <p:cmAuthor id="1737" name="刘盛潮" initials="刘" lastIdx="0" clrIdx="1736"/>
  <p:cmAuthor id="1738" name="ozg106" initials="o" lastIdx="0" clrIdx="1737"/>
  <p:cmAuthor id="1739" name="Q Q" initials="Q" lastIdx="0" clrIdx="1738"/>
  <p:cmAuthor id="1740" name="grace" initials="g" lastIdx="0" clrIdx="1739"/>
  <p:cmAuthor id="1741" name="崔超" initials="崔" lastIdx="0" clrIdx="1740"/>
  <p:cmAuthor id="1742" name="Charlotte Williams" initials="C" lastIdx="0" clrIdx="1741"/>
  <p:cmAuthor id="1743" name="邓鹏君" initials="邓" lastIdx="0" clrIdx="1742"/>
  <p:cmAuthor id="1744" name="Calvin G" initials="C" lastIdx="0" clrIdx="1743"/>
  <p:cmAuthor id="1745" name="张莹" initials="张" lastIdx="0" clrIdx="1744"/>
  <p:cmAuthor id="1746" name="Elfie" initials="E" lastIdx="0" clrIdx="1745"/>
  <p:cmAuthor id="1747" name="松 李" initials="松" lastIdx="0" clrIdx="1746"/>
  <p:cmAuthor id="1748" name="齐涛" initials="齐" lastIdx="0" clrIdx="1747"/>
  <p:cmAuthor id="1749" name="宋春华" initials="宋" lastIdx="0" clrIdx="1748"/>
  <p:cmAuthor id="1750" name="lixiaosong" initials="l" lastIdx="0" clrIdx="1749"/>
  <p:cmAuthor id="1751" name="Codon Medical" initials="C" lastIdx="0" clrIdx="1750"/>
  <p:cmAuthor id="1752" name="史璐瑶" initials="史" lastIdx="0" clrIdx="1751"/>
  <p:cmAuthor id="1167942470" name="咘嘚咘嘚" initials="咘" lastIdx="1" clrIdx="376"/>
  <p:cmAuthor id="1753" name="王怀璋" initials="王" lastIdx="0" clrIdx="1752"/>
  <p:cmAuthor id="1754" name="幺以谦" initials="幺" lastIdx="0" clrIdx="1753"/>
  <p:cmAuthor id="1755" name="Gallivan, John-Paul {MDAO~Basel}" initials="G" lastIdx="0" clrIdx="1754"/>
  <p:cmAuthor id="1756" name="张妍" initials="张" lastIdx="0" clrIdx="1755"/>
  <p:cmAuthor id="1757" name="朴鹏-lhq" initials="朴" lastIdx="0" clrIdx="1756"/>
  <p:cmAuthor id="1758" name="W Nic" initials="W" lastIdx="0" clrIdx="1757"/>
  <p:cmAuthor id="1759" name="张博" initials="张" lastIdx="0" clrIdx="1758"/>
  <p:cmAuthor id="1760" name="柳 先涛" initials="柳" lastIdx="0" clrIdx="1759"/>
  <p:cmAuthor id="1761" name="董晔" initials="董" lastIdx="0" clrIdx="1760"/>
  <p:cmAuthor id="1762" name="18043170808" initials="1" lastIdx="0" clrIdx="1761"/>
  <p:cmAuthor id="1763" name="TaiKang" initials="T" lastIdx="0" clrIdx="1762"/>
  <p:cmAuthor id="1764" name="njlife" initials="n" lastIdx="0" clrIdx="1763"/>
  <p:cmAuthor id="1765" name="619963410@qq.com" initials="6" lastIdx="0" clrIdx="1764"/>
  <p:cmAuthor id="1766" name="zhengmn" initials="zhengmn" lastIdx="0" clrIdx="1765"/>
  <p:cmAuthor id="1767" name="renyina" initials="r" lastIdx="0" clrIdx="1766"/>
  <p:cmAuthor id="1768" name="xiehaoming" initials="xiehaoming" lastIdx="0" clrIdx="1767"/>
  <p:cmAuthor id="1769" name="Cecilia" initials="C" lastIdx="0" clrIdx="1768"/>
  <p:cmAuthor id="1770" name="jiangjunrz" initials="jiangjunrz" lastIdx="0" clrIdx="1769"/>
  <p:cmAuthor id="1771" name="chenpuqiang" initials="c" lastIdx="0" clrIdx="1770"/>
  <p:cmAuthor id="1772" name="crespo lee" initials="cl" lastIdx="0" clrIdx="1771"/>
  <p:cmAuthor id="1773" name="weik" initials="w" lastIdx="0" clrIdx="1772"/>
  <p:cmAuthor id="1774" name="sammi" initials="s" lastIdx="0" clrIdx="1773"/>
  <p:cmAuthor id="1775" name="Rita" initials="R" lastIdx="0" clrIdx="1774"/>
  <p:cmAuthor id="1776" name="wangxinran" initials="w" lastIdx="0" clrIdx="1775"/>
  <p:cmAuthor id="1777" name="zhoux" initials="z" lastIdx="0" clrIdx="1776"/>
  <p:cmAuthor id="1778" name="flower" initials="f" lastIdx="0" clrIdx="1777"/>
  <p:cmAuthor id="1779" name="tonyliu" initials="t" lastIdx="0" clrIdx="1778"/>
  <p:cmAuthor id="1780" name="刘斌" initials="刘斌@" lastIdx="0" clrIdx="1779"/>
  <p:cmAuthor id="1781" name="xuxin" initials="x" lastIdx="0" clrIdx="1780"/>
  <p:cmAuthor id="1782" name="秀雪 贾" initials="秀贾" lastIdx="0" clrIdx="1781"/>
  <p:cmAuthor id="1783" name="shilei" initials="s" lastIdx="0" clrIdx="1782"/>
  <p:cmAuthor id="1784" name="ZTE04" initials="ZTE04" lastIdx="0" clrIdx="1783"/>
  <p:cmAuthor id="1785" name="翁 松秀" initials="翁" lastIdx="0" clrIdx="1784"/>
  <p:cmAuthor id="1786" name="孟 庆岩" initials="孟" lastIdx="0" clrIdx="1785"/>
  <p:cmAuthor id="1787" name="未知用户107" initials="" lastIdx="0" clrIdx="1786"/>
  <p:cmAuthor id="1788" name="未知的使用者83" initials="" lastIdx="0" clrIdx="1787"/>
  <p:cmAuthor id="1789" name="未知的使用者84" initials="" lastIdx="0" clrIdx="1788"/>
  <p:cmAuthor id="1790" name="未知的使用者70" initials="" lastIdx="0" clrIdx="1789"/>
  <p:cmAuthor id="1791" name="blues song" initials="bs" lastIdx="0" clrIdx="1790"/>
  <p:cmAuthor id="1792" name="panjielei" initials="L" lastIdx="0" clrIdx="1791"/>
  <p:cmAuthor id="1793" name="xueyan" initials="x" lastIdx="0" clrIdx="1792"/>
  <p:cmAuthor id="1794" name="ethel" initials="e" lastIdx="0" clrIdx="1793"/>
  <p:cmAuthor id="1795" name="whpaul" initials="w" lastIdx="0" clrIdx="1794"/>
  <p:cmAuthor id="1796" name="yangfh20" initials="y" lastIdx="0" clrIdx="1795"/>
  <p:cmAuthor id="1797" name="shan" initials="s" lastIdx="0" clrIdx="1796"/>
  <p:cmAuthor id="1798" name="谢杏" initials="XX" lastIdx="0" clrIdx="1797"/>
  <p:cmAuthor id="1799" name="赵飞" initials="c" lastIdx="0" clrIdx="1798"/>
  <p:cmAuthor id="1800" name="shawn dong" initials="sd" lastIdx="0" clrIdx="1799"/>
  <p:cmAuthor id="1801" name="Gu, Yi (ES-CMS-BJ)" initials="GY(" lastIdx="0" clrIdx="1800"/>
  <p:cmAuthor id="1802" name="洪文静" initials="洪" lastIdx="0" clrIdx="1801"/>
  <p:cmAuthor id="1803" name="CMIT" initials="C" lastIdx="0" clrIdx="1802"/>
  <p:cmAuthor id="1804" name="liuweiwan@hq.cmcc" initials="l" lastIdx="0" clrIdx="1803"/>
  <p:cmAuthor id="1805" name="张馨玲" initials="张" lastIdx="0" clrIdx="1804"/>
  <p:cmAuthor id="1806" name="tao" initials="t" lastIdx="0" clrIdx="1805"/>
  <p:cmAuthor id="1807" name="张 强" initials="张" lastIdx="0" clrIdx="1806"/>
  <p:cmAuthor id="1808" name="Lee" initials="L" lastIdx="0" clrIdx="1807"/>
  <p:cmAuthor id="1809" name="王丽（IT）" initials="王" lastIdx="0" clrIdx="1808"/>
  <p:cmAuthor id="1810" name="zzy" initials="zzy" lastIdx="0" clrIdx="1809"/>
  <p:cmAuthor id="1811" name="柯嘉斌" initials="A" lastIdx="0" clrIdx="1810"/>
  <p:cmAuthor id="1812" name="Unknown User67" initials="U" lastIdx="0" clrIdx="1811"/>
  <p:cmAuthor id="1813" name="于书丹" initials="C" lastIdx="0" clrIdx="1812"/>
  <p:cmAuthor id="1814" name="未知用户183" initials="未知用户183" lastIdx="0" clrIdx="1813"/>
  <p:cmAuthor id="1815" name="未知用户353" initials="未" lastIdx="0" clrIdx="1814"/>
  <p:cmAuthor id="1816" name="焱恺 彭" initials="焱" lastIdx="0" clrIdx="1815"/>
  <p:cmAuthor id="1817" name="晓琳 李" initials="晓琳" lastIdx="0" clrIdx="1816"/>
  <p:cmAuthor id="1818" name="未知用户358" initials="未" lastIdx="0" clrIdx="1817"/>
  <p:cmAuthor id="1819" name="未知用户359" initials="未" lastIdx="0" clrIdx="1818"/>
  <p:cmAuthor id="1820" name="未知用户360" initials="未" lastIdx="0" clrIdx="1819"/>
  <p:cmAuthor id="1821" name="未知用户364" initials="未" lastIdx="0" clrIdx="1820"/>
  <p:cmAuthor id="1822" name="未知用户341" initials="未" lastIdx="0" clrIdx="1821"/>
  <p:cmAuthor id="1823" name="周豪特_N7nyVj2I" initials="authorId_419394838" lastIdx="0" clrIdx="1822"/>
  <p:cmAuthor id="1824" name="Ra7ER" initials="R" lastIdx="0" clrIdx="1823"/>
  <p:cmAuthor id="1825" name="zhifubao" initials="z" lastIdx="0" clrIdx="1824"/>
  <p:cmAuthor id="1826" name="Chang, Catherine (BJ/DA)" initials="CC(" lastIdx="0" clrIdx="1825"/>
  <p:cmAuthor id="1827" name="Fang, Garrick (QD/DA)" initials="FG(" lastIdx="0" clrIdx="1826"/>
  <p:cmAuthor id="1828" name="张伟芳" initials="张" lastIdx="0" clrIdx="1827"/>
  <p:cmAuthor id="1829" name="86139" initials="8" lastIdx="0" clrIdx="1828"/>
  <p:cmAuthor id="1830" name="dengzy" initials="d" lastIdx="0" clrIdx="1829"/>
  <p:cmAuthor id="1831" name="赵亮（IT01）" initials="赵" lastIdx="0" clrIdx="1830"/>
  <p:cmAuthor id="1832" name="震" initials="震" lastIdx="0" clrIdx="1831"/>
  <p:cmAuthor id="1833" name="王 钰" initials="王" lastIdx="0" clrIdx="1832"/>
  <p:cmAuthor id="1834" name="王元" initials="R" lastIdx="0" clrIdx="1833"/>
  <p:cmAuthor id="1835" name="370369741@qq.com" initials="3" lastIdx="0" clrIdx="1834"/>
  <p:cmAuthor id="1836" name="曹 朝辉" initials="曹" lastIdx="0" clrIdx="1835"/>
  <p:cmAuthor id="1837" name="SF" initials="S" lastIdx="0" clrIdx="1836"/>
  <p:cmAuthor id="1838" name="wyz" initials="w" lastIdx="0" clrIdx="1837"/>
  <p:cmAuthor id="1839" name="yaohuijuan " initials="c" lastIdx="0" clrIdx="1838"/>
  <p:cmAuthor id="1840" name="10319231" initials="1" lastIdx="0" clrIdx="1839"/>
  <p:cmAuthor id="1841" name="未知的使用者79" initials="" lastIdx="0" clrIdx="1840"/>
  <p:cmAuthor id="1842" name="未知的使用者118" initials="" lastIdx="0" clrIdx="1841"/>
  <p:cmAuthor id="1843" name="庞可" initials="庞" lastIdx="0" clrIdx="1842"/>
  <p:cmAuthor id="1844" name="qdf" initials="q" lastIdx="0" clrIdx="1843"/>
  <p:cmAuthor id="1845" name="Yukun Zhang" initials="YZ" lastIdx="0" clrIdx="1844"/>
  <p:cmAuthor id="1846" name="xuqi" initials="x" lastIdx="0" clrIdx="1845"/>
  <p:cmAuthor id="1847" name="hao liu" initials="hl" lastIdx="0" clrIdx="1846"/>
  <p:cmAuthor id="1848" name="le" initials="l" lastIdx="0" clrIdx="1847"/>
  <p:cmAuthor id="1849" name="lingc" initials="l" lastIdx="0" clrIdx="1848"/>
  <p:cmAuthor id="1850" name="zhaoqian" initials="z" lastIdx="0" clrIdx="1849"/>
  <p:cmAuthor id="1851" name="mashan@cmhi.cmcc" initials="mashan@cmhi.cmcc" lastIdx="0" clrIdx="1850"/>
  <p:cmAuthor id="1852" name="haha" initials="h" lastIdx="0" clrIdx="1851"/>
  <p:cmAuthor id="1853" name="xiaqianqian@hq.cmcc" initials="xiaqianqian@hq.cmcc" lastIdx="0" clrIdx="1852"/>
  <p:cmAuthor id="1854" name="富德生命人寿" initials="富" lastIdx="0" clrIdx="1853"/>
  <p:cmAuthor id="1855" name="袁缘" initials="袁" lastIdx="0" clrIdx="1854"/>
  <p:cmAuthor id="1856" name="X13" initials="X" lastIdx="0" clrIdx="1855"/>
  <p:cmAuthor id="1857" name="茹志强" initials="U" lastIdx="0" clrIdx="1856"/>
  <p:cmAuthor id="1858" name="clj" initials="c" lastIdx="0" clrIdx="1857"/>
  <p:cmAuthor id="1859" name="张卓豫" initials="zzy" lastIdx="0" clrIdx="1858"/>
  <p:cmAuthor id="1860" name="cmsz" initials="c" lastIdx="0" clrIdx="1859"/>
  <p:cmAuthor id="1861" name="施旻" initials="施" lastIdx="0" clrIdx="1860"/>
  <p:cmAuthor id="1862" name="zhangyuexin@hq.cmcc" initials="zhangyuexin@hq.cmcc" lastIdx="0" clrIdx="1861"/>
  <p:cmAuthor id="1863" name="Xzjd" initials="X" lastIdx="0" clrIdx="1862"/>
  <p:cmAuthor id="1864" name="黎丹" initials="黎" lastIdx="0" clrIdx="1863"/>
  <p:cmAuthor id="1865" name="X1" initials="X" lastIdx="0" clrIdx="1864"/>
  <p:cmAuthor id="1866" name="LZ" initials="Y" lastIdx="0" clrIdx="1865"/>
  <p:cmAuthor id="1867" name="lunan" initials="l" lastIdx="0" clrIdx="1866"/>
  <p:cmAuthor id="1868" name="liyuting" initials="l" lastIdx="0" clrIdx="1867"/>
  <p:cmAuthor id="1869" name="gengxuan" initials="g" lastIdx="0" clrIdx="1868"/>
  <p:cmAuthor id="1870" name="匿名用户" initials="匿" lastIdx="0" clrIdx="1869"/>
  <p:cmAuthor id="1871" name="陈驹洲" initials="A" lastIdx="0" clrIdx="1870"/>
  <p:cmAuthor id="1872" name="shinin" initials="s" lastIdx="0" clrIdx="1871"/>
  <p:cmAuthor id="1873" name="刘晓杨" initials="刘" lastIdx="0" clrIdx="1872"/>
  <p:cmAuthor id="1874" name="10177653" initials="1" lastIdx="0" clrIdx="1873"/>
  <p:cmAuthor id="1875" name="一个不愿意透露姓名" initials="lasdf" lastIdx="0" clrIdx="1874"/>
  <p:cmAuthor id="1876" name="86188" initials="8" lastIdx="0" clrIdx="1875"/>
  <p:cmAuthor id="1877" name="朱雪萍" initials="朱" lastIdx="0" clrIdx="1876"/>
  <p:cmAuthor id="1878" name="ZF" initials="ZF" lastIdx="0" clrIdx="1877"/>
  <p:cmAuthor id="1879" name="huxiaolu" initials="h" lastIdx="0" clrIdx="1878"/>
  <p:cmAuthor id="1880" name="mzj" initials="m" lastIdx="0" clrIdx="1879"/>
  <p:cmAuthor id="1881" name="thinkin" initials="t" lastIdx="0" clrIdx="1880"/>
  <p:cmAuthor id="1882" name="ma yanru" initials="my" lastIdx="0" clrIdx="1881"/>
  <p:cmAuthor id="1883" name="黄薇（IT）" initials="l" lastIdx="0" clrIdx="1882"/>
  <p:cmAuthor id="1884" name="yangjianhe1" initials="y" lastIdx="0" clrIdx="1883"/>
  <p:cmAuthor id="1885" name="Tianchi Yao" initials="TY" lastIdx="0" clrIdx="1884"/>
  <p:cmAuthor id="1886" name="tong" initials="t" lastIdx="0" clrIdx="1885"/>
  <p:cmAuthor id="1887" name="cpic" initials="c" lastIdx="0" clrIdx="1886"/>
  <p:cmAuthor id="1888" name="xiaoming chang" initials="xc" lastIdx="0" clrIdx="1887"/>
  <p:cmAuthor id="1889" name="梁光灯_iI7bJ7vm" initials="authorId_510858482" lastIdx="0" clrIdx="1888"/>
  <p:cmAuthor id="1890" name="AI" initials="A" lastIdx="0" clrIdx="1889"/>
  <p:cmAuthor id="1891" name="Dizzy" initials="D" lastIdx="0" clrIdx="1890"/>
  <p:cmAuthor id="1892" name="yezengwei" initials="y" lastIdx="0" clrIdx="1891"/>
  <p:cmAuthor id="1893" name="孙璐璐" initials="孙" lastIdx="0" clrIdx="1892"/>
  <p:cmAuthor id="1894" name="1003776019@qq.com" initials="1" lastIdx="0" clrIdx="1893"/>
  <p:cmAuthor id="1895" name="cici" initials="c" lastIdx="0" clrIdx="1894"/>
  <p:cmAuthor id="1896" name="86134" initials="8" lastIdx="0" clrIdx="1895"/>
  <p:cmAuthor id="1897" name="方绍波|fangshaobo" initials="方" lastIdx="0" clrIdx="1896"/>
  <p:cmAuthor id="1898" name="王 金谦" initials="王" lastIdx="0" clrIdx="1897"/>
  <p:cmAuthor id="1899" name="Mary Beattie" initials="M" lastIdx="0" clrIdx="1898"/>
  <p:cmAuthor id="1900" name="15090" initials="1" lastIdx="0" clrIdx="1899"/>
  <p:cmAuthor id="1901" name="Andrea Michels" initials="A" lastIdx="0" clrIdx="1900"/>
  <p:cmAuthor id="1902" name="anni" initials="a" lastIdx="0" clrIdx="1901"/>
  <p:cmAuthor id="1903" name="Mark McGregor (HI)" initials="M" lastIdx="0" clrIdx="1902"/>
  <p:cmAuthor id="1904" name="zhouyangcheng" initials="z" lastIdx="0" clrIdx="1903"/>
  <p:cmAuthor id="1905" name="YUN Jiayue" initials="Y" lastIdx="0" clrIdx="1904"/>
  <p:cmAuthor id="1906" name="Louise Adamson (HI)" initials="L" lastIdx="0" clrIdx="1905"/>
  <p:cmAuthor id="1907" name="Yoda KK" initials="Y" lastIdx="0" clrIdx="1906"/>
  <p:cmAuthor id="1908" name="ZYM" initials="Z" lastIdx="0" clrIdx="1907"/>
  <p:cmAuthor id="1909" name="zhouyangfan" initials="z" lastIdx="0" clrIdx="1908"/>
  <p:cmAuthor id="1910" name="fengyuan03" initials="f" lastIdx="0" clrIdx="1909"/>
  <p:cmAuthor id="1911" name="刘国强" initials="刘" lastIdx="0" clrIdx="1910"/>
  <p:cmAuthor id="1912" name="Melanie Smitt" initials="M" lastIdx="0" clrIdx="1911"/>
  <p:cmAuthor id="1913" name="miaott" initials="m" lastIdx="0" clrIdx="1912"/>
  <p:cmAuthor id="1914" name="xusha" initials="x" lastIdx="0" clrIdx="1913"/>
  <p:cmAuthor id="1915" name="王源" initials="王" lastIdx="0" clrIdx="1914"/>
  <p:cmAuthor id="1916" name="未知用户220" initials="未" lastIdx="0" clrIdx="1915"/>
  <p:cmAuthor id="1917" name="李 东科" initials="李" lastIdx="0" clrIdx="1916"/>
  <p:cmAuthor id="1918" name="未知用户199" initials="未" lastIdx="0" clrIdx="1917"/>
  <p:cmAuthor id="1919" name="未知的使用者196" initials="未" lastIdx="0" clrIdx="1918"/>
  <p:cmAuthor id="1920" name="未知用户84" initials="未" lastIdx="0" clrIdx="1919"/>
  <p:cmAuthor id="1921" name="未知用户210" initials="未" lastIdx="0" clrIdx="1920"/>
  <p:cmAuthor id="1922" name="?定义" initials="?" lastIdx="0" clrIdx="1921"/>
  <p:cmAuthor id="1923" name="sxp" initials="s" lastIdx="0" clrIdx="1922"/>
  <p:cmAuthor id="1924" name="allan" initials="a" lastIdx="0" clrIdx="1923"/>
  <p:cmAuthor id="1925" name="James" initials="J" lastIdx="0" clrIdx="1924"/>
  <p:cmAuthor id="1926" name="Unknown User11" initials="U" lastIdx="0" clrIdx="1925"/>
  <p:cmAuthor id="1927" name="41586" initials="4" lastIdx="0" clrIdx="1926"/>
  <p:cmAuthor id="1928" name="alexw" initials="a" lastIdx="0" clrIdx="1927"/>
  <p:cmAuthor id="1929" name="Well Li" initials="W" lastIdx="0" clrIdx="1928"/>
  <p:cmAuthor id="1930" name="任俊宣" initials="任" lastIdx="0" clrIdx="1929"/>
  <p:cmAuthor id="1931" name="未知用户303" initials="未" lastIdx="0" clrIdx="1930"/>
  <p:cmAuthor id="1932" name="未知用户274" initials="未" lastIdx="0" clrIdx="1931"/>
  <p:cmAuthor id="1933" name="未知用户263" initials="未" lastIdx="0" clrIdx="1932"/>
  <p:cmAuthor id="1934" name="未知用户361" initials="未" lastIdx="0" clrIdx="1933"/>
  <p:cmAuthor id="1935" name="盖珂" initials="GK" lastIdx="0" clrIdx="1934"/>
  <p:cmAuthor id="1936" name="Heyhx" initials="H" lastIdx="0" clrIdx="1935"/>
  <p:cmAuthor id="1937" name="曼 王" initials="曼王" lastIdx="0" clrIdx="1936"/>
  <p:cmAuthor id="1938" name="未知用户307" initials="未" lastIdx="0" clrIdx="1937"/>
  <p:cmAuthor id="1939" name="未知用户329" initials="未" lastIdx="0" clrIdx="1938"/>
  <p:cmAuthor id="1940" name="ShanQiu LH" initials="SL" lastIdx="0" clrIdx="1939"/>
  <p:cmAuthor id="1941" name="殷 积波" initials="殷" lastIdx="0" clrIdx="1940"/>
  <p:cmAuthor id="1942" name="启浩" initials="启" lastIdx="0" clrIdx="1941"/>
  <p:cmAuthor id="1943" name="袨?嗴?傤?" initials="袨" lastIdx="0" clrIdx="1942"/>
  <p:cmAuthor id="441412215" name="tonghailan" initials="t" lastIdx="1126972" clrIdx="0"/>
  <p:cmAuthor id="1944" name="林玲 郑" initials="林" lastIdx="0" clrIdx="1943"/>
  <p:cmAuthor id="1945" name="刘晓富" initials="User" lastIdx="0" clrIdx="1944"/>
  <p:cmAuthor id="1946" name="huangweijing" initials="h" lastIdx="0" clrIdx="1945"/>
  <p:cmAuthor id="1947" name="10161768" initials="1" lastIdx="0" clrIdx="1946"/>
  <p:cmAuthor id="1948" name="myl" initials="m" lastIdx="0" clrIdx="1947"/>
  <p:cmAuthor id="1949" name="10270505" initials="1" lastIdx="0" clrIdx="1948"/>
  <p:cmAuthor id="1950" name="liyanit02" initials="l" lastIdx="0" clrIdx="1949"/>
  <p:cmAuthor id="1951" name="HNN" initials="H" lastIdx="0" clrIdx="1950"/>
  <p:cmAuthor id="1952" name="zcy" initials="z" lastIdx="0" clrIdx="1951"/>
  <p:cmAuthor id="1953" name="崔艳鹏" initials="崔" lastIdx="0" clrIdx="1952"/>
  <p:cmAuthor id="1954" name="DELL" initials="D" lastIdx="0" clrIdx="1953"/>
  <p:cmAuthor id="1955" name="8613250766486" initials="8" lastIdx="0" clrIdx="1954"/>
  <p:cmAuthor id="1956" name="丁喆彤" initials="丁" lastIdx="0" clrIdx="1955"/>
  <p:cmAuthor id="1957" name="yeqq06" initials="y" lastIdx="0" clrIdx="1956"/>
  <p:cmAuthor id="1958" name="张辉" initials="张" lastIdx="0" clrIdx="1957"/>
  <p:cmAuthor id="1959" name="hainan zheng" initials="h" lastIdx="0" clrIdx="1958"/>
  <p:cmAuthor id="1960" name="gayxb" initials="g" lastIdx="0" clrIdx="1959"/>
  <p:cmAuthor id="1961" name="lish54" initials="l" lastIdx="0" clrIdx="1960"/>
  <p:cmAuthor id="1962" name="百里 长青" initials="百" lastIdx="0" clrIdx="1961"/>
  <p:cmAuthor id="1963" name="sizx" initials="s" lastIdx="0" clrIdx="1962"/>
  <p:cmAuthor id="1964" name="陈依依" initials="陈" lastIdx="0" clrIdx="1963"/>
  <p:cmAuthor id="1965" name="朱朱朱_EfIvmAF7" initials="朱" lastIdx="0" clrIdx="1964"/>
  <p:cmAuthor id="1966" name="微之" initials="微" lastIdx="0" clrIdx="1965"/>
  <p:cmAuthor id="1967" name="Trapped" initials="T" lastIdx="0" clrIdx="1966"/>
  <p:cmAuthor id="1968" name="Ghuck" initials="G" lastIdx="0" clrIdx="1967"/>
  <p:cmAuthor id="1969" name="panghuihui" initials="p" lastIdx="0" clrIdx="1968"/>
  <p:cmAuthor id="1970" name="骑猪南下" initials="骑" lastIdx="0" clrIdx="1969"/>
  <p:cmAuthor id="1971" name="邹姝虹" initials="邹" lastIdx="0" clrIdx="1970"/>
  <p:cmAuthor id="1972" name="Guuuu" initials="G" lastIdx="0" clrIdx="1971"/>
  <p:cmAuthor id="1973" name="wmcmdi" initials="w" lastIdx="0" clrIdx="1972"/>
  <p:cmAuthor id="1974" name="李双杰" initials="李" lastIdx="0" clrIdx="1973"/>
  <p:cmAuthor id="1975" name="祝 晓旦" initials="祝" lastIdx="0" clrIdx="1974"/>
  <p:cmAuthor id="1976" name="未知的使用者80" initials="" lastIdx="0" clrIdx="1975"/>
  <p:cmAuthor id="1977" name="未知的使用者85" initials="" lastIdx="0" clrIdx="1976"/>
  <p:cmAuthor id="1978" name="wangzhengyu" initials="w" lastIdx="0" clrIdx="1977"/>
  <p:cmAuthor id="1979" name="但佳" initials="但" lastIdx="0" clrIdx="1978"/>
  <p:cmAuthor id="1980" name="shenchenxu" initials="shenchenxu" lastIdx="0" clrIdx="1979"/>
  <p:cmAuthor id="1981" name="wangfeng" initials="w" lastIdx="0" clrIdx="1980"/>
  <p:cmAuthor id="1982" name="yadua" initials="y" lastIdx="0" clrIdx="1981"/>
  <p:cmAuthor id="1983" name="lcy" initials="l" lastIdx="0" clrIdx="1982"/>
  <p:cmAuthor id="1984" name="Hao Yue" initials="HY" lastIdx="0" clrIdx="1983"/>
  <p:cmAuthor id="1985" name="未知用户11" initials="未" lastIdx="0" clrIdx="1984"/>
  <p:cmAuthor id="1986" name="WKL" initials="W" lastIdx="0" clrIdx="1985"/>
  <p:cmAuthor id="1987" name="王 一鸣" initials="王" lastIdx="0" clrIdx="1986"/>
  <p:cmAuthor id="1988" name="11794" initials="1" lastIdx="0" clrIdx="1987"/>
  <p:cmAuthor id="1989" name="hmwang" initials="dsc" lastIdx="0" clrIdx="1988"/>
  <p:cmAuthor id="1990" name="未知的使用者137" initials="未" lastIdx="0" clrIdx="1989"/>
  <p:cmAuthor id="1991" name="heweia@digiwin.com" initials="h" lastIdx="0" clrIdx="1990"/>
  <p:cmAuthor id="1992" name="MM" initials="M" lastIdx="0" clrIdx="1991"/>
  <p:cmAuthor id="1993" name="super" initials="s" lastIdx="0" clrIdx="1992"/>
  <p:cmAuthor id="1994" name="zhuzy" initials="z" lastIdx="0" clrIdx="1993"/>
  <p:cmAuthor id="1995" name="方婷婷" initials="方" lastIdx="0" clrIdx="1994"/>
  <p:cmAuthor id="1996" name="HAUWEI" initials="H" lastIdx="0" clrIdx="1995"/>
  <p:cmAuthor id="1997" name="FanJQ" initials="F" lastIdx="0" clrIdx="1996"/>
  <p:cmAuthor id="1998" name="wu qi" initials="wq" lastIdx="0" clrIdx="1997"/>
  <p:cmAuthor id="1999" name="yzr" initials="y" lastIdx="0" clrIdx="1998"/>
  <p:cmAuthor id="2000" name="程云静_Y3Azuy2A" initials="authorId_1008746-10054638" lastIdx="0" clrIdx="0"/>
  <p:cmAuthor id="2001" name="王伟栋_ymIjy2uI" initials="authorId_1008746-10055544" lastIdx="0" clrIdx="0"/>
  <p:cmAuthor id="2002" name="金宇峰_BfyebuM3" initials="authorId_1008746-10054633" lastIdx="0" clrIdx="0"/>
  <p:cmAuthor id="2003" name="梁鹏" initials="u" lastIdx="1" clrIdx="35"/>
  <p:cmAuthor id="2004" name="范 斌" initials="范" lastIdx="1" clrIdx="36"/>
  <p:cmAuthor id="2005" name="毕邺" initials="党委办公室" lastIdx="2" clrIdx="37"/>
  <p:cmAuthor id="2006" name="jiaru tiger" initials="jt" lastIdx="2" clrIdx="38"/>
  <p:cmAuthor id="2007" name="李 光辉" initials="李" lastIdx="0" clrIdx="2006"/>
  <p:cmAuthor id="2008" name="su liqin" initials="sl" lastIdx="0" clrIdx="2007"/>
  <p:cmAuthor id="2009" name="litianqi@hq.cmcc" initials="litianqi@hq.cmcc" lastIdx="0" clrIdx="2008"/>
  <p:cmAuthor id="2010" name="dcis" initials="d" lastIdx="0" clrIdx="2009"/>
  <p:cmAuthor id="2011" name="蓝绿方方土_B7BzjQrA" initials="authorId_1141668114" lastIdx="0" clrIdx="2010"/>
  <p:cmAuthor id="2012" name="庞亦龙" initials="庞亦龙" lastIdx="0" clrIdx="2011"/>
  <p:cmAuthor id="2013" name="Liuwn02" initials="L" lastIdx="0" clrIdx="2012"/>
  <p:cmAuthor id="2014" name="佳乐 张" initials="佳张" lastIdx="0" clrIdx="2013"/>
  <p:cmAuthor id="2015" name="zhao chun" initials="zc" lastIdx="0" clrIdx="2014"/>
  <p:cmAuthor id="2016" name="maomao" initials="m" lastIdx="0" clrIdx="2015"/>
  <p:cmAuthor id="2017" name="zheng kedan" initials="zk" lastIdx="0" clrIdx="2016"/>
  <p:cmAuthor id="2018" name="运营" initials="运" lastIdx="0" clrIdx="2017"/>
  <p:cmAuthor id="2019" name="Xinyue Li" initials="X" lastIdx="0" clrIdx="2018"/>
  <p:cmAuthor id="2020" name="宋瑞芳" initials="KS" lastIdx="0" clrIdx="2019"/>
  <p:cmAuthor id="2021" name="a" initials="a" lastIdx="0" clrIdx="2020"/>
  <p:cmAuthor id="2022" name="ZhangQianmei-PC" initials="Z" lastIdx="0" clrIdx="2021"/>
  <p:cmAuthor id="2023" name="94070" initials="9" lastIdx="0" clrIdx="2022"/>
  <p:cmAuthor id="2024" name="陈召国" initials="c" lastIdx="0" clrIdx="2023"/>
  <p:cmAuthor id="2026" name="王轩" initials="王" lastIdx="0" clrIdx="2025"/>
  <p:cmAuthor id="2027" name="yangkun" initials="y" lastIdx="0" clrIdx="2026"/>
  <p:cmAuthor id="287643681" name="殷格非" initials="殷" lastIdx="2" clrIdx="0"/>
  <p:cmAuthor id="2028" name="王明明" initials="王" lastIdx="0" clrIdx="2027"/>
  <p:cmAuthor id="287643682" name="z r" initials="zr" lastIdx="5" clrIdx="12"/>
  <p:cmAuthor id="2029" name="李芳雨" initials="李" lastIdx="0" clrIdx="2028"/>
  <p:cmAuthor id="287643683" name="王 曦" initials="王" lastIdx="1" clrIdx="13"/>
  <p:cmAuthor id="2030" name="番茄花园" initials="番" lastIdx="0" clrIdx="2029"/>
  <p:cmAuthor id="287643684" name="解飞|xief" initials="解飞" lastIdx="0" clrIdx="37"/>
  <p:cmAuthor id="2031" name="张前美" initials="Z" lastIdx="0" clrIdx="2030"/>
  <p:cmAuthor id="287643685" name="songlinyan" initials="s" lastIdx="2" clrIdx="44"/>
  <p:cmAuthor id="2032" name="39481" initials="3" lastIdx="0" clrIdx="2031"/>
  <p:cmAuthor id="287643686" name="夜尽迟渊_UrQfrmQZ" initials="authorId_501680251" lastIdx="0" clrIdx="0"/>
  <p:cmAuthor id="2033" name="thinker" initials="t" lastIdx="0" clrIdx="2032"/>
  <p:cmAuthor id="287643687" name="王丰_aE3uARfm" initials="authorId_383357774" lastIdx="0" clrIdx="0"/>
  <p:cmAuthor id="2034" name="1" initials="1" lastIdx="0" clrIdx="2033"/>
  <p:cmAuthor id="287643688" name="方少_UbQfrimU" initials="authorId_442114952" lastIdx="0" clrIdx="0"/>
  <p:cmAuthor id="2035" name="dingyuyuan" initials="d" lastIdx="0" clrIdx="2034"/>
  <p:cmAuthor id="287643689" name="叶盛_Q3A3IfEf" initials="authorId_506280334" lastIdx="0" clrIdx="0"/>
  <p:cmAuthor id="2036" name="山西公司集团客户部李赫" initials="山" lastIdx="0" clrIdx="2035"/>
  <p:cmAuthor id="287643690" name="Harley._bEJrUJ7r" initials="authorId_432156705" lastIdx="0" clrIdx="0"/>
  <p:cmAuthor id="2037" name="liujinjie" initials="l" lastIdx="0" clrIdx="2036"/>
  <p:cmAuthor id="287643691" name="罗平_VB7vJb2E" initials="authorId_305049361" lastIdx="0" clrIdx="0"/>
  <p:cmAuthor id="2038" name="山西公司发展战略部王志强" initials="山" lastIdx="0" clrIdx="2037"/>
  <p:cmAuthor id="287643692" name="xixi_nUjqe22E" initials="authorId_359229261" lastIdx="0" clrIdx="0"/>
  <p:cmAuthor id="2039" name="周 宸宇" initials="周" lastIdx="0" clrIdx="2038"/>
  <p:cmAuthor id="287643693" name="安安_zm6nYnYZ" initials="authorId_347340296" lastIdx="0" clrIdx="0"/>
  <p:cmAuthor id="2040" name="冀文" initials="冀" lastIdx="0" clrIdx="2039"/>
  <p:cmAuthor id="287643694" name="nature_emInFJF7" initials="authorId_313163542" lastIdx="0" clrIdx="0"/>
  <p:cmAuthor id="2041" name="Wang Michael" initials="W" lastIdx="0" clrIdx="2040"/>
  <p:cmAuthor id="287643695" name="杨思思_VNjyvY7j" initials="authorId_430925712" lastIdx="0" clrIdx="0"/>
  <p:cmAuthor id="2042" name="王璐璐（IT）" initials="lu" lastIdx="0" clrIdx="2041"/>
  <p:cmAuthor id="287643696" name="周君_MfIffYra" initials="authorId_375419134" lastIdx="0" clrIdx="0"/>
  <p:cmAuthor id="2043" name="刘珊珊" initials="刘" lastIdx="0" clrIdx="2042"/>
  <p:cmAuthor id="2044" name="李玉莹" initials="李" lastIdx="0" clrIdx="2043"/>
  <p:cmAuthor id="2045" name="李梦瑶" initials="李" lastIdx="0" clrIdx="2044"/>
  <p:cmAuthor id="2046" name="chenlin02" initials="c" lastIdx="0" clrIdx="2045"/>
  <p:cmAuthor id="2047" name="chen jilei" initials="c" lastIdx="0" clrIdx="2046"/>
  <p:cmAuthor id="2048" name="zhangqian" initials="z" lastIdx="0" clrIdx="2047"/>
  <p:cmAuthor id="2049" name="刘宇（IT01）" initials="刘" lastIdx="0" clrIdx="2048"/>
  <p:cmAuthor id="2050" name="王 刚" initials="王" lastIdx="0" clrIdx="2049"/>
  <p:cmAuthor id="2051" name="HiWin10" initials="H" lastIdx="0" clrIdx="2050"/>
  <p:cmAuthor id="2052" name="liuwe" initials="l" lastIdx="0" clrIdx="2051"/>
  <p:cmAuthor id="2053" name="zhangmh@httz.cc" initials="z" lastIdx="0" clrIdx="2052"/>
  <p:cmAuthor id="2054" name="wang" initials="wang" lastIdx="0" clrIdx="2053"/>
  <p:cmAuthor id="2055" name="guoteng" initials="g" lastIdx="0" clrIdx="2054"/>
  <p:cmAuthor id="2056" name="33505" initials="3" lastIdx="0" clrIdx="2055"/>
  <p:cmAuthor id="2057" name="chenruihengsh" initials="chenruihengsh" lastIdx="0" clrIdx="2056"/>
  <p:cmAuthor id="2058" name="yanggh" initials="y" lastIdx="0" clrIdx="2057"/>
  <p:cmAuthor id="2059" name="xj 杨" initials="x杨" lastIdx="0" clrIdx="2058"/>
  <p:cmAuthor id="2060" name="池依曼" initials="池" lastIdx="0" clrIdx="2059"/>
  <p:cmAuthor id="2061" name="亚运 曹" initials="亚" lastIdx="0" clrIdx="2060"/>
  <p:cmAuthor id="2062" name="zang" initials="z" lastIdx="0" clrIdx="2061"/>
  <p:cmAuthor id="2063" name="zhuju" initials="z" lastIdx="0" clrIdx="2062"/>
  <p:cmAuthor id="2064" name="钟 蕊徽" initials="钟" lastIdx="0" clrIdx="2063"/>
  <p:cmAuthor id="2065" name="LU BG" initials="LB" lastIdx="0" clrIdx="2064"/>
  <p:cmAuthor id="2066" name="tkuser" initials="t" lastIdx="0" clrIdx="2065"/>
  <p:cmAuthor id="2067" name="ouyp" initials="o" lastIdx="0" clrIdx="2066"/>
  <p:cmAuthor id="2068" name="ws873111" initials="w" lastIdx="0" clrIdx="2067"/>
  <p:cmAuthor id="2069" name="Zhiping Yu" initials="Z" lastIdx="0" clrIdx="2068"/>
  <p:cmAuthor id="2070" name="yanchenrui@hq.cmcc" initials="yanchenrui@hq.cmcc" lastIdx="0" clrIdx="2069"/>
  <p:cmAuthor id="2071" name="jcc samuel" initials="j" lastIdx="0" clrIdx="2070"/>
  <p:cmAuthor id="2072" name="Zhangmingzhe" initials="Z" lastIdx="0" clrIdx="2071"/>
  <p:cmAuthor id="2073" name="Lihongxia Lihongxia" initials="LL" lastIdx="0" clrIdx="2072"/>
  <p:cmAuthor id="2074" name="Amanda Bao" initials="AB" lastIdx="0" clrIdx="2073"/>
  <p:cmAuthor id="2075" name="thinkpad" initials="t" lastIdx="0" clrIdx="2074"/>
  <p:cmAuthor id="2076" name="Iris XingyuJiang" initials="irijiang" lastIdx="0" clrIdx="207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70F1"/>
    <a:srgbClr val="0070C0"/>
    <a:srgbClr val="5D5D5D"/>
    <a:srgbClr val="3A6DEC"/>
    <a:srgbClr val="0086D6"/>
    <a:srgbClr val="F2F2F2"/>
    <a:srgbClr val="A3EFFF"/>
    <a:srgbClr val="6DE2FF"/>
    <a:srgbClr val="0050E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914" autoAdjust="0"/>
  </p:normalViewPr>
  <p:slideViewPr>
    <p:cSldViewPr snapToGrid="0">
      <p:cViewPr>
        <p:scale>
          <a:sx n="75" d="100"/>
          <a:sy n="75" d="100"/>
        </p:scale>
        <p:origin x="201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1" Type="http://schemas.openxmlformats.org/officeDocument/2006/relationships/tags" Target="tags/tag283.xml"/><Relationship Id="rId40" Type="http://schemas.openxmlformats.org/officeDocument/2006/relationships/commentAuthors" Target="commentAuthors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oleObject" Target="file:///F:\xwechat_files\wxid_wmzdpi7vmuyd11_c593\msg\file\2026-05\26&#24180;3-4&#26376;ICOS&#24037;&#21333;&#32479;&#35745;&#24773;&#20917;.xlsx" TargetMode="External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oleObject" Target="file:///F:\QQ\QQ&#19979;&#36733;&#25991;&#20214;\&#26080;&#20248;&#20013;&#24515;&#33021;&#21147;&#21488;&#36134;26052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950778988004963"/>
          <c:y val="0.111434977578475"/>
          <c:w val="0.818530263339308"/>
          <c:h val="0.7056950672645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'[26年3-4月ICOS工单统计情况.xlsx]Sheet4'!$B$38</c:f>
              <c:strCache>
                <c:ptCount val="1"/>
                <c:pt idx="0">
                  <c:v>工单量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'[26年3-4月ICOS工单统计情况.xlsx]Sheet4'!$A$39:$A$52</c:f>
              <c:strCache>
                <c:ptCount val="14"/>
                <c:pt idx="0">
                  <c:v>南宁</c:v>
                </c:pt>
                <c:pt idx="1">
                  <c:v>桂林</c:v>
                </c:pt>
                <c:pt idx="2">
                  <c:v>百色</c:v>
                </c:pt>
                <c:pt idx="3">
                  <c:v>柳州</c:v>
                </c:pt>
                <c:pt idx="4">
                  <c:v>玉林</c:v>
                </c:pt>
                <c:pt idx="5">
                  <c:v>钦州</c:v>
                </c:pt>
                <c:pt idx="6">
                  <c:v>北海</c:v>
                </c:pt>
                <c:pt idx="7">
                  <c:v>贵港</c:v>
                </c:pt>
                <c:pt idx="8">
                  <c:v>河池</c:v>
                </c:pt>
                <c:pt idx="9">
                  <c:v>崇左</c:v>
                </c:pt>
                <c:pt idx="10">
                  <c:v>梧州</c:v>
                </c:pt>
                <c:pt idx="11">
                  <c:v>防城港</c:v>
                </c:pt>
                <c:pt idx="12">
                  <c:v>来宾</c:v>
                </c:pt>
                <c:pt idx="13">
                  <c:v>贺州</c:v>
                </c:pt>
              </c:strCache>
            </c:strRef>
          </c:cat>
          <c:val>
            <c:numRef>
              <c:f>'[26年3-4月ICOS工单统计情况.xlsx]Sheet4'!$B$39:$B$52</c:f>
              <c:numCache>
                <c:formatCode>General</c:formatCode>
                <c:ptCount val="14"/>
                <c:pt idx="0">
                  <c:v>3117</c:v>
                </c:pt>
                <c:pt idx="1">
                  <c:v>1819</c:v>
                </c:pt>
                <c:pt idx="2">
                  <c:v>1613</c:v>
                </c:pt>
                <c:pt idx="3">
                  <c:v>1449</c:v>
                </c:pt>
                <c:pt idx="4">
                  <c:v>1056</c:v>
                </c:pt>
                <c:pt idx="5">
                  <c:v>1016</c:v>
                </c:pt>
                <c:pt idx="6">
                  <c:v>968</c:v>
                </c:pt>
                <c:pt idx="7">
                  <c:v>943</c:v>
                </c:pt>
                <c:pt idx="8">
                  <c:v>929</c:v>
                </c:pt>
                <c:pt idx="9">
                  <c:v>824</c:v>
                </c:pt>
                <c:pt idx="10">
                  <c:v>668</c:v>
                </c:pt>
                <c:pt idx="11">
                  <c:v>633</c:v>
                </c:pt>
                <c:pt idx="12">
                  <c:v>625</c:v>
                </c:pt>
                <c:pt idx="13">
                  <c:v>603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4019670"/>
        <c:axId val="163970606"/>
      </c:barChart>
      <c:lineChart>
        <c:grouping val="standard"/>
        <c:varyColors val="0"/>
        <c:ser>
          <c:idx val="1"/>
          <c:order val="1"/>
          <c:tx>
            <c:strRef>
              <c:f>'[26年3-4月ICOS工单统计情况.xlsx]Sheet4'!$C$38</c:f>
              <c:strCache>
                <c:ptCount val="1"/>
                <c:pt idx="0">
                  <c:v>多次派单比例</c:v>
                </c:pt>
              </c:strCache>
            </c:strRef>
          </c:tx>
          <c:spPr>
            <a:ln w="12700" cap="rnd">
              <a:solidFill>
                <a:srgbClr val="14B6F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'[26年3-4月ICOS工单统计情况.xlsx]Sheet4'!$A$39:$A$52</c:f>
              <c:strCache>
                <c:ptCount val="14"/>
                <c:pt idx="0">
                  <c:v>南宁</c:v>
                </c:pt>
                <c:pt idx="1">
                  <c:v>桂林</c:v>
                </c:pt>
                <c:pt idx="2">
                  <c:v>百色</c:v>
                </c:pt>
                <c:pt idx="3">
                  <c:v>柳州</c:v>
                </c:pt>
                <c:pt idx="4">
                  <c:v>玉林</c:v>
                </c:pt>
                <c:pt idx="5">
                  <c:v>钦州</c:v>
                </c:pt>
                <c:pt idx="6">
                  <c:v>北海</c:v>
                </c:pt>
                <c:pt idx="7">
                  <c:v>贵港</c:v>
                </c:pt>
                <c:pt idx="8">
                  <c:v>河池</c:v>
                </c:pt>
                <c:pt idx="9">
                  <c:v>崇左</c:v>
                </c:pt>
                <c:pt idx="10">
                  <c:v>梧州</c:v>
                </c:pt>
                <c:pt idx="11">
                  <c:v>防城港</c:v>
                </c:pt>
                <c:pt idx="12">
                  <c:v>来宾</c:v>
                </c:pt>
                <c:pt idx="13">
                  <c:v>贺州</c:v>
                </c:pt>
              </c:strCache>
            </c:strRef>
          </c:cat>
          <c:val>
            <c:numRef>
              <c:f>'[26年3-4月ICOS工单统计情况.xlsx]Sheet4'!$C$39:$C$52</c:f>
              <c:numCache>
                <c:formatCode>0.00_ </c:formatCode>
                <c:ptCount val="14"/>
                <c:pt idx="0">
                  <c:v>0.181905678537055</c:v>
                </c:pt>
                <c:pt idx="1">
                  <c:v>0.118196811434854</c:v>
                </c:pt>
                <c:pt idx="2">
                  <c:v>0.0799752014879107</c:v>
                </c:pt>
                <c:pt idx="3">
                  <c:v>0.131124913733609</c:v>
                </c:pt>
                <c:pt idx="4">
                  <c:v>0.09375</c:v>
                </c:pt>
                <c:pt idx="5">
                  <c:v>0.0915354330708661</c:v>
                </c:pt>
                <c:pt idx="6">
                  <c:v>0.0268595041322314</c:v>
                </c:pt>
                <c:pt idx="7">
                  <c:v>0.0413573700954401</c:v>
                </c:pt>
                <c:pt idx="8">
                  <c:v>0.13778256189451</c:v>
                </c:pt>
                <c:pt idx="9">
                  <c:v>0.116504854368932</c:v>
                </c:pt>
                <c:pt idx="10">
                  <c:v>0.122754491017964</c:v>
                </c:pt>
                <c:pt idx="11">
                  <c:v>0.0979462875197472</c:v>
                </c:pt>
                <c:pt idx="12">
                  <c:v>0.128</c:v>
                </c:pt>
                <c:pt idx="13">
                  <c:v>0.139303482587065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35867680"/>
        <c:axId val="174595487"/>
      </c:lineChart>
      <c:catAx>
        <c:axId val="86401967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63970606"/>
        <c:crosses val="autoZero"/>
        <c:auto val="1"/>
        <c:lblAlgn val="ctr"/>
        <c:lblOffset val="100"/>
        <c:noMultiLvlLbl val="0"/>
      </c:catAx>
      <c:valAx>
        <c:axId val="16397060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64019670"/>
        <c:crosses val="autoZero"/>
        <c:crossBetween val="between"/>
      </c:valAx>
      <c:catAx>
        <c:axId val="13586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74595487"/>
        <c:crosses val="autoZero"/>
        <c:auto val="1"/>
        <c:lblAlgn val="ctr"/>
        <c:lblOffset val="100"/>
        <c:noMultiLvlLbl val="0"/>
      </c:catAx>
      <c:valAx>
        <c:axId val="174595487"/>
        <c:scaling>
          <c:orientation val="minMax"/>
        </c:scaling>
        <c:delete val="0"/>
        <c:axPos val="r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35867680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4214807665793"/>
          <c:y val="0.085201793721973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81ac686-e799-4814-957d-beaf44cc0239}"/>
      </c:ext>
    </c:extLst>
  </c:chart>
  <c:spPr>
    <a:solidFill>
      <a:schemeClr val="bg1"/>
    </a:solidFill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[无优中心能力台账260522.xlsx]Sheet2!$B$29</c:f>
              <c:strCache>
                <c:ptCount val="1"/>
                <c:pt idx="0">
                  <c:v>能力数</c:v>
                </c:pt>
              </c:strCache>
            </c:strRef>
          </c:tx>
          <c:spPr>
            <a:solidFill>
              <a:schemeClr val="accent1"/>
            </a:solidFill>
            <a:ln w="31750" cap="rnd">
              <a:noFill/>
              <a:round/>
            </a:ln>
            <a:effectLst/>
            <a:sp3d contourW="31750"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[无优中心能力台账260522.xlsx]Sheet2!$A$30:$A$47</c:f>
              <c:strCache>
                <c:ptCount val="18"/>
                <c:pt idx="0">
                  <c:v>无线运维工作台</c:v>
                </c:pt>
                <c:pt idx="1">
                  <c:v>网优平台</c:v>
                </c:pt>
                <c:pt idx="2">
                  <c:v>MR集中分析平台</c:v>
                </c:pt>
                <c:pt idx="3">
                  <c:v>信测平台</c:v>
                </c:pt>
                <c:pt idx="4">
                  <c:v>IDS干扰分析平台</c:v>
                </c:pt>
                <c:pt idx="5">
                  <c:v>容量分析与优化模块</c:v>
                </c:pt>
                <c:pt idx="6">
                  <c:v>集中规划</c:v>
                </c:pt>
                <c:pt idx="7">
                  <c:v>集中优化智能分析ICOS平台</c:v>
                </c:pt>
                <c:pt idx="8">
                  <c:v>无线基站节能平台</c:v>
                </c:pt>
                <c:pt idx="9">
                  <c:v>5G智能测试分析系统</c:v>
                </c:pt>
                <c:pt idx="10">
                  <c:v>基站自动开通平台</c:v>
                </c:pt>
                <c:pt idx="11">
                  <c:v>覆盖端到端分析与支撑平台</c:v>
                </c:pt>
                <c:pt idx="12">
                  <c:v>集中参数管理平台</c:v>
                </c:pt>
                <c:pt idx="13">
                  <c:v>权值优化平台</c:v>
                </c:pt>
                <c:pt idx="14">
                  <c:v>投诉分析平台</c:v>
                </c:pt>
                <c:pt idx="15">
                  <c:v>多运营商无线网络质量分析系统</c:v>
                </c:pt>
                <c:pt idx="16">
                  <c:v>5G专网无线支撑平台</c:v>
                </c:pt>
                <c:pt idx="17">
                  <c:v>无线智能基站验收平台</c:v>
                </c:pt>
              </c:strCache>
            </c:strRef>
          </c:cat>
          <c:val>
            <c:numRef>
              <c:f>[无优中心能力台账260522.xlsx]Sheet2!$B$30:$B$47</c:f>
              <c:numCache>
                <c:formatCode>General</c:formatCode>
                <c:ptCount val="18"/>
                <c:pt idx="0">
                  <c:v>59</c:v>
                </c:pt>
                <c:pt idx="1">
                  <c:v>52</c:v>
                </c:pt>
                <c:pt idx="2">
                  <c:v>21</c:v>
                </c:pt>
                <c:pt idx="3">
                  <c:v>19</c:v>
                </c:pt>
                <c:pt idx="4">
                  <c:v>14</c:v>
                </c:pt>
                <c:pt idx="5">
                  <c:v>10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  <c:pt idx="10">
                  <c:v>7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5</c:v>
                </c:pt>
                <c:pt idx="16">
                  <c:v>4</c:v>
                </c:pt>
                <c:pt idx="17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3"/>
        <c:overlap val="-26"/>
        <c:axId val="85863835"/>
        <c:axId val="835877588"/>
      </c:barChart>
      <c:catAx>
        <c:axId val="858638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35877588"/>
        <c:crosses val="autoZero"/>
        <c:auto val="1"/>
        <c:lblAlgn val="ctr"/>
        <c:lblOffset val="100"/>
        <c:noMultiLvlLbl val="0"/>
      </c:catAx>
      <c:valAx>
        <c:axId val="8358775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58638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455790190735695"/>
          <c:y val="0.13761467889908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7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a40b3bb-a7f2-4a52-a302-2ecac7a4c238}"/>
      </c:ext>
    </c:extLst>
  </c:chart>
  <c:spPr>
    <a:solidFill>
      <a:schemeClr val="bg1"/>
    </a:solidFill>
    <a:ln w="6350" cap="flat" cmpd="sng" algn="ctr">
      <a:noFill/>
      <a:round/>
    </a:ln>
    <a:effectLst/>
  </c:spPr>
  <c:txPr>
    <a:bodyPr/>
    <a:lstStyle/>
    <a:p>
      <a:pPr>
        <a:defRPr lang="zh-CN" sz="7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过去</a:t>
            </a:r>
            <a:r>
              <a:rPr lang="zh-CN" altLang="zh-CN" dirty="0"/>
              <a:t>系统都是「人驱动流程」</a:t>
            </a:r>
            <a:r>
              <a:rPr lang="zh-CN" altLang="en-US" dirty="0"/>
              <a:t>，随着</a:t>
            </a:r>
            <a:r>
              <a:rPr lang="en-US" altLang="zh-CN" dirty="0"/>
              <a:t>AI</a:t>
            </a:r>
            <a:r>
              <a:rPr lang="zh-CN" altLang="en-US" dirty="0"/>
              <a:t>技术的发展，</a:t>
            </a:r>
            <a:r>
              <a:rPr lang="zh-CN" altLang="zh-CN" dirty="0"/>
              <a:t>彻底切换成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驱动业务</a:t>
            </a: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原生和以前的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助手有什么区别呢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嵌入现有界面（</a:t>
            </a:r>
            <a:r>
              <a:rPr lang="en-US" altLang="zh-CN"/>
              <a:t>Copilot</a:t>
            </a:r>
            <a:r>
              <a:rPr lang="zh-CN" altLang="en-US"/>
              <a:t>）：先</a:t>
            </a:r>
            <a:r>
              <a:rPr lang="en-US" altLang="zh-CN"/>
              <a:t>“</a:t>
            </a:r>
            <a:r>
              <a:rPr lang="zh-CN" altLang="en-US"/>
              <a:t>提效</a:t>
            </a:r>
            <a:r>
              <a:rPr lang="en-US" altLang="zh-CN"/>
              <a:t>”</a:t>
            </a:r>
            <a:r>
              <a:rPr lang="zh-CN" altLang="en-US"/>
              <a:t>，不改主流程</a:t>
            </a:r>
            <a:endParaRPr lang="zh-CN" altLang="en-US"/>
          </a:p>
          <a:p>
            <a:r>
              <a:rPr lang="en-US" altLang="zh-CN"/>
              <a:t>AI</a:t>
            </a:r>
            <a:r>
              <a:rPr lang="zh-CN" altLang="en-US"/>
              <a:t>作为服务（</a:t>
            </a:r>
            <a:r>
              <a:rPr lang="en-US" altLang="zh-CN"/>
              <a:t>AI Service</a:t>
            </a:r>
            <a:r>
              <a:rPr lang="zh-CN" altLang="en-US"/>
              <a:t>）：让传统</a:t>
            </a:r>
            <a:r>
              <a:rPr lang="en-US" altLang="zh-CN"/>
              <a:t>IT</a:t>
            </a:r>
            <a:r>
              <a:rPr lang="zh-CN" altLang="en-US"/>
              <a:t>调用</a:t>
            </a:r>
            <a:r>
              <a:rPr lang="en-US" altLang="zh-CN"/>
              <a:t>AI</a:t>
            </a:r>
            <a:r>
              <a:rPr lang="zh-CN" altLang="en-US"/>
              <a:t>能力（摘要</a:t>
            </a:r>
            <a:r>
              <a:rPr lang="en-US" altLang="zh-CN"/>
              <a:t>/</a:t>
            </a:r>
            <a:r>
              <a:rPr lang="zh-CN" altLang="en-US"/>
              <a:t>归因</a:t>
            </a:r>
            <a:r>
              <a:rPr lang="en-US" altLang="zh-CN"/>
              <a:t>/</a:t>
            </a:r>
            <a:r>
              <a:rPr lang="zh-CN" altLang="en-US"/>
              <a:t>推荐</a:t>
            </a:r>
            <a:r>
              <a:rPr lang="en-US" altLang="zh-CN"/>
              <a:t>/</a:t>
            </a:r>
            <a:r>
              <a:rPr lang="zh-CN" altLang="en-US"/>
              <a:t>生成）</a:t>
            </a:r>
            <a:endParaRPr lang="zh-CN" altLang="en-US"/>
          </a:p>
          <a:p>
            <a:r>
              <a:rPr lang="en-US" altLang="zh-CN"/>
              <a:t>AI</a:t>
            </a:r>
            <a:r>
              <a:rPr lang="zh-CN" altLang="en-US"/>
              <a:t>编排流程（</a:t>
            </a:r>
            <a:r>
              <a:rPr lang="en-US" altLang="zh-CN"/>
              <a:t>Agent Orchestrator</a:t>
            </a:r>
            <a:r>
              <a:rPr lang="zh-CN" altLang="en-US"/>
              <a:t>）：在可控范围内接管部分闭环（自愈</a:t>
            </a:r>
            <a:r>
              <a:rPr lang="en-US" altLang="zh-CN"/>
              <a:t>/</a:t>
            </a:r>
            <a:r>
              <a:rPr lang="zh-CN" altLang="en-US"/>
              <a:t>优化</a:t>
            </a:r>
            <a:r>
              <a:rPr lang="en-US" altLang="zh-CN"/>
              <a:t>/</a:t>
            </a:r>
            <a:r>
              <a:rPr lang="zh-CN" altLang="en-US"/>
              <a:t>巡检）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“</a:t>
            </a:r>
            <a:r>
              <a:rPr lang="zh-CN" altLang="en-US"/>
              <a:t>先立运营指标，再立应用</a:t>
            </a:r>
            <a:r>
              <a:rPr lang="en-US" altLang="zh-CN"/>
              <a:t>”</a:t>
            </a:r>
            <a:r>
              <a:rPr lang="zh-CN" altLang="en-US"/>
              <a:t>：不然最后全是样板间</a:t>
            </a:r>
            <a:endParaRPr lang="zh-CN" altLang="en-US"/>
          </a:p>
          <a:p>
            <a:r>
              <a:rPr lang="en-US" altLang="zh-CN"/>
              <a:t>“</a:t>
            </a:r>
            <a:r>
              <a:rPr lang="zh-CN" altLang="en-US"/>
              <a:t>工具服务化比智能体更关键</a:t>
            </a:r>
            <a:r>
              <a:rPr lang="en-US" altLang="zh-CN"/>
              <a:t>”</a:t>
            </a:r>
            <a:r>
              <a:rPr lang="zh-CN" altLang="en-US"/>
              <a:t>：智能体会换，工具网关</a:t>
            </a:r>
            <a:r>
              <a:rPr lang="en-US" altLang="zh-CN"/>
              <a:t>/</a:t>
            </a:r>
            <a:r>
              <a:rPr lang="zh-CN" altLang="en-US"/>
              <a:t>服务目录是长期资产</a:t>
            </a:r>
            <a:endParaRPr lang="zh-CN" altLang="en-US"/>
          </a:p>
          <a:p>
            <a:r>
              <a:rPr lang="en-US" altLang="zh-CN"/>
              <a:t>“</a:t>
            </a:r>
            <a:r>
              <a:rPr lang="zh-CN" altLang="en-US"/>
              <a:t>把经验固化成可复用策略库</a:t>
            </a:r>
            <a:r>
              <a:rPr lang="en-US" altLang="zh-CN"/>
              <a:t>”</a:t>
            </a:r>
            <a:r>
              <a:rPr lang="zh-CN" altLang="en-US"/>
              <a:t>：</a:t>
            </a:r>
            <a:r>
              <a:rPr lang="en-US" altLang="zh-CN"/>
              <a:t>AI</a:t>
            </a:r>
            <a:r>
              <a:rPr lang="zh-CN" altLang="en-US"/>
              <a:t>不是替代专家，而是把专家变成</a:t>
            </a:r>
            <a:r>
              <a:rPr lang="en-US" altLang="zh-CN"/>
              <a:t>“</a:t>
            </a:r>
            <a:r>
              <a:rPr lang="zh-CN" altLang="en-US"/>
              <a:t>可复制</a:t>
            </a:r>
            <a:r>
              <a:rPr lang="en-US" altLang="zh-CN"/>
              <a:t>”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成本治理是第一生产力</a:t>
            </a:r>
            <a:r>
              <a:rPr lang="en-US" altLang="zh-CN"/>
              <a:t>”</a:t>
            </a:r>
            <a:r>
              <a:rPr lang="zh-CN" altLang="en-US"/>
              <a:t>：调用成本、峰值、</a:t>
            </a:r>
            <a:r>
              <a:rPr lang="en-US" altLang="zh-CN"/>
              <a:t>SLA</a:t>
            </a:r>
            <a:r>
              <a:rPr lang="zh-CN" altLang="en-US"/>
              <a:t>、回滚</a:t>
            </a:r>
            <a:endParaRPr lang="zh-CN" altLang="en-US"/>
          </a:p>
          <a:p>
            <a:r>
              <a:rPr lang="en-US" altLang="zh-CN"/>
              <a:t>“</a:t>
            </a:r>
            <a:r>
              <a:rPr lang="zh-CN" altLang="en-US"/>
              <a:t>统一标准比统一产品更重要</a:t>
            </a:r>
            <a:r>
              <a:rPr lang="en-US" altLang="zh-CN"/>
              <a:t>”</a:t>
            </a:r>
            <a:r>
              <a:rPr lang="zh-CN" altLang="en-US"/>
              <a:t>：给各中心自由创新，但接入必须标准化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3 </a:t>
            </a:r>
            <a:r>
              <a:rPr lang="zh-CN" altLang="en-US"/>
              <a:t>个落地维度</a:t>
            </a:r>
            <a:endParaRPr lang="zh-CN" altLang="en-US"/>
          </a:p>
          <a:p>
            <a:r>
              <a:rPr lang="zh-CN" altLang="en-US"/>
              <a:t>数据智能（</a:t>
            </a:r>
            <a:r>
              <a:rPr lang="en-US" altLang="zh-CN"/>
              <a:t>Data for AI</a:t>
            </a:r>
            <a:r>
              <a:rPr lang="zh-CN" altLang="en-US"/>
              <a:t>）：</a:t>
            </a:r>
            <a:r>
              <a:rPr lang="en-US" altLang="zh-CN"/>
              <a:t>O </a:t>
            </a:r>
            <a:r>
              <a:rPr lang="zh-CN" altLang="en-US"/>
              <a:t>域内部告警、性能、日志、资源、工单、案例数据的标准化治理，搭建统一内部数据中台，为</a:t>
            </a:r>
            <a:r>
              <a:rPr lang="en-US" altLang="zh-CN"/>
              <a:t> AI </a:t>
            </a:r>
            <a:r>
              <a:rPr lang="zh-CN" altLang="en-US"/>
              <a:t>提供高质量训练与推理数据</a:t>
            </a:r>
            <a:endParaRPr lang="zh-CN" altLang="en-US"/>
          </a:p>
          <a:p>
            <a:r>
              <a:rPr lang="zh-CN" altLang="en-US"/>
              <a:t>服务智能（</a:t>
            </a:r>
            <a:r>
              <a:rPr lang="en-US" altLang="zh-CN"/>
              <a:t>Capability for AI</a:t>
            </a:r>
            <a:r>
              <a:rPr lang="zh-CN" altLang="en-US"/>
              <a:t>）：传统</a:t>
            </a:r>
            <a:r>
              <a:rPr lang="en-US" altLang="zh-CN"/>
              <a:t> IT </a:t>
            </a:r>
            <a:r>
              <a:rPr lang="zh-CN" altLang="en-US"/>
              <a:t>核心能力的内部标准化封装，统一数据查询、流程执行、配置下发、权限校验</a:t>
            </a:r>
            <a:r>
              <a:rPr lang="en-US" altLang="zh-CN"/>
              <a:t> API </a:t>
            </a:r>
            <a:r>
              <a:rPr lang="zh-CN" altLang="en-US"/>
              <a:t>接口，为</a:t>
            </a:r>
            <a:r>
              <a:rPr lang="en-US" altLang="zh-CN"/>
              <a:t> AI </a:t>
            </a:r>
            <a:r>
              <a:rPr lang="zh-CN" altLang="en-US"/>
              <a:t>提供合规调用入口</a:t>
            </a:r>
            <a:endParaRPr lang="zh-CN" altLang="en-US"/>
          </a:p>
          <a:p>
            <a:r>
              <a:rPr lang="zh-CN" altLang="en-US"/>
              <a:t>流程智能（</a:t>
            </a:r>
            <a:r>
              <a:rPr lang="en-US" altLang="zh-CN"/>
              <a:t>Workflow for AI</a:t>
            </a:r>
            <a:r>
              <a:rPr lang="zh-CN" altLang="en-US"/>
              <a:t>）：内部运维流程的标准化梳理，搭建</a:t>
            </a:r>
            <a:r>
              <a:rPr lang="en-US" altLang="zh-CN"/>
              <a:t> AI </a:t>
            </a:r>
            <a:r>
              <a:rPr lang="zh-CN" altLang="en-US"/>
              <a:t>可编排的流程框架，实现运维流程的自动化、智能化闭环</a:t>
            </a:r>
            <a:endParaRPr lang="zh-CN" altLang="en-US"/>
          </a:p>
          <a:p>
            <a:r>
              <a:rPr lang="en-US" altLang="zh-CN"/>
              <a:t>2 </a:t>
            </a:r>
            <a:r>
              <a:rPr lang="zh-CN" altLang="en-US"/>
              <a:t>个运营闭环</a:t>
            </a:r>
            <a:endParaRPr lang="zh-CN" altLang="en-US"/>
          </a:p>
          <a:p>
            <a:r>
              <a:rPr lang="zh-CN" altLang="en-US"/>
              <a:t>价值闭环：提效、降本、提质指标可量化、可评估，所有</a:t>
            </a:r>
            <a:r>
              <a:rPr lang="en-US" altLang="zh-CN"/>
              <a:t> AI </a:t>
            </a:r>
            <a:r>
              <a:rPr lang="zh-CN" altLang="en-US"/>
              <a:t>场景均有明确的内部价值验证标准</a:t>
            </a:r>
            <a:endParaRPr lang="zh-CN" altLang="en-US"/>
          </a:p>
          <a:p>
            <a:r>
              <a:rPr lang="zh-CN" altLang="en-US"/>
              <a:t>运营闭环：</a:t>
            </a:r>
            <a:r>
              <a:rPr lang="en-US" altLang="zh-CN"/>
              <a:t>AI </a:t>
            </a:r>
            <a:r>
              <a:rPr lang="zh-CN" altLang="en-US"/>
              <a:t>全流程操作可观测、可追溯，异常可拦截、可回滚，实现全生命周期运营管控</a:t>
            </a:r>
            <a:endParaRPr lang="zh-CN" altLang="en-US"/>
          </a:p>
          <a:p>
            <a:r>
              <a:rPr lang="en-US" altLang="zh-CN"/>
              <a:t>1 </a:t>
            </a:r>
            <a:r>
              <a:rPr lang="zh-CN" altLang="en-US"/>
              <a:t>套治理体系</a:t>
            </a:r>
            <a:endParaRPr lang="zh-CN" altLang="en-US"/>
          </a:p>
          <a:p>
            <a:r>
              <a:rPr lang="zh-CN" altLang="en-US"/>
              <a:t>精细化内部治理：覆盖权限管控、操作审计、效果评价、异常回滚的全流程治理规则，牢牢守住生产安全底线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760DEE-A6E0-4AC3-88C8-80248D1918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3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12002" y="9642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网络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9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3" y="76880"/>
            <a:ext cx="10110366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950" b="1">
                <a:solidFill>
                  <a:srgbClr val="0B85CF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543" y="-157528"/>
            <a:ext cx="1506457" cy="1079999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0" y="630673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9399270" y="6470651"/>
            <a:ext cx="2743200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9A68CE-9FA7-456D-BE34-4C018B9CB8B8}" type="slidenum">
              <a:rPr lang="zh-CN" altLang="en-US" sz="975" b="1" smtClean="0">
                <a:solidFill>
                  <a:srgbClr val="8FC31F"/>
                </a:solidFill>
                <a:latin typeface="+mj-ea"/>
                <a:ea typeface="+mj-ea"/>
              </a:rPr>
            </a:fld>
            <a:endParaRPr lang="zh-CN" altLang="en-US" sz="975" b="1" dirty="0">
              <a:solidFill>
                <a:srgbClr val="8FC31F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g object 18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41709" y="178967"/>
            <a:ext cx="1395994" cy="458396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0" y="810787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older 6"/>
          <p:cNvSpPr>
            <a:spLocks noGrp="1"/>
          </p:cNvSpPr>
          <p:nvPr>
            <p:ph type="sldNum" sz="quarter" idx="4"/>
          </p:nvPr>
        </p:nvSpPr>
        <p:spPr>
          <a:xfrm>
            <a:off x="11765632" y="6536399"/>
            <a:ext cx="340360" cy="184665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 b="0" i="0">
                <a:solidFill>
                  <a:srgbClr val="92D05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95250" marR="0" lvl="0" indent="0" algn="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</a:endParaRPr>
          </a:p>
        </p:txBody>
      </p:sp>
      <p:sp>
        <p:nvSpPr>
          <p:cNvPr id="8" name="Holder 6"/>
          <p:cNvSpPr txBox="1"/>
          <p:nvPr userDrawn="1"/>
        </p:nvSpPr>
        <p:spPr>
          <a:xfrm>
            <a:off x="11765632" y="6628731"/>
            <a:ext cx="340360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lvl="0" algn="r">
              <a:spcBef>
                <a:spcPct val="0"/>
              </a:spcBef>
              <a:spcAft>
                <a:spcPct val="0"/>
              </a:spcAft>
              <a:defRPr sz="1200" b="0" i="0" kern="1200">
                <a:solidFill>
                  <a:schemeClr val="tx1"/>
                </a:solidFill>
                <a:latin typeface="微软雅黑" panose="020B0503020204020204" charset="-122"/>
                <a:ea typeface="等线" panose="02010600030101010101" charset="-122"/>
                <a:cs typeface="微软雅黑" panose="020B0503020204020204" charset="-122"/>
              </a:defRPr>
            </a:lvl1pPr>
            <a:lvl2pPr marL="457200" lvl="1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T主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标题占位符 1"/>
          <p:cNvSpPr>
            <a:spLocks noGrp="1"/>
          </p:cNvSpPr>
          <p:nvPr>
            <p:ph type="title"/>
          </p:nvPr>
        </p:nvSpPr>
        <p:spPr>
          <a:xfrm>
            <a:off x="512002" y="19548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800" b="1">
                <a:solidFill>
                  <a:srgbClr val="0089F0"/>
                </a:soli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37867" y="239023"/>
            <a:ext cx="113559" cy="360000"/>
          </a:xfrm>
          <a:prstGeom prst="rect">
            <a:avLst/>
          </a:prstGeom>
          <a:solidFill>
            <a:srgbClr val="0089F0"/>
          </a:soli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5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512002" y="9642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89" y="6540588"/>
            <a:ext cx="2272175" cy="3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8910704" y="523857"/>
            <a:ext cx="3150231" cy="393746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68513" tIns="34278" rIns="68513" bIns="34278" numCol="1" anchor="t" anchorCtr="0" compatLnSpc="1"/>
          <a:lstStyle/>
          <a:p>
            <a:pPr defTabSz="685165"/>
            <a:endParaRPr lang="zh-CN" altLang="en-US" sz="1400" dirty="0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119558" y="453710"/>
            <a:ext cx="384317" cy="354023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68513" tIns="34278" rIns="68513" bIns="34278" numCol="1" anchor="t" anchorCtr="0" compatLnSpc="1">
            <a:noAutofit/>
          </a:bodyPr>
          <a:lstStyle/>
          <a:p>
            <a:pPr defTabSz="685165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512002" y="19548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800" b="1">
                <a:solidFill>
                  <a:srgbClr val="0089F0"/>
                </a:soli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337867" y="239023"/>
            <a:ext cx="113559" cy="360000"/>
          </a:xfrm>
          <a:prstGeom prst="rect">
            <a:avLst/>
          </a:prstGeom>
          <a:solidFill>
            <a:srgbClr val="0089F0"/>
          </a:soli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 flipV="1">
            <a:off x="0" y="764357"/>
            <a:ext cx="9003030" cy="3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905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8C219-5A61-4C21-85B8-4433464ADB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17569-6884-4CA7-9822-86B4F55D8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8C219-5A61-4C21-85B8-4433464ADB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17569-6884-4CA7-9822-86B4F55D85A9}" type="slidenum">
              <a:rPr lang="zh-CN" altLang="en-US" smtClean="0"/>
            </a:fld>
            <a:endParaRPr lang="zh-CN" altLang="en-US"/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12002" y="88166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89" y="6540588"/>
            <a:ext cx="2272175" cy="3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3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12002" y="14087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3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12002" y="9642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0" tIns="45704" rIns="91350" bIns="45704" numCol="1" anchor="t" anchorCtr="0" compatLnSpc="1"/>
          <a:lstStyle/>
          <a:p>
            <a:pPr defTabSz="685165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3" y="412107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0" tIns="45704" rIns="91350" bIns="45704" numCol="1" anchor="t" anchorCtr="0" compatLnSpc="1">
            <a:noAutofit/>
          </a:bodyPr>
          <a:lstStyle/>
          <a:p>
            <a:pPr defTabSz="685165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12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89" y="6540588"/>
            <a:ext cx="2272175" cy="3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AAAAAA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5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12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89" y="6540588"/>
            <a:ext cx="2272175" cy="3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标题 1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92" name="矩形 2"/>
          <p:cNvSpPr/>
          <p:nvPr userDrawn="1"/>
        </p:nvSpPr>
        <p:spPr>
          <a:xfrm>
            <a:off x="11568608" y="6444602"/>
            <a:ext cx="411479" cy="3327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2097153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pic>
        <p:nvPicPr>
          <p:cNvPr id="2097154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71094" y="15229"/>
            <a:ext cx="1367118" cy="877690"/>
          </a:xfrm>
          <a:prstGeom prst="rect">
            <a:avLst/>
          </a:prstGeom>
        </p:spPr>
      </p:pic>
      <p:pic>
        <p:nvPicPr>
          <p:cNvPr id="3" name="图片 2" descr="5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17835" y="13335"/>
            <a:ext cx="1565910" cy="7937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梧桐内页">
    <p:bg>
      <p:bgPr>
        <a:solidFill>
          <a:srgbClr val="030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d5596ab12f2ae056ebe7615c2ba4a4"/>
          <p:cNvPicPr>
            <a:picLocks noChangeAspect="1"/>
          </p:cNvPicPr>
          <p:nvPr userDrawn="1"/>
        </p:nvPicPr>
        <p:blipFill rotWithShape="1">
          <a:blip r:embed="rId2"/>
          <a:srcRect t="-1" r="29756" b="231"/>
          <a:stretch>
            <a:fillRect/>
          </a:stretch>
        </p:blipFill>
        <p:spPr>
          <a:xfrm>
            <a:off x="-8492" y="0"/>
            <a:ext cx="8784976" cy="356954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303530" y="189230"/>
            <a:ext cx="9161145" cy="542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B0F0"/>
                </a:solidFill>
                <a:latin typeface="方正兰亭黑简体" panose="02000000000000000000" charset="-122"/>
                <a:ea typeface="方正兰亭黑简体" panose="02000000000000000000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大标题</a:t>
            </a:r>
            <a:endParaRPr kumimoji="1"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03530" y="804545"/>
            <a:ext cx="11567160" cy="71945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方正兰亭黑简体" panose="02000000000000000000" charset="-122"/>
                <a:ea typeface="方正兰亭黑简体" panose="02000000000000000000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综述综述综述</a:t>
            </a:r>
            <a:endParaRPr kumimoji="1"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综述</a:t>
            </a:r>
            <a:endParaRPr kumimoji="1" lang="zh-CN" altLang="en-US" dirty="0"/>
          </a:p>
        </p:txBody>
      </p:sp>
      <p:pic>
        <p:nvPicPr>
          <p:cNvPr id="10" name="图片 9" descr="D-02PPT版式规范-05"/>
          <p:cNvPicPr>
            <a:picLocks noChangeAspect="1"/>
          </p:cNvPicPr>
          <p:nvPr userDrawn="1"/>
        </p:nvPicPr>
        <p:blipFill>
          <a:blip r:embed="rId3"/>
          <a:srcRect l="5235" t="7898" r="66162" b="84972"/>
          <a:stretch>
            <a:fillRect/>
          </a:stretch>
        </p:blipFill>
        <p:spPr>
          <a:xfrm>
            <a:off x="9060815" y="189230"/>
            <a:ext cx="2957195" cy="41465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12289155" y="276860"/>
            <a:ext cx="1536065" cy="5960745"/>
            <a:chOff x="19353" y="436"/>
            <a:chExt cx="2419" cy="9387"/>
          </a:xfrm>
          <a:gradFill>
            <a:gsLst>
              <a:gs pos="0">
                <a:srgbClr val="030E3E"/>
              </a:gs>
              <a:gs pos="100000">
                <a:srgbClr val="0E2557"/>
              </a:gs>
            </a:gsLst>
            <a:lin ang="5400000" scaled="0"/>
          </a:gradFill>
        </p:grpSpPr>
        <p:sp>
          <p:nvSpPr>
            <p:cNvPr id="6" name="矩形 5"/>
            <p:cNvSpPr/>
            <p:nvPr userDrawn="1"/>
          </p:nvSpPr>
          <p:spPr>
            <a:xfrm>
              <a:off x="19353" y="436"/>
              <a:ext cx="2419" cy="93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单圆角矩形 6"/>
            <p:cNvSpPr/>
            <p:nvPr userDrawn="1"/>
          </p:nvSpPr>
          <p:spPr>
            <a:xfrm>
              <a:off x="19599" y="1392"/>
              <a:ext cx="1789" cy="469"/>
            </a:xfrm>
            <a:prstGeom prst="round1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92D050"/>
                </a:solidFill>
              </a:endParaRPr>
            </a:p>
          </p:txBody>
        </p:sp>
        <p:sp>
          <p:nvSpPr>
            <p:cNvPr id="11" name="单圆角矩形 10"/>
            <p:cNvSpPr/>
            <p:nvPr userDrawn="1"/>
          </p:nvSpPr>
          <p:spPr>
            <a:xfrm>
              <a:off x="19599" y="2582"/>
              <a:ext cx="1789" cy="469"/>
            </a:xfrm>
            <a:prstGeom prst="round1Rect">
              <a:avLst/>
            </a:prstGeom>
            <a:solidFill>
              <a:srgbClr val="00B0F0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单圆角矩形 11"/>
            <p:cNvSpPr/>
            <p:nvPr userDrawn="1"/>
          </p:nvSpPr>
          <p:spPr>
            <a:xfrm>
              <a:off x="19617" y="6032"/>
              <a:ext cx="1789" cy="469"/>
            </a:xfrm>
            <a:prstGeom prst="round1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单圆角矩形 14"/>
            <p:cNvSpPr/>
            <p:nvPr userDrawn="1"/>
          </p:nvSpPr>
          <p:spPr>
            <a:xfrm>
              <a:off x="19599" y="6600"/>
              <a:ext cx="1789" cy="469"/>
            </a:xfrm>
            <a:prstGeom prst="round1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 userDrawn="1"/>
          </p:nvSpPr>
          <p:spPr>
            <a:xfrm>
              <a:off x="19599" y="779"/>
              <a:ext cx="1128" cy="48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solidFill>
                    <a:schemeClr val="bg1"/>
                  </a:solidFill>
                  <a:latin typeface="方正兰亭黑简体" panose="02000000000000000000" charset="-122"/>
                  <a:ea typeface="方正兰亭黑简体" panose="02000000000000000000" charset="-122"/>
                </a:rPr>
                <a:t>关键色</a:t>
              </a:r>
              <a:endParaRPr lang="zh-CN" altLang="en-US" sz="1400">
                <a:solidFill>
                  <a:schemeClr val="bg1"/>
                </a:solidFill>
                <a:latin typeface="方正兰亭黑简体" panose="02000000000000000000" charset="-122"/>
                <a:ea typeface="方正兰亭黑简体" panose="02000000000000000000" charset="-122"/>
              </a:endParaRPr>
            </a:p>
          </p:txBody>
        </p:sp>
        <p:sp>
          <p:nvSpPr>
            <p:cNvPr id="23" name="文本框 22"/>
            <p:cNvSpPr txBox="1"/>
            <p:nvPr userDrawn="1"/>
          </p:nvSpPr>
          <p:spPr>
            <a:xfrm>
              <a:off x="19617" y="5549"/>
              <a:ext cx="1128" cy="48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solidFill>
                    <a:schemeClr val="bg1"/>
                  </a:solidFill>
                  <a:latin typeface="方正兰亭黑简体" panose="02000000000000000000" charset="-122"/>
                  <a:ea typeface="方正兰亭黑简体" panose="02000000000000000000" charset="-122"/>
                </a:rPr>
                <a:t>辅助色</a:t>
              </a:r>
              <a:endParaRPr lang="zh-CN" altLang="en-US" sz="1400">
                <a:solidFill>
                  <a:schemeClr val="bg1"/>
                </a:solidFill>
                <a:latin typeface="方正兰亭黑简体" panose="02000000000000000000" charset="-122"/>
                <a:ea typeface="方正兰亭黑简体" panose="02000000000000000000" charset="-122"/>
              </a:endParaRPr>
            </a:p>
          </p:txBody>
        </p:sp>
        <p:sp>
          <p:nvSpPr>
            <p:cNvPr id="24" name="单圆角矩形 23"/>
            <p:cNvSpPr/>
            <p:nvPr userDrawn="1"/>
          </p:nvSpPr>
          <p:spPr>
            <a:xfrm>
              <a:off x="19599" y="1979"/>
              <a:ext cx="1789" cy="469"/>
            </a:xfrm>
            <a:prstGeom prst="round1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 userDrawn="1"/>
        </p:nvSpPr>
        <p:spPr>
          <a:xfrm>
            <a:off x="10201910" y="4645025"/>
            <a:ext cx="1990090" cy="2212975"/>
          </a:xfrm>
          <a:prstGeom prst="rect">
            <a:avLst/>
          </a:prstGeom>
          <a:blipFill rotWithShape="1">
            <a:blip r:embed="rId4">
              <a:alphaModFix amt="84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g object 18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41709" y="178967"/>
            <a:ext cx="1395994" cy="458396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0" y="810787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older 6"/>
          <p:cNvSpPr>
            <a:spLocks noGrp="1"/>
          </p:cNvSpPr>
          <p:nvPr>
            <p:ph type="sldNum" sz="quarter" idx="4"/>
          </p:nvPr>
        </p:nvSpPr>
        <p:spPr>
          <a:xfrm>
            <a:off x="11765632" y="6536399"/>
            <a:ext cx="340360" cy="184665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 b="0" i="0">
                <a:solidFill>
                  <a:srgbClr val="92D05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95250" marR="0" lvl="0" indent="0" algn="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</a:endParaRPr>
          </a:p>
        </p:txBody>
      </p:sp>
      <p:sp>
        <p:nvSpPr>
          <p:cNvPr id="8" name="Holder 6"/>
          <p:cNvSpPr txBox="1"/>
          <p:nvPr userDrawn="1"/>
        </p:nvSpPr>
        <p:spPr>
          <a:xfrm>
            <a:off x="11765632" y="6628731"/>
            <a:ext cx="340360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lvl="0" algn="r">
              <a:spcBef>
                <a:spcPct val="0"/>
              </a:spcBef>
              <a:spcAft>
                <a:spcPct val="0"/>
              </a:spcAft>
              <a:defRPr sz="1200" b="0" i="0" kern="1200">
                <a:solidFill>
                  <a:schemeClr val="tx1"/>
                </a:solidFill>
                <a:latin typeface="微软雅黑" panose="020B0503020204020204" charset="-122"/>
                <a:ea typeface="等线" panose="02010600030101010101" charset="-122"/>
                <a:cs typeface="微软雅黑" panose="020B0503020204020204" charset="-122"/>
              </a:defRPr>
            </a:lvl1pPr>
            <a:lvl2pPr marL="457200" lvl="1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T主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标题占位符 1"/>
          <p:cNvSpPr>
            <a:spLocks noGrp="1"/>
          </p:cNvSpPr>
          <p:nvPr>
            <p:ph type="title"/>
          </p:nvPr>
        </p:nvSpPr>
        <p:spPr>
          <a:xfrm>
            <a:off x="512002" y="19548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800" b="1">
                <a:solidFill>
                  <a:srgbClr val="0089F0"/>
                </a:soli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37867" y="239023"/>
            <a:ext cx="113559" cy="360000"/>
          </a:xfrm>
          <a:prstGeom prst="rect">
            <a:avLst/>
          </a:prstGeom>
          <a:solidFill>
            <a:srgbClr val="0089F0"/>
          </a:soli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7" name="矩形 6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327647" y="382472"/>
            <a:ext cx="10972800" cy="599665"/>
          </a:xfrm>
          <a:prstGeom prst="rect">
            <a:avLst/>
          </a:prstGeom>
        </p:spPr>
        <p:txBody>
          <a:bodyPr/>
          <a:lstStyle>
            <a:lvl1pPr>
              <a:defRPr sz="1865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802926" y="6405481"/>
            <a:ext cx="285267" cy="278911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731866" y="6400993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</a:fld>
            <a:endParaRPr lang="en-US" altLang="zh-CN" sz="65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1" hasCustomPrompt="1"/>
          </p:nvPr>
        </p:nvSpPr>
        <p:spPr>
          <a:xfrm>
            <a:off x="327647" y="1064896"/>
            <a:ext cx="11536707" cy="1219200"/>
          </a:xfrm>
          <a:prstGeom prst="rect">
            <a:avLst/>
          </a:prstGeom>
        </p:spPr>
        <p:txBody>
          <a:bodyPr/>
          <a:lstStyle>
            <a:lvl1pPr marL="241300" indent="-241300">
              <a:lnSpc>
                <a:spcPct val="120000"/>
              </a:lnSpc>
              <a:spcBef>
                <a:spcPts val="400"/>
              </a:spcBef>
              <a:buFontTx/>
              <a:buChar char="‒"/>
              <a:defRPr sz="1465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22" name="图片 21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-9625" y="663484"/>
            <a:ext cx="12192179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080CF">
                    <a:alpha val="0"/>
                  </a:srgbClr>
                </a:gs>
                <a:gs pos="59000">
                  <a:srgbClr val="0081CF">
                    <a:alpha val="50000"/>
                  </a:srgbClr>
                </a:gs>
                <a:gs pos="100000">
                  <a:srgbClr val="0081D0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4174" b="16155"/>
          <a:stretch>
            <a:fillRect/>
          </a:stretch>
        </p:blipFill>
        <p:spPr>
          <a:xfrm>
            <a:off x="10731658" y="64776"/>
            <a:ext cx="1359814" cy="533446"/>
          </a:xfrm>
          <a:prstGeom prst="rect">
            <a:avLst/>
          </a:prstGeom>
        </p:spPr>
      </p:pic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5888" y="6486452"/>
            <a:ext cx="632469" cy="365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84D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2386DD54-5982-4335-90D1-86AC5971111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8C219-5A61-4C21-85B8-4433464ADB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17569-6884-4CA7-9822-86B4F55D8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8C219-5A61-4C21-85B8-4433464ADB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17569-6884-4CA7-9822-86B4F55D85A9}" type="slidenum">
              <a:rPr lang="zh-CN" altLang="en-US" smtClean="0"/>
            </a:fld>
            <a:endParaRPr lang="zh-CN" altLang="en-US"/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12002" y="88166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89" y="6540588"/>
            <a:ext cx="2272175" cy="3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3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512002" y="9642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0" tIns="45704" rIns="91350" bIns="45704" numCol="1" anchor="t" anchorCtr="0" compatLnSpc="1"/>
          <a:lstStyle/>
          <a:p>
            <a:pPr defTabSz="685165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3" y="412107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0" tIns="45704" rIns="91350" bIns="45704" numCol="1" anchor="t" anchorCtr="0" compatLnSpc="1">
            <a:noAutofit/>
          </a:bodyPr>
          <a:lstStyle/>
          <a:p>
            <a:pPr defTabSz="685165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12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89" y="6540588"/>
            <a:ext cx="2272175" cy="3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AAAAAA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5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12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89" y="6540588"/>
            <a:ext cx="2272175" cy="31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280082" y="138058"/>
            <a:ext cx="113559" cy="360000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标题占位符 1"/>
          <p:cNvSpPr>
            <a:spLocks noGrp="1"/>
          </p:cNvSpPr>
          <p:nvPr>
            <p:ph type="title"/>
          </p:nvPr>
        </p:nvSpPr>
        <p:spPr>
          <a:xfrm>
            <a:off x="512002" y="75466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800" b="1">
                <a:solidFill>
                  <a:srgbClr val="0070C0"/>
                </a:soli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37867" y="120278"/>
            <a:ext cx="113559" cy="3600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标题 1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92" name="矩形 2"/>
          <p:cNvSpPr/>
          <p:nvPr userDrawn="1"/>
        </p:nvSpPr>
        <p:spPr>
          <a:xfrm>
            <a:off x="11568608" y="6444602"/>
            <a:ext cx="411479" cy="3327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2097153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pic>
        <p:nvPicPr>
          <p:cNvPr id="2097154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771094" y="15229"/>
            <a:ext cx="1367118" cy="877690"/>
          </a:xfrm>
          <a:prstGeom prst="rect">
            <a:avLst/>
          </a:prstGeom>
        </p:spPr>
      </p:pic>
      <p:pic>
        <p:nvPicPr>
          <p:cNvPr id="3" name="图片 2" descr="5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17835" y="13335"/>
            <a:ext cx="1565910" cy="7937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梧桐内页">
    <p:bg>
      <p:bgPr>
        <a:solidFill>
          <a:srgbClr val="030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d5596ab12f2ae056ebe7615c2ba4a4"/>
          <p:cNvPicPr>
            <a:picLocks noChangeAspect="1"/>
          </p:cNvPicPr>
          <p:nvPr userDrawn="1"/>
        </p:nvPicPr>
        <p:blipFill rotWithShape="1">
          <a:blip r:embed="rId2"/>
          <a:srcRect t="-1" r="29756" b="231"/>
          <a:stretch>
            <a:fillRect/>
          </a:stretch>
        </p:blipFill>
        <p:spPr>
          <a:xfrm>
            <a:off x="-8492" y="0"/>
            <a:ext cx="8784976" cy="356954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303530" y="189230"/>
            <a:ext cx="9161145" cy="542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B0F0"/>
                </a:solidFill>
                <a:latin typeface="方正兰亭黑简体" panose="02000000000000000000" charset="-122"/>
                <a:ea typeface="方正兰亭黑简体" panose="02000000000000000000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大标题</a:t>
            </a:r>
            <a:endParaRPr kumimoji="1"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03530" y="804545"/>
            <a:ext cx="11567160" cy="71945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方正兰亭黑简体" panose="02000000000000000000" charset="-122"/>
                <a:ea typeface="方正兰亭黑简体" panose="02000000000000000000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综述综述综述</a:t>
            </a:r>
            <a:endParaRPr kumimoji="1"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综述</a:t>
            </a:r>
            <a:endParaRPr kumimoji="1" lang="zh-CN" altLang="en-US" dirty="0"/>
          </a:p>
        </p:txBody>
      </p:sp>
      <p:pic>
        <p:nvPicPr>
          <p:cNvPr id="10" name="图片 9" descr="D-02PPT版式规范-05"/>
          <p:cNvPicPr>
            <a:picLocks noChangeAspect="1"/>
          </p:cNvPicPr>
          <p:nvPr userDrawn="1"/>
        </p:nvPicPr>
        <p:blipFill>
          <a:blip r:embed="rId3"/>
          <a:srcRect l="5235" t="7898" r="66162" b="84972"/>
          <a:stretch>
            <a:fillRect/>
          </a:stretch>
        </p:blipFill>
        <p:spPr>
          <a:xfrm>
            <a:off x="9060815" y="189230"/>
            <a:ext cx="2957195" cy="41465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12289155" y="276860"/>
            <a:ext cx="1536065" cy="5960745"/>
            <a:chOff x="19353" y="436"/>
            <a:chExt cx="2419" cy="9387"/>
          </a:xfrm>
          <a:gradFill>
            <a:gsLst>
              <a:gs pos="0">
                <a:srgbClr val="030E3E"/>
              </a:gs>
              <a:gs pos="100000">
                <a:srgbClr val="0E2557"/>
              </a:gs>
            </a:gsLst>
            <a:lin ang="5400000" scaled="0"/>
          </a:gradFill>
        </p:grpSpPr>
        <p:sp>
          <p:nvSpPr>
            <p:cNvPr id="6" name="矩形 5"/>
            <p:cNvSpPr/>
            <p:nvPr userDrawn="1"/>
          </p:nvSpPr>
          <p:spPr>
            <a:xfrm>
              <a:off x="19353" y="436"/>
              <a:ext cx="2419" cy="93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单圆角矩形 6"/>
            <p:cNvSpPr/>
            <p:nvPr userDrawn="1"/>
          </p:nvSpPr>
          <p:spPr>
            <a:xfrm>
              <a:off x="19599" y="1392"/>
              <a:ext cx="1789" cy="469"/>
            </a:xfrm>
            <a:prstGeom prst="round1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92D050"/>
                </a:solidFill>
              </a:endParaRPr>
            </a:p>
          </p:txBody>
        </p:sp>
        <p:sp>
          <p:nvSpPr>
            <p:cNvPr id="11" name="单圆角矩形 10"/>
            <p:cNvSpPr/>
            <p:nvPr userDrawn="1"/>
          </p:nvSpPr>
          <p:spPr>
            <a:xfrm>
              <a:off x="19599" y="2582"/>
              <a:ext cx="1789" cy="469"/>
            </a:xfrm>
            <a:prstGeom prst="round1Rect">
              <a:avLst/>
            </a:prstGeom>
            <a:solidFill>
              <a:srgbClr val="00B0F0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单圆角矩形 11"/>
            <p:cNvSpPr/>
            <p:nvPr userDrawn="1"/>
          </p:nvSpPr>
          <p:spPr>
            <a:xfrm>
              <a:off x="19617" y="6032"/>
              <a:ext cx="1789" cy="469"/>
            </a:xfrm>
            <a:prstGeom prst="round1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单圆角矩形 14"/>
            <p:cNvSpPr/>
            <p:nvPr userDrawn="1"/>
          </p:nvSpPr>
          <p:spPr>
            <a:xfrm>
              <a:off x="19599" y="6600"/>
              <a:ext cx="1789" cy="469"/>
            </a:xfrm>
            <a:prstGeom prst="round1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 userDrawn="1"/>
          </p:nvSpPr>
          <p:spPr>
            <a:xfrm>
              <a:off x="19599" y="779"/>
              <a:ext cx="1128" cy="48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solidFill>
                    <a:schemeClr val="bg1"/>
                  </a:solidFill>
                  <a:latin typeface="方正兰亭黑简体" panose="02000000000000000000" charset="-122"/>
                  <a:ea typeface="方正兰亭黑简体" panose="02000000000000000000" charset="-122"/>
                </a:rPr>
                <a:t>关键色</a:t>
              </a:r>
              <a:endParaRPr lang="zh-CN" altLang="en-US" sz="1400">
                <a:solidFill>
                  <a:schemeClr val="bg1"/>
                </a:solidFill>
                <a:latin typeface="方正兰亭黑简体" panose="02000000000000000000" charset="-122"/>
                <a:ea typeface="方正兰亭黑简体" panose="02000000000000000000" charset="-122"/>
              </a:endParaRPr>
            </a:p>
          </p:txBody>
        </p:sp>
        <p:sp>
          <p:nvSpPr>
            <p:cNvPr id="23" name="文本框 22"/>
            <p:cNvSpPr txBox="1"/>
            <p:nvPr userDrawn="1"/>
          </p:nvSpPr>
          <p:spPr>
            <a:xfrm>
              <a:off x="19617" y="5549"/>
              <a:ext cx="1128" cy="48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>
                  <a:solidFill>
                    <a:schemeClr val="bg1"/>
                  </a:solidFill>
                  <a:latin typeface="方正兰亭黑简体" panose="02000000000000000000" charset="-122"/>
                  <a:ea typeface="方正兰亭黑简体" panose="02000000000000000000" charset="-122"/>
                </a:rPr>
                <a:t>辅助色</a:t>
              </a:r>
              <a:endParaRPr lang="zh-CN" altLang="en-US" sz="1400">
                <a:solidFill>
                  <a:schemeClr val="bg1"/>
                </a:solidFill>
                <a:latin typeface="方正兰亭黑简体" panose="02000000000000000000" charset="-122"/>
                <a:ea typeface="方正兰亭黑简体" panose="02000000000000000000" charset="-122"/>
              </a:endParaRPr>
            </a:p>
          </p:txBody>
        </p:sp>
        <p:sp>
          <p:nvSpPr>
            <p:cNvPr id="24" name="单圆角矩形 23"/>
            <p:cNvSpPr/>
            <p:nvPr userDrawn="1"/>
          </p:nvSpPr>
          <p:spPr>
            <a:xfrm>
              <a:off x="19599" y="1979"/>
              <a:ext cx="1789" cy="469"/>
            </a:xfrm>
            <a:prstGeom prst="round1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 userDrawn="1"/>
        </p:nvSpPr>
        <p:spPr>
          <a:xfrm>
            <a:off x="10201910" y="4645025"/>
            <a:ext cx="1990090" cy="2212975"/>
          </a:xfrm>
          <a:prstGeom prst="rect">
            <a:avLst/>
          </a:prstGeom>
          <a:blipFill rotWithShape="1">
            <a:blip r:embed="rId4">
              <a:alphaModFix amt="84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g object 18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41709" y="178967"/>
            <a:ext cx="1395994" cy="458396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0" y="810787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older 6"/>
          <p:cNvSpPr>
            <a:spLocks noGrp="1"/>
          </p:cNvSpPr>
          <p:nvPr>
            <p:ph type="sldNum" sz="quarter" idx="4"/>
          </p:nvPr>
        </p:nvSpPr>
        <p:spPr>
          <a:xfrm>
            <a:off x="11765632" y="6536399"/>
            <a:ext cx="340360" cy="184665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400" b="0" i="0">
                <a:solidFill>
                  <a:srgbClr val="92D05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95250" marR="0" lvl="0" indent="0" algn="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</a:endParaRPr>
          </a:p>
        </p:txBody>
      </p:sp>
      <p:sp>
        <p:nvSpPr>
          <p:cNvPr id="8" name="Holder 6"/>
          <p:cNvSpPr txBox="1"/>
          <p:nvPr userDrawn="1"/>
        </p:nvSpPr>
        <p:spPr>
          <a:xfrm>
            <a:off x="11765632" y="6628731"/>
            <a:ext cx="340360" cy="18466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lvl="0" algn="r">
              <a:spcBef>
                <a:spcPct val="0"/>
              </a:spcBef>
              <a:spcAft>
                <a:spcPct val="0"/>
              </a:spcAft>
              <a:defRPr sz="1200" b="0" i="0" kern="1200">
                <a:solidFill>
                  <a:schemeClr val="tx1"/>
                </a:solidFill>
                <a:latin typeface="微软雅黑" panose="020B0503020204020204" charset="-122"/>
                <a:ea typeface="等线" panose="02010600030101010101" charset="-122"/>
                <a:cs typeface="微软雅黑" panose="020B0503020204020204" charset="-122"/>
              </a:defRPr>
            </a:lvl1pPr>
            <a:lvl2pPr marL="457200" lvl="1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D60167-4931-47E6-BA6A-407CBD079E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T主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sp>
        <p:nvSpPr>
          <p:cNvPr id="10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pic>
        <p:nvPicPr>
          <p:cNvPr id="8" name="Picture 2" descr="D:\MasterCom\MasterCom\公司形象\公司LOGO标准件\logo标准色谱无背景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403" y="6464254"/>
            <a:ext cx="2818597" cy="39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标题占位符 1"/>
          <p:cNvSpPr>
            <a:spLocks noGrp="1"/>
          </p:cNvSpPr>
          <p:nvPr>
            <p:ph type="title"/>
          </p:nvPr>
        </p:nvSpPr>
        <p:spPr>
          <a:xfrm>
            <a:off x="512002" y="195481"/>
            <a:ext cx="7886700" cy="453785"/>
          </a:xfrm>
          <a:prstGeom prst="rect">
            <a:avLst/>
          </a:prstGeom>
        </p:spPr>
        <p:txBody>
          <a:bodyPr vert="horz" lIns="68513" tIns="34278" rIns="68513" bIns="34278" rtlCol="0" anchor="ctr">
            <a:noAutofit/>
          </a:bodyPr>
          <a:lstStyle>
            <a:lvl1pPr>
              <a:defRPr sz="2800" b="1">
                <a:solidFill>
                  <a:srgbClr val="0089F0"/>
                </a:solidFill>
                <a:effectLst>
                  <a:outerShdw blurRad="254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37867" y="239023"/>
            <a:ext cx="113559" cy="360000"/>
          </a:xfrm>
          <a:prstGeom prst="rect">
            <a:avLst/>
          </a:prstGeom>
          <a:solidFill>
            <a:srgbClr val="0089F0"/>
          </a:solidFill>
          <a:ln w="25400" cap="flat" cmpd="sng" algn="ctr">
            <a:noFill/>
            <a:prstDash val="solid"/>
          </a:ln>
          <a:effectLst/>
        </p:spPr>
        <p:txBody>
          <a:bodyPr lIns="121917" tIns="60959" rIns="121917" bIns="60959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7" name="矩形 6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327647" y="382472"/>
            <a:ext cx="10972800" cy="599665"/>
          </a:xfrm>
          <a:prstGeom prst="rect">
            <a:avLst/>
          </a:prstGeom>
        </p:spPr>
        <p:txBody>
          <a:bodyPr/>
          <a:lstStyle>
            <a:lvl1pPr>
              <a:defRPr sz="1865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802926" y="6405481"/>
            <a:ext cx="285267" cy="278911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731866" y="6400993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</a:fld>
            <a:endParaRPr lang="en-US" altLang="zh-CN" sz="65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1" hasCustomPrompt="1"/>
          </p:nvPr>
        </p:nvSpPr>
        <p:spPr>
          <a:xfrm>
            <a:off x="327647" y="1064896"/>
            <a:ext cx="11536707" cy="1219200"/>
          </a:xfrm>
          <a:prstGeom prst="rect">
            <a:avLst/>
          </a:prstGeom>
        </p:spPr>
        <p:txBody>
          <a:bodyPr/>
          <a:lstStyle>
            <a:lvl1pPr marL="241300" indent="-241300">
              <a:lnSpc>
                <a:spcPct val="120000"/>
              </a:lnSpc>
              <a:spcBef>
                <a:spcPts val="400"/>
              </a:spcBef>
              <a:buFontTx/>
              <a:buChar char="‒"/>
              <a:defRPr sz="1465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22" name="图片 21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8C219-5A61-4C21-85B8-4433464ADB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17569-6884-4CA7-9822-86B4F55D8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8C219-5A61-4C21-85B8-4433464ADB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17569-6884-4CA7-9822-86B4F55D8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0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0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0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9" Type="http://schemas.openxmlformats.org/officeDocument/2006/relationships/notesSlide" Target="../notesSlides/notesSlide4.xml"/><Relationship Id="rId58" Type="http://schemas.openxmlformats.org/officeDocument/2006/relationships/slideLayout" Target="../slideLayouts/slideLayout33.xml"/><Relationship Id="rId57" Type="http://schemas.openxmlformats.org/officeDocument/2006/relationships/tags" Target="../tags/tag81.xml"/><Relationship Id="rId56" Type="http://schemas.openxmlformats.org/officeDocument/2006/relationships/tags" Target="../tags/tag80.xml"/><Relationship Id="rId55" Type="http://schemas.openxmlformats.org/officeDocument/2006/relationships/tags" Target="../tags/tag79.xml"/><Relationship Id="rId54" Type="http://schemas.openxmlformats.org/officeDocument/2006/relationships/tags" Target="../tags/tag78.xml"/><Relationship Id="rId53" Type="http://schemas.openxmlformats.org/officeDocument/2006/relationships/tags" Target="../tags/tag77.xml"/><Relationship Id="rId52" Type="http://schemas.openxmlformats.org/officeDocument/2006/relationships/tags" Target="../tags/tag76.xml"/><Relationship Id="rId51" Type="http://schemas.openxmlformats.org/officeDocument/2006/relationships/tags" Target="../tags/tag75.xml"/><Relationship Id="rId50" Type="http://schemas.openxmlformats.org/officeDocument/2006/relationships/tags" Target="../tags/tag74.xml"/><Relationship Id="rId5" Type="http://schemas.openxmlformats.org/officeDocument/2006/relationships/tags" Target="../tags/tag29.xml"/><Relationship Id="rId49" Type="http://schemas.openxmlformats.org/officeDocument/2006/relationships/tags" Target="../tags/tag73.xml"/><Relationship Id="rId48" Type="http://schemas.openxmlformats.org/officeDocument/2006/relationships/tags" Target="../tags/tag72.xml"/><Relationship Id="rId47" Type="http://schemas.openxmlformats.org/officeDocument/2006/relationships/tags" Target="../tags/tag71.xml"/><Relationship Id="rId46" Type="http://schemas.openxmlformats.org/officeDocument/2006/relationships/tags" Target="../tags/tag70.xml"/><Relationship Id="rId45" Type="http://schemas.openxmlformats.org/officeDocument/2006/relationships/tags" Target="../tags/tag69.xml"/><Relationship Id="rId44" Type="http://schemas.openxmlformats.org/officeDocument/2006/relationships/tags" Target="../tags/tag68.xml"/><Relationship Id="rId43" Type="http://schemas.openxmlformats.org/officeDocument/2006/relationships/tags" Target="../tags/tag67.xml"/><Relationship Id="rId42" Type="http://schemas.openxmlformats.org/officeDocument/2006/relationships/tags" Target="../tags/tag66.xml"/><Relationship Id="rId41" Type="http://schemas.openxmlformats.org/officeDocument/2006/relationships/tags" Target="../tags/tag65.xml"/><Relationship Id="rId40" Type="http://schemas.openxmlformats.org/officeDocument/2006/relationships/tags" Target="../tags/tag64.xml"/><Relationship Id="rId4" Type="http://schemas.openxmlformats.org/officeDocument/2006/relationships/tags" Target="../tags/tag28.xml"/><Relationship Id="rId39" Type="http://schemas.openxmlformats.org/officeDocument/2006/relationships/tags" Target="../tags/tag63.xml"/><Relationship Id="rId38" Type="http://schemas.openxmlformats.org/officeDocument/2006/relationships/tags" Target="../tags/tag62.xml"/><Relationship Id="rId37" Type="http://schemas.openxmlformats.org/officeDocument/2006/relationships/tags" Target="../tags/tag61.xml"/><Relationship Id="rId36" Type="http://schemas.openxmlformats.org/officeDocument/2006/relationships/tags" Target="../tags/tag60.xml"/><Relationship Id="rId35" Type="http://schemas.openxmlformats.org/officeDocument/2006/relationships/tags" Target="../tags/tag59.xml"/><Relationship Id="rId34" Type="http://schemas.openxmlformats.org/officeDocument/2006/relationships/tags" Target="../tags/tag58.xml"/><Relationship Id="rId33" Type="http://schemas.openxmlformats.org/officeDocument/2006/relationships/tags" Target="../tags/tag57.xml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tags" Target="../tags/tag54.xml"/><Relationship Id="rId3" Type="http://schemas.openxmlformats.org/officeDocument/2006/relationships/tags" Target="../tags/tag27.xml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tags" Target="../tags/tag51.xml"/><Relationship Id="rId26" Type="http://schemas.openxmlformats.org/officeDocument/2006/relationships/tags" Target="../tags/tag50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3" Type="http://schemas.openxmlformats.org/officeDocument/2006/relationships/slideLayout" Target="../slideLayouts/slideLayout20.xml"/><Relationship Id="rId52" Type="http://schemas.openxmlformats.org/officeDocument/2006/relationships/image" Target="../media/image54.png"/><Relationship Id="rId51" Type="http://schemas.openxmlformats.org/officeDocument/2006/relationships/image" Target="../media/image53.png"/><Relationship Id="rId50" Type="http://schemas.openxmlformats.org/officeDocument/2006/relationships/image" Target="../media/image52.png"/><Relationship Id="rId5" Type="http://schemas.openxmlformats.org/officeDocument/2006/relationships/tags" Target="../tags/tag86.xml"/><Relationship Id="rId49" Type="http://schemas.openxmlformats.org/officeDocument/2006/relationships/image" Target="../media/image51.png"/><Relationship Id="rId48" Type="http://schemas.openxmlformats.org/officeDocument/2006/relationships/image" Target="../media/image50.svg"/><Relationship Id="rId47" Type="http://schemas.openxmlformats.org/officeDocument/2006/relationships/image" Target="../media/image49.svg"/><Relationship Id="rId46" Type="http://schemas.openxmlformats.org/officeDocument/2006/relationships/image" Target="../media/image48.svg"/><Relationship Id="rId45" Type="http://schemas.openxmlformats.org/officeDocument/2006/relationships/image" Target="../media/image47.png"/><Relationship Id="rId44" Type="http://schemas.openxmlformats.org/officeDocument/2006/relationships/image" Target="../media/image46.svg"/><Relationship Id="rId43" Type="http://schemas.openxmlformats.org/officeDocument/2006/relationships/image" Target="../media/image45.png"/><Relationship Id="rId42" Type="http://schemas.openxmlformats.org/officeDocument/2006/relationships/image" Target="../media/image44.svg"/><Relationship Id="rId41" Type="http://schemas.openxmlformats.org/officeDocument/2006/relationships/image" Target="../media/image43.png"/><Relationship Id="rId40" Type="http://schemas.openxmlformats.org/officeDocument/2006/relationships/image" Target="../media/image42.svg"/><Relationship Id="rId4" Type="http://schemas.openxmlformats.org/officeDocument/2006/relationships/tags" Target="../tags/tag85.xml"/><Relationship Id="rId39" Type="http://schemas.openxmlformats.org/officeDocument/2006/relationships/image" Target="../media/image41.png"/><Relationship Id="rId38" Type="http://schemas.openxmlformats.org/officeDocument/2006/relationships/image" Target="../media/image40.svg"/><Relationship Id="rId37" Type="http://schemas.openxmlformats.org/officeDocument/2006/relationships/image" Target="../media/image39.png"/><Relationship Id="rId36" Type="http://schemas.openxmlformats.org/officeDocument/2006/relationships/image" Target="../media/image38.png"/><Relationship Id="rId35" Type="http://schemas.openxmlformats.org/officeDocument/2006/relationships/image" Target="../media/image37.png"/><Relationship Id="rId34" Type="http://schemas.openxmlformats.org/officeDocument/2006/relationships/image" Target="../media/image36.png"/><Relationship Id="rId33" Type="http://schemas.openxmlformats.org/officeDocument/2006/relationships/image" Target="../media/image35.png"/><Relationship Id="rId32" Type="http://schemas.openxmlformats.org/officeDocument/2006/relationships/image" Target="../media/image34.png"/><Relationship Id="rId31" Type="http://schemas.openxmlformats.org/officeDocument/2006/relationships/tags" Target="../tags/tag105.xml"/><Relationship Id="rId30" Type="http://schemas.openxmlformats.org/officeDocument/2006/relationships/tags" Target="../tags/tag104.xml"/><Relationship Id="rId3" Type="http://schemas.openxmlformats.org/officeDocument/2006/relationships/tags" Target="../tags/tag84.xml"/><Relationship Id="rId29" Type="http://schemas.openxmlformats.org/officeDocument/2006/relationships/tags" Target="../tags/tag103.xml"/><Relationship Id="rId28" Type="http://schemas.openxmlformats.org/officeDocument/2006/relationships/tags" Target="../tags/tag102.xml"/><Relationship Id="rId27" Type="http://schemas.openxmlformats.org/officeDocument/2006/relationships/tags" Target="../tags/tag101.xml"/><Relationship Id="rId26" Type="http://schemas.openxmlformats.org/officeDocument/2006/relationships/tags" Target="../tags/tag100.xml"/><Relationship Id="rId25" Type="http://schemas.openxmlformats.org/officeDocument/2006/relationships/tags" Target="../tags/tag99.xml"/><Relationship Id="rId24" Type="http://schemas.openxmlformats.org/officeDocument/2006/relationships/tags" Target="../tags/tag98.xml"/><Relationship Id="rId23" Type="http://schemas.openxmlformats.org/officeDocument/2006/relationships/image" Target="../media/image33.svg"/><Relationship Id="rId22" Type="http://schemas.openxmlformats.org/officeDocument/2006/relationships/image" Target="../media/image32.svg"/><Relationship Id="rId21" Type="http://schemas.openxmlformats.org/officeDocument/2006/relationships/image" Target="../media/image31.svg"/><Relationship Id="rId20" Type="http://schemas.openxmlformats.org/officeDocument/2006/relationships/image" Target="../media/image30.svg"/><Relationship Id="rId2" Type="http://schemas.openxmlformats.org/officeDocument/2006/relationships/tags" Target="../tags/tag83.xml"/><Relationship Id="rId19" Type="http://schemas.openxmlformats.org/officeDocument/2006/relationships/image" Target="../media/image29.svg"/><Relationship Id="rId18" Type="http://schemas.openxmlformats.org/officeDocument/2006/relationships/image" Target="../media/image28.png"/><Relationship Id="rId17" Type="http://schemas.openxmlformats.org/officeDocument/2006/relationships/image" Target="../media/image27.png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3" Type="http://schemas.openxmlformats.org/officeDocument/2006/relationships/slideLayout" Target="../slideLayouts/slideLayout20.xml"/><Relationship Id="rId22" Type="http://schemas.openxmlformats.org/officeDocument/2006/relationships/image" Target="../media/image61.svg"/><Relationship Id="rId21" Type="http://schemas.openxmlformats.org/officeDocument/2006/relationships/image" Target="../media/image60.png"/><Relationship Id="rId20" Type="http://schemas.openxmlformats.org/officeDocument/2006/relationships/image" Target="../media/image59.svg"/><Relationship Id="rId2" Type="http://schemas.openxmlformats.org/officeDocument/2006/relationships/tags" Target="../tags/tag107.xml"/><Relationship Id="rId19" Type="http://schemas.openxmlformats.org/officeDocument/2006/relationships/image" Target="../media/image58.png"/><Relationship Id="rId18" Type="http://schemas.openxmlformats.org/officeDocument/2006/relationships/image" Target="../media/image57.svg"/><Relationship Id="rId17" Type="http://schemas.openxmlformats.org/officeDocument/2006/relationships/image" Target="../media/image56.png"/><Relationship Id="rId16" Type="http://schemas.openxmlformats.org/officeDocument/2006/relationships/tags" Target="../tags/tag120.xml"/><Relationship Id="rId15" Type="http://schemas.openxmlformats.org/officeDocument/2006/relationships/image" Target="../media/image55.png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9" Type="http://schemas.openxmlformats.org/officeDocument/2006/relationships/slideLayout" Target="../slideLayouts/slideLayout20.xml"/><Relationship Id="rId18" Type="http://schemas.openxmlformats.org/officeDocument/2006/relationships/image" Target="../media/image78.svg"/><Relationship Id="rId17" Type="http://schemas.openxmlformats.org/officeDocument/2006/relationships/image" Target="../media/image77.png"/><Relationship Id="rId16" Type="http://schemas.openxmlformats.org/officeDocument/2006/relationships/image" Target="../media/image76.svg"/><Relationship Id="rId15" Type="http://schemas.openxmlformats.org/officeDocument/2006/relationships/image" Target="../media/image75.png"/><Relationship Id="rId14" Type="http://schemas.openxmlformats.org/officeDocument/2006/relationships/image" Target="../media/image74.svg"/><Relationship Id="rId13" Type="http://schemas.openxmlformats.org/officeDocument/2006/relationships/image" Target="../media/image73.png"/><Relationship Id="rId12" Type="http://schemas.openxmlformats.org/officeDocument/2006/relationships/image" Target="../media/image72.svg"/><Relationship Id="rId11" Type="http://schemas.openxmlformats.org/officeDocument/2006/relationships/image" Target="../media/image23.png"/><Relationship Id="rId10" Type="http://schemas.openxmlformats.org/officeDocument/2006/relationships/image" Target="../media/image71.svg"/><Relationship Id="rId1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image" Target="../media/image79.png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3" Type="http://schemas.openxmlformats.org/officeDocument/2006/relationships/slideLayout" Target="../slideLayouts/slideLayout20.xml"/><Relationship Id="rId12" Type="http://schemas.openxmlformats.org/officeDocument/2006/relationships/image" Target="../media/image81.png"/><Relationship Id="rId11" Type="http://schemas.openxmlformats.org/officeDocument/2006/relationships/image" Target="../media/image80.png"/><Relationship Id="rId10" Type="http://schemas.openxmlformats.org/officeDocument/2006/relationships/tags" Target="../tags/tag129.xml"/><Relationship Id="rId1" Type="http://schemas.openxmlformats.org/officeDocument/2006/relationships/tags" Target="../tags/tag1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20.xml"/><Relationship Id="rId14" Type="http://schemas.openxmlformats.org/officeDocument/2006/relationships/image" Target="../media/image87.svg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image" Target="../media/image86.svg"/><Relationship Id="rId10" Type="http://schemas.openxmlformats.org/officeDocument/2006/relationships/image" Target="../media/image85.png"/><Relationship Id="rId1" Type="http://schemas.openxmlformats.org/officeDocument/2006/relationships/tags" Target="../tags/tag13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svg"/><Relationship Id="rId8" Type="http://schemas.openxmlformats.org/officeDocument/2006/relationships/image" Target="../media/image90.png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image" Target="../media/image89.svg"/><Relationship Id="rId3" Type="http://schemas.openxmlformats.org/officeDocument/2006/relationships/image" Target="../media/image88.png"/><Relationship Id="rId2" Type="http://schemas.openxmlformats.org/officeDocument/2006/relationships/tags" Target="../tags/tag139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20.xml"/><Relationship Id="rId17" Type="http://schemas.openxmlformats.org/officeDocument/2006/relationships/image" Target="../media/image96.png"/><Relationship Id="rId16" Type="http://schemas.openxmlformats.org/officeDocument/2006/relationships/image" Target="../media/image95.svg"/><Relationship Id="rId15" Type="http://schemas.openxmlformats.org/officeDocument/2006/relationships/image" Target="../media/image94.png"/><Relationship Id="rId14" Type="http://schemas.openxmlformats.org/officeDocument/2006/relationships/image" Target="../media/image93.svg"/><Relationship Id="rId13" Type="http://schemas.openxmlformats.org/officeDocument/2006/relationships/image" Target="../media/image92.png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9" Type="http://schemas.openxmlformats.org/officeDocument/2006/relationships/notesSlide" Target="../notesSlides/notesSlide7.xml"/><Relationship Id="rId38" Type="http://schemas.openxmlformats.org/officeDocument/2006/relationships/slideLayout" Target="../slideLayouts/slideLayout20.xml"/><Relationship Id="rId37" Type="http://schemas.openxmlformats.org/officeDocument/2006/relationships/tags" Target="../tags/tag179.xml"/><Relationship Id="rId36" Type="http://schemas.openxmlformats.org/officeDocument/2006/relationships/tags" Target="../tags/tag178.xml"/><Relationship Id="rId35" Type="http://schemas.openxmlformats.org/officeDocument/2006/relationships/tags" Target="../tags/tag177.xml"/><Relationship Id="rId34" Type="http://schemas.openxmlformats.org/officeDocument/2006/relationships/tags" Target="../tags/tag176.xml"/><Relationship Id="rId33" Type="http://schemas.openxmlformats.org/officeDocument/2006/relationships/tags" Target="../tags/tag175.xml"/><Relationship Id="rId32" Type="http://schemas.openxmlformats.org/officeDocument/2006/relationships/tags" Target="../tags/tag174.xml"/><Relationship Id="rId31" Type="http://schemas.openxmlformats.org/officeDocument/2006/relationships/tags" Target="../tags/tag173.xml"/><Relationship Id="rId30" Type="http://schemas.openxmlformats.org/officeDocument/2006/relationships/tags" Target="../tags/tag172.xml"/><Relationship Id="rId3" Type="http://schemas.openxmlformats.org/officeDocument/2006/relationships/tags" Target="../tags/tag148.xml"/><Relationship Id="rId29" Type="http://schemas.openxmlformats.org/officeDocument/2006/relationships/tags" Target="../tags/tag171.xml"/><Relationship Id="rId28" Type="http://schemas.openxmlformats.org/officeDocument/2006/relationships/tags" Target="../tags/tag170.xml"/><Relationship Id="rId27" Type="http://schemas.openxmlformats.org/officeDocument/2006/relationships/tags" Target="../tags/tag169.xml"/><Relationship Id="rId26" Type="http://schemas.openxmlformats.org/officeDocument/2006/relationships/tags" Target="../tags/tag168.xml"/><Relationship Id="rId25" Type="http://schemas.openxmlformats.org/officeDocument/2006/relationships/tags" Target="../tags/tag167.xml"/><Relationship Id="rId24" Type="http://schemas.openxmlformats.org/officeDocument/2006/relationships/tags" Target="../tags/tag166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tags" Target="../tags/tag147.xml"/><Relationship Id="rId19" Type="http://schemas.openxmlformats.org/officeDocument/2006/relationships/tags" Target="../tags/tag161.xml"/><Relationship Id="rId18" Type="http://schemas.openxmlformats.org/officeDocument/2006/relationships/image" Target="../media/image99.png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image" Target="../media/image98.png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image" Target="../media/image97.png"/><Relationship Id="rId1" Type="http://schemas.openxmlformats.org/officeDocument/2006/relationships/tags" Target="../tags/tag14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7" Type="http://schemas.openxmlformats.org/officeDocument/2006/relationships/image" Target="../media/image106.svg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20.xml"/><Relationship Id="rId14" Type="http://schemas.openxmlformats.org/officeDocument/2006/relationships/image" Target="../media/image108.png"/><Relationship Id="rId13" Type="http://schemas.openxmlformats.org/officeDocument/2006/relationships/image" Target="../media/image107.png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image" Target="../media/image9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image" Target="../media/image109.pn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19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image" Target="../media/image111.png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6" Type="http://schemas.openxmlformats.org/officeDocument/2006/relationships/notesSlide" Target="../notesSlides/notesSlide10.xml"/><Relationship Id="rId35" Type="http://schemas.openxmlformats.org/officeDocument/2006/relationships/slideLayout" Target="../slideLayouts/slideLayout20.xml"/><Relationship Id="rId34" Type="http://schemas.openxmlformats.org/officeDocument/2006/relationships/tags" Target="../tags/tag225.xml"/><Relationship Id="rId33" Type="http://schemas.openxmlformats.org/officeDocument/2006/relationships/tags" Target="../tags/tag224.xml"/><Relationship Id="rId32" Type="http://schemas.openxmlformats.org/officeDocument/2006/relationships/tags" Target="../tags/tag223.xml"/><Relationship Id="rId31" Type="http://schemas.openxmlformats.org/officeDocument/2006/relationships/tags" Target="../tags/tag222.xml"/><Relationship Id="rId30" Type="http://schemas.openxmlformats.org/officeDocument/2006/relationships/image" Target="../media/image112.png"/><Relationship Id="rId3" Type="http://schemas.openxmlformats.org/officeDocument/2006/relationships/image" Target="../media/image110.png"/><Relationship Id="rId29" Type="http://schemas.openxmlformats.org/officeDocument/2006/relationships/tags" Target="../tags/tag221.xml"/><Relationship Id="rId28" Type="http://schemas.openxmlformats.org/officeDocument/2006/relationships/tags" Target="../tags/tag220.xml"/><Relationship Id="rId27" Type="http://schemas.openxmlformats.org/officeDocument/2006/relationships/tags" Target="../tags/tag219.xml"/><Relationship Id="rId26" Type="http://schemas.openxmlformats.org/officeDocument/2006/relationships/tags" Target="../tags/tag218.xml"/><Relationship Id="rId25" Type="http://schemas.openxmlformats.org/officeDocument/2006/relationships/tags" Target="../tags/tag217.xml"/><Relationship Id="rId24" Type="http://schemas.openxmlformats.org/officeDocument/2006/relationships/tags" Target="../tags/tag216.xml"/><Relationship Id="rId23" Type="http://schemas.openxmlformats.org/officeDocument/2006/relationships/tags" Target="../tags/tag215.xml"/><Relationship Id="rId22" Type="http://schemas.openxmlformats.org/officeDocument/2006/relationships/tags" Target="../tags/tag214.xml"/><Relationship Id="rId21" Type="http://schemas.openxmlformats.org/officeDocument/2006/relationships/tags" Target="../tags/tag213.xml"/><Relationship Id="rId20" Type="http://schemas.openxmlformats.org/officeDocument/2006/relationships/tags" Target="../tags/tag212.xml"/><Relationship Id="rId2" Type="http://schemas.openxmlformats.org/officeDocument/2006/relationships/tags" Target="../tags/tag196.xml"/><Relationship Id="rId19" Type="http://schemas.openxmlformats.org/officeDocument/2006/relationships/tags" Target="../tags/tag211.xml"/><Relationship Id="rId18" Type="http://schemas.openxmlformats.org/officeDocument/2006/relationships/tags" Target="../tags/tag210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image" Target="../media/image120.svg"/><Relationship Id="rId7" Type="http://schemas.openxmlformats.org/officeDocument/2006/relationships/image" Target="../media/image119.png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16.svg"/><Relationship Id="rId3" Type="http://schemas.openxmlformats.org/officeDocument/2006/relationships/image" Target="../media/image115.png"/><Relationship Id="rId2" Type="http://schemas.openxmlformats.org/officeDocument/2006/relationships/image" Target="../media/image114.sv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20.xml"/><Relationship Id="rId13" Type="http://schemas.openxmlformats.org/officeDocument/2006/relationships/image" Target="../media/image125.png"/><Relationship Id="rId12" Type="http://schemas.openxmlformats.org/officeDocument/2006/relationships/image" Target="../media/image124.png"/><Relationship Id="rId11" Type="http://schemas.openxmlformats.org/officeDocument/2006/relationships/image" Target="../media/image123.jpeg"/><Relationship Id="rId10" Type="http://schemas.openxmlformats.org/officeDocument/2006/relationships/image" Target="../media/image122.svg"/><Relationship Id="rId1" Type="http://schemas.openxmlformats.org/officeDocument/2006/relationships/image" Target="../media/image11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image" Target="../media/image127.svg"/><Relationship Id="rId5" Type="http://schemas.openxmlformats.org/officeDocument/2006/relationships/image" Target="../media/image126.png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20.xml"/><Relationship Id="rId15" Type="http://schemas.openxmlformats.org/officeDocument/2006/relationships/tags" Target="../tags/tag236.xml"/><Relationship Id="rId14" Type="http://schemas.openxmlformats.org/officeDocument/2006/relationships/tags" Target="../tags/tag235.xml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image" Target="../media/image129.svg"/><Relationship Id="rId10" Type="http://schemas.openxmlformats.org/officeDocument/2006/relationships/image" Target="../media/image128.png"/><Relationship Id="rId1" Type="http://schemas.openxmlformats.org/officeDocument/2006/relationships/tags" Target="../tags/tag22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0" Type="http://schemas.openxmlformats.org/officeDocument/2006/relationships/notesSlide" Target="../notesSlides/notesSlide13.xml"/><Relationship Id="rId2" Type="http://schemas.openxmlformats.org/officeDocument/2006/relationships/chart" Target="../charts/chart2.xml"/><Relationship Id="rId19" Type="http://schemas.openxmlformats.org/officeDocument/2006/relationships/slideLayout" Target="../slideLayouts/slideLayout21.xml"/><Relationship Id="rId18" Type="http://schemas.openxmlformats.org/officeDocument/2006/relationships/tags" Target="../tags/tag255.xml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1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image" Target="../media/image13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8" Type="http://schemas.openxmlformats.org/officeDocument/2006/relationships/notesSlide" Target="../notesSlides/notesSlide16.xml"/><Relationship Id="rId27" Type="http://schemas.openxmlformats.org/officeDocument/2006/relationships/slideLayout" Target="../slideLayouts/slideLayout21.xml"/><Relationship Id="rId26" Type="http://schemas.openxmlformats.org/officeDocument/2006/relationships/tags" Target="../tags/tag282.xml"/><Relationship Id="rId25" Type="http://schemas.openxmlformats.org/officeDocument/2006/relationships/tags" Target="../tags/tag281.xml"/><Relationship Id="rId24" Type="http://schemas.openxmlformats.org/officeDocument/2006/relationships/tags" Target="../tags/tag280.xml"/><Relationship Id="rId23" Type="http://schemas.openxmlformats.org/officeDocument/2006/relationships/tags" Target="../tags/tag279.xml"/><Relationship Id="rId22" Type="http://schemas.openxmlformats.org/officeDocument/2006/relationships/tags" Target="../tags/tag278.xml"/><Relationship Id="rId21" Type="http://schemas.openxmlformats.org/officeDocument/2006/relationships/tags" Target="../tags/tag277.xml"/><Relationship Id="rId20" Type="http://schemas.openxmlformats.org/officeDocument/2006/relationships/image" Target="../media/image135.png"/><Relationship Id="rId2" Type="http://schemas.openxmlformats.org/officeDocument/2006/relationships/tags" Target="../tags/tag259.xml"/><Relationship Id="rId19" Type="http://schemas.openxmlformats.org/officeDocument/2006/relationships/tags" Target="../tags/tag276.xml"/><Relationship Id="rId18" Type="http://schemas.openxmlformats.org/officeDocument/2006/relationships/tags" Target="../tags/tag275.xml"/><Relationship Id="rId17" Type="http://schemas.openxmlformats.org/officeDocument/2006/relationships/tags" Target="../tags/tag274.xml"/><Relationship Id="rId16" Type="http://schemas.openxmlformats.org/officeDocument/2006/relationships/tags" Target="../tags/tag273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tags" Target="../tags/tag25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38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40.png"/><Relationship Id="rId1" Type="http://schemas.openxmlformats.org/officeDocument/2006/relationships/image" Target="../media/image13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42.png"/><Relationship Id="rId1" Type="http://schemas.openxmlformats.org/officeDocument/2006/relationships/image" Target="../media/image14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44.png"/><Relationship Id="rId1" Type="http://schemas.openxmlformats.org/officeDocument/2006/relationships/image" Target="../media/image1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38" y="2582135"/>
            <a:ext cx="1501342" cy="1501342"/>
          </a:xfrm>
          <a:prstGeom prst="rect">
            <a:avLst/>
          </a:prstGeom>
        </p:spPr>
      </p:pic>
      <p:sp>
        <p:nvSpPr>
          <p:cNvPr id="66" name="任意多边形 65"/>
          <p:cNvSpPr/>
          <p:nvPr/>
        </p:nvSpPr>
        <p:spPr>
          <a:xfrm rot="10800000">
            <a:off x="1588" y="-186361"/>
            <a:ext cx="12190413" cy="3600000"/>
          </a:xfrm>
          <a:custGeom>
            <a:avLst/>
            <a:gdLst>
              <a:gd name="connsiteX0" fmla="*/ 12190413 w 12190413"/>
              <a:gd name="connsiteY0" fmla="*/ 3600000 h 3600000"/>
              <a:gd name="connsiteX1" fmla="*/ 0 w 12190413"/>
              <a:gd name="connsiteY1" fmla="*/ 3600000 h 3600000"/>
              <a:gd name="connsiteX2" fmla="*/ 0 w 12190413"/>
              <a:gd name="connsiteY2" fmla="*/ 0 h 3600000"/>
              <a:gd name="connsiteX3" fmla="*/ 5235125 w 12190413"/>
              <a:gd name="connsiteY3" fmla="*/ 0 h 3600000"/>
              <a:gd name="connsiteX4" fmla="*/ 5231207 w 12190413"/>
              <a:gd name="connsiteY4" fmla="*/ 35335 h 3600000"/>
              <a:gd name="connsiteX5" fmla="*/ 5231394 w 12190413"/>
              <a:gd name="connsiteY5" fmla="*/ 37017 h 3600000"/>
              <a:gd name="connsiteX6" fmla="*/ 5231207 w 12190413"/>
              <a:gd name="connsiteY6" fmla="*/ 38867 h 3600000"/>
              <a:gd name="connsiteX7" fmla="*/ 6095207 w 12190413"/>
              <a:gd name="connsiteY7" fmla="*/ 902867 h 3600000"/>
              <a:gd name="connsiteX8" fmla="*/ 6959207 w 12190413"/>
              <a:gd name="connsiteY8" fmla="*/ 38867 h 3600000"/>
              <a:gd name="connsiteX9" fmla="*/ 6959021 w 12190413"/>
              <a:gd name="connsiteY9" fmla="*/ 37017 h 3600000"/>
              <a:gd name="connsiteX10" fmla="*/ 6959207 w 12190413"/>
              <a:gd name="connsiteY10" fmla="*/ 35335 h 3600000"/>
              <a:gd name="connsiteX11" fmla="*/ 6955289 w 12190413"/>
              <a:gd name="connsiteY11" fmla="*/ 0 h 3600000"/>
              <a:gd name="connsiteX12" fmla="*/ 12190413 w 12190413"/>
              <a:gd name="connsiteY12" fmla="*/ 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0413" h="3600000">
                <a:moveTo>
                  <a:pt x="12190413" y="3600000"/>
                </a:moveTo>
                <a:lnTo>
                  <a:pt x="0" y="3600000"/>
                </a:lnTo>
                <a:lnTo>
                  <a:pt x="0" y="0"/>
                </a:lnTo>
                <a:lnTo>
                  <a:pt x="5235125" y="0"/>
                </a:lnTo>
                <a:lnTo>
                  <a:pt x="5231207" y="35335"/>
                </a:lnTo>
                <a:lnTo>
                  <a:pt x="5231394" y="37017"/>
                </a:lnTo>
                <a:lnTo>
                  <a:pt x="5231207" y="38867"/>
                </a:lnTo>
                <a:cubicBezTo>
                  <a:pt x="5231207" y="516041"/>
                  <a:pt x="5618033" y="902867"/>
                  <a:pt x="6095207" y="902867"/>
                </a:cubicBezTo>
                <a:cubicBezTo>
                  <a:pt x="6572381" y="902867"/>
                  <a:pt x="6959207" y="516041"/>
                  <a:pt x="6959207" y="38867"/>
                </a:cubicBezTo>
                <a:lnTo>
                  <a:pt x="6959021" y="37017"/>
                </a:lnTo>
                <a:lnTo>
                  <a:pt x="6959207" y="35335"/>
                </a:lnTo>
                <a:lnTo>
                  <a:pt x="6955289" y="0"/>
                </a:lnTo>
                <a:lnTo>
                  <a:pt x="12190413" y="0"/>
                </a:lnTo>
                <a:close/>
              </a:path>
            </a:pathLst>
          </a:custGeom>
          <a:gradFill flip="none" rotWithShape="1">
            <a:gsLst>
              <a:gs pos="61000">
                <a:srgbClr val="0089F0"/>
              </a:gs>
              <a:gs pos="0">
                <a:srgbClr val="0089F0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1917" tIns="60959" rIns="121917" bIns="60959" rtlCol="0" anchor="ctr">
            <a:noAutofit/>
          </a:bodyPr>
          <a:lstStyle/>
          <a:p>
            <a:pPr algn="ctr" defTabSz="914400"/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8" name="任意多边形 37"/>
          <p:cNvSpPr>
            <a:spLocks noChangeAspect="1"/>
          </p:cNvSpPr>
          <p:nvPr/>
        </p:nvSpPr>
        <p:spPr>
          <a:xfrm>
            <a:off x="1817161" y="-186361"/>
            <a:ext cx="1912527" cy="607496"/>
          </a:xfrm>
          <a:custGeom>
            <a:avLst/>
            <a:gdLst>
              <a:gd name="connsiteX0" fmla="*/ 0 w 1912527"/>
              <a:gd name="connsiteY0" fmla="*/ 0 h 607496"/>
              <a:gd name="connsiteX1" fmla="*/ 1912527 w 1912527"/>
              <a:gd name="connsiteY1" fmla="*/ 0 h 607496"/>
              <a:gd name="connsiteX2" fmla="*/ 1886625 w 1912527"/>
              <a:gd name="connsiteY2" fmla="*/ 53768 h 607496"/>
              <a:gd name="connsiteX3" fmla="*/ 956263 w 1912527"/>
              <a:gd name="connsiteY3" fmla="*/ 607496 h 607496"/>
              <a:gd name="connsiteX4" fmla="*/ 25901 w 1912527"/>
              <a:gd name="connsiteY4" fmla="*/ 53768 h 607496"/>
              <a:gd name="connsiteX5" fmla="*/ 0 w 1912527"/>
              <a:gd name="connsiteY5" fmla="*/ 0 h 607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12527" h="607496">
                <a:moveTo>
                  <a:pt x="0" y="0"/>
                </a:moveTo>
                <a:lnTo>
                  <a:pt x="1912527" y="0"/>
                </a:lnTo>
                <a:lnTo>
                  <a:pt x="1886625" y="53768"/>
                </a:lnTo>
                <a:cubicBezTo>
                  <a:pt x="1707453" y="383593"/>
                  <a:pt x="1358006" y="607496"/>
                  <a:pt x="956263" y="607496"/>
                </a:cubicBezTo>
                <a:cubicBezTo>
                  <a:pt x="554521" y="607496"/>
                  <a:pt x="205073" y="383593"/>
                  <a:pt x="25901" y="5376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 defTabSz="457200">
              <a:defRPr/>
            </a:pPr>
            <a:endParaRPr lang="en-US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9"/>
          <p:cNvSpPr/>
          <p:nvPr/>
        </p:nvSpPr>
        <p:spPr>
          <a:xfrm>
            <a:off x="2458763" y="855645"/>
            <a:ext cx="358696" cy="358696"/>
          </a:xfrm>
          <a:prstGeom prst="ellipse">
            <a:avLst/>
          </a:prstGeom>
          <a:solidFill>
            <a:srgbClr val="FFBE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Oval 10"/>
          <p:cNvSpPr/>
          <p:nvPr/>
        </p:nvSpPr>
        <p:spPr>
          <a:xfrm>
            <a:off x="3153687" y="452238"/>
            <a:ext cx="1240228" cy="1240228"/>
          </a:xfrm>
          <a:prstGeom prst="ellipse">
            <a:avLst/>
          </a:prstGeom>
          <a:solidFill>
            <a:srgbClr val="F3F3F5">
              <a:alpha val="61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Oval 10"/>
          <p:cNvSpPr>
            <a:spLocks noChangeAspect="1"/>
          </p:cNvSpPr>
          <p:nvPr/>
        </p:nvSpPr>
        <p:spPr>
          <a:xfrm>
            <a:off x="2457983" y="1913276"/>
            <a:ext cx="1008000" cy="1008000"/>
          </a:xfrm>
          <a:prstGeom prst="ellipse">
            <a:avLst/>
          </a:prstGeom>
          <a:solidFill>
            <a:srgbClr val="F3F3F5">
              <a:alpha val="50196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Oval 10"/>
          <p:cNvSpPr>
            <a:spLocks noChangeAspect="1"/>
          </p:cNvSpPr>
          <p:nvPr/>
        </p:nvSpPr>
        <p:spPr>
          <a:xfrm>
            <a:off x="3485552" y="2927671"/>
            <a:ext cx="720000" cy="720000"/>
          </a:xfrm>
          <a:prstGeom prst="ellipse">
            <a:avLst/>
          </a:prstGeom>
          <a:solidFill>
            <a:srgbClr val="F3F3F5">
              <a:alpha val="30196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527935" y="4327525"/>
            <a:ext cx="73183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4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无线网络优化系统建设交流</a:t>
            </a:r>
            <a:endParaRPr lang="zh-CN" altLang="en-US" sz="4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1398992" y="4680598"/>
            <a:ext cx="720000" cy="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9906423" y="4680488"/>
            <a:ext cx="720000" cy="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10"/>
          <p:cNvSpPr>
            <a:spLocks noChangeAspect="1"/>
          </p:cNvSpPr>
          <p:nvPr/>
        </p:nvSpPr>
        <p:spPr>
          <a:xfrm>
            <a:off x="2617775" y="3803913"/>
            <a:ext cx="648000" cy="64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Oval 10"/>
          <p:cNvSpPr>
            <a:spLocks noChangeAspect="1"/>
          </p:cNvSpPr>
          <p:nvPr/>
        </p:nvSpPr>
        <p:spPr>
          <a:xfrm>
            <a:off x="3138605" y="5163964"/>
            <a:ext cx="432000" cy="43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9"/>
          <p:cNvSpPr txBox="1"/>
          <p:nvPr/>
        </p:nvSpPr>
        <p:spPr>
          <a:xfrm>
            <a:off x="3302535" y="5833219"/>
            <a:ext cx="5768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深圳市名通科技股份有限公司</a:t>
            </a:r>
            <a:endParaRPr lang="zh-CN" altLang="en-US" sz="2400" b="1" spc="3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918325" y="26035"/>
            <a:ext cx="5198110" cy="3218180"/>
            <a:chOff x="6852139" y="26067"/>
            <a:chExt cx="5264378" cy="3312000"/>
          </a:xfrm>
        </p:grpSpPr>
        <p:grpSp>
          <p:nvGrpSpPr>
            <p:cNvPr id="7" name="组合 6"/>
            <p:cNvGrpSpPr/>
            <p:nvPr/>
          </p:nvGrpSpPr>
          <p:grpSpPr>
            <a:xfrm>
              <a:off x="6852139" y="26067"/>
              <a:ext cx="5261256" cy="3312000"/>
              <a:chOff x="5139104" y="19550"/>
              <a:chExt cx="3945942" cy="2484000"/>
            </a:xfrm>
          </p:grpSpPr>
          <p:pic>
            <p:nvPicPr>
              <p:cNvPr id="8" name="Picture 2" descr="https://cnet4.cbsistatic.com/img/7mxUFZHsjKP0-XdetaC5jLI3jGM=/670x503/2011/08/31/befe7014-f0e8-11e2-8c7c-d4ae52e62bcc/MacBookProIconX.pn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9104" y="19550"/>
                <a:ext cx="3308708" cy="248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矩形 8"/>
              <p:cNvSpPr/>
              <p:nvPr/>
            </p:nvSpPr>
            <p:spPr>
              <a:xfrm>
                <a:off x="5179328" y="60131"/>
                <a:ext cx="3905718" cy="2223587"/>
              </a:xfrm>
              <a:prstGeom prst="rect">
                <a:avLst/>
              </a:prstGeom>
              <a:solidFill>
                <a:srgbClr val="0089F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/>
                <a:endParaRPr lang="zh-CN" altLang="en-US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0100517" y="855645"/>
              <a:ext cx="2016000" cy="2016000"/>
              <a:chOff x="2150749" y="1646274"/>
              <a:chExt cx="2016000" cy="2016000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150749" y="1646274"/>
                <a:ext cx="2016000" cy="2016000"/>
              </a:xfrm>
              <a:custGeom>
                <a:avLst/>
                <a:gdLst>
                  <a:gd name="connsiteX0" fmla="*/ 1187429 w 3797315"/>
                  <a:gd name="connsiteY0" fmla="*/ 526116 h 3797315"/>
                  <a:gd name="connsiteX1" fmla="*/ 1187429 w 3797315"/>
                  <a:gd name="connsiteY1" fmla="*/ 2974041 h 3797315"/>
                  <a:gd name="connsiteX2" fmla="*/ 2609429 w 3797315"/>
                  <a:gd name="connsiteY2" fmla="*/ 2974041 h 3797315"/>
                  <a:gd name="connsiteX3" fmla="*/ 2609429 w 3797315"/>
                  <a:gd name="connsiteY3" fmla="*/ 526116 h 3797315"/>
                  <a:gd name="connsiteX4" fmla="*/ 0 w 3797315"/>
                  <a:gd name="connsiteY4" fmla="*/ 0 h 3797315"/>
                  <a:gd name="connsiteX5" fmla="*/ 3797315 w 3797315"/>
                  <a:gd name="connsiteY5" fmla="*/ 0 h 3797315"/>
                  <a:gd name="connsiteX6" fmla="*/ 3797315 w 3797315"/>
                  <a:gd name="connsiteY6" fmla="*/ 3797315 h 3797315"/>
                  <a:gd name="connsiteX7" fmla="*/ 0 w 3797315"/>
                  <a:gd name="connsiteY7" fmla="*/ 3797315 h 3797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15" h="3797315">
                    <a:moveTo>
                      <a:pt x="1187429" y="526116"/>
                    </a:moveTo>
                    <a:lnTo>
                      <a:pt x="1187429" y="2974041"/>
                    </a:lnTo>
                    <a:lnTo>
                      <a:pt x="2609429" y="2974041"/>
                    </a:lnTo>
                    <a:lnTo>
                      <a:pt x="2609429" y="526116"/>
                    </a:lnTo>
                    <a:close/>
                    <a:moveTo>
                      <a:pt x="0" y="0"/>
                    </a:moveTo>
                    <a:lnTo>
                      <a:pt x="3797315" y="0"/>
                    </a:lnTo>
                    <a:lnTo>
                      <a:pt x="3797315" y="3797315"/>
                    </a:lnTo>
                    <a:lnTo>
                      <a:pt x="0" y="3797315"/>
                    </a:lnTo>
                    <a:close/>
                  </a:path>
                </a:pathLst>
              </a:custGeom>
            </p:spPr>
          </p:pic>
          <p:pic>
            <p:nvPicPr>
              <p:cNvPr id="13" name="图片 1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62"/>
              <a:stretch>
                <a:fillRect/>
              </a:stretch>
            </p:blipFill>
            <p:spPr>
              <a:xfrm>
                <a:off x="2778411" y="1895431"/>
                <a:ext cx="760676" cy="1525777"/>
              </a:xfrm>
              <a:prstGeom prst="rect">
                <a:avLst/>
              </a:prstGeom>
            </p:spPr>
          </p:pic>
        </p:grp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16940" y="543560"/>
              <a:ext cx="3282008" cy="2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 txBox="1"/>
          <p:nvPr/>
        </p:nvSpPr>
        <p:spPr>
          <a:xfrm>
            <a:off x="511200" y="51859"/>
            <a:ext cx="6101715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AI+探索实践交流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: 形状 53"/>
          <p:cNvSpPr>
            <a:spLocks noChangeAspect="1"/>
          </p:cNvSpPr>
          <p:nvPr/>
        </p:nvSpPr>
        <p:spPr>
          <a:xfrm>
            <a:off x="1043362" y="2242986"/>
            <a:ext cx="10105275" cy="4024475"/>
          </a:xfrm>
          <a:custGeom>
            <a:avLst/>
            <a:gdLst>
              <a:gd name="connsiteX0" fmla="*/ 0 w 12192000"/>
              <a:gd name="connsiteY0" fmla="*/ 0 h 4343395"/>
              <a:gd name="connsiteX1" fmla="*/ 5942936 w 12192000"/>
              <a:gd name="connsiteY1" fmla="*/ 0 h 4343395"/>
              <a:gd name="connsiteX2" fmla="*/ 6096000 w 12192000"/>
              <a:gd name="connsiteY2" fmla="*/ 192835 h 4343395"/>
              <a:gd name="connsiteX3" fmla="*/ 6249064 w 12192000"/>
              <a:gd name="connsiteY3" fmla="*/ 0 h 4343395"/>
              <a:gd name="connsiteX4" fmla="*/ 12192000 w 12192000"/>
              <a:gd name="connsiteY4" fmla="*/ 0 h 4343395"/>
              <a:gd name="connsiteX5" fmla="*/ 12192000 w 12192000"/>
              <a:gd name="connsiteY5" fmla="*/ 4343395 h 4343395"/>
              <a:gd name="connsiteX6" fmla="*/ 0 w 12192000"/>
              <a:gd name="connsiteY6" fmla="*/ 4343395 h 434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43395">
                <a:moveTo>
                  <a:pt x="0" y="0"/>
                </a:moveTo>
                <a:lnTo>
                  <a:pt x="5942936" y="0"/>
                </a:lnTo>
                <a:lnTo>
                  <a:pt x="6096000" y="192835"/>
                </a:lnTo>
                <a:lnTo>
                  <a:pt x="6249064" y="0"/>
                </a:lnTo>
                <a:lnTo>
                  <a:pt x="12192000" y="0"/>
                </a:lnTo>
                <a:lnTo>
                  <a:pt x="12192000" y="4343395"/>
                </a:lnTo>
                <a:lnTo>
                  <a:pt x="0" y="4343395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  <a:effectLst>
            <a:outerShdw blurRad="457200" sx="102000" sy="102000" algn="ctr" rotWithShape="0">
              <a:srgbClr val="16587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1837" y="1184516"/>
            <a:ext cx="21513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6587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   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1658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150293" y="1788971"/>
            <a:ext cx="2472090" cy="57674"/>
            <a:chOff x="4859955" y="745637"/>
            <a:chExt cx="2472090" cy="57674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4859955" y="774473"/>
              <a:ext cx="2472090" cy="0"/>
            </a:xfrm>
            <a:prstGeom prst="line">
              <a:avLst/>
            </a:prstGeom>
            <a:ln w="12700">
              <a:gradFill>
                <a:gsLst>
                  <a:gs pos="0">
                    <a:srgbClr val="165878">
                      <a:alpha val="0"/>
                    </a:srgbClr>
                  </a:gs>
                  <a:gs pos="53000">
                    <a:srgbClr val="165878"/>
                  </a:gs>
                  <a:gs pos="100000">
                    <a:srgbClr val="165878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6067163" y="745637"/>
              <a:ext cx="57674" cy="57674"/>
            </a:xfrm>
            <a:prstGeom prst="ellipse">
              <a:avLst/>
            </a:prstGeom>
            <a:solidFill>
              <a:srgbClr val="F3F7F8"/>
            </a:solidFill>
            <a:ln>
              <a:solidFill>
                <a:srgbClr val="1658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068320" y="3444875"/>
            <a:ext cx="1557655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rgbClr val="0070C0"/>
                </a:solidFill>
              </a:rPr>
              <a:t>第一部分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75225" y="3444875"/>
            <a:ext cx="273177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 dirty="0">
                <a:solidFill>
                  <a:srgbClr val="0070C0"/>
                </a:solidFill>
              </a:rPr>
              <a:t>AI+</a:t>
            </a:r>
            <a:r>
              <a:rPr lang="zh-CN" altLang="en-US" dirty="0">
                <a:solidFill>
                  <a:srgbClr val="0070C0"/>
                </a:solidFill>
              </a:rPr>
              <a:t>探索实践介绍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740275" y="3539173"/>
            <a:ext cx="0" cy="271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7"/>
          <p:cNvSpPr txBox="1"/>
          <p:nvPr>
            <p:custDataLst>
              <p:tags r:id="rId1"/>
            </p:custDataLst>
          </p:nvPr>
        </p:nvSpPr>
        <p:spPr>
          <a:xfrm>
            <a:off x="3068320" y="4082098"/>
            <a:ext cx="1557655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rgbClr val="5D5D5D"/>
                </a:solidFill>
              </a:rPr>
              <a:t>第二部分</a:t>
            </a:r>
            <a:endParaRPr lang="zh-CN" altLang="en-US" dirty="0">
              <a:solidFill>
                <a:srgbClr val="5D5D5D"/>
              </a:solidFill>
            </a:endParaRPr>
          </a:p>
        </p:txBody>
      </p:sp>
      <p:sp>
        <p:nvSpPr>
          <p:cNvPr id="20" name="TextBox 11"/>
          <p:cNvSpPr txBox="1"/>
          <p:nvPr>
            <p:custDataLst>
              <p:tags r:id="rId2"/>
            </p:custDataLst>
          </p:nvPr>
        </p:nvSpPr>
        <p:spPr>
          <a:xfrm>
            <a:off x="4975225" y="4082415"/>
            <a:ext cx="273050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 dirty="0">
                <a:solidFill>
                  <a:srgbClr val="5D5D5D"/>
                </a:solidFill>
                <a:sym typeface="+mn-ea"/>
              </a:rPr>
              <a:t>AI+</a:t>
            </a:r>
            <a:r>
              <a:rPr lang="zh-CN" altLang="en-US" dirty="0">
                <a:solidFill>
                  <a:srgbClr val="5D5D5D"/>
                </a:solidFill>
                <a:sym typeface="+mn-ea"/>
              </a:rPr>
              <a:t>任务调度中枢</a:t>
            </a:r>
            <a:endParaRPr lang="zh-CN" altLang="en-US" dirty="0">
              <a:solidFill>
                <a:srgbClr val="5D5D5D"/>
              </a:solidFill>
              <a:sym typeface="+mn-ea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"/>
            </p:custDataLst>
          </p:nvPr>
        </p:nvCxnSpPr>
        <p:spPr>
          <a:xfrm>
            <a:off x="4740275" y="4176395"/>
            <a:ext cx="0" cy="271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 vert="horz" lIns="68513" tIns="34278" rIns="68513" bIns="34278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ARAN AI原生思考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6" name="AutoShape 3"/>
          <p:cNvSpPr/>
          <p:nvPr/>
        </p:nvSpPr>
        <p:spPr>
          <a:xfrm>
            <a:off x="254000" y="635000"/>
            <a:ext cx="1168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从「人驱动流程」到「AI驱动业务」的底层范式革命</a:t>
            </a:r>
            <a:endParaRPr lang="en-US" sz="1100" dirty="0"/>
          </a:p>
        </p:txBody>
      </p:sp>
      <p:sp>
        <p:nvSpPr>
          <p:cNvPr id="17" name="AutoShape 4"/>
          <p:cNvSpPr/>
          <p:nvPr/>
        </p:nvSpPr>
        <p:spPr>
          <a:xfrm>
            <a:off x="254000" y="1079500"/>
            <a:ext cx="5715000" cy="1079500"/>
          </a:xfrm>
          <a:prstGeom prst="roundRect">
            <a:avLst>
              <a:gd name="adj" fmla="val 11764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6"/>
          <p:cNvSpPr/>
          <p:nvPr/>
        </p:nvSpPr>
        <p:spPr>
          <a:xfrm>
            <a:off x="698500" y="11684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伪AI原生：外挂式误区</a:t>
            </a:r>
            <a:endParaRPr lang="en-US" sz="1100" dirty="0"/>
          </a:p>
        </p:txBody>
      </p:sp>
      <p:sp>
        <p:nvSpPr>
          <p:cNvPr id="21" name="AutoShape 7"/>
          <p:cNvSpPr/>
          <p:nvPr/>
        </p:nvSpPr>
        <p:spPr>
          <a:xfrm>
            <a:off x="381000" y="15240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仅在传统系统外挂聊天框，AI仅做信息二传手。本质仍是「人找流程、人点按钮</a:t>
            </a:r>
            <a:r>
              <a:rPr lang="en-US" sz="11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」，</a:t>
            </a:r>
            <a:r>
              <a:rPr lang="en-US" sz="11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未触及业务核心逻辑</a:t>
            </a:r>
            <a:r>
              <a:rPr lang="en-US" sz="11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22" name="AutoShape 8"/>
          <p:cNvSpPr/>
          <p:nvPr/>
        </p:nvSpPr>
        <p:spPr>
          <a:xfrm>
            <a:off x="6223000" y="1079500"/>
            <a:ext cx="5715000" cy="1079500"/>
          </a:xfrm>
          <a:prstGeom prst="roundRect">
            <a:avLst>
              <a:gd name="adj" fmla="val 11764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0"/>
          <p:cNvSpPr/>
          <p:nvPr/>
        </p:nvSpPr>
        <p:spPr>
          <a:xfrm>
            <a:off x="6667500" y="11684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真AI原生：设计范式重构</a:t>
            </a:r>
            <a:endParaRPr lang="en-US" sz="1100" dirty="0"/>
          </a:p>
        </p:txBody>
      </p:sp>
      <p:sp>
        <p:nvSpPr>
          <p:cNvPr id="25" name="AutoShape 11"/>
          <p:cNvSpPr/>
          <p:nvPr/>
        </p:nvSpPr>
        <p:spPr>
          <a:xfrm>
            <a:off x="6350000" y="15240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系统从「服务于人」重构为「服务于AI智能体</a:t>
            </a:r>
            <a:r>
              <a:rPr lang="en-US" sz="11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」。</a:t>
            </a:r>
            <a:r>
              <a:rPr lang="en-US" sz="11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AI拆解任务、编排流程、接管执行，人仅做决策与兜底</a:t>
            </a:r>
            <a:r>
              <a:rPr lang="en-US" sz="11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254000" y="2344420"/>
            <a:ext cx="1168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核心支撑：OpenClaw操作系统级框架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254000" y="2661920"/>
            <a:ext cx="2794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62000" y="278892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标准化能力接入</a:t>
            </a:r>
            <a:endParaRPr lang="en-US" sz="1100" dirty="0"/>
          </a:p>
        </p:txBody>
      </p:sp>
      <p:sp>
        <p:nvSpPr>
          <p:cNvPr id="37" name="AutoShape 37"/>
          <p:cNvSpPr/>
          <p:nvPr/>
        </p:nvSpPr>
        <p:spPr>
          <a:xfrm>
            <a:off x="381000" y="310642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0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</a:t>
            </a:r>
            <a:r>
              <a:rPr lang="en-US" sz="1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MCP协议</a:t>
            </a:r>
            <a:r>
              <a:rPr lang="en-US" sz="10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，一次封装，全生态智能体无缝调用，打破碎片化</a:t>
            </a:r>
            <a:r>
              <a:rPr lang="en-US" sz="10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3175000" y="2661920"/>
            <a:ext cx="2794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40"/>
          <p:cNvSpPr/>
          <p:nvPr/>
        </p:nvSpPr>
        <p:spPr>
          <a:xfrm>
            <a:off x="3683000" y="278892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流程资产化管理</a:t>
            </a:r>
            <a:endParaRPr lang="en-US" sz="1100" dirty="0"/>
          </a:p>
        </p:txBody>
      </p:sp>
      <p:sp>
        <p:nvSpPr>
          <p:cNvPr id="29" name="AutoShape 41"/>
          <p:cNvSpPr/>
          <p:nvPr/>
        </p:nvSpPr>
        <p:spPr>
          <a:xfrm>
            <a:off x="3302000" y="310642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0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业务SOP转化为</a:t>
            </a:r>
            <a:r>
              <a:rPr lang="en-US" sz="1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Skills数字资产</a:t>
            </a:r>
            <a:r>
              <a:rPr lang="en-US" sz="10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，灵活编排，无需系统发版</a:t>
            </a:r>
            <a:r>
              <a:rPr lang="en-US" sz="10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42" name="AutoShape 42"/>
          <p:cNvSpPr/>
          <p:nvPr/>
        </p:nvSpPr>
        <p:spPr>
          <a:xfrm>
            <a:off x="6096000" y="2661920"/>
            <a:ext cx="2794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6604000" y="278892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原生协同调度</a:t>
            </a:r>
            <a:endParaRPr lang="en-US" sz="1100" dirty="0"/>
          </a:p>
        </p:txBody>
      </p:sp>
      <p:sp>
        <p:nvSpPr>
          <p:cNvPr id="45" name="AutoShape 45"/>
          <p:cNvSpPr/>
          <p:nvPr/>
        </p:nvSpPr>
        <p:spPr>
          <a:xfrm>
            <a:off x="6223000" y="310642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0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</a:t>
            </a:r>
            <a:r>
              <a:rPr lang="en-US" sz="10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A2A多智能体协同</a:t>
            </a:r>
            <a:r>
              <a:rPr lang="en-US" sz="10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，中枢统一调度，适配企业组织架构。</a:t>
            </a:r>
            <a:endParaRPr lang="en-US" sz="1100" dirty="0"/>
          </a:p>
        </p:txBody>
      </p:sp>
      <p:sp>
        <p:nvSpPr>
          <p:cNvPr id="46" name="AutoShape 46"/>
          <p:cNvSpPr/>
          <p:nvPr/>
        </p:nvSpPr>
        <p:spPr>
          <a:xfrm>
            <a:off x="9017000" y="2661920"/>
            <a:ext cx="2794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9525000" y="278892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企业级合规可控</a:t>
            </a:r>
            <a:endParaRPr lang="en-US" sz="1100" dirty="0"/>
          </a:p>
        </p:txBody>
      </p:sp>
      <p:sp>
        <p:nvSpPr>
          <p:cNvPr id="30" name="AutoShape 49"/>
          <p:cNvSpPr/>
          <p:nvPr/>
        </p:nvSpPr>
        <p:spPr>
          <a:xfrm>
            <a:off x="9144000" y="310642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本地优先架构</a:t>
            </a:r>
            <a:r>
              <a:rPr lang="en-US" sz="10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，动作级管控与全链路审计，保障数据安全</a:t>
            </a:r>
            <a:r>
              <a:rPr lang="en-US" sz="10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1" name="AutoShape 60"/>
          <p:cNvSpPr/>
          <p:nvPr/>
        </p:nvSpPr>
        <p:spPr>
          <a:xfrm>
            <a:off x="0" y="65405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61"/>
          <p:cNvSpPr/>
          <p:nvPr/>
        </p:nvSpPr>
        <p:spPr>
          <a:xfrm>
            <a:off x="254000" y="6540500"/>
            <a:ext cx="1168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总结：AI原生不是技术升级，而是让AI从「聊天辅助」变成「企业生产核心驱动力」的底层革命。</a:t>
            </a:r>
            <a:endParaRPr lang="en-US" sz="1100"/>
          </a:p>
        </p:txBody>
      </p:sp>
      <p:sp>
        <p:nvSpPr>
          <p:cNvPr id="75" name="AutoShape 38"/>
          <p:cNvSpPr/>
          <p:nvPr/>
        </p:nvSpPr>
        <p:spPr>
          <a:xfrm>
            <a:off x="254000" y="3677920"/>
            <a:ext cx="1168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落地路径：渐进式重构</a:t>
            </a:r>
            <a:r>
              <a:rPr lang="zh-CN" altLang="en-US" sz="13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思路</a:t>
            </a:r>
            <a:endParaRPr lang="zh-CN" altLang="en-US" sz="1300" b="1" i="0" u="none" strike="noStrike" dirty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1" name="AutoShape 39"/>
          <p:cNvSpPr/>
          <p:nvPr/>
        </p:nvSpPr>
        <p:spPr>
          <a:xfrm>
            <a:off x="254000" y="4009390"/>
            <a:ext cx="3683000" cy="2394585"/>
          </a:xfrm>
          <a:prstGeom prst="roundRect">
            <a:avLst>
              <a:gd name="adj" fmla="val 476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7" name="Picture 4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500" y="4469130"/>
            <a:ext cx="304800" cy="304800"/>
          </a:xfrm>
          <a:prstGeom prst="rect">
            <a:avLst/>
          </a:prstGeom>
        </p:spPr>
      </p:pic>
      <p:sp>
        <p:nvSpPr>
          <p:cNvPr id="89" name="AutoShape 41"/>
          <p:cNvSpPr/>
          <p:nvPr/>
        </p:nvSpPr>
        <p:spPr>
          <a:xfrm>
            <a:off x="825500" y="446913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第一阶段：无痛适配</a:t>
            </a:r>
            <a:endParaRPr lang="en-US" sz="1100" dirty="0"/>
          </a:p>
        </p:txBody>
      </p:sp>
      <p:sp>
        <p:nvSpPr>
          <p:cNvPr id="90" name="AutoShape 42"/>
          <p:cNvSpPr/>
          <p:nvPr/>
        </p:nvSpPr>
        <p:spPr>
          <a:xfrm>
            <a:off x="444500" y="4377055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让AI能用起来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关键动作：</a:t>
            </a:r>
            <a:r>
              <a:rPr lang="en-US" sz="1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MCP协议封装系统能力，接入OpenClaw能力池，配置细粒度权限</a:t>
            </a:r>
            <a:r>
              <a:rPr lang="en-US" sz="1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零改造、快见效，替代人工重复劳动</a:t>
            </a:r>
            <a:r>
              <a:rPr lang="en-US" sz="1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1" name="AutoShape 43"/>
          <p:cNvSpPr/>
          <p:nvPr/>
        </p:nvSpPr>
        <p:spPr>
          <a:xfrm>
            <a:off x="4254500" y="4008755"/>
            <a:ext cx="3683000" cy="2395855"/>
          </a:xfrm>
          <a:prstGeom prst="roundRect">
            <a:avLst>
              <a:gd name="adj" fmla="val 476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3" name="Picture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4469130"/>
            <a:ext cx="304800" cy="304800"/>
          </a:xfrm>
          <a:prstGeom prst="rect">
            <a:avLst/>
          </a:prstGeom>
        </p:spPr>
      </p:pic>
      <p:sp>
        <p:nvSpPr>
          <p:cNvPr id="95" name="AutoShape 45"/>
          <p:cNvSpPr/>
          <p:nvPr/>
        </p:nvSpPr>
        <p:spPr>
          <a:xfrm>
            <a:off x="4826000" y="446913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第二阶段：流程重构</a:t>
            </a:r>
            <a:endParaRPr lang="en-US" sz="1100" dirty="0"/>
          </a:p>
        </p:txBody>
      </p:sp>
      <p:sp>
        <p:nvSpPr>
          <p:cNvPr id="96" name="AutoShape 46"/>
          <p:cNvSpPr/>
          <p:nvPr/>
        </p:nvSpPr>
        <p:spPr>
          <a:xfrm>
            <a:off x="4445000" y="4377055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让AI驱动流程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关键动作：</a:t>
            </a:r>
            <a:r>
              <a:rPr lang="en-US" sz="1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拆解业务SOP为Skills资产，基于A2A协议搭建多智能体协同流程。</a:t>
            </a:r>
            <a:endParaRPr lang="en-US" sz="1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 dirty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流程自动化率90%+，</a:t>
            </a:r>
            <a:r>
              <a:rPr lang="en-US" sz="1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人从执行者变为决策者</a:t>
            </a:r>
            <a:r>
              <a:rPr lang="en-US" sz="1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7" name="AutoShape 47"/>
          <p:cNvSpPr/>
          <p:nvPr/>
        </p:nvSpPr>
        <p:spPr>
          <a:xfrm>
            <a:off x="8255000" y="4008755"/>
            <a:ext cx="3683000" cy="2394585"/>
          </a:xfrm>
          <a:prstGeom prst="roundRect">
            <a:avLst>
              <a:gd name="adj" fmla="val 476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8" name="Picture 4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5500" y="4469130"/>
            <a:ext cx="304800" cy="304800"/>
          </a:xfrm>
          <a:prstGeom prst="rect">
            <a:avLst/>
          </a:prstGeom>
        </p:spPr>
      </p:pic>
      <p:sp>
        <p:nvSpPr>
          <p:cNvPr id="99" name="AutoShape 49"/>
          <p:cNvSpPr/>
          <p:nvPr/>
        </p:nvSpPr>
        <p:spPr>
          <a:xfrm>
            <a:off x="8826500" y="446913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第三阶段：原生重构</a:t>
            </a:r>
            <a:endParaRPr lang="en-US" sz="1100"/>
          </a:p>
        </p:txBody>
      </p:sp>
      <p:sp>
        <p:nvSpPr>
          <p:cNvPr id="100" name="AutoShape 50"/>
          <p:cNvSpPr/>
          <p:nvPr/>
        </p:nvSpPr>
        <p:spPr>
          <a:xfrm>
            <a:off x="8445500" y="4377055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打造AI原生系统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关键动作：</a:t>
            </a:r>
            <a:r>
              <a:rPr lang="en-US" sz="1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新建系统原生兼容MCP，流程以Skills管理，内置OpenClaw内核</a:t>
            </a:r>
            <a:r>
              <a:rPr lang="en-US" sz="1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 dirty="0" err="1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自然语言驱动业务，实现真正的AI原生企业</a:t>
            </a:r>
            <a:r>
              <a:rPr lang="en-US" sz="1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 vert="horz" lIns="68513" tIns="34278" rIns="68513" bIns="34278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AI+演进趋势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318770" y="553720"/>
            <a:ext cx="114617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演进阶段：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辅助生产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（局部提效），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牵引生产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（部分接管），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自主生产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（闭环自治）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19710" y="1315085"/>
            <a:ext cx="3843020" cy="5107305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236980" y="1129665"/>
            <a:ext cx="1808480" cy="3956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辅助生产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437515" y="1920875"/>
            <a:ext cx="3394710" cy="755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人主导生产，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纯辅助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IT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系统为主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对话框为辅，让用户用起来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局部提效，零生产风险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26720" y="1607185"/>
            <a:ext cx="2834640" cy="306705"/>
            <a:chOff x="1022" y="5140"/>
            <a:chExt cx="4464" cy="483"/>
          </a:xfrm>
        </p:grpSpPr>
        <p:sp>
          <p:nvSpPr>
            <p:cNvPr id="62" name="文本框 61"/>
            <p:cNvSpPr txBox="1"/>
            <p:nvPr>
              <p:custDataLst>
                <p:tags r:id="rId2"/>
              </p:custDataLst>
            </p:nvPr>
          </p:nvSpPr>
          <p:spPr>
            <a:xfrm>
              <a:off x="1447" y="5140"/>
              <a:ext cx="4039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副驾驶模式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图形 63"/>
            <p:cNvSpPr/>
            <p:nvPr>
              <p:custDataLst>
                <p:tags r:id="rId3"/>
              </p:custDataLst>
            </p:nvPr>
          </p:nvSpPr>
          <p:spPr>
            <a:xfrm>
              <a:off x="1022" y="5146"/>
              <a:ext cx="425" cy="422"/>
            </a:xfrm>
            <a:custGeom>
              <a:avLst/>
              <a:gdLst>
                <a:gd name="connsiteX0" fmla="*/ 276992 w 318804"/>
                <a:gd name="connsiteY0" fmla="*/ 260882 h 318804"/>
                <a:gd name="connsiteX1" fmla="*/ 315468 w 318804"/>
                <a:gd name="connsiteY1" fmla="*/ 299359 h 318804"/>
                <a:gd name="connsiteX2" fmla="*/ 315468 w 318804"/>
                <a:gd name="connsiteY2" fmla="*/ 315468 h 318804"/>
                <a:gd name="connsiteX3" fmla="*/ 299359 w 318804"/>
                <a:gd name="connsiteY3" fmla="*/ 315468 h 318804"/>
                <a:gd name="connsiteX4" fmla="*/ 260882 w 318804"/>
                <a:gd name="connsiteY4" fmla="*/ 276992 h 318804"/>
                <a:gd name="connsiteX5" fmla="*/ 260882 w 318804"/>
                <a:gd name="connsiteY5" fmla="*/ 260882 h 318804"/>
                <a:gd name="connsiteX6" fmla="*/ 276992 w 318804"/>
                <a:gd name="connsiteY6" fmla="*/ 260882 h 318804"/>
                <a:gd name="connsiteX7" fmla="*/ 216281 w 318804"/>
                <a:gd name="connsiteY7" fmla="*/ 136621 h 318804"/>
                <a:gd name="connsiteX8" fmla="*/ 147629 w 318804"/>
                <a:gd name="connsiteY8" fmla="*/ 205100 h 318804"/>
                <a:gd name="connsiteX9" fmla="*/ 216108 w 318804"/>
                <a:gd name="connsiteY9" fmla="*/ 273752 h 318804"/>
                <a:gd name="connsiteX10" fmla="*/ 284760 w 318804"/>
                <a:gd name="connsiteY10" fmla="*/ 205273 h 318804"/>
                <a:gd name="connsiteX11" fmla="*/ 264566 w 318804"/>
                <a:gd name="connsiteY11" fmla="*/ 156591 h 318804"/>
                <a:gd name="connsiteX12" fmla="*/ 216281 w 318804"/>
                <a:gd name="connsiteY12" fmla="*/ 136621 h 318804"/>
                <a:gd name="connsiteX13" fmla="*/ 216281 w 318804"/>
                <a:gd name="connsiteY13" fmla="*/ 113943 h 318804"/>
                <a:gd name="connsiteX14" fmla="*/ 307258 w 318804"/>
                <a:gd name="connsiteY14" fmla="*/ 204920 h 318804"/>
                <a:gd name="connsiteX15" fmla="*/ 216281 w 318804"/>
                <a:gd name="connsiteY15" fmla="*/ 295897 h 318804"/>
                <a:gd name="connsiteX16" fmla="*/ 125304 w 318804"/>
                <a:gd name="connsiteY16" fmla="*/ 204920 h 318804"/>
                <a:gd name="connsiteX17" fmla="*/ 216237 w 318804"/>
                <a:gd name="connsiteY17" fmla="*/ 113899 h 318804"/>
                <a:gd name="connsiteX18" fmla="*/ 216281 w 318804"/>
                <a:gd name="connsiteY18" fmla="*/ 113899 h 318804"/>
                <a:gd name="connsiteX19" fmla="*/ 216281 w 318804"/>
                <a:gd name="connsiteY19" fmla="*/ 91088 h 318804"/>
                <a:gd name="connsiteX20" fmla="*/ 260660 w 318804"/>
                <a:gd name="connsiteY20" fmla="*/ 99964 h 318804"/>
                <a:gd name="connsiteX21" fmla="*/ 296829 w 318804"/>
                <a:gd name="connsiteY21" fmla="*/ 124372 h 318804"/>
                <a:gd name="connsiteX22" fmla="*/ 311386 w 318804"/>
                <a:gd name="connsiteY22" fmla="*/ 142324 h 318804"/>
                <a:gd name="connsiteX23" fmla="*/ 318752 w 318804"/>
                <a:gd name="connsiteY23" fmla="*/ 142324 h 318804"/>
                <a:gd name="connsiteX24" fmla="*/ 318752 w 318804"/>
                <a:gd name="connsiteY24" fmla="*/ 45533 h 318804"/>
                <a:gd name="connsiteX25" fmla="*/ 273220 w 318804"/>
                <a:gd name="connsiteY25" fmla="*/ 0 h 318804"/>
                <a:gd name="connsiteX26" fmla="*/ 273153 w 318804"/>
                <a:gd name="connsiteY26" fmla="*/ 0 h 318804"/>
                <a:gd name="connsiteX27" fmla="*/ 176429 w 318804"/>
                <a:gd name="connsiteY27" fmla="*/ 0 h 318804"/>
                <a:gd name="connsiteX28" fmla="*/ 176429 w 318804"/>
                <a:gd name="connsiteY28" fmla="*/ 98255 h 318804"/>
                <a:gd name="connsiteX29" fmla="*/ 216281 w 318804"/>
                <a:gd name="connsiteY29" fmla="*/ 90977 h 318804"/>
                <a:gd name="connsiteX30" fmla="*/ 135800 w 318804"/>
                <a:gd name="connsiteY30" fmla="*/ 124461 h 318804"/>
                <a:gd name="connsiteX31" fmla="*/ 142257 w 318804"/>
                <a:gd name="connsiteY31" fmla="*/ 118492 h 318804"/>
                <a:gd name="connsiteX32" fmla="*/ 142257 w 318804"/>
                <a:gd name="connsiteY32" fmla="*/ 0 h 318804"/>
                <a:gd name="connsiteX33" fmla="*/ 45533 w 318804"/>
                <a:gd name="connsiteY33" fmla="*/ 0 h 318804"/>
                <a:gd name="connsiteX34" fmla="*/ 0 w 318804"/>
                <a:gd name="connsiteY34" fmla="*/ 45533 h 318804"/>
                <a:gd name="connsiteX35" fmla="*/ 0 w 318804"/>
                <a:gd name="connsiteY35" fmla="*/ 142257 h 318804"/>
                <a:gd name="connsiteX36" fmla="*/ 121244 w 318804"/>
                <a:gd name="connsiteY36" fmla="*/ 142257 h 318804"/>
                <a:gd name="connsiteX37" fmla="*/ 135800 w 318804"/>
                <a:gd name="connsiteY37" fmla="*/ 124461 h 318804"/>
                <a:gd name="connsiteX38" fmla="*/ 135800 w 318804"/>
                <a:gd name="connsiteY38" fmla="*/ 285424 h 318804"/>
                <a:gd name="connsiteX39" fmla="*/ 102516 w 318804"/>
                <a:gd name="connsiteY39" fmla="*/ 204942 h 318804"/>
                <a:gd name="connsiteX40" fmla="*/ 106066 w 318804"/>
                <a:gd name="connsiteY40" fmla="*/ 176429 h 318804"/>
                <a:gd name="connsiteX41" fmla="*/ 0 w 318804"/>
                <a:gd name="connsiteY41" fmla="*/ 176429 h 318804"/>
                <a:gd name="connsiteX42" fmla="*/ 0 w 318804"/>
                <a:gd name="connsiteY42" fmla="*/ 273153 h 318804"/>
                <a:gd name="connsiteX43" fmla="*/ 45533 w 318804"/>
                <a:gd name="connsiteY43" fmla="*/ 318687 h 318804"/>
                <a:gd name="connsiteX44" fmla="*/ 142257 w 318804"/>
                <a:gd name="connsiteY44" fmla="*/ 318687 h 318804"/>
                <a:gd name="connsiteX45" fmla="*/ 142257 w 318804"/>
                <a:gd name="connsiteY45" fmla="*/ 291393 h 318804"/>
                <a:gd name="connsiteX46" fmla="*/ 135800 w 318804"/>
                <a:gd name="connsiteY46" fmla="*/ 285424 h 31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18804" h="318804">
                  <a:moveTo>
                    <a:pt x="276992" y="260882"/>
                  </a:moveTo>
                  <a:lnTo>
                    <a:pt x="315468" y="299359"/>
                  </a:lnTo>
                  <a:cubicBezTo>
                    <a:pt x="319916" y="303807"/>
                    <a:pt x="319916" y="311020"/>
                    <a:pt x="315468" y="315468"/>
                  </a:cubicBezTo>
                  <a:cubicBezTo>
                    <a:pt x="311020" y="319916"/>
                    <a:pt x="303807" y="319916"/>
                    <a:pt x="299359" y="315468"/>
                  </a:cubicBezTo>
                  <a:lnTo>
                    <a:pt x="260882" y="276992"/>
                  </a:lnTo>
                  <a:cubicBezTo>
                    <a:pt x="256434" y="272543"/>
                    <a:pt x="256434" y="265331"/>
                    <a:pt x="260882" y="260882"/>
                  </a:cubicBezTo>
                  <a:cubicBezTo>
                    <a:pt x="265331" y="256434"/>
                    <a:pt x="272543" y="256434"/>
                    <a:pt x="276992" y="260882"/>
                  </a:cubicBezTo>
                  <a:close/>
                  <a:moveTo>
                    <a:pt x="216281" y="136621"/>
                  </a:moveTo>
                  <a:cubicBezTo>
                    <a:pt x="178414" y="136573"/>
                    <a:pt x="147677" y="167232"/>
                    <a:pt x="147629" y="205100"/>
                  </a:cubicBezTo>
                  <a:cubicBezTo>
                    <a:pt x="147581" y="242967"/>
                    <a:pt x="178240" y="273704"/>
                    <a:pt x="216108" y="273752"/>
                  </a:cubicBezTo>
                  <a:cubicBezTo>
                    <a:pt x="253976" y="273800"/>
                    <a:pt x="284712" y="243141"/>
                    <a:pt x="284760" y="205273"/>
                  </a:cubicBezTo>
                  <a:cubicBezTo>
                    <a:pt x="284783" y="187004"/>
                    <a:pt x="277514" y="169480"/>
                    <a:pt x="264566" y="156591"/>
                  </a:cubicBezTo>
                  <a:cubicBezTo>
                    <a:pt x="251815" y="143708"/>
                    <a:pt x="234408" y="136508"/>
                    <a:pt x="216281" y="136621"/>
                  </a:cubicBezTo>
                  <a:moveTo>
                    <a:pt x="216281" y="113943"/>
                  </a:moveTo>
                  <a:cubicBezTo>
                    <a:pt x="266527" y="113943"/>
                    <a:pt x="307258" y="154675"/>
                    <a:pt x="307258" y="204920"/>
                  </a:cubicBezTo>
                  <a:cubicBezTo>
                    <a:pt x="307258" y="255166"/>
                    <a:pt x="266527" y="295897"/>
                    <a:pt x="216281" y="295897"/>
                  </a:cubicBezTo>
                  <a:cubicBezTo>
                    <a:pt x="166036" y="295897"/>
                    <a:pt x="125304" y="255166"/>
                    <a:pt x="125304" y="204920"/>
                  </a:cubicBezTo>
                  <a:cubicBezTo>
                    <a:pt x="125280" y="154675"/>
                    <a:pt x="165992" y="113923"/>
                    <a:pt x="216237" y="113899"/>
                  </a:cubicBezTo>
                  <a:cubicBezTo>
                    <a:pt x="216252" y="113899"/>
                    <a:pt x="216267" y="113899"/>
                    <a:pt x="216281" y="113899"/>
                  </a:cubicBezTo>
                  <a:close/>
                  <a:moveTo>
                    <a:pt x="216281" y="91088"/>
                  </a:moveTo>
                  <a:cubicBezTo>
                    <a:pt x="231516" y="91082"/>
                    <a:pt x="246600" y="94099"/>
                    <a:pt x="260660" y="99964"/>
                  </a:cubicBezTo>
                  <a:cubicBezTo>
                    <a:pt x="274180" y="105687"/>
                    <a:pt x="286463" y="113976"/>
                    <a:pt x="296829" y="124372"/>
                  </a:cubicBezTo>
                  <a:cubicBezTo>
                    <a:pt x="302317" y="129812"/>
                    <a:pt x="307198" y="135831"/>
                    <a:pt x="311386" y="142324"/>
                  </a:cubicBezTo>
                  <a:lnTo>
                    <a:pt x="318752" y="142324"/>
                  </a:lnTo>
                  <a:lnTo>
                    <a:pt x="318752" y="45533"/>
                  </a:lnTo>
                  <a:cubicBezTo>
                    <a:pt x="318752" y="20386"/>
                    <a:pt x="298367" y="0"/>
                    <a:pt x="273220" y="0"/>
                  </a:cubicBezTo>
                  <a:cubicBezTo>
                    <a:pt x="273198" y="0"/>
                    <a:pt x="273175" y="0"/>
                    <a:pt x="273153" y="0"/>
                  </a:cubicBezTo>
                  <a:lnTo>
                    <a:pt x="176429" y="0"/>
                  </a:lnTo>
                  <a:lnTo>
                    <a:pt x="176429" y="98255"/>
                  </a:lnTo>
                  <a:cubicBezTo>
                    <a:pt x="189172" y="93467"/>
                    <a:pt x="202669" y="91002"/>
                    <a:pt x="216281" y="90977"/>
                  </a:cubicBezTo>
                  <a:close/>
                  <a:moveTo>
                    <a:pt x="135800" y="124461"/>
                  </a:moveTo>
                  <a:cubicBezTo>
                    <a:pt x="138019" y="122242"/>
                    <a:pt x="140105" y="120334"/>
                    <a:pt x="142257" y="118492"/>
                  </a:cubicBezTo>
                  <a:lnTo>
                    <a:pt x="142257" y="0"/>
                  </a:lnTo>
                  <a:lnTo>
                    <a:pt x="45533" y="0"/>
                  </a:lnTo>
                  <a:cubicBezTo>
                    <a:pt x="20386" y="0"/>
                    <a:pt x="0" y="20386"/>
                    <a:pt x="0" y="45533"/>
                  </a:cubicBezTo>
                  <a:lnTo>
                    <a:pt x="0" y="142257"/>
                  </a:lnTo>
                  <a:lnTo>
                    <a:pt x="121244" y="142257"/>
                  </a:lnTo>
                  <a:cubicBezTo>
                    <a:pt x="125488" y="135853"/>
                    <a:pt x="130364" y="129891"/>
                    <a:pt x="135800" y="124461"/>
                  </a:cubicBezTo>
                  <a:close/>
                  <a:moveTo>
                    <a:pt x="135800" y="285424"/>
                  </a:moveTo>
                  <a:cubicBezTo>
                    <a:pt x="114432" y="264099"/>
                    <a:pt x="102452" y="235131"/>
                    <a:pt x="102516" y="204942"/>
                  </a:cubicBezTo>
                  <a:cubicBezTo>
                    <a:pt x="102551" y="195330"/>
                    <a:pt x="103743" y="185757"/>
                    <a:pt x="106066" y="176429"/>
                  </a:cubicBezTo>
                  <a:lnTo>
                    <a:pt x="0" y="176429"/>
                  </a:lnTo>
                  <a:lnTo>
                    <a:pt x="0" y="273153"/>
                  </a:lnTo>
                  <a:cubicBezTo>
                    <a:pt x="0" y="298300"/>
                    <a:pt x="20386" y="318687"/>
                    <a:pt x="45533" y="318687"/>
                  </a:cubicBezTo>
                  <a:lnTo>
                    <a:pt x="142257" y="318687"/>
                  </a:lnTo>
                  <a:lnTo>
                    <a:pt x="142257" y="291393"/>
                  </a:lnTo>
                  <a:cubicBezTo>
                    <a:pt x="140105" y="289551"/>
                    <a:pt x="137952" y="287554"/>
                    <a:pt x="135800" y="285424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328160" y="1607185"/>
            <a:ext cx="3288030" cy="272415"/>
            <a:chOff x="1022" y="6756"/>
            <a:chExt cx="5178" cy="429"/>
          </a:xfrm>
        </p:grpSpPr>
        <p:sp>
          <p:nvSpPr>
            <p:cNvPr id="70" name="图形 65"/>
            <p:cNvSpPr/>
            <p:nvPr>
              <p:custDataLst>
                <p:tags r:id="rId4"/>
              </p:custDataLst>
            </p:nvPr>
          </p:nvSpPr>
          <p:spPr>
            <a:xfrm>
              <a:off x="1022" y="6761"/>
              <a:ext cx="486" cy="424"/>
            </a:xfrm>
            <a:custGeom>
              <a:avLst/>
              <a:gdLst>
                <a:gd name="connsiteX0" fmla="*/ 302428 w 367760"/>
                <a:gd name="connsiteY0" fmla="*/ 142232 h 312155"/>
                <a:gd name="connsiteX1" fmla="*/ 281466 w 367760"/>
                <a:gd name="connsiteY1" fmla="*/ 139565 h 312155"/>
                <a:gd name="connsiteX2" fmla="*/ 195171 w 367760"/>
                <a:gd name="connsiteY2" fmla="*/ 225860 h 312155"/>
                <a:gd name="connsiteX3" fmla="*/ 281466 w 367760"/>
                <a:gd name="connsiteY3" fmla="*/ 312156 h 312155"/>
                <a:gd name="connsiteX4" fmla="*/ 302428 w 367760"/>
                <a:gd name="connsiteY4" fmla="*/ 309489 h 312155"/>
                <a:gd name="connsiteX5" fmla="*/ 367761 w 367760"/>
                <a:gd name="connsiteY5" fmla="*/ 225860 h 312155"/>
                <a:gd name="connsiteX6" fmla="*/ 302428 w 367760"/>
                <a:gd name="connsiteY6" fmla="*/ 142232 h 312155"/>
                <a:gd name="connsiteX7" fmla="*/ 330746 w 367760"/>
                <a:gd name="connsiteY7" fmla="*/ 234080 h 312155"/>
                <a:gd name="connsiteX8" fmla="*/ 321772 w 367760"/>
                <a:gd name="connsiteY8" fmla="*/ 234080 h 312155"/>
                <a:gd name="connsiteX9" fmla="*/ 289685 w 367760"/>
                <a:gd name="connsiteY9" fmla="*/ 266167 h 312155"/>
                <a:gd name="connsiteX10" fmla="*/ 289685 w 367760"/>
                <a:gd name="connsiteY10" fmla="*/ 275141 h 312155"/>
                <a:gd name="connsiteX11" fmla="*/ 285566 w 367760"/>
                <a:gd name="connsiteY11" fmla="*/ 282238 h 312155"/>
                <a:gd name="connsiteX12" fmla="*/ 274329 w 367760"/>
                <a:gd name="connsiteY12" fmla="*/ 279165 h 312155"/>
                <a:gd name="connsiteX13" fmla="*/ 273246 w 367760"/>
                <a:gd name="connsiteY13" fmla="*/ 275122 h 312155"/>
                <a:gd name="connsiteX14" fmla="*/ 273246 w 367760"/>
                <a:gd name="connsiteY14" fmla="*/ 266167 h 312155"/>
                <a:gd name="connsiteX15" fmla="*/ 241141 w 367760"/>
                <a:gd name="connsiteY15" fmla="*/ 234080 h 312155"/>
                <a:gd name="connsiteX16" fmla="*/ 232186 w 367760"/>
                <a:gd name="connsiteY16" fmla="*/ 234080 h 312155"/>
                <a:gd name="connsiteX17" fmla="*/ 223966 w 367760"/>
                <a:gd name="connsiteY17" fmla="*/ 225860 h 312155"/>
                <a:gd name="connsiteX18" fmla="*/ 232186 w 367760"/>
                <a:gd name="connsiteY18" fmla="*/ 217641 h 312155"/>
                <a:gd name="connsiteX19" fmla="*/ 241141 w 367760"/>
                <a:gd name="connsiteY19" fmla="*/ 217641 h 312155"/>
                <a:gd name="connsiteX20" fmla="*/ 273246 w 367760"/>
                <a:gd name="connsiteY20" fmla="*/ 185536 h 312155"/>
                <a:gd name="connsiteX21" fmla="*/ 273246 w 367760"/>
                <a:gd name="connsiteY21" fmla="*/ 176580 h 312155"/>
                <a:gd name="connsiteX22" fmla="*/ 277347 w 367760"/>
                <a:gd name="connsiteY22" fmla="*/ 169483 h 312155"/>
                <a:gd name="connsiteX23" fmla="*/ 288571 w 367760"/>
                <a:gd name="connsiteY23" fmla="*/ 172506 h 312155"/>
                <a:gd name="connsiteX24" fmla="*/ 289667 w 367760"/>
                <a:gd name="connsiteY24" fmla="*/ 176599 h 312155"/>
                <a:gd name="connsiteX25" fmla="*/ 289667 w 367760"/>
                <a:gd name="connsiteY25" fmla="*/ 185536 h 312155"/>
                <a:gd name="connsiteX26" fmla="*/ 321772 w 367760"/>
                <a:gd name="connsiteY26" fmla="*/ 217641 h 312155"/>
                <a:gd name="connsiteX27" fmla="*/ 330727 w 367760"/>
                <a:gd name="connsiteY27" fmla="*/ 217641 h 312155"/>
                <a:gd name="connsiteX28" fmla="*/ 338947 w 367760"/>
                <a:gd name="connsiteY28" fmla="*/ 225860 h 312155"/>
                <a:gd name="connsiteX29" fmla="*/ 330727 w 367760"/>
                <a:gd name="connsiteY29" fmla="*/ 234080 h 312155"/>
                <a:gd name="connsiteX30" fmla="*/ 281466 w 367760"/>
                <a:gd name="connsiteY30" fmla="*/ 201166 h 312155"/>
                <a:gd name="connsiteX31" fmla="*/ 256771 w 367760"/>
                <a:gd name="connsiteY31" fmla="*/ 225860 h 312155"/>
                <a:gd name="connsiteX32" fmla="*/ 281466 w 367760"/>
                <a:gd name="connsiteY32" fmla="*/ 250555 h 312155"/>
                <a:gd name="connsiteX33" fmla="*/ 306161 w 367760"/>
                <a:gd name="connsiteY33" fmla="*/ 225860 h 312155"/>
                <a:gd name="connsiteX34" fmla="*/ 281466 w 367760"/>
                <a:gd name="connsiteY34" fmla="*/ 201166 h 312155"/>
                <a:gd name="connsiteX35" fmla="*/ 282661 w 367760"/>
                <a:gd name="connsiteY35" fmla="*/ 112517 h 312155"/>
                <a:gd name="connsiteX36" fmla="*/ 338928 w 367760"/>
                <a:gd name="connsiteY36" fmla="*/ 127558 h 312155"/>
                <a:gd name="connsiteX37" fmla="*/ 338928 w 367760"/>
                <a:gd name="connsiteY37" fmla="*/ 28152 h 312155"/>
                <a:gd name="connsiteX38" fmla="*/ 310648 w 367760"/>
                <a:gd name="connsiteY38" fmla="*/ 0 h 312155"/>
                <a:gd name="connsiteX39" fmla="*/ 28262 w 367760"/>
                <a:gd name="connsiteY39" fmla="*/ 0 h 312155"/>
                <a:gd name="connsiteX40" fmla="*/ 0 w 367760"/>
                <a:gd name="connsiteY40" fmla="*/ 28134 h 312155"/>
                <a:gd name="connsiteX41" fmla="*/ 0 w 367760"/>
                <a:gd name="connsiteY41" fmla="*/ 254344 h 312155"/>
                <a:gd name="connsiteX42" fmla="*/ 28281 w 367760"/>
                <a:gd name="connsiteY42" fmla="*/ 282477 h 312155"/>
                <a:gd name="connsiteX43" fmla="*/ 184395 w 367760"/>
                <a:gd name="connsiteY43" fmla="*/ 282477 h 312155"/>
                <a:gd name="connsiteX44" fmla="*/ 226120 w 367760"/>
                <a:gd name="connsiteY44" fmla="*/ 127630 h 312155"/>
                <a:gd name="connsiteX45" fmla="*/ 282661 w 367760"/>
                <a:gd name="connsiteY45" fmla="*/ 112517 h 312155"/>
                <a:gd name="connsiteX46" fmla="*/ 70610 w 367760"/>
                <a:gd name="connsiteY46" fmla="*/ 84751 h 312155"/>
                <a:gd name="connsiteX47" fmla="*/ 183568 w 367760"/>
                <a:gd name="connsiteY47" fmla="*/ 84751 h 312155"/>
                <a:gd name="connsiteX48" fmla="*/ 198209 w 367760"/>
                <a:gd name="connsiteY48" fmla="*/ 98372 h 312155"/>
                <a:gd name="connsiteX49" fmla="*/ 184588 w 367760"/>
                <a:gd name="connsiteY49" fmla="*/ 113013 h 312155"/>
                <a:gd name="connsiteX50" fmla="*/ 183568 w 367760"/>
                <a:gd name="connsiteY50" fmla="*/ 113013 h 312155"/>
                <a:gd name="connsiteX51" fmla="*/ 70610 w 367760"/>
                <a:gd name="connsiteY51" fmla="*/ 113013 h 312155"/>
                <a:gd name="connsiteX52" fmla="*/ 56470 w 367760"/>
                <a:gd name="connsiteY52" fmla="*/ 98873 h 312155"/>
                <a:gd name="connsiteX53" fmla="*/ 70610 w 367760"/>
                <a:gd name="connsiteY53" fmla="*/ 84732 h 312155"/>
                <a:gd name="connsiteX54" fmla="*/ 127061 w 367760"/>
                <a:gd name="connsiteY54" fmla="*/ 225971 h 312155"/>
                <a:gd name="connsiteX55" fmla="*/ 70610 w 367760"/>
                <a:gd name="connsiteY55" fmla="*/ 225971 h 312155"/>
                <a:gd name="connsiteX56" fmla="*/ 55969 w 367760"/>
                <a:gd name="connsiteY56" fmla="*/ 212350 h 312155"/>
                <a:gd name="connsiteX57" fmla="*/ 69590 w 367760"/>
                <a:gd name="connsiteY57" fmla="*/ 197708 h 312155"/>
                <a:gd name="connsiteX58" fmla="*/ 70610 w 367760"/>
                <a:gd name="connsiteY58" fmla="*/ 197708 h 312155"/>
                <a:gd name="connsiteX59" fmla="*/ 127098 w 367760"/>
                <a:gd name="connsiteY59" fmla="*/ 197708 h 312155"/>
                <a:gd name="connsiteX60" fmla="*/ 141220 w 367760"/>
                <a:gd name="connsiteY60" fmla="*/ 211867 h 312155"/>
                <a:gd name="connsiteX61" fmla="*/ 127061 w 367760"/>
                <a:gd name="connsiteY61" fmla="*/ 225989 h 312155"/>
                <a:gd name="connsiteX62" fmla="*/ 127061 w 367760"/>
                <a:gd name="connsiteY62" fmla="*/ 169483 h 312155"/>
                <a:gd name="connsiteX63" fmla="*/ 70610 w 367760"/>
                <a:gd name="connsiteY63" fmla="*/ 169483 h 312155"/>
                <a:gd name="connsiteX64" fmla="*/ 56467 w 367760"/>
                <a:gd name="connsiteY64" fmla="*/ 155345 h 312155"/>
                <a:gd name="connsiteX65" fmla="*/ 70605 w 367760"/>
                <a:gd name="connsiteY65" fmla="*/ 141202 h 312155"/>
                <a:gd name="connsiteX66" fmla="*/ 70610 w 367760"/>
                <a:gd name="connsiteY66" fmla="*/ 141202 h 312155"/>
                <a:gd name="connsiteX67" fmla="*/ 127098 w 367760"/>
                <a:gd name="connsiteY67" fmla="*/ 141202 h 312155"/>
                <a:gd name="connsiteX68" fmla="*/ 141220 w 367760"/>
                <a:gd name="connsiteY68" fmla="*/ 155361 h 312155"/>
                <a:gd name="connsiteX69" fmla="*/ 127061 w 367760"/>
                <a:gd name="connsiteY69" fmla="*/ 169483 h 31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367760" h="312155">
                  <a:moveTo>
                    <a:pt x="302428" y="142232"/>
                  </a:moveTo>
                  <a:cubicBezTo>
                    <a:pt x="295577" y="140481"/>
                    <a:pt x="288537" y="139586"/>
                    <a:pt x="281466" y="139565"/>
                  </a:cubicBezTo>
                  <a:cubicBezTo>
                    <a:pt x="233823" y="139606"/>
                    <a:pt x="195211" y="178218"/>
                    <a:pt x="195171" y="225860"/>
                  </a:cubicBezTo>
                  <a:cubicBezTo>
                    <a:pt x="195221" y="273499"/>
                    <a:pt x="233827" y="312105"/>
                    <a:pt x="281466" y="312156"/>
                  </a:cubicBezTo>
                  <a:cubicBezTo>
                    <a:pt x="288692" y="312156"/>
                    <a:pt x="295680" y="311126"/>
                    <a:pt x="302428" y="309489"/>
                  </a:cubicBezTo>
                  <a:cubicBezTo>
                    <a:pt x="340780" y="299852"/>
                    <a:pt x="367691" y="265404"/>
                    <a:pt x="367761" y="225860"/>
                  </a:cubicBezTo>
                  <a:cubicBezTo>
                    <a:pt x="367697" y="186315"/>
                    <a:pt x="340783" y="151863"/>
                    <a:pt x="302428" y="142232"/>
                  </a:cubicBezTo>
                  <a:close/>
                  <a:moveTo>
                    <a:pt x="330746" y="234080"/>
                  </a:moveTo>
                  <a:lnTo>
                    <a:pt x="321772" y="234080"/>
                  </a:lnTo>
                  <a:cubicBezTo>
                    <a:pt x="318455" y="250230"/>
                    <a:pt x="305835" y="262850"/>
                    <a:pt x="289685" y="266167"/>
                  </a:cubicBezTo>
                  <a:lnTo>
                    <a:pt x="289685" y="275141"/>
                  </a:lnTo>
                  <a:cubicBezTo>
                    <a:pt x="289685" y="278082"/>
                    <a:pt x="288122" y="280804"/>
                    <a:pt x="285566" y="282238"/>
                  </a:cubicBezTo>
                  <a:cubicBezTo>
                    <a:pt x="281614" y="284493"/>
                    <a:pt x="276583" y="283117"/>
                    <a:pt x="274329" y="279165"/>
                  </a:cubicBezTo>
                  <a:cubicBezTo>
                    <a:pt x="273626" y="277933"/>
                    <a:pt x="273253" y="276540"/>
                    <a:pt x="273246" y="275122"/>
                  </a:cubicBezTo>
                  <a:lnTo>
                    <a:pt x="273246" y="266167"/>
                  </a:lnTo>
                  <a:cubicBezTo>
                    <a:pt x="257090" y="262856"/>
                    <a:pt x="244461" y="250235"/>
                    <a:pt x="241141" y="234080"/>
                  </a:cubicBezTo>
                  <a:lnTo>
                    <a:pt x="232186" y="234080"/>
                  </a:lnTo>
                  <a:cubicBezTo>
                    <a:pt x="227646" y="234080"/>
                    <a:pt x="223966" y="230400"/>
                    <a:pt x="223966" y="225860"/>
                  </a:cubicBezTo>
                  <a:cubicBezTo>
                    <a:pt x="223966" y="221321"/>
                    <a:pt x="227646" y="217641"/>
                    <a:pt x="232186" y="217641"/>
                  </a:cubicBezTo>
                  <a:lnTo>
                    <a:pt x="241141" y="217641"/>
                  </a:lnTo>
                  <a:cubicBezTo>
                    <a:pt x="244468" y="201487"/>
                    <a:pt x="257092" y="188863"/>
                    <a:pt x="273246" y="185536"/>
                  </a:cubicBezTo>
                  <a:lnTo>
                    <a:pt x="273246" y="176580"/>
                  </a:lnTo>
                  <a:cubicBezTo>
                    <a:pt x="273246" y="173639"/>
                    <a:pt x="274809" y="170917"/>
                    <a:pt x="277347" y="169483"/>
                  </a:cubicBezTo>
                  <a:cubicBezTo>
                    <a:pt x="281281" y="167218"/>
                    <a:pt x="286306" y="168572"/>
                    <a:pt x="288571" y="172506"/>
                  </a:cubicBezTo>
                  <a:cubicBezTo>
                    <a:pt x="289288" y="173751"/>
                    <a:pt x="289665" y="175162"/>
                    <a:pt x="289667" y="176599"/>
                  </a:cubicBezTo>
                  <a:lnTo>
                    <a:pt x="289667" y="185536"/>
                  </a:lnTo>
                  <a:cubicBezTo>
                    <a:pt x="305828" y="188849"/>
                    <a:pt x="318459" y="201479"/>
                    <a:pt x="321772" y="217641"/>
                  </a:cubicBezTo>
                  <a:lnTo>
                    <a:pt x="330727" y="217641"/>
                  </a:lnTo>
                  <a:cubicBezTo>
                    <a:pt x="335267" y="217641"/>
                    <a:pt x="338947" y="221321"/>
                    <a:pt x="338947" y="225860"/>
                  </a:cubicBezTo>
                  <a:cubicBezTo>
                    <a:pt x="338947" y="230400"/>
                    <a:pt x="335267" y="234080"/>
                    <a:pt x="330727" y="234080"/>
                  </a:cubicBezTo>
                  <a:close/>
                  <a:moveTo>
                    <a:pt x="281466" y="201166"/>
                  </a:moveTo>
                  <a:cubicBezTo>
                    <a:pt x="267827" y="201166"/>
                    <a:pt x="256771" y="212222"/>
                    <a:pt x="256771" y="225860"/>
                  </a:cubicBezTo>
                  <a:cubicBezTo>
                    <a:pt x="256771" y="239499"/>
                    <a:pt x="267827" y="250555"/>
                    <a:pt x="281466" y="250555"/>
                  </a:cubicBezTo>
                  <a:cubicBezTo>
                    <a:pt x="295105" y="250555"/>
                    <a:pt x="306161" y="239499"/>
                    <a:pt x="306161" y="225860"/>
                  </a:cubicBezTo>
                  <a:cubicBezTo>
                    <a:pt x="306161" y="212222"/>
                    <a:pt x="295105" y="201166"/>
                    <a:pt x="281466" y="201166"/>
                  </a:cubicBezTo>
                  <a:close/>
                  <a:moveTo>
                    <a:pt x="282661" y="112517"/>
                  </a:moveTo>
                  <a:cubicBezTo>
                    <a:pt x="303164" y="112517"/>
                    <a:pt x="322361" y="118033"/>
                    <a:pt x="338928" y="127558"/>
                  </a:cubicBezTo>
                  <a:lnTo>
                    <a:pt x="338928" y="28152"/>
                  </a:lnTo>
                  <a:cubicBezTo>
                    <a:pt x="338878" y="12575"/>
                    <a:pt x="326225" y="-20"/>
                    <a:pt x="310648" y="0"/>
                  </a:cubicBezTo>
                  <a:lnTo>
                    <a:pt x="28262" y="0"/>
                  </a:lnTo>
                  <a:cubicBezTo>
                    <a:pt x="12695" y="-20"/>
                    <a:pt x="51" y="12567"/>
                    <a:pt x="0" y="28134"/>
                  </a:cubicBezTo>
                  <a:lnTo>
                    <a:pt x="0" y="254344"/>
                  </a:lnTo>
                  <a:cubicBezTo>
                    <a:pt x="37" y="269918"/>
                    <a:pt x="12688" y="282533"/>
                    <a:pt x="28281" y="282477"/>
                  </a:cubicBezTo>
                  <a:lnTo>
                    <a:pt x="184395" y="282477"/>
                  </a:lnTo>
                  <a:cubicBezTo>
                    <a:pt x="153157" y="228195"/>
                    <a:pt x="171838" y="158868"/>
                    <a:pt x="226120" y="127630"/>
                  </a:cubicBezTo>
                  <a:cubicBezTo>
                    <a:pt x="243320" y="117731"/>
                    <a:pt x="262816" y="112520"/>
                    <a:pt x="282661" y="112517"/>
                  </a:cubicBezTo>
                  <a:close/>
                  <a:moveTo>
                    <a:pt x="70610" y="84751"/>
                  </a:moveTo>
                  <a:lnTo>
                    <a:pt x="183568" y="84751"/>
                  </a:lnTo>
                  <a:cubicBezTo>
                    <a:pt x="191372" y="84469"/>
                    <a:pt x="197927" y="90567"/>
                    <a:pt x="198209" y="98372"/>
                  </a:cubicBezTo>
                  <a:cubicBezTo>
                    <a:pt x="198490" y="106176"/>
                    <a:pt x="192392" y="112731"/>
                    <a:pt x="184588" y="113013"/>
                  </a:cubicBezTo>
                  <a:cubicBezTo>
                    <a:pt x="184248" y="113025"/>
                    <a:pt x="183908" y="113025"/>
                    <a:pt x="183568" y="113013"/>
                  </a:cubicBezTo>
                  <a:lnTo>
                    <a:pt x="70610" y="113013"/>
                  </a:lnTo>
                  <a:cubicBezTo>
                    <a:pt x="62801" y="113013"/>
                    <a:pt x="56470" y="106682"/>
                    <a:pt x="56470" y="98873"/>
                  </a:cubicBezTo>
                  <a:cubicBezTo>
                    <a:pt x="56470" y="91063"/>
                    <a:pt x="62801" y="84732"/>
                    <a:pt x="70610" y="84732"/>
                  </a:cubicBezTo>
                  <a:close/>
                  <a:moveTo>
                    <a:pt x="127061" y="225971"/>
                  </a:moveTo>
                  <a:lnTo>
                    <a:pt x="70610" y="225971"/>
                  </a:lnTo>
                  <a:cubicBezTo>
                    <a:pt x="62806" y="226252"/>
                    <a:pt x="56250" y="220154"/>
                    <a:pt x="55969" y="212350"/>
                  </a:cubicBezTo>
                  <a:cubicBezTo>
                    <a:pt x="55688" y="204545"/>
                    <a:pt x="61786" y="197990"/>
                    <a:pt x="69590" y="197708"/>
                  </a:cubicBezTo>
                  <a:cubicBezTo>
                    <a:pt x="69930" y="197696"/>
                    <a:pt x="70270" y="197696"/>
                    <a:pt x="70610" y="197708"/>
                  </a:cubicBezTo>
                  <a:lnTo>
                    <a:pt x="127098" y="197708"/>
                  </a:lnTo>
                  <a:cubicBezTo>
                    <a:pt x="134908" y="197719"/>
                    <a:pt x="141230" y="204058"/>
                    <a:pt x="141220" y="211867"/>
                  </a:cubicBezTo>
                  <a:cubicBezTo>
                    <a:pt x="141210" y="219677"/>
                    <a:pt x="134871" y="225999"/>
                    <a:pt x="127061" y="225989"/>
                  </a:cubicBezTo>
                  <a:close/>
                  <a:moveTo>
                    <a:pt x="127061" y="169483"/>
                  </a:moveTo>
                  <a:lnTo>
                    <a:pt x="70610" y="169483"/>
                  </a:lnTo>
                  <a:cubicBezTo>
                    <a:pt x="62801" y="169484"/>
                    <a:pt x="56469" y="163154"/>
                    <a:pt x="56467" y="155345"/>
                  </a:cubicBezTo>
                  <a:cubicBezTo>
                    <a:pt x="56466" y="147535"/>
                    <a:pt x="62796" y="141203"/>
                    <a:pt x="70605" y="141202"/>
                  </a:cubicBezTo>
                  <a:cubicBezTo>
                    <a:pt x="70607" y="141202"/>
                    <a:pt x="70609" y="141202"/>
                    <a:pt x="70610" y="141202"/>
                  </a:cubicBezTo>
                  <a:lnTo>
                    <a:pt x="127098" y="141202"/>
                  </a:lnTo>
                  <a:cubicBezTo>
                    <a:pt x="134908" y="141212"/>
                    <a:pt x="141230" y="147551"/>
                    <a:pt x="141220" y="155361"/>
                  </a:cubicBezTo>
                  <a:cubicBezTo>
                    <a:pt x="141210" y="163170"/>
                    <a:pt x="134871" y="169493"/>
                    <a:pt x="127061" y="169483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5"/>
              </p:custDataLst>
            </p:nvPr>
          </p:nvSpPr>
          <p:spPr>
            <a:xfrm>
              <a:off x="1447" y="6756"/>
              <a:ext cx="4753" cy="421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安全区代驾模式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75955" y="1607185"/>
            <a:ext cx="3652520" cy="262255"/>
            <a:chOff x="1023" y="8422"/>
            <a:chExt cx="5576" cy="413"/>
          </a:xfrm>
        </p:grpSpPr>
        <p:grpSp>
          <p:nvGrpSpPr>
            <p:cNvPr id="75" name="组合 74"/>
            <p:cNvGrpSpPr/>
            <p:nvPr/>
          </p:nvGrpSpPr>
          <p:grpSpPr>
            <a:xfrm>
              <a:off x="1023" y="8443"/>
              <a:ext cx="424" cy="392"/>
              <a:chOff x="7986386" y="5200087"/>
              <a:chExt cx="385378" cy="384800"/>
            </a:xfrm>
          </p:grpSpPr>
          <p:sp>
            <p:nvSpPr>
              <p:cNvPr id="72" name="任意多边形: 形状 71"/>
              <p:cNvSpPr/>
              <p:nvPr>
                <p:custDataLst>
                  <p:tags r:id="rId6"/>
                </p:custDataLst>
              </p:nvPr>
            </p:nvSpPr>
            <p:spPr>
              <a:xfrm>
                <a:off x="8058800" y="5290024"/>
                <a:ext cx="222495" cy="222495"/>
              </a:xfrm>
              <a:custGeom>
                <a:avLst/>
                <a:gdLst>
                  <a:gd name="connsiteX0" fmla="*/ 207785 w 222495"/>
                  <a:gd name="connsiteY0" fmla="*/ 53325 h 222495"/>
                  <a:gd name="connsiteX1" fmla="*/ 174686 w 222495"/>
                  <a:gd name="connsiteY1" fmla="*/ 66197 h 222495"/>
                  <a:gd name="connsiteX2" fmla="*/ 152621 w 222495"/>
                  <a:gd name="connsiteY2" fmla="*/ 44131 h 222495"/>
                  <a:gd name="connsiteX3" fmla="*/ 165492 w 222495"/>
                  <a:gd name="connsiteY3" fmla="*/ 11033 h 222495"/>
                  <a:gd name="connsiteX4" fmla="*/ 137910 w 222495"/>
                  <a:gd name="connsiteY4" fmla="*/ 0 h 222495"/>
                  <a:gd name="connsiteX5" fmla="*/ 125039 w 222495"/>
                  <a:gd name="connsiteY5" fmla="*/ 33098 h 222495"/>
                  <a:gd name="connsiteX6" fmla="*/ 97456 w 222495"/>
                  <a:gd name="connsiteY6" fmla="*/ 33098 h 222495"/>
                  <a:gd name="connsiteX7" fmla="*/ 82746 w 222495"/>
                  <a:gd name="connsiteY7" fmla="*/ 0 h 222495"/>
                  <a:gd name="connsiteX8" fmla="*/ 53325 w 222495"/>
                  <a:gd name="connsiteY8" fmla="*/ 12872 h 222495"/>
                  <a:gd name="connsiteX9" fmla="*/ 66197 w 222495"/>
                  <a:gd name="connsiteY9" fmla="*/ 45970 h 222495"/>
                  <a:gd name="connsiteX10" fmla="*/ 45970 w 222495"/>
                  <a:gd name="connsiteY10" fmla="*/ 66197 h 222495"/>
                  <a:gd name="connsiteX11" fmla="*/ 11033 w 222495"/>
                  <a:gd name="connsiteY11" fmla="*/ 53325 h 222495"/>
                  <a:gd name="connsiteX12" fmla="*/ 0 w 222495"/>
                  <a:gd name="connsiteY12" fmla="*/ 82746 h 222495"/>
                  <a:gd name="connsiteX13" fmla="*/ 33098 w 222495"/>
                  <a:gd name="connsiteY13" fmla="*/ 95618 h 222495"/>
                  <a:gd name="connsiteX14" fmla="*/ 33098 w 222495"/>
                  <a:gd name="connsiteY14" fmla="*/ 125039 h 222495"/>
                  <a:gd name="connsiteX15" fmla="*/ 0 w 222495"/>
                  <a:gd name="connsiteY15" fmla="*/ 137910 h 222495"/>
                  <a:gd name="connsiteX16" fmla="*/ 11033 w 222495"/>
                  <a:gd name="connsiteY16" fmla="*/ 167331 h 222495"/>
                  <a:gd name="connsiteX17" fmla="*/ 45970 w 222495"/>
                  <a:gd name="connsiteY17" fmla="*/ 154460 h 222495"/>
                  <a:gd name="connsiteX18" fmla="*/ 68036 w 222495"/>
                  <a:gd name="connsiteY18" fmla="*/ 176525 h 222495"/>
                  <a:gd name="connsiteX19" fmla="*/ 55164 w 222495"/>
                  <a:gd name="connsiteY19" fmla="*/ 209624 h 222495"/>
                  <a:gd name="connsiteX20" fmla="*/ 84585 w 222495"/>
                  <a:gd name="connsiteY20" fmla="*/ 222495 h 222495"/>
                  <a:gd name="connsiteX21" fmla="*/ 97456 w 222495"/>
                  <a:gd name="connsiteY21" fmla="*/ 189397 h 222495"/>
                  <a:gd name="connsiteX22" fmla="*/ 125039 w 222495"/>
                  <a:gd name="connsiteY22" fmla="*/ 189397 h 222495"/>
                  <a:gd name="connsiteX23" fmla="*/ 137910 w 222495"/>
                  <a:gd name="connsiteY23" fmla="*/ 222495 h 222495"/>
                  <a:gd name="connsiteX24" fmla="*/ 167331 w 222495"/>
                  <a:gd name="connsiteY24" fmla="*/ 209624 h 222495"/>
                  <a:gd name="connsiteX25" fmla="*/ 154460 w 222495"/>
                  <a:gd name="connsiteY25" fmla="*/ 176525 h 222495"/>
                  <a:gd name="connsiteX26" fmla="*/ 176525 w 222495"/>
                  <a:gd name="connsiteY26" fmla="*/ 154460 h 222495"/>
                  <a:gd name="connsiteX27" fmla="*/ 209624 w 222495"/>
                  <a:gd name="connsiteY27" fmla="*/ 167331 h 222495"/>
                  <a:gd name="connsiteX28" fmla="*/ 222495 w 222495"/>
                  <a:gd name="connsiteY28" fmla="*/ 137910 h 222495"/>
                  <a:gd name="connsiteX29" fmla="*/ 189397 w 222495"/>
                  <a:gd name="connsiteY29" fmla="*/ 125039 h 222495"/>
                  <a:gd name="connsiteX30" fmla="*/ 189397 w 222495"/>
                  <a:gd name="connsiteY30" fmla="*/ 97456 h 222495"/>
                  <a:gd name="connsiteX31" fmla="*/ 222495 w 222495"/>
                  <a:gd name="connsiteY31" fmla="*/ 84585 h 222495"/>
                  <a:gd name="connsiteX32" fmla="*/ 207785 w 222495"/>
                  <a:gd name="connsiteY32" fmla="*/ 53325 h 222495"/>
                  <a:gd name="connsiteX33" fmla="*/ 110328 w 222495"/>
                  <a:gd name="connsiteY33" fmla="*/ 156299 h 222495"/>
                  <a:gd name="connsiteX34" fmla="*/ 62519 w 222495"/>
                  <a:gd name="connsiteY34" fmla="*/ 108489 h 222495"/>
                  <a:gd name="connsiteX35" fmla="*/ 110328 w 222495"/>
                  <a:gd name="connsiteY35" fmla="*/ 60681 h 222495"/>
                  <a:gd name="connsiteX36" fmla="*/ 158137 w 222495"/>
                  <a:gd name="connsiteY36" fmla="*/ 108489 h 222495"/>
                  <a:gd name="connsiteX37" fmla="*/ 110328 w 222495"/>
                  <a:gd name="connsiteY37" fmla="*/ 156299 h 222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2495" h="222495">
                    <a:moveTo>
                      <a:pt x="207785" y="53325"/>
                    </a:moveTo>
                    <a:lnTo>
                      <a:pt x="174686" y="66197"/>
                    </a:lnTo>
                    <a:cubicBezTo>
                      <a:pt x="169170" y="57003"/>
                      <a:pt x="161815" y="49648"/>
                      <a:pt x="152621" y="44131"/>
                    </a:cubicBezTo>
                    <a:lnTo>
                      <a:pt x="165492" y="11033"/>
                    </a:lnTo>
                    <a:lnTo>
                      <a:pt x="137910" y="0"/>
                    </a:lnTo>
                    <a:lnTo>
                      <a:pt x="125039" y="33098"/>
                    </a:lnTo>
                    <a:cubicBezTo>
                      <a:pt x="115845" y="31260"/>
                      <a:pt x="106651" y="31260"/>
                      <a:pt x="97456" y="33098"/>
                    </a:cubicBezTo>
                    <a:lnTo>
                      <a:pt x="82746" y="0"/>
                    </a:lnTo>
                    <a:lnTo>
                      <a:pt x="53325" y="12872"/>
                    </a:lnTo>
                    <a:lnTo>
                      <a:pt x="66197" y="45970"/>
                    </a:lnTo>
                    <a:cubicBezTo>
                      <a:pt x="58842" y="49648"/>
                      <a:pt x="51487" y="57003"/>
                      <a:pt x="45970" y="66197"/>
                    </a:cubicBezTo>
                    <a:lnTo>
                      <a:pt x="11033" y="53325"/>
                    </a:lnTo>
                    <a:lnTo>
                      <a:pt x="0" y="82746"/>
                    </a:lnTo>
                    <a:lnTo>
                      <a:pt x="33098" y="95618"/>
                    </a:lnTo>
                    <a:cubicBezTo>
                      <a:pt x="31260" y="104812"/>
                      <a:pt x="31260" y="115845"/>
                      <a:pt x="33098" y="125039"/>
                    </a:cubicBezTo>
                    <a:lnTo>
                      <a:pt x="0" y="137910"/>
                    </a:lnTo>
                    <a:lnTo>
                      <a:pt x="11033" y="167331"/>
                    </a:lnTo>
                    <a:lnTo>
                      <a:pt x="45970" y="154460"/>
                    </a:lnTo>
                    <a:cubicBezTo>
                      <a:pt x="51487" y="163653"/>
                      <a:pt x="58842" y="171009"/>
                      <a:pt x="68036" y="176525"/>
                    </a:cubicBezTo>
                    <a:lnTo>
                      <a:pt x="55164" y="209624"/>
                    </a:lnTo>
                    <a:lnTo>
                      <a:pt x="84585" y="222495"/>
                    </a:lnTo>
                    <a:lnTo>
                      <a:pt x="97456" y="189397"/>
                    </a:lnTo>
                    <a:cubicBezTo>
                      <a:pt x="106651" y="191235"/>
                      <a:pt x="115845" y="191235"/>
                      <a:pt x="125039" y="189397"/>
                    </a:cubicBezTo>
                    <a:lnTo>
                      <a:pt x="137910" y="222495"/>
                    </a:lnTo>
                    <a:lnTo>
                      <a:pt x="167331" y="209624"/>
                    </a:lnTo>
                    <a:lnTo>
                      <a:pt x="154460" y="176525"/>
                    </a:lnTo>
                    <a:cubicBezTo>
                      <a:pt x="163653" y="171009"/>
                      <a:pt x="171009" y="163653"/>
                      <a:pt x="176525" y="154460"/>
                    </a:cubicBezTo>
                    <a:lnTo>
                      <a:pt x="209624" y="167331"/>
                    </a:lnTo>
                    <a:lnTo>
                      <a:pt x="222495" y="137910"/>
                    </a:lnTo>
                    <a:lnTo>
                      <a:pt x="189397" y="125039"/>
                    </a:lnTo>
                    <a:cubicBezTo>
                      <a:pt x="191235" y="115845"/>
                      <a:pt x="191235" y="106651"/>
                      <a:pt x="189397" y="97456"/>
                    </a:cubicBezTo>
                    <a:lnTo>
                      <a:pt x="222495" y="84585"/>
                    </a:lnTo>
                    <a:lnTo>
                      <a:pt x="207785" y="53325"/>
                    </a:lnTo>
                    <a:close/>
                    <a:moveTo>
                      <a:pt x="110328" y="156299"/>
                    </a:moveTo>
                    <a:cubicBezTo>
                      <a:pt x="84585" y="156299"/>
                      <a:pt x="62519" y="136071"/>
                      <a:pt x="62519" y="108489"/>
                    </a:cubicBezTo>
                    <a:cubicBezTo>
                      <a:pt x="62519" y="80907"/>
                      <a:pt x="82746" y="60681"/>
                      <a:pt x="110328" y="60681"/>
                    </a:cubicBezTo>
                    <a:cubicBezTo>
                      <a:pt x="136071" y="60681"/>
                      <a:pt x="158137" y="80907"/>
                      <a:pt x="158137" y="108489"/>
                    </a:cubicBezTo>
                    <a:cubicBezTo>
                      <a:pt x="158137" y="136071"/>
                      <a:pt x="136071" y="156299"/>
                      <a:pt x="110328" y="156299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7"/>
                </p:custDataLst>
              </p:nvPr>
            </p:nvSpPr>
            <p:spPr>
              <a:xfrm>
                <a:off x="8154418" y="5385642"/>
                <a:ext cx="31259" cy="31259"/>
              </a:xfrm>
              <a:custGeom>
                <a:avLst/>
                <a:gdLst>
                  <a:gd name="connsiteX0" fmla="*/ 0 w 31259"/>
                  <a:gd name="connsiteY0" fmla="*/ 0 h 31259"/>
                  <a:gd name="connsiteX1" fmla="*/ 31260 w 31259"/>
                  <a:gd name="connsiteY1" fmla="*/ 0 h 31259"/>
                  <a:gd name="connsiteX2" fmla="*/ 31260 w 31259"/>
                  <a:gd name="connsiteY2" fmla="*/ 31260 h 31259"/>
                  <a:gd name="connsiteX3" fmla="*/ 0 w 31259"/>
                  <a:gd name="connsiteY3" fmla="*/ 31260 h 31259"/>
                  <a:gd name="connsiteX4" fmla="*/ 0 w 31259"/>
                  <a:gd name="connsiteY4" fmla="*/ 0 h 3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59" h="31259">
                    <a:moveTo>
                      <a:pt x="0" y="0"/>
                    </a:moveTo>
                    <a:lnTo>
                      <a:pt x="31260" y="0"/>
                    </a:lnTo>
                    <a:lnTo>
                      <a:pt x="31260" y="31260"/>
                    </a:lnTo>
                    <a:lnTo>
                      <a:pt x="0" y="3126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8"/>
                </p:custDataLst>
              </p:nvPr>
            </p:nvSpPr>
            <p:spPr>
              <a:xfrm>
                <a:off x="7986386" y="5200087"/>
                <a:ext cx="385378" cy="384800"/>
              </a:xfrm>
              <a:custGeom>
                <a:avLst/>
                <a:gdLst>
                  <a:gd name="connsiteX0" fmla="*/ 26812 w 385378"/>
                  <a:gd name="connsiteY0" fmla="*/ 167406 h 384800"/>
                  <a:gd name="connsiteX1" fmla="*/ 127946 w 385378"/>
                  <a:gd name="connsiteY1" fmla="*/ 47883 h 384800"/>
                  <a:gd name="connsiteX2" fmla="*/ 126107 w 385378"/>
                  <a:gd name="connsiteY2" fmla="*/ 51561 h 384800"/>
                  <a:gd name="connsiteX3" fmla="*/ 129785 w 385378"/>
                  <a:gd name="connsiteY3" fmla="*/ 68110 h 384800"/>
                  <a:gd name="connsiteX4" fmla="*/ 146334 w 385378"/>
                  <a:gd name="connsiteY4" fmla="*/ 64433 h 384800"/>
                  <a:gd name="connsiteX5" fmla="*/ 162883 w 385378"/>
                  <a:gd name="connsiteY5" fmla="*/ 35012 h 384800"/>
                  <a:gd name="connsiteX6" fmla="*/ 159206 w 385378"/>
                  <a:gd name="connsiteY6" fmla="*/ 18463 h 384800"/>
                  <a:gd name="connsiteX7" fmla="*/ 129785 w 385378"/>
                  <a:gd name="connsiteY7" fmla="*/ 1913 h 384800"/>
                  <a:gd name="connsiteX8" fmla="*/ 113235 w 385378"/>
                  <a:gd name="connsiteY8" fmla="*/ 5591 h 384800"/>
                  <a:gd name="connsiteX9" fmla="*/ 116913 w 385378"/>
                  <a:gd name="connsiteY9" fmla="*/ 22140 h 384800"/>
                  <a:gd name="connsiteX10" fmla="*/ 120591 w 385378"/>
                  <a:gd name="connsiteY10" fmla="*/ 23979 h 384800"/>
                  <a:gd name="connsiteX11" fmla="*/ 10262 w 385378"/>
                  <a:gd name="connsiteY11" fmla="*/ 255668 h 384800"/>
                  <a:gd name="connsiteX12" fmla="*/ 10262 w 385378"/>
                  <a:gd name="connsiteY12" fmla="*/ 257507 h 384800"/>
                  <a:gd name="connsiteX13" fmla="*/ 26812 w 385378"/>
                  <a:gd name="connsiteY13" fmla="*/ 264862 h 384800"/>
                  <a:gd name="connsiteX14" fmla="*/ 34167 w 385378"/>
                  <a:gd name="connsiteY14" fmla="*/ 248313 h 384800"/>
                  <a:gd name="connsiteX15" fmla="*/ 26812 w 385378"/>
                  <a:gd name="connsiteY15" fmla="*/ 167406 h 384800"/>
                  <a:gd name="connsiteX16" fmla="*/ 317343 w 385378"/>
                  <a:gd name="connsiteY16" fmla="*/ 301638 h 384800"/>
                  <a:gd name="connsiteX17" fmla="*/ 300793 w 385378"/>
                  <a:gd name="connsiteY17" fmla="*/ 303477 h 384800"/>
                  <a:gd name="connsiteX18" fmla="*/ 80137 w 385378"/>
                  <a:gd name="connsiteY18" fmla="*/ 323704 h 384800"/>
                  <a:gd name="connsiteX19" fmla="*/ 83814 w 385378"/>
                  <a:gd name="connsiteY19" fmla="*/ 323704 h 384800"/>
                  <a:gd name="connsiteX20" fmla="*/ 96686 w 385378"/>
                  <a:gd name="connsiteY20" fmla="*/ 310833 h 384800"/>
                  <a:gd name="connsiteX21" fmla="*/ 83814 w 385378"/>
                  <a:gd name="connsiteY21" fmla="*/ 297961 h 384800"/>
                  <a:gd name="connsiteX22" fmla="*/ 52555 w 385378"/>
                  <a:gd name="connsiteY22" fmla="*/ 297961 h 384800"/>
                  <a:gd name="connsiteX23" fmla="*/ 39683 w 385378"/>
                  <a:gd name="connsiteY23" fmla="*/ 308994 h 384800"/>
                  <a:gd name="connsiteX24" fmla="*/ 39683 w 385378"/>
                  <a:gd name="connsiteY24" fmla="*/ 345770 h 384800"/>
                  <a:gd name="connsiteX25" fmla="*/ 52555 w 385378"/>
                  <a:gd name="connsiteY25" fmla="*/ 358641 h 384800"/>
                  <a:gd name="connsiteX26" fmla="*/ 65427 w 385378"/>
                  <a:gd name="connsiteY26" fmla="*/ 345770 h 384800"/>
                  <a:gd name="connsiteX27" fmla="*/ 65427 w 385378"/>
                  <a:gd name="connsiteY27" fmla="*/ 342092 h 384800"/>
                  <a:gd name="connsiteX28" fmla="*/ 321020 w 385378"/>
                  <a:gd name="connsiteY28" fmla="*/ 320026 h 384800"/>
                  <a:gd name="connsiteX29" fmla="*/ 317343 w 385378"/>
                  <a:gd name="connsiteY29" fmla="*/ 301638 h 384800"/>
                  <a:gd name="connsiteX30" fmla="*/ 383540 w 385378"/>
                  <a:gd name="connsiteY30" fmla="*/ 229925 h 384800"/>
                  <a:gd name="connsiteX31" fmla="*/ 366990 w 385378"/>
                  <a:gd name="connsiteY31" fmla="*/ 226247 h 384800"/>
                  <a:gd name="connsiteX32" fmla="*/ 363313 w 385378"/>
                  <a:gd name="connsiteY32" fmla="*/ 228086 h 384800"/>
                  <a:gd name="connsiteX33" fmla="*/ 363313 w 385378"/>
                  <a:gd name="connsiteY33" fmla="*/ 226247 h 384800"/>
                  <a:gd name="connsiteX34" fmla="*/ 216208 w 385378"/>
                  <a:gd name="connsiteY34" fmla="*/ 16624 h 384800"/>
                  <a:gd name="connsiteX35" fmla="*/ 201498 w 385378"/>
                  <a:gd name="connsiteY35" fmla="*/ 25818 h 384800"/>
                  <a:gd name="connsiteX36" fmla="*/ 210692 w 385378"/>
                  <a:gd name="connsiteY36" fmla="*/ 40528 h 384800"/>
                  <a:gd name="connsiteX37" fmla="*/ 337569 w 385378"/>
                  <a:gd name="connsiteY37" fmla="*/ 222570 h 384800"/>
                  <a:gd name="connsiteX38" fmla="*/ 335731 w 385378"/>
                  <a:gd name="connsiteY38" fmla="*/ 218892 h 384800"/>
                  <a:gd name="connsiteX39" fmla="*/ 319182 w 385378"/>
                  <a:gd name="connsiteY39" fmla="*/ 215215 h 384800"/>
                  <a:gd name="connsiteX40" fmla="*/ 315504 w 385378"/>
                  <a:gd name="connsiteY40" fmla="*/ 231764 h 384800"/>
                  <a:gd name="connsiteX41" fmla="*/ 332053 w 385378"/>
                  <a:gd name="connsiteY41" fmla="*/ 261185 h 384800"/>
                  <a:gd name="connsiteX42" fmla="*/ 348602 w 385378"/>
                  <a:gd name="connsiteY42" fmla="*/ 264862 h 384800"/>
                  <a:gd name="connsiteX43" fmla="*/ 378023 w 385378"/>
                  <a:gd name="connsiteY43" fmla="*/ 248313 h 384800"/>
                  <a:gd name="connsiteX44" fmla="*/ 383540 w 385378"/>
                  <a:gd name="connsiteY44" fmla="*/ 229925 h 38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85378" h="384800">
                    <a:moveTo>
                      <a:pt x="26812" y="167406"/>
                    </a:moveTo>
                    <a:cubicBezTo>
                      <a:pt x="36006" y="112242"/>
                      <a:pt x="74620" y="66271"/>
                      <a:pt x="127946" y="47883"/>
                    </a:cubicBezTo>
                    <a:lnTo>
                      <a:pt x="126107" y="51561"/>
                    </a:lnTo>
                    <a:cubicBezTo>
                      <a:pt x="122429" y="57078"/>
                      <a:pt x="124268" y="64433"/>
                      <a:pt x="129785" y="68110"/>
                    </a:cubicBezTo>
                    <a:cubicBezTo>
                      <a:pt x="135301" y="71788"/>
                      <a:pt x="142656" y="69949"/>
                      <a:pt x="146334" y="64433"/>
                    </a:cubicBezTo>
                    <a:lnTo>
                      <a:pt x="162883" y="35012"/>
                    </a:lnTo>
                    <a:cubicBezTo>
                      <a:pt x="166560" y="29496"/>
                      <a:pt x="164722" y="22140"/>
                      <a:pt x="159206" y="18463"/>
                    </a:cubicBezTo>
                    <a:lnTo>
                      <a:pt x="129785" y="1913"/>
                    </a:lnTo>
                    <a:cubicBezTo>
                      <a:pt x="124268" y="-1764"/>
                      <a:pt x="116913" y="75"/>
                      <a:pt x="113235" y="5591"/>
                    </a:cubicBezTo>
                    <a:cubicBezTo>
                      <a:pt x="109558" y="11107"/>
                      <a:pt x="111396" y="18463"/>
                      <a:pt x="116913" y="22140"/>
                    </a:cubicBezTo>
                    <a:lnTo>
                      <a:pt x="120591" y="23979"/>
                    </a:lnTo>
                    <a:cubicBezTo>
                      <a:pt x="26812" y="57078"/>
                      <a:pt x="-22836" y="161889"/>
                      <a:pt x="10262" y="255668"/>
                    </a:cubicBezTo>
                    <a:lnTo>
                      <a:pt x="10262" y="257507"/>
                    </a:lnTo>
                    <a:cubicBezTo>
                      <a:pt x="12101" y="263023"/>
                      <a:pt x="19456" y="266701"/>
                      <a:pt x="26812" y="264862"/>
                    </a:cubicBezTo>
                    <a:cubicBezTo>
                      <a:pt x="32328" y="263023"/>
                      <a:pt x="36006" y="255668"/>
                      <a:pt x="34167" y="248313"/>
                    </a:cubicBezTo>
                    <a:cubicBezTo>
                      <a:pt x="23134" y="222570"/>
                      <a:pt x="21295" y="193149"/>
                      <a:pt x="26812" y="167406"/>
                    </a:cubicBezTo>
                    <a:close/>
                    <a:moveTo>
                      <a:pt x="317343" y="301638"/>
                    </a:moveTo>
                    <a:cubicBezTo>
                      <a:pt x="313665" y="297961"/>
                      <a:pt x="304471" y="297961"/>
                      <a:pt x="300793" y="303477"/>
                    </a:cubicBezTo>
                    <a:cubicBezTo>
                      <a:pt x="245629" y="369674"/>
                      <a:pt x="148173" y="378868"/>
                      <a:pt x="80137" y="323704"/>
                    </a:cubicBezTo>
                    <a:lnTo>
                      <a:pt x="83814" y="323704"/>
                    </a:lnTo>
                    <a:cubicBezTo>
                      <a:pt x="91170" y="323704"/>
                      <a:pt x="96686" y="318187"/>
                      <a:pt x="96686" y="310833"/>
                    </a:cubicBezTo>
                    <a:cubicBezTo>
                      <a:pt x="96686" y="303477"/>
                      <a:pt x="91170" y="297961"/>
                      <a:pt x="83814" y="297961"/>
                    </a:cubicBezTo>
                    <a:lnTo>
                      <a:pt x="52555" y="297961"/>
                    </a:lnTo>
                    <a:cubicBezTo>
                      <a:pt x="45199" y="297961"/>
                      <a:pt x="39683" y="301638"/>
                      <a:pt x="39683" y="308994"/>
                    </a:cubicBezTo>
                    <a:lnTo>
                      <a:pt x="39683" y="345770"/>
                    </a:lnTo>
                    <a:cubicBezTo>
                      <a:pt x="39683" y="353125"/>
                      <a:pt x="45199" y="358641"/>
                      <a:pt x="52555" y="358641"/>
                    </a:cubicBezTo>
                    <a:cubicBezTo>
                      <a:pt x="59910" y="358641"/>
                      <a:pt x="65427" y="353125"/>
                      <a:pt x="65427" y="345770"/>
                    </a:cubicBezTo>
                    <a:lnTo>
                      <a:pt x="65427" y="342092"/>
                    </a:lnTo>
                    <a:cubicBezTo>
                      <a:pt x="142656" y="406450"/>
                      <a:pt x="256662" y="397256"/>
                      <a:pt x="321020" y="320026"/>
                    </a:cubicBezTo>
                    <a:cubicBezTo>
                      <a:pt x="324698" y="314510"/>
                      <a:pt x="322859" y="307155"/>
                      <a:pt x="317343" y="301638"/>
                    </a:cubicBezTo>
                    <a:close/>
                    <a:moveTo>
                      <a:pt x="383540" y="229925"/>
                    </a:moveTo>
                    <a:cubicBezTo>
                      <a:pt x="379862" y="224408"/>
                      <a:pt x="372507" y="222570"/>
                      <a:pt x="366990" y="226247"/>
                    </a:cubicBezTo>
                    <a:lnTo>
                      <a:pt x="363313" y="228086"/>
                    </a:lnTo>
                    <a:lnTo>
                      <a:pt x="363313" y="226247"/>
                    </a:lnTo>
                    <a:cubicBezTo>
                      <a:pt x="379862" y="126952"/>
                      <a:pt x="315504" y="33173"/>
                      <a:pt x="216208" y="16624"/>
                    </a:cubicBezTo>
                    <a:cubicBezTo>
                      <a:pt x="208853" y="14785"/>
                      <a:pt x="203337" y="20301"/>
                      <a:pt x="201498" y="25818"/>
                    </a:cubicBezTo>
                    <a:cubicBezTo>
                      <a:pt x="199659" y="31334"/>
                      <a:pt x="205175" y="38689"/>
                      <a:pt x="210692" y="40528"/>
                    </a:cubicBezTo>
                    <a:cubicBezTo>
                      <a:pt x="295277" y="55239"/>
                      <a:pt x="352280" y="136146"/>
                      <a:pt x="337569" y="222570"/>
                    </a:cubicBezTo>
                    <a:lnTo>
                      <a:pt x="335731" y="218892"/>
                    </a:lnTo>
                    <a:cubicBezTo>
                      <a:pt x="332053" y="213376"/>
                      <a:pt x="324698" y="211537"/>
                      <a:pt x="319182" y="215215"/>
                    </a:cubicBezTo>
                    <a:cubicBezTo>
                      <a:pt x="313665" y="218892"/>
                      <a:pt x="311826" y="226247"/>
                      <a:pt x="315504" y="231764"/>
                    </a:cubicBezTo>
                    <a:lnTo>
                      <a:pt x="332053" y="261185"/>
                    </a:lnTo>
                    <a:cubicBezTo>
                      <a:pt x="335731" y="266701"/>
                      <a:pt x="343086" y="268540"/>
                      <a:pt x="348602" y="264862"/>
                    </a:cubicBezTo>
                    <a:lnTo>
                      <a:pt x="378023" y="248313"/>
                    </a:lnTo>
                    <a:cubicBezTo>
                      <a:pt x="385378" y="244636"/>
                      <a:pt x="387217" y="237280"/>
                      <a:pt x="383540" y="229925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64" name="文本框 63"/>
            <p:cNvSpPr txBox="1"/>
            <p:nvPr>
              <p:custDataLst>
                <p:tags r:id="rId9"/>
              </p:custDataLst>
            </p:nvPr>
          </p:nvSpPr>
          <p:spPr>
            <a:xfrm>
              <a:off x="1447" y="8422"/>
              <a:ext cx="5152" cy="384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限定场景自动驾驶模式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8" name="圆角矩形 37"/>
          <p:cNvSpPr/>
          <p:nvPr/>
        </p:nvSpPr>
        <p:spPr>
          <a:xfrm>
            <a:off x="4189730" y="1315085"/>
            <a:ext cx="3843020" cy="5107305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5207000" y="1129665"/>
            <a:ext cx="1808480" cy="3956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牵引生产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159750" y="1315085"/>
            <a:ext cx="3843020" cy="5107305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9177020" y="1129665"/>
            <a:ext cx="1808480" cy="3956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自主生产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6705" y="3094990"/>
            <a:ext cx="3737610" cy="318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知识助手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内部制度、操作手册、告警解释、历史故障案例智能问答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降低新人门槛，减少文档查询耗时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报告助手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自动化生成日报、周报、故障复盘报告、运维汇报材料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替代文案类重复劳动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问数助手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自然语言实现智能问数、指标查询、统计分析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快速获取网络性能、资源利用率、工单进度数据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分析助手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告警降噪、故障根因辅助定位、处置步骤建议生成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故障排查时长从小时级压缩到分钟级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318770" y="2752725"/>
            <a:ext cx="2564765" cy="264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落地场景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223385" y="3094990"/>
            <a:ext cx="3870325" cy="318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标准化故障自愈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针对高频、无重大风险的故障场景，智能生成方案，经校验 / 审批后，经传统 IT 接口执行，完成闭环验证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自动化运维巡检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机房远程智能巡检、设备健康检查、配置合规校验，AI 自动完成巡检分析、生成整改建议，审批后自动执行整改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工单全流程自动化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从告警生成、工单自动派发、根因分析、处置方案生成、执行闭环到工单归档，全流程 AI 自动化处理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网络资源智能调度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针对流量潮汐、重大活动保障，AI 自动生成资源调度方案，校验后自动执行，实现网络资源动态优化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168640" y="3094990"/>
            <a:ext cx="3882390" cy="318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多智能体闭环运维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复杂网络故障、批量网络优化场景，多 AI Agent 协同分工，完成故障定位、方案生成、仿真验证、执行调度、闭环验证全流程无人干预，超规则场景转人工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意图驱动网络闭环管理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意图识别，自动完成目标拆解、流程编排、方案生成、仿真验证、执行调度、闭环优化，全流程自治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数字孪生 </a:t>
            </a:r>
            <a:r>
              <a:rPr lang="en-US" alt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推演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网络升级、参数调整、新业务上线前，</a:t>
            </a:r>
            <a:r>
              <a:rPr lang="en-US" altLang="zh-CN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先在数字孪生空间完成仿真推演、压力测试、风险预判，执行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网络全生命周期智能管理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网络规划、建设、运维、优化、退网全流程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智能化管理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自动完成方案生成、进度跟踪、保障优化、退网评估</a:t>
            </a:r>
            <a:endParaRPr lang="zh-CN" altLang="en-US" sz="12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370205" y="3084195"/>
            <a:ext cx="2082165" cy="1905"/>
          </a:xfrm>
          <a:prstGeom prst="line">
            <a:avLst/>
          </a:prstGeom>
          <a:ln>
            <a:gradFill>
              <a:gsLst>
                <a:gs pos="0">
                  <a:srgbClr val="3A6DEC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>
            <p:custDataLst>
              <p:tags r:id="rId11"/>
            </p:custDataLst>
          </p:nvPr>
        </p:nvSpPr>
        <p:spPr>
          <a:xfrm>
            <a:off x="4286885" y="2752725"/>
            <a:ext cx="2564765" cy="264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落地场景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4338320" y="3084195"/>
            <a:ext cx="2082165" cy="1905"/>
          </a:xfrm>
          <a:prstGeom prst="line">
            <a:avLst/>
          </a:prstGeom>
          <a:ln>
            <a:gradFill>
              <a:gsLst>
                <a:gs pos="0">
                  <a:srgbClr val="3A6DEC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12"/>
            </p:custDataLst>
          </p:nvPr>
        </p:nvSpPr>
        <p:spPr>
          <a:xfrm>
            <a:off x="8209915" y="2752725"/>
            <a:ext cx="2564765" cy="26479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落地场景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8261350" y="3084195"/>
            <a:ext cx="2082165" cy="1905"/>
          </a:xfrm>
          <a:prstGeom prst="line">
            <a:avLst/>
          </a:prstGeom>
          <a:ln>
            <a:gradFill>
              <a:gsLst>
                <a:gs pos="0">
                  <a:srgbClr val="3A6DEC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>
            <p:custDataLst>
              <p:tags r:id="rId13"/>
            </p:custDataLst>
          </p:nvPr>
        </p:nvSpPr>
        <p:spPr>
          <a:xfrm>
            <a:off x="4314825" y="1920875"/>
            <a:ext cx="3338830" cy="755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牵引生产流程，人做最终审批兜底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对话框为主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，人只在必要时输入少量信息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部分接管，有限风险可控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14"/>
            </p:custDataLst>
          </p:nvPr>
        </p:nvSpPr>
        <p:spPr>
          <a:xfrm>
            <a:off x="8261350" y="1920875"/>
            <a:ext cx="3648075" cy="755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过渡到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自主决策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，人仅做极端异常兜底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自愈、优化等特定闭环场景的流程调度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闭环自治，限定场景可控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 vert="horz" lIns="68513" tIns="34278" rIns="68513" bIns="34278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AI+传统IT系统的分工协作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549910" y="594995"/>
            <a:ext cx="9086850" cy="681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传统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IT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系统：</a:t>
            </a:r>
            <a:r>
              <a:rPr kumimoji="0" lang="zh-CN" altLang="en-US" sz="1600" b="1" i="0" u="none" strike="noStrike" kern="1200" cap="none" spc="0" normalizeH="0" baseline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记录与执行，配置下发、工单执行、权限管控、数据存储、数据服务</a:t>
            </a:r>
            <a:endParaRPr kumimoji="0" lang="zh-CN" altLang="en-US" sz="1600" b="1" i="0" u="none" strike="noStrike" kern="1200" cap="none" spc="0" normalizeH="0" baseline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285750" indent="-285750" algn="l" fontAlgn="auto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AI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引擎服务：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分析与决策，数据解读、根因分析、方案生成、建议输出、流程编排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37030" y="6278479"/>
            <a:ext cx="5018405" cy="338455"/>
            <a:chOff x="1773" y="7612"/>
            <a:chExt cx="9086" cy="533"/>
          </a:xfrm>
        </p:grpSpPr>
        <p:sp>
          <p:nvSpPr>
            <p:cNvPr id="27" name="矩形 26"/>
            <p:cNvSpPr/>
            <p:nvPr/>
          </p:nvSpPr>
          <p:spPr>
            <a:xfrm>
              <a:off x="1773" y="7612"/>
              <a:ext cx="2518" cy="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设备资源管理</a:t>
              </a: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057" y="7612"/>
              <a:ext cx="2518" cy="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算力调度</a:t>
              </a: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8341" y="7612"/>
              <a:ext cx="2518" cy="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维护监控分析</a:t>
              </a: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sp>
        <p:nvSpPr>
          <p:cNvPr id="49" name="MH_SubTitle_1"/>
          <p:cNvSpPr/>
          <p:nvPr>
            <p:custDataLst>
              <p:tags r:id="rId1"/>
            </p:custDataLst>
          </p:nvPr>
        </p:nvSpPr>
        <p:spPr>
          <a:xfrm flipH="1">
            <a:off x="391987" y="6079089"/>
            <a:ext cx="610579" cy="635809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zh-CN" altLang="en-US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基础</a:t>
            </a:r>
            <a:endParaRPr lang="zh-CN" altLang="en-US" sz="1400" b="1" dirty="0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设施</a:t>
            </a:r>
            <a:endParaRPr lang="zh-CN" altLang="en-US" sz="1400" b="1" dirty="0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MH_SubTitle_1"/>
          <p:cNvSpPr/>
          <p:nvPr>
            <p:custDataLst>
              <p:tags r:id="rId2"/>
            </p:custDataLst>
          </p:nvPr>
        </p:nvSpPr>
        <p:spPr>
          <a:xfrm flipH="1">
            <a:off x="391987" y="4685899"/>
            <a:ext cx="610579" cy="635809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中台</a:t>
            </a:r>
            <a:endParaRPr lang="zh-CN" altLang="en-US" sz="1400" b="1" dirty="0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en-US" altLang="zh-CN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Maas</a:t>
            </a:r>
            <a:endParaRPr lang="en-US" altLang="zh-CN" sz="1400" b="1" dirty="0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矩形 5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31570" y="4401629"/>
            <a:ext cx="6047740" cy="1324400"/>
          </a:xfrm>
          <a:prstGeom prst="rect">
            <a:avLst/>
          </a:prstGeom>
          <a:gradFill>
            <a:gsLst>
              <a:gs pos="0">
                <a:srgbClr val="0082FF">
                  <a:alpha val="13000"/>
                </a:srgbClr>
              </a:gs>
              <a:gs pos="57000">
                <a:srgbClr val="0082FF">
                  <a:alpha val="1000"/>
                </a:srgbClr>
              </a:gs>
            </a:gsLst>
            <a:lin ang="5400000" scaled="1"/>
          </a:gradFill>
          <a:ln w="3175">
            <a:noFill/>
          </a:ln>
        </p:spPr>
        <p:txBody>
          <a:bodyPr lIns="17138" tIns="17138" rIns="17138" bIns="17138" rtlCol="0" anchor="ctr" anchorCtr="0">
            <a:noAutofit/>
          </a:bodyPr>
          <a:lstStyle/>
          <a:p>
            <a:pPr algn="ctr" defTabSz="64135">
              <a:defRPr/>
            </a:pPr>
            <a:endParaRPr lang="en-US" altLang="zh-CN" dirty="0">
              <a:solidFill>
                <a:srgbClr val="1678F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637665" y="5355155"/>
            <a:ext cx="2444699" cy="370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大模型能力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（DeepSeek，Qwen，九天网络大模型）</a:t>
            </a:r>
            <a:endParaRPr kumimoji="0" lang="zh-CN" altLang="en-US" sz="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244559" y="5355155"/>
            <a:ext cx="2444699" cy="370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小模型能力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(图像识别、文字识别、数据挖掘)</a:t>
            </a:r>
            <a:endParaRPr kumimoji="0" lang="zh-CN" altLang="en-US" sz="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637665" y="4938205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数据接入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941112" y="4938205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数据预处理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244559" y="4934872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模型训练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548006" y="4931165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模型服务发布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637665" y="4511117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知识库管理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941112" y="4511117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提示词管理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244559" y="4511117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工具管理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548006" y="4511117"/>
            <a:ext cx="1141252" cy="3031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流程编排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1132205" y="4960854"/>
            <a:ext cx="6047105" cy="1261745"/>
            <a:chOff x="1965" y="6882"/>
            <a:chExt cx="9523" cy="1987"/>
          </a:xfrm>
        </p:grpSpPr>
        <p:sp>
          <p:nvSpPr>
            <p:cNvPr id="63" name="梯形 62"/>
            <p:cNvSpPr/>
            <p:nvPr/>
          </p:nvSpPr>
          <p:spPr>
            <a:xfrm>
              <a:off x="1965" y="6882"/>
              <a:ext cx="9523" cy="1987"/>
            </a:xfrm>
            <a:prstGeom prst="trapezoid">
              <a:avLst>
                <a:gd name="adj" fmla="val 200795"/>
              </a:avLst>
            </a:prstGeom>
            <a:gradFill>
              <a:gsLst>
                <a:gs pos="28000">
                  <a:srgbClr val="1D78FA">
                    <a:lumMod val="60000"/>
                    <a:lumOff val="40000"/>
                    <a:alpha val="17000"/>
                  </a:srgbClr>
                </a:gs>
                <a:gs pos="3000">
                  <a:srgbClr val="1D78FA">
                    <a:alpha val="19000"/>
                  </a:srgbClr>
                </a:gs>
                <a:gs pos="6900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Roboto Regular" charset="0"/>
                <a:ea typeface="思源黑体 CN Regular" charset="0"/>
              </a:endParaRPr>
            </a:p>
          </p:txBody>
        </p:sp>
        <p:sp>
          <p:nvSpPr>
            <p:cNvPr id="64" name="Freeform 2"/>
            <p:cNvSpPr/>
            <p:nvPr/>
          </p:nvSpPr>
          <p:spPr bwMode="gray">
            <a:xfrm rot="10800000" flipV="1">
              <a:off x="3043" y="8143"/>
              <a:ext cx="7524" cy="726"/>
            </a:xfrm>
            <a:custGeom>
              <a:avLst/>
              <a:gdLst/>
              <a:ahLst/>
              <a:cxnLst>
                <a:cxn ang="0">
                  <a:pos x="0" y="2240"/>
                </a:cxn>
                <a:cxn ang="0">
                  <a:pos x="1122" y="702"/>
                </a:cxn>
                <a:cxn ang="0">
                  <a:pos x="972" y="744"/>
                </a:cxn>
                <a:cxn ang="0">
                  <a:pos x="1140" y="438"/>
                </a:cxn>
                <a:cxn ang="0">
                  <a:pos x="1422" y="642"/>
                </a:cxn>
                <a:cxn ang="0">
                  <a:pos x="1272" y="672"/>
                </a:cxn>
                <a:cxn ang="0">
                  <a:pos x="1968" y="1284"/>
                </a:cxn>
                <a:cxn ang="0">
                  <a:pos x="2466" y="318"/>
                </a:cxn>
                <a:cxn ang="0">
                  <a:pos x="2280" y="318"/>
                </a:cxn>
                <a:cxn ang="0">
                  <a:pos x="2598" y="0"/>
                </a:cxn>
                <a:cxn ang="0">
                  <a:pos x="2898" y="330"/>
                </a:cxn>
                <a:cxn ang="0">
                  <a:pos x="2724" y="324"/>
                </a:cxn>
                <a:cxn ang="0">
                  <a:pos x="3210" y="1302"/>
                </a:cxn>
                <a:cxn ang="0">
                  <a:pos x="3870" y="654"/>
                </a:cxn>
                <a:cxn ang="0">
                  <a:pos x="3702" y="642"/>
                </a:cxn>
                <a:cxn ang="0">
                  <a:pos x="3984" y="420"/>
                </a:cxn>
                <a:cxn ang="0">
                  <a:pos x="4182" y="678"/>
                </a:cxn>
                <a:cxn ang="0">
                  <a:pos x="4026" y="672"/>
                </a:cxn>
                <a:cxn ang="0">
                  <a:pos x="5016" y="2225"/>
                </a:cxn>
                <a:cxn ang="0">
                  <a:pos x="0" y="2240"/>
                </a:cxn>
              </a:cxnLst>
              <a:rect l="0" t="0" r="r" b="b"/>
              <a:pathLst>
                <a:path w="5016" h="2256">
                  <a:moveTo>
                    <a:pt x="0" y="2240"/>
                  </a:moveTo>
                  <a:cubicBezTo>
                    <a:pt x="276" y="2109"/>
                    <a:pt x="1182" y="1474"/>
                    <a:pt x="1122" y="702"/>
                  </a:cubicBezTo>
                  <a:lnTo>
                    <a:pt x="972" y="744"/>
                  </a:lnTo>
                  <a:cubicBezTo>
                    <a:pt x="988" y="702"/>
                    <a:pt x="1140" y="436"/>
                    <a:pt x="1140" y="438"/>
                  </a:cubicBezTo>
                  <a:lnTo>
                    <a:pt x="1422" y="642"/>
                  </a:lnTo>
                  <a:cubicBezTo>
                    <a:pt x="1422" y="642"/>
                    <a:pt x="1260" y="672"/>
                    <a:pt x="1272" y="672"/>
                  </a:cubicBezTo>
                  <a:cubicBezTo>
                    <a:pt x="1428" y="1008"/>
                    <a:pt x="1620" y="1350"/>
                    <a:pt x="1968" y="1284"/>
                  </a:cubicBezTo>
                  <a:cubicBezTo>
                    <a:pt x="2316" y="1218"/>
                    <a:pt x="2460" y="576"/>
                    <a:pt x="2466" y="318"/>
                  </a:cubicBezTo>
                  <a:lnTo>
                    <a:pt x="2280" y="318"/>
                  </a:lnTo>
                  <a:lnTo>
                    <a:pt x="2598" y="0"/>
                  </a:lnTo>
                  <a:lnTo>
                    <a:pt x="2898" y="330"/>
                  </a:lnTo>
                  <a:lnTo>
                    <a:pt x="2724" y="324"/>
                  </a:lnTo>
                  <a:cubicBezTo>
                    <a:pt x="2724" y="325"/>
                    <a:pt x="2760" y="1284"/>
                    <a:pt x="3210" y="1302"/>
                  </a:cubicBezTo>
                  <a:cubicBezTo>
                    <a:pt x="3660" y="1320"/>
                    <a:pt x="3816" y="912"/>
                    <a:pt x="3870" y="654"/>
                  </a:cubicBezTo>
                  <a:lnTo>
                    <a:pt x="3702" y="642"/>
                  </a:lnTo>
                  <a:lnTo>
                    <a:pt x="3984" y="420"/>
                  </a:lnTo>
                  <a:lnTo>
                    <a:pt x="4182" y="678"/>
                  </a:lnTo>
                  <a:lnTo>
                    <a:pt x="4026" y="672"/>
                  </a:lnTo>
                  <a:cubicBezTo>
                    <a:pt x="4032" y="678"/>
                    <a:pt x="3960" y="1862"/>
                    <a:pt x="5016" y="2225"/>
                  </a:cubicBezTo>
                  <a:cubicBezTo>
                    <a:pt x="3438" y="2232"/>
                    <a:pt x="1092" y="2256"/>
                    <a:pt x="0" y="2240"/>
                  </a:cubicBezTo>
                  <a:close/>
                </a:path>
              </a:pathLst>
            </a:custGeom>
            <a:gradFill rotWithShape="1">
              <a:gsLst>
                <a:gs pos="58000">
                  <a:srgbClr val="EDF1F9">
                    <a:alpha val="100000"/>
                  </a:srgbClr>
                </a:gs>
                <a:gs pos="0">
                  <a:srgbClr val="4874CB">
                    <a:lumMod val="20000"/>
                    <a:lumOff val="80000"/>
                  </a:srgbClr>
                </a:gs>
                <a:gs pos="99000">
                  <a:sysClr val="window" lastClr="FFFFFF">
                    <a:alpha val="0"/>
                  </a:sys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123950" y="3795838"/>
            <a:ext cx="6046470" cy="605790"/>
            <a:chOff x="1965" y="6882"/>
            <a:chExt cx="9522" cy="1986"/>
          </a:xfrm>
        </p:grpSpPr>
        <p:sp>
          <p:nvSpPr>
            <p:cNvPr id="66" name="梯形 65"/>
            <p:cNvSpPr/>
            <p:nvPr/>
          </p:nvSpPr>
          <p:spPr>
            <a:xfrm>
              <a:off x="1965" y="6882"/>
              <a:ext cx="9523" cy="1987"/>
            </a:xfrm>
            <a:prstGeom prst="trapezoid">
              <a:avLst>
                <a:gd name="adj" fmla="val 200795"/>
              </a:avLst>
            </a:prstGeom>
            <a:gradFill>
              <a:gsLst>
                <a:gs pos="28000">
                  <a:srgbClr val="1D78FA">
                    <a:lumMod val="60000"/>
                    <a:lumOff val="40000"/>
                    <a:alpha val="17000"/>
                  </a:srgbClr>
                </a:gs>
                <a:gs pos="3000">
                  <a:srgbClr val="1D78FA">
                    <a:alpha val="19000"/>
                  </a:srgbClr>
                </a:gs>
                <a:gs pos="6900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Roboto Regular" charset="0"/>
                <a:ea typeface="思源黑体 CN Regular" charset="0"/>
              </a:endParaRPr>
            </a:p>
          </p:txBody>
        </p:sp>
        <p:sp>
          <p:nvSpPr>
            <p:cNvPr id="67" name="Freeform 2"/>
            <p:cNvSpPr/>
            <p:nvPr/>
          </p:nvSpPr>
          <p:spPr bwMode="gray">
            <a:xfrm rot="10800000" flipV="1">
              <a:off x="3043" y="7919"/>
              <a:ext cx="7524" cy="918"/>
            </a:xfrm>
            <a:custGeom>
              <a:avLst/>
              <a:gdLst/>
              <a:ahLst/>
              <a:cxnLst>
                <a:cxn ang="0">
                  <a:pos x="0" y="2240"/>
                </a:cxn>
                <a:cxn ang="0">
                  <a:pos x="1122" y="702"/>
                </a:cxn>
                <a:cxn ang="0">
                  <a:pos x="972" y="744"/>
                </a:cxn>
                <a:cxn ang="0">
                  <a:pos x="1140" y="438"/>
                </a:cxn>
                <a:cxn ang="0">
                  <a:pos x="1422" y="642"/>
                </a:cxn>
                <a:cxn ang="0">
                  <a:pos x="1272" y="672"/>
                </a:cxn>
                <a:cxn ang="0">
                  <a:pos x="1968" y="1284"/>
                </a:cxn>
                <a:cxn ang="0">
                  <a:pos x="2466" y="318"/>
                </a:cxn>
                <a:cxn ang="0">
                  <a:pos x="2280" y="318"/>
                </a:cxn>
                <a:cxn ang="0">
                  <a:pos x="2598" y="0"/>
                </a:cxn>
                <a:cxn ang="0">
                  <a:pos x="2898" y="330"/>
                </a:cxn>
                <a:cxn ang="0">
                  <a:pos x="2724" y="324"/>
                </a:cxn>
                <a:cxn ang="0">
                  <a:pos x="3210" y="1302"/>
                </a:cxn>
                <a:cxn ang="0">
                  <a:pos x="3870" y="654"/>
                </a:cxn>
                <a:cxn ang="0">
                  <a:pos x="3702" y="642"/>
                </a:cxn>
                <a:cxn ang="0">
                  <a:pos x="3984" y="420"/>
                </a:cxn>
                <a:cxn ang="0">
                  <a:pos x="4182" y="678"/>
                </a:cxn>
                <a:cxn ang="0">
                  <a:pos x="4026" y="672"/>
                </a:cxn>
                <a:cxn ang="0">
                  <a:pos x="5016" y="2225"/>
                </a:cxn>
                <a:cxn ang="0">
                  <a:pos x="0" y="2240"/>
                </a:cxn>
              </a:cxnLst>
              <a:rect l="0" t="0" r="r" b="b"/>
              <a:pathLst>
                <a:path w="5016" h="2256">
                  <a:moveTo>
                    <a:pt x="0" y="2240"/>
                  </a:moveTo>
                  <a:cubicBezTo>
                    <a:pt x="276" y="2109"/>
                    <a:pt x="1182" y="1474"/>
                    <a:pt x="1122" y="702"/>
                  </a:cubicBezTo>
                  <a:lnTo>
                    <a:pt x="972" y="744"/>
                  </a:lnTo>
                  <a:cubicBezTo>
                    <a:pt x="988" y="702"/>
                    <a:pt x="1140" y="436"/>
                    <a:pt x="1140" y="438"/>
                  </a:cubicBezTo>
                  <a:lnTo>
                    <a:pt x="1422" y="642"/>
                  </a:lnTo>
                  <a:cubicBezTo>
                    <a:pt x="1422" y="642"/>
                    <a:pt x="1260" y="672"/>
                    <a:pt x="1272" y="672"/>
                  </a:cubicBezTo>
                  <a:cubicBezTo>
                    <a:pt x="1428" y="1008"/>
                    <a:pt x="1620" y="1350"/>
                    <a:pt x="1968" y="1284"/>
                  </a:cubicBezTo>
                  <a:cubicBezTo>
                    <a:pt x="2316" y="1218"/>
                    <a:pt x="2460" y="576"/>
                    <a:pt x="2466" y="318"/>
                  </a:cubicBezTo>
                  <a:lnTo>
                    <a:pt x="2280" y="318"/>
                  </a:lnTo>
                  <a:lnTo>
                    <a:pt x="2598" y="0"/>
                  </a:lnTo>
                  <a:lnTo>
                    <a:pt x="2898" y="330"/>
                  </a:lnTo>
                  <a:lnTo>
                    <a:pt x="2724" y="324"/>
                  </a:lnTo>
                  <a:cubicBezTo>
                    <a:pt x="2724" y="325"/>
                    <a:pt x="2760" y="1284"/>
                    <a:pt x="3210" y="1302"/>
                  </a:cubicBezTo>
                  <a:cubicBezTo>
                    <a:pt x="3660" y="1320"/>
                    <a:pt x="3816" y="912"/>
                    <a:pt x="3870" y="654"/>
                  </a:cubicBezTo>
                  <a:lnTo>
                    <a:pt x="3702" y="642"/>
                  </a:lnTo>
                  <a:lnTo>
                    <a:pt x="3984" y="420"/>
                  </a:lnTo>
                  <a:lnTo>
                    <a:pt x="4182" y="678"/>
                  </a:lnTo>
                  <a:lnTo>
                    <a:pt x="4026" y="672"/>
                  </a:lnTo>
                  <a:cubicBezTo>
                    <a:pt x="4032" y="678"/>
                    <a:pt x="3960" y="1862"/>
                    <a:pt x="5016" y="2225"/>
                  </a:cubicBezTo>
                  <a:cubicBezTo>
                    <a:pt x="3438" y="2232"/>
                    <a:pt x="1092" y="2256"/>
                    <a:pt x="0" y="2240"/>
                  </a:cubicBezTo>
                  <a:close/>
                </a:path>
              </a:pathLst>
            </a:custGeom>
            <a:gradFill rotWithShape="1">
              <a:gsLst>
                <a:gs pos="58000">
                  <a:srgbClr val="EDF1F9">
                    <a:alpha val="100000"/>
                  </a:srgbClr>
                </a:gs>
                <a:gs pos="0">
                  <a:srgbClr val="4874CB">
                    <a:lumMod val="20000"/>
                    <a:lumOff val="80000"/>
                  </a:srgbClr>
                </a:gs>
                <a:gs pos="99000">
                  <a:sysClr val="window" lastClr="FFFFFF">
                    <a:alpha val="0"/>
                  </a:sys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8" name="矩形 6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55065" y="2313539"/>
            <a:ext cx="6047740" cy="1701008"/>
          </a:xfrm>
          <a:prstGeom prst="rect">
            <a:avLst/>
          </a:prstGeom>
          <a:gradFill>
            <a:gsLst>
              <a:gs pos="0">
                <a:srgbClr val="0082FF">
                  <a:alpha val="13000"/>
                </a:srgbClr>
              </a:gs>
              <a:gs pos="57000">
                <a:srgbClr val="0082FF">
                  <a:alpha val="1000"/>
                </a:srgbClr>
              </a:gs>
            </a:gsLst>
            <a:lin ang="5400000" scaled="1"/>
          </a:gradFill>
          <a:ln w="3175">
            <a:noFill/>
          </a:ln>
        </p:spPr>
        <p:txBody>
          <a:bodyPr lIns="17138" tIns="17138" rIns="17138" bIns="17138" rtlCol="0" anchor="ctr" anchorCtr="0">
            <a:noAutofit/>
          </a:bodyPr>
          <a:lstStyle/>
          <a:p>
            <a:pPr algn="ctr" defTabSz="64135">
              <a:defRPr/>
            </a:pPr>
            <a:endParaRPr lang="en-US" altLang="zh-CN" dirty="0">
              <a:solidFill>
                <a:srgbClr val="1678F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636134" y="3187765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权限管控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636134" y="3585059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数据服务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636134" y="2793119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配置下发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653697" y="3187420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数据存储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2653697" y="2793119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工单执行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652213" y="3585877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en-US" altLang="zh-CN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325880" y="2427605"/>
            <a:ext cx="2629535" cy="1560195"/>
          </a:xfrm>
          <a:prstGeom prst="rect">
            <a:avLst/>
          </a:prstGeom>
          <a:noFill/>
          <a:ln w="12700" cap="flat" cmpd="sng" algn="ctr">
            <a:solidFill>
              <a:srgbClr val="4874CB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244340" y="2427605"/>
            <a:ext cx="2673985" cy="156019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8" name="MH_SubTitle_1"/>
          <p:cNvSpPr/>
          <p:nvPr>
            <p:custDataLst>
              <p:tags r:id="rId5"/>
            </p:custDataLst>
          </p:nvPr>
        </p:nvSpPr>
        <p:spPr>
          <a:xfrm flipH="1">
            <a:off x="391987" y="2790424"/>
            <a:ext cx="610579" cy="635809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AI+IT</a:t>
            </a:r>
            <a:endParaRPr lang="zh-CN" altLang="en-US" sz="1400" b="1" dirty="0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圆角矩形 27"/>
          <p:cNvSpPr/>
          <p:nvPr/>
        </p:nvSpPr>
        <p:spPr>
          <a:xfrm>
            <a:off x="1961515" y="2481580"/>
            <a:ext cx="1322070" cy="256540"/>
          </a:xfrm>
          <a:prstGeom prst="roundRect">
            <a:avLst/>
          </a:prstGeom>
          <a:gradFill>
            <a:gsLst>
              <a:gs pos="100000">
                <a:srgbClr val="D6EBFD"/>
              </a:gs>
              <a:gs pos="33000">
                <a:srgbClr val="0070BF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kern="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传统</a:t>
            </a:r>
            <a:r>
              <a:rPr lang="en-US" altLang="zh-CN" sz="1200" b="1" kern="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altLang="en-US" sz="1200" b="1" kern="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endParaRPr lang="zh-CN" altLang="en-US" sz="1200" b="1" kern="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圆角矩形 27"/>
          <p:cNvSpPr/>
          <p:nvPr/>
        </p:nvSpPr>
        <p:spPr>
          <a:xfrm>
            <a:off x="4907280" y="2481580"/>
            <a:ext cx="1367790" cy="256540"/>
          </a:xfrm>
          <a:prstGeom prst="roundRect">
            <a:avLst/>
          </a:prstGeom>
          <a:gradFill>
            <a:gsLst>
              <a:gs pos="100000">
                <a:srgbClr val="D6EBFD"/>
              </a:gs>
              <a:gs pos="33000">
                <a:srgbClr val="0070BF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kern="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200" b="1" kern="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引擎服务</a:t>
            </a:r>
            <a:endParaRPr lang="zh-CN" altLang="en-US" sz="1200" b="1" kern="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123950" y="1545189"/>
            <a:ext cx="6047105" cy="768350"/>
            <a:chOff x="1965" y="6882"/>
            <a:chExt cx="9523" cy="1987"/>
          </a:xfrm>
        </p:grpSpPr>
        <p:sp>
          <p:nvSpPr>
            <p:cNvPr id="82" name="梯形 81"/>
            <p:cNvSpPr/>
            <p:nvPr/>
          </p:nvSpPr>
          <p:spPr>
            <a:xfrm>
              <a:off x="1965" y="6882"/>
              <a:ext cx="9523" cy="1987"/>
            </a:xfrm>
            <a:prstGeom prst="trapezoid">
              <a:avLst>
                <a:gd name="adj" fmla="val 200795"/>
              </a:avLst>
            </a:prstGeom>
            <a:gradFill>
              <a:gsLst>
                <a:gs pos="28000">
                  <a:srgbClr val="1D78FA">
                    <a:lumMod val="60000"/>
                    <a:lumOff val="40000"/>
                    <a:alpha val="17000"/>
                  </a:srgbClr>
                </a:gs>
                <a:gs pos="3000">
                  <a:srgbClr val="1D78FA">
                    <a:alpha val="19000"/>
                  </a:srgbClr>
                </a:gs>
                <a:gs pos="6900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Roboto Regular" charset="0"/>
                <a:ea typeface="思源黑体 CN Regular" charset="0"/>
              </a:endParaRPr>
            </a:p>
          </p:txBody>
        </p:sp>
        <p:sp>
          <p:nvSpPr>
            <p:cNvPr id="83" name="Freeform 2"/>
            <p:cNvSpPr/>
            <p:nvPr/>
          </p:nvSpPr>
          <p:spPr bwMode="gray">
            <a:xfrm rot="10800000" flipV="1">
              <a:off x="3043" y="7641"/>
              <a:ext cx="7524" cy="1228"/>
            </a:xfrm>
            <a:custGeom>
              <a:avLst/>
              <a:gdLst/>
              <a:ahLst/>
              <a:cxnLst>
                <a:cxn ang="0">
                  <a:pos x="0" y="2240"/>
                </a:cxn>
                <a:cxn ang="0">
                  <a:pos x="1122" y="702"/>
                </a:cxn>
                <a:cxn ang="0">
                  <a:pos x="972" y="744"/>
                </a:cxn>
                <a:cxn ang="0">
                  <a:pos x="1140" y="438"/>
                </a:cxn>
                <a:cxn ang="0">
                  <a:pos x="1422" y="642"/>
                </a:cxn>
                <a:cxn ang="0">
                  <a:pos x="1272" y="672"/>
                </a:cxn>
                <a:cxn ang="0">
                  <a:pos x="1968" y="1284"/>
                </a:cxn>
                <a:cxn ang="0">
                  <a:pos x="2466" y="318"/>
                </a:cxn>
                <a:cxn ang="0">
                  <a:pos x="2280" y="318"/>
                </a:cxn>
                <a:cxn ang="0">
                  <a:pos x="2598" y="0"/>
                </a:cxn>
                <a:cxn ang="0">
                  <a:pos x="2898" y="330"/>
                </a:cxn>
                <a:cxn ang="0">
                  <a:pos x="2724" y="324"/>
                </a:cxn>
                <a:cxn ang="0">
                  <a:pos x="3210" y="1302"/>
                </a:cxn>
                <a:cxn ang="0">
                  <a:pos x="3870" y="654"/>
                </a:cxn>
                <a:cxn ang="0">
                  <a:pos x="3702" y="642"/>
                </a:cxn>
                <a:cxn ang="0">
                  <a:pos x="3984" y="420"/>
                </a:cxn>
                <a:cxn ang="0">
                  <a:pos x="4182" y="678"/>
                </a:cxn>
                <a:cxn ang="0">
                  <a:pos x="4026" y="672"/>
                </a:cxn>
                <a:cxn ang="0">
                  <a:pos x="5016" y="2225"/>
                </a:cxn>
                <a:cxn ang="0">
                  <a:pos x="0" y="2240"/>
                </a:cxn>
              </a:cxnLst>
              <a:rect l="0" t="0" r="r" b="b"/>
              <a:pathLst>
                <a:path w="5016" h="2256">
                  <a:moveTo>
                    <a:pt x="0" y="2240"/>
                  </a:moveTo>
                  <a:cubicBezTo>
                    <a:pt x="276" y="2109"/>
                    <a:pt x="1182" y="1474"/>
                    <a:pt x="1122" y="702"/>
                  </a:cubicBezTo>
                  <a:lnTo>
                    <a:pt x="972" y="744"/>
                  </a:lnTo>
                  <a:cubicBezTo>
                    <a:pt x="988" y="702"/>
                    <a:pt x="1140" y="436"/>
                    <a:pt x="1140" y="438"/>
                  </a:cubicBezTo>
                  <a:lnTo>
                    <a:pt x="1422" y="642"/>
                  </a:lnTo>
                  <a:cubicBezTo>
                    <a:pt x="1422" y="642"/>
                    <a:pt x="1260" y="672"/>
                    <a:pt x="1272" y="672"/>
                  </a:cubicBezTo>
                  <a:cubicBezTo>
                    <a:pt x="1428" y="1008"/>
                    <a:pt x="1620" y="1350"/>
                    <a:pt x="1968" y="1284"/>
                  </a:cubicBezTo>
                  <a:cubicBezTo>
                    <a:pt x="2316" y="1218"/>
                    <a:pt x="2460" y="576"/>
                    <a:pt x="2466" y="318"/>
                  </a:cubicBezTo>
                  <a:lnTo>
                    <a:pt x="2280" y="318"/>
                  </a:lnTo>
                  <a:lnTo>
                    <a:pt x="2598" y="0"/>
                  </a:lnTo>
                  <a:lnTo>
                    <a:pt x="2898" y="330"/>
                  </a:lnTo>
                  <a:lnTo>
                    <a:pt x="2724" y="324"/>
                  </a:lnTo>
                  <a:cubicBezTo>
                    <a:pt x="2724" y="325"/>
                    <a:pt x="2760" y="1284"/>
                    <a:pt x="3210" y="1302"/>
                  </a:cubicBezTo>
                  <a:cubicBezTo>
                    <a:pt x="3660" y="1320"/>
                    <a:pt x="3816" y="912"/>
                    <a:pt x="3870" y="654"/>
                  </a:cubicBezTo>
                  <a:lnTo>
                    <a:pt x="3702" y="642"/>
                  </a:lnTo>
                  <a:lnTo>
                    <a:pt x="3984" y="420"/>
                  </a:lnTo>
                  <a:lnTo>
                    <a:pt x="4182" y="678"/>
                  </a:lnTo>
                  <a:lnTo>
                    <a:pt x="4026" y="672"/>
                  </a:lnTo>
                  <a:cubicBezTo>
                    <a:pt x="4032" y="678"/>
                    <a:pt x="3960" y="1862"/>
                    <a:pt x="5016" y="2225"/>
                  </a:cubicBezTo>
                  <a:cubicBezTo>
                    <a:pt x="3438" y="2232"/>
                    <a:pt x="1092" y="2256"/>
                    <a:pt x="0" y="2240"/>
                  </a:cubicBezTo>
                  <a:close/>
                </a:path>
              </a:pathLst>
            </a:custGeom>
            <a:gradFill rotWithShape="1">
              <a:gsLst>
                <a:gs pos="58000">
                  <a:srgbClr val="EDF1F9">
                    <a:alpha val="100000"/>
                  </a:srgbClr>
                </a:gs>
                <a:gs pos="0">
                  <a:srgbClr val="4874CB">
                    <a:lumMod val="20000"/>
                    <a:lumOff val="80000"/>
                  </a:srgbClr>
                </a:gs>
                <a:gs pos="99000">
                  <a:sysClr val="window" lastClr="FFFFFF">
                    <a:alpha val="0"/>
                  </a:sys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4" name="MH_SubTitle_1"/>
          <p:cNvSpPr/>
          <p:nvPr>
            <p:custDataLst>
              <p:tags r:id="rId6"/>
            </p:custDataLst>
          </p:nvPr>
        </p:nvSpPr>
        <p:spPr>
          <a:xfrm flipH="1">
            <a:off x="391987" y="1360272"/>
            <a:ext cx="610579" cy="635809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zh-CN" altLang="en-US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</a:t>
            </a:r>
            <a:endParaRPr lang="zh-CN" altLang="en-US" sz="1400" b="1" dirty="0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400" b="1" dirty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价值</a:t>
            </a:r>
            <a:endParaRPr lang="zh-CN" altLang="en-US" sz="1400" b="1" dirty="0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矩形 8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55065" y="1420094"/>
            <a:ext cx="6047740" cy="501015"/>
          </a:xfrm>
          <a:prstGeom prst="rect">
            <a:avLst/>
          </a:prstGeom>
          <a:gradFill>
            <a:gsLst>
              <a:gs pos="0">
                <a:srgbClr val="0082FF">
                  <a:alpha val="13000"/>
                </a:srgbClr>
              </a:gs>
              <a:gs pos="57000">
                <a:srgbClr val="0082FF">
                  <a:alpha val="1000"/>
                </a:srgbClr>
              </a:gs>
            </a:gsLst>
            <a:lin ang="5400000" scaled="1"/>
          </a:gradFill>
          <a:ln w="3175">
            <a:noFill/>
          </a:ln>
        </p:spPr>
        <p:txBody>
          <a:bodyPr lIns="17138" tIns="17138" rIns="17138" bIns="17138" rtlCol="0" anchor="ctr" anchorCtr="0">
            <a:noAutofit/>
          </a:bodyPr>
          <a:lstStyle/>
          <a:p>
            <a:pPr algn="ctr" defTabSz="64135">
              <a:defRPr/>
            </a:pPr>
            <a:endParaRPr lang="en-US" altLang="zh-CN" dirty="0">
              <a:solidFill>
                <a:srgbClr val="1678F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421765" y="1494155"/>
            <a:ext cx="147193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提升运维效率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433445" y="1494155"/>
            <a:ext cx="147193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提升网络质量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5445125" y="1494155"/>
            <a:ext cx="147193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提升客户体验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2" name="圆角矩形 27"/>
          <p:cNvSpPr/>
          <p:nvPr/>
        </p:nvSpPr>
        <p:spPr>
          <a:xfrm>
            <a:off x="7423785" y="1419860"/>
            <a:ext cx="4205605" cy="5097145"/>
          </a:xfrm>
          <a:prstGeom prst="roundRect">
            <a:avLst>
              <a:gd name="adj" fmla="val 5058"/>
            </a:avLst>
          </a:prstGeom>
          <a:gradFill>
            <a:gsLst>
              <a:gs pos="100000">
                <a:srgbClr val="D6EBFD">
                  <a:alpha val="0"/>
                </a:srgbClr>
              </a:gs>
              <a:gs pos="33000">
                <a:srgbClr val="4874CB">
                  <a:lumMod val="20000"/>
                  <a:lumOff val="80000"/>
                  <a:alpha val="52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圆角矩形 27"/>
          <p:cNvSpPr txBox="1"/>
          <p:nvPr/>
        </p:nvSpPr>
        <p:spPr>
          <a:xfrm>
            <a:off x="8660130" y="1706245"/>
            <a:ext cx="2332990" cy="264160"/>
          </a:xfrm>
          <a:prstGeom prst="roundRect">
            <a:avLst/>
          </a:prstGeom>
          <a:noFill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6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+ 2 + 1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建设体系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8093710" y="2077720"/>
            <a:ext cx="131762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数据智能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Data for AI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9289415" y="2077720"/>
            <a:ext cx="131762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服务智能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Capability for AI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0565765" y="2077720"/>
            <a:ext cx="131762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流程智能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Workflow for AI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423785" y="2472690"/>
            <a:ext cx="723900" cy="764540"/>
          </a:xfrm>
          <a:prstGeom prst="rect">
            <a:avLst/>
          </a:prstGeom>
          <a:noFill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lang="en-US" sz="14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3个</a:t>
            </a:r>
            <a:endParaRPr lang="en-US" sz="1400" b="1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lang="en-US" sz="14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维度</a:t>
            </a:r>
            <a:endParaRPr lang="en-US" sz="1400" b="1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423785" y="4137660"/>
            <a:ext cx="721995" cy="725170"/>
          </a:xfrm>
          <a:prstGeom prst="rect">
            <a:avLst/>
          </a:prstGeom>
          <a:noFill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lang="en-US" sz="14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2个</a:t>
            </a:r>
            <a:endParaRPr lang="en-US" sz="1400" b="1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lang="en-US" sz="14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闭环</a:t>
            </a:r>
            <a:endParaRPr lang="en-US" sz="1400" b="1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7424420" y="5438775"/>
            <a:ext cx="723900" cy="701040"/>
          </a:xfrm>
          <a:prstGeom prst="rect">
            <a:avLst/>
          </a:prstGeom>
          <a:noFill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lang="en-US" sz="14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1套</a:t>
            </a:r>
            <a:endParaRPr lang="en-US" sz="1400" b="1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lang="en-US" sz="14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治理</a:t>
            </a:r>
            <a:endParaRPr lang="en-US" sz="1400" b="1" kern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8442325" y="4025265"/>
            <a:ext cx="131762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价值闭环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可量化、可评估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0001885" y="4025265"/>
            <a:ext cx="131762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运营闭环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可观测、可追溯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890635" y="5314315"/>
            <a:ext cx="20059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精细化治理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权限、审计、评价、回滚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147050" y="2147570"/>
            <a:ext cx="3736340" cy="1402080"/>
          </a:xfrm>
          <a:prstGeom prst="rect">
            <a:avLst/>
          </a:prstGeom>
          <a:noFill/>
          <a:ln w="12700" cap="flat" cmpd="sng" algn="ctr">
            <a:solidFill>
              <a:srgbClr val="4874CB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46415" y="4138295"/>
            <a:ext cx="3736340" cy="716280"/>
          </a:xfrm>
          <a:prstGeom prst="rect">
            <a:avLst/>
          </a:prstGeom>
          <a:noFill/>
          <a:ln w="12700" cap="flat" cmpd="sng" algn="ctr">
            <a:solidFill>
              <a:srgbClr val="4874CB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47050" y="5438140"/>
            <a:ext cx="3736340" cy="701040"/>
          </a:xfrm>
          <a:prstGeom prst="rect">
            <a:avLst/>
          </a:prstGeom>
          <a:noFill/>
          <a:ln w="12700" cap="flat" cmpd="sng" algn="ctr">
            <a:solidFill>
              <a:srgbClr val="4874CB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60309" y="3184590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方案生成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60309" y="3581884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流程编排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60309" y="2789944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数据解读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77872" y="3184245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建议输出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77872" y="2789944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根因分析</a:t>
            </a:r>
            <a:endParaRPr lang="zh-CN" altLang="en-US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76388" y="3582702"/>
            <a:ext cx="933783" cy="3590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b="1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en-US" altLang="zh-CN" sz="1000" b="1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46415" y="2927350"/>
            <a:ext cx="1291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标准化治理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高质量数据集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91650" y="2927350"/>
            <a:ext cx="1123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标准化封装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合规校验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600690" y="2927350"/>
            <a:ext cx="1283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标准化流程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可编排框架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等腰三角形 24"/>
          <p:cNvSpPr/>
          <p:nvPr/>
        </p:nvSpPr>
        <p:spPr>
          <a:xfrm rot="16200000">
            <a:off x="3512820" y="3130550"/>
            <a:ext cx="1149350" cy="180975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AI产品架构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7535" y="596900"/>
            <a:ext cx="1127696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五层架构：</a:t>
            </a:r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模型层、数据层、能力层、智能体层、应用层</a:t>
            </a:r>
            <a:endParaRPr kumimoji="1"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标准体系：</a:t>
            </a:r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数据标准（指标中台）、能力标准（</a:t>
            </a:r>
            <a:r>
              <a:rPr kumimoji="1"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MCP</a:t>
            </a:r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能力管理）、流程标准（</a:t>
            </a:r>
            <a:r>
              <a:rPr kumimoji="1"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skills</a:t>
            </a:r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技能管理）、智能体标准（</a:t>
            </a:r>
            <a:r>
              <a:rPr kumimoji="1"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A2A</a:t>
            </a:r>
            <a:r>
              <a:rPr kumimoji="1"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智能体网关）</a:t>
            </a:r>
            <a:endParaRPr kumimoji="1"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2" name="圆角矩形 4"/>
          <p:cNvSpPr/>
          <p:nvPr/>
        </p:nvSpPr>
        <p:spPr>
          <a:xfrm>
            <a:off x="141605" y="4492177"/>
            <a:ext cx="11923395" cy="1101090"/>
          </a:xfrm>
          <a:prstGeom prst="roundRect">
            <a:avLst>
              <a:gd name="adj" fmla="val 3140"/>
            </a:avLst>
          </a:prstGeom>
          <a:solidFill>
            <a:schemeClr val="bg1"/>
          </a:solidFill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  <a:prstDash val="dash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数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据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任意多边形: 形状 18"/>
          <p:cNvSpPr/>
          <p:nvPr/>
        </p:nvSpPr>
        <p:spPr>
          <a:xfrm>
            <a:off x="7538085" y="4563915"/>
            <a:ext cx="4384039" cy="99125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: 形状 18"/>
          <p:cNvSpPr/>
          <p:nvPr/>
        </p:nvSpPr>
        <p:spPr>
          <a:xfrm>
            <a:off x="4634629" y="1264509"/>
            <a:ext cx="7287495" cy="72257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: 形状 18"/>
          <p:cNvSpPr/>
          <p:nvPr/>
        </p:nvSpPr>
        <p:spPr>
          <a:xfrm>
            <a:off x="623220" y="1264509"/>
            <a:ext cx="3913036" cy="72257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任意多边形: 形状 18"/>
          <p:cNvSpPr/>
          <p:nvPr/>
        </p:nvSpPr>
        <p:spPr>
          <a:xfrm>
            <a:off x="3993166" y="2188559"/>
            <a:ext cx="4473924" cy="1218565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圆角矩形 4"/>
          <p:cNvSpPr/>
          <p:nvPr/>
        </p:nvSpPr>
        <p:spPr>
          <a:xfrm>
            <a:off x="141605" y="5690236"/>
            <a:ext cx="11923395" cy="1101090"/>
          </a:xfrm>
          <a:prstGeom prst="roundRect">
            <a:avLst>
              <a:gd name="adj" fmla="val 3140"/>
            </a:avLst>
          </a:prstGeom>
          <a:solidFill>
            <a:schemeClr val="bg1"/>
          </a:solidFill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  <a:prstDash val="dash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型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任意多边形: 形状 18"/>
          <p:cNvSpPr/>
          <p:nvPr/>
        </p:nvSpPr>
        <p:spPr>
          <a:xfrm>
            <a:off x="8467090" y="5761974"/>
            <a:ext cx="3338691" cy="99125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任意多边形: 形状 18"/>
          <p:cNvSpPr/>
          <p:nvPr/>
        </p:nvSpPr>
        <p:spPr>
          <a:xfrm>
            <a:off x="4310665" y="5761974"/>
            <a:ext cx="3524365" cy="99125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任意多边形: 形状 18"/>
          <p:cNvSpPr/>
          <p:nvPr/>
        </p:nvSpPr>
        <p:spPr>
          <a:xfrm>
            <a:off x="623220" y="5761974"/>
            <a:ext cx="3205830" cy="991252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圆角矩形 12"/>
          <p:cNvSpPr/>
          <p:nvPr/>
        </p:nvSpPr>
        <p:spPr>
          <a:xfrm>
            <a:off x="141605" y="1210852"/>
            <a:ext cx="11922760" cy="820420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  <a:prstDash val="dash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应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1" name="组合 230"/>
          <p:cNvGrpSpPr/>
          <p:nvPr/>
        </p:nvGrpSpPr>
        <p:grpSpPr>
          <a:xfrm>
            <a:off x="789765" y="1605187"/>
            <a:ext cx="1103630" cy="262890"/>
            <a:chOff x="1260" y="2133"/>
            <a:chExt cx="1902" cy="414"/>
          </a:xfrm>
        </p:grpSpPr>
        <p:sp>
          <p:nvSpPr>
            <p:cNvPr id="232" name="矩形: 圆角 231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3" name="文本框 232"/>
            <p:cNvSpPr txBox="1"/>
            <p:nvPr>
              <p:custDataLst>
                <p:tags r:id="rId1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问答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234" name="圆角矩形 2"/>
          <p:cNvSpPr/>
          <p:nvPr/>
        </p:nvSpPr>
        <p:spPr>
          <a:xfrm>
            <a:off x="142240" y="2115540"/>
            <a:ext cx="11922760" cy="1374140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  <a:prstDash val="dash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智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能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体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935355" y="6086126"/>
            <a:ext cx="1207770" cy="262890"/>
            <a:chOff x="1260" y="2133"/>
            <a:chExt cx="1902" cy="414"/>
          </a:xfrm>
        </p:grpSpPr>
        <p:sp>
          <p:nvSpPr>
            <p:cNvPr id="129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3" name="文本框 242"/>
            <p:cNvSpPr txBox="1"/>
            <p:nvPr>
              <p:custDataLst>
                <p:tags r:id="rId2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大语言模型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935355" y="6433185"/>
            <a:ext cx="1207770" cy="262890"/>
            <a:chOff x="1260" y="2133"/>
            <a:chExt cx="1902" cy="414"/>
          </a:xfrm>
        </p:grpSpPr>
        <p:sp>
          <p:nvSpPr>
            <p:cNvPr id="245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6" name="文本框 245"/>
            <p:cNvSpPr txBox="1"/>
            <p:nvPr>
              <p:custDataLst>
                <p:tags r:id="rId3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向量模型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47" name="组合 246"/>
          <p:cNvGrpSpPr/>
          <p:nvPr/>
        </p:nvGrpSpPr>
        <p:grpSpPr>
          <a:xfrm>
            <a:off x="2382487" y="6086126"/>
            <a:ext cx="1207770" cy="262890"/>
            <a:chOff x="1260" y="2133"/>
            <a:chExt cx="1902" cy="414"/>
          </a:xfrm>
        </p:grpSpPr>
        <p:sp>
          <p:nvSpPr>
            <p:cNvPr id="248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9" name="文本框 248"/>
            <p:cNvSpPr txBox="1"/>
            <p:nvPr>
              <p:custDataLst>
                <p:tags r:id="rId4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重排模型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50" name="组合 249"/>
          <p:cNvGrpSpPr/>
          <p:nvPr/>
        </p:nvGrpSpPr>
        <p:grpSpPr>
          <a:xfrm>
            <a:off x="2382487" y="6433185"/>
            <a:ext cx="1207770" cy="262890"/>
            <a:chOff x="1260" y="2133"/>
            <a:chExt cx="1902" cy="414"/>
          </a:xfrm>
        </p:grpSpPr>
        <p:sp>
          <p:nvSpPr>
            <p:cNvPr id="251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2" name="文本框 251"/>
            <p:cNvSpPr txBox="1"/>
            <p:nvPr>
              <p:custDataLst>
                <p:tags r:id="rId5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多模态模型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54" name="组合 253"/>
          <p:cNvGrpSpPr/>
          <p:nvPr/>
        </p:nvGrpSpPr>
        <p:grpSpPr>
          <a:xfrm>
            <a:off x="4713954" y="6086126"/>
            <a:ext cx="1207770" cy="262890"/>
            <a:chOff x="1260" y="2133"/>
            <a:chExt cx="1902" cy="414"/>
          </a:xfrm>
        </p:grpSpPr>
        <p:sp>
          <p:nvSpPr>
            <p:cNvPr id="137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6" name="文本框 255"/>
            <p:cNvSpPr txBox="1"/>
            <p:nvPr>
              <p:custDataLst>
                <p:tags r:id="rId6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多租户管理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4713954" y="6433185"/>
            <a:ext cx="1207770" cy="262890"/>
            <a:chOff x="1260" y="2133"/>
            <a:chExt cx="1902" cy="414"/>
          </a:xfrm>
        </p:grpSpPr>
        <p:sp>
          <p:nvSpPr>
            <p:cNvPr id="258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9" name="文本框 258"/>
            <p:cNvSpPr txBox="1"/>
            <p:nvPr>
              <p:custDataLst>
                <p:tags r:id="rId7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应用管理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60" name="组合 259"/>
          <p:cNvGrpSpPr/>
          <p:nvPr/>
        </p:nvGrpSpPr>
        <p:grpSpPr>
          <a:xfrm>
            <a:off x="6182852" y="6086126"/>
            <a:ext cx="1207770" cy="262890"/>
            <a:chOff x="1260" y="2133"/>
            <a:chExt cx="1902" cy="414"/>
          </a:xfrm>
        </p:grpSpPr>
        <p:sp>
          <p:nvSpPr>
            <p:cNvPr id="261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2" name="文本框 261"/>
            <p:cNvSpPr txBox="1"/>
            <p:nvPr>
              <p:custDataLst>
                <p:tags r:id="rId8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资源管理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63" name="组合 262"/>
          <p:cNvGrpSpPr/>
          <p:nvPr/>
        </p:nvGrpSpPr>
        <p:grpSpPr>
          <a:xfrm>
            <a:off x="6182852" y="6433185"/>
            <a:ext cx="1207770" cy="262890"/>
            <a:chOff x="1260" y="2133"/>
            <a:chExt cx="1902" cy="414"/>
          </a:xfrm>
        </p:grpSpPr>
        <p:sp>
          <p:nvSpPr>
            <p:cNvPr id="264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5" name="文本框 264"/>
            <p:cNvSpPr txBox="1"/>
            <p:nvPr>
              <p:custDataLst>
                <p:tags r:id="rId9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运营管理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266" name="任意多边形: 形状 265"/>
          <p:cNvSpPr/>
          <p:nvPr/>
        </p:nvSpPr>
        <p:spPr>
          <a:xfrm rot="5400000">
            <a:off x="3968750" y="6252845"/>
            <a:ext cx="175958" cy="247650"/>
          </a:xfrm>
          <a:custGeom>
            <a:avLst/>
            <a:gdLst>
              <a:gd name="connsiteX0" fmla="*/ 175958 w 175958"/>
              <a:gd name="connsiteY0" fmla="*/ 133350 h 247650"/>
              <a:gd name="connsiteX1" fmla="*/ 88011 w 175958"/>
              <a:gd name="connsiteY1" fmla="*/ 0 h 247650"/>
              <a:gd name="connsiteX2" fmla="*/ 0 w 175958"/>
              <a:gd name="connsiteY2" fmla="*/ 133350 h 247650"/>
              <a:gd name="connsiteX3" fmla="*/ 43561 w 175958"/>
              <a:gd name="connsiteY3" fmla="*/ 133350 h 247650"/>
              <a:gd name="connsiteX4" fmla="*/ 43561 w 175958"/>
              <a:gd name="connsiteY4" fmla="*/ 247650 h 247650"/>
              <a:gd name="connsiteX5" fmla="*/ 132461 w 175958"/>
              <a:gd name="connsiteY5" fmla="*/ 247650 h 247650"/>
              <a:gd name="connsiteX6" fmla="*/ 132461 w 175958"/>
              <a:gd name="connsiteY6" fmla="*/ 133350 h 247650"/>
              <a:gd name="connsiteX7" fmla="*/ 175958 w 175958"/>
              <a:gd name="connsiteY7" fmla="*/ 1333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958" h="247650">
                <a:moveTo>
                  <a:pt x="175958" y="133350"/>
                </a:moveTo>
                <a:lnTo>
                  <a:pt x="88011" y="0"/>
                </a:lnTo>
                <a:lnTo>
                  <a:pt x="0" y="133350"/>
                </a:lnTo>
                <a:lnTo>
                  <a:pt x="43561" y="133350"/>
                </a:lnTo>
                <a:lnTo>
                  <a:pt x="43561" y="247650"/>
                </a:lnTo>
                <a:lnTo>
                  <a:pt x="132461" y="247650"/>
                </a:lnTo>
                <a:lnTo>
                  <a:pt x="132461" y="133350"/>
                </a:lnTo>
                <a:lnTo>
                  <a:pt x="175958" y="133350"/>
                </a:lnTo>
                <a:close/>
              </a:path>
            </a:pathLst>
          </a:custGeom>
          <a:gradFill flip="none" rotWithShape="1">
            <a:gsLst>
              <a:gs pos="0">
                <a:srgbClr val="3465E9"/>
              </a:gs>
              <a:gs pos="84000">
                <a:srgbClr val="00B0F0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00"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阿里巴巴普惠体 2.0 45 Light" panose="00020600040101010101" pitchFamily="18" charset="-122"/>
            </a:endParaRPr>
          </a:p>
        </p:txBody>
      </p:sp>
      <p:grpSp>
        <p:nvGrpSpPr>
          <p:cNvPr id="268" name="组合 267"/>
          <p:cNvGrpSpPr/>
          <p:nvPr/>
        </p:nvGrpSpPr>
        <p:grpSpPr>
          <a:xfrm>
            <a:off x="8758955" y="6086126"/>
            <a:ext cx="1207770" cy="262890"/>
            <a:chOff x="1260" y="2133"/>
            <a:chExt cx="1902" cy="414"/>
          </a:xfrm>
        </p:grpSpPr>
        <p:sp>
          <p:nvSpPr>
            <p:cNvPr id="269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0" name="文本框 269"/>
            <p:cNvSpPr txBox="1"/>
            <p:nvPr>
              <p:custDataLst>
                <p:tags r:id="rId10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图像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识别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71" name="组合 270"/>
          <p:cNvGrpSpPr/>
          <p:nvPr/>
        </p:nvGrpSpPr>
        <p:grpSpPr>
          <a:xfrm>
            <a:off x="8758955" y="6433185"/>
            <a:ext cx="1207770" cy="262890"/>
            <a:chOff x="1260" y="2133"/>
            <a:chExt cx="1902" cy="414"/>
          </a:xfrm>
        </p:grpSpPr>
        <p:sp>
          <p:nvSpPr>
            <p:cNvPr id="272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3" name="文本框 272"/>
            <p:cNvSpPr txBox="1"/>
            <p:nvPr>
              <p:custDataLst>
                <p:tags r:id="rId11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语音识别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10233343" y="6086126"/>
            <a:ext cx="1207770" cy="262890"/>
            <a:chOff x="1260" y="2133"/>
            <a:chExt cx="1902" cy="414"/>
          </a:xfrm>
        </p:grpSpPr>
        <p:sp>
          <p:nvSpPr>
            <p:cNvPr id="275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6" name="文本框 275"/>
            <p:cNvSpPr txBox="1"/>
            <p:nvPr>
              <p:custDataLst>
                <p:tags r:id="rId12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预测模型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10233343" y="6433185"/>
            <a:ext cx="1207770" cy="262890"/>
            <a:chOff x="1260" y="2133"/>
            <a:chExt cx="1902" cy="414"/>
          </a:xfrm>
        </p:grpSpPr>
        <p:sp>
          <p:nvSpPr>
            <p:cNvPr id="278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9" name="文本框 278"/>
            <p:cNvSpPr txBox="1"/>
            <p:nvPr>
              <p:custDataLst>
                <p:tags r:id="rId13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分类模型</a:t>
              </a:r>
              <a:endParaRPr lang="en-US" altLang="zh-CN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280" name="任意多边形: 形状 210"/>
          <p:cNvSpPr/>
          <p:nvPr/>
        </p:nvSpPr>
        <p:spPr>
          <a:xfrm rot="16200000" flipH="1">
            <a:off x="8013751" y="6252210"/>
            <a:ext cx="175958" cy="247650"/>
          </a:xfrm>
          <a:custGeom>
            <a:avLst/>
            <a:gdLst>
              <a:gd name="connsiteX0" fmla="*/ 175958 w 175958"/>
              <a:gd name="connsiteY0" fmla="*/ 133350 h 247650"/>
              <a:gd name="connsiteX1" fmla="*/ 88011 w 175958"/>
              <a:gd name="connsiteY1" fmla="*/ 0 h 247650"/>
              <a:gd name="connsiteX2" fmla="*/ 0 w 175958"/>
              <a:gd name="connsiteY2" fmla="*/ 133350 h 247650"/>
              <a:gd name="connsiteX3" fmla="*/ 43561 w 175958"/>
              <a:gd name="connsiteY3" fmla="*/ 133350 h 247650"/>
              <a:gd name="connsiteX4" fmla="*/ 43561 w 175958"/>
              <a:gd name="connsiteY4" fmla="*/ 247650 h 247650"/>
              <a:gd name="connsiteX5" fmla="*/ 132461 w 175958"/>
              <a:gd name="connsiteY5" fmla="*/ 247650 h 247650"/>
              <a:gd name="connsiteX6" fmla="*/ 132461 w 175958"/>
              <a:gd name="connsiteY6" fmla="*/ 133350 h 247650"/>
              <a:gd name="connsiteX7" fmla="*/ 175958 w 175958"/>
              <a:gd name="connsiteY7" fmla="*/ 1333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958" h="247650">
                <a:moveTo>
                  <a:pt x="175958" y="133350"/>
                </a:moveTo>
                <a:lnTo>
                  <a:pt x="88011" y="0"/>
                </a:lnTo>
                <a:lnTo>
                  <a:pt x="0" y="133350"/>
                </a:lnTo>
                <a:lnTo>
                  <a:pt x="43561" y="133350"/>
                </a:lnTo>
                <a:lnTo>
                  <a:pt x="43561" y="247650"/>
                </a:lnTo>
                <a:lnTo>
                  <a:pt x="132461" y="247650"/>
                </a:lnTo>
                <a:lnTo>
                  <a:pt x="132461" y="133350"/>
                </a:lnTo>
                <a:lnTo>
                  <a:pt x="175958" y="133350"/>
                </a:lnTo>
                <a:close/>
              </a:path>
            </a:pathLst>
          </a:custGeom>
          <a:gradFill flip="none" rotWithShape="1">
            <a:gsLst>
              <a:gs pos="0">
                <a:srgbClr val="3465E9"/>
              </a:gs>
              <a:gs pos="84000">
                <a:srgbClr val="00B0F0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00"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阿里巴巴普惠体 2.0 45 Light" panose="00020600040101010101" pitchFamily="18" charset="-122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7785218" y="4888067"/>
            <a:ext cx="1142881" cy="262890"/>
            <a:chOff x="1260" y="2133"/>
            <a:chExt cx="1483" cy="414"/>
          </a:xfrm>
        </p:grpSpPr>
        <p:sp>
          <p:nvSpPr>
            <p:cNvPr id="316" name="矩形: 圆角 22"/>
            <p:cNvSpPr/>
            <p:nvPr/>
          </p:nvSpPr>
          <p:spPr>
            <a:xfrm>
              <a:off x="1260" y="2133"/>
              <a:ext cx="1483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7" name="文本框 316"/>
            <p:cNvSpPr txBox="1"/>
            <p:nvPr>
              <p:custDataLst>
                <p:tags r:id="rId14"/>
              </p:custDataLst>
            </p:nvPr>
          </p:nvSpPr>
          <p:spPr>
            <a:xfrm>
              <a:off x="1260" y="2164"/>
              <a:ext cx="148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知识接入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18" name="组合 317"/>
          <p:cNvGrpSpPr/>
          <p:nvPr/>
        </p:nvGrpSpPr>
        <p:grpSpPr>
          <a:xfrm>
            <a:off x="9154895" y="4888067"/>
            <a:ext cx="1142881" cy="262890"/>
            <a:chOff x="1260" y="2133"/>
            <a:chExt cx="1483" cy="414"/>
          </a:xfrm>
        </p:grpSpPr>
        <p:sp>
          <p:nvSpPr>
            <p:cNvPr id="319" name="矩形: 圆角 22"/>
            <p:cNvSpPr/>
            <p:nvPr/>
          </p:nvSpPr>
          <p:spPr>
            <a:xfrm>
              <a:off x="1260" y="2133"/>
              <a:ext cx="1483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0" name="文本框 319"/>
            <p:cNvSpPr txBox="1"/>
            <p:nvPr>
              <p:custDataLst>
                <p:tags r:id="rId15"/>
              </p:custDataLst>
            </p:nvPr>
          </p:nvSpPr>
          <p:spPr>
            <a:xfrm>
              <a:off x="1260" y="2164"/>
              <a:ext cx="148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知识加工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21" name="组合 320"/>
          <p:cNvGrpSpPr/>
          <p:nvPr/>
        </p:nvGrpSpPr>
        <p:grpSpPr>
          <a:xfrm>
            <a:off x="10524573" y="4888067"/>
            <a:ext cx="1142881" cy="262890"/>
            <a:chOff x="1260" y="2133"/>
            <a:chExt cx="1483" cy="414"/>
          </a:xfrm>
        </p:grpSpPr>
        <p:sp>
          <p:nvSpPr>
            <p:cNvPr id="322" name="矩形: 圆角 22"/>
            <p:cNvSpPr/>
            <p:nvPr/>
          </p:nvSpPr>
          <p:spPr>
            <a:xfrm>
              <a:off x="1260" y="2133"/>
              <a:ext cx="1483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3" name="文本框 322"/>
            <p:cNvSpPr txBox="1"/>
            <p:nvPr>
              <p:custDataLst>
                <p:tags r:id="rId16"/>
              </p:custDataLst>
            </p:nvPr>
          </p:nvSpPr>
          <p:spPr>
            <a:xfrm>
              <a:off x="1260" y="2164"/>
              <a:ext cx="148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知识应用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24" name="组合 323"/>
          <p:cNvGrpSpPr/>
          <p:nvPr/>
        </p:nvGrpSpPr>
        <p:grpSpPr>
          <a:xfrm>
            <a:off x="7785218" y="5217113"/>
            <a:ext cx="1142881" cy="262890"/>
            <a:chOff x="1260" y="2133"/>
            <a:chExt cx="1483" cy="414"/>
          </a:xfrm>
        </p:grpSpPr>
        <p:sp>
          <p:nvSpPr>
            <p:cNvPr id="325" name="矩形: 圆角 22"/>
            <p:cNvSpPr/>
            <p:nvPr/>
          </p:nvSpPr>
          <p:spPr>
            <a:xfrm>
              <a:off x="1260" y="2133"/>
              <a:ext cx="1483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6" name="文本框 325"/>
            <p:cNvSpPr txBox="1"/>
            <p:nvPr>
              <p:custDataLst>
                <p:tags r:id="rId17"/>
              </p:custDataLst>
            </p:nvPr>
          </p:nvSpPr>
          <p:spPr>
            <a:xfrm>
              <a:off x="1260" y="2164"/>
              <a:ext cx="148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知识图谱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27" name="组合 326"/>
          <p:cNvGrpSpPr/>
          <p:nvPr/>
        </p:nvGrpSpPr>
        <p:grpSpPr>
          <a:xfrm>
            <a:off x="9154895" y="5232659"/>
            <a:ext cx="1142881" cy="262890"/>
            <a:chOff x="1260" y="2133"/>
            <a:chExt cx="1483" cy="414"/>
          </a:xfrm>
        </p:grpSpPr>
        <p:sp>
          <p:nvSpPr>
            <p:cNvPr id="328" name="矩形: 圆角 22"/>
            <p:cNvSpPr/>
            <p:nvPr/>
          </p:nvSpPr>
          <p:spPr>
            <a:xfrm>
              <a:off x="1260" y="2133"/>
              <a:ext cx="1483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9" name="文本框 328"/>
            <p:cNvSpPr txBox="1"/>
            <p:nvPr>
              <p:custDataLst>
                <p:tags r:id="rId18"/>
              </p:custDataLst>
            </p:nvPr>
          </p:nvSpPr>
          <p:spPr>
            <a:xfrm>
              <a:off x="1260" y="2164"/>
              <a:ext cx="148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层级检索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30" name="组合 329"/>
          <p:cNvGrpSpPr/>
          <p:nvPr/>
        </p:nvGrpSpPr>
        <p:grpSpPr>
          <a:xfrm>
            <a:off x="10524573" y="5232659"/>
            <a:ext cx="1142881" cy="262890"/>
            <a:chOff x="1260" y="2133"/>
            <a:chExt cx="1483" cy="414"/>
          </a:xfrm>
        </p:grpSpPr>
        <p:sp>
          <p:nvSpPr>
            <p:cNvPr id="331" name="矩形: 圆角 22"/>
            <p:cNvSpPr/>
            <p:nvPr/>
          </p:nvSpPr>
          <p:spPr>
            <a:xfrm>
              <a:off x="1260" y="2133"/>
              <a:ext cx="1483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2" name="文本框 331"/>
            <p:cNvSpPr txBox="1"/>
            <p:nvPr>
              <p:custDataLst>
                <p:tags r:id="rId19"/>
              </p:custDataLst>
            </p:nvPr>
          </p:nvSpPr>
          <p:spPr>
            <a:xfrm>
              <a:off x="1260" y="2164"/>
              <a:ext cx="148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知识评估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334" name="任意多边形: 形状 18"/>
          <p:cNvSpPr/>
          <p:nvPr/>
        </p:nvSpPr>
        <p:spPr>
          <a:xfrm>
            <a:off x="8928099" y="2188559"/>
            <a:ext cx="2994025" cy="1218565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9890125" y="2264124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智能体创作中心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40" name="组合 339"/>
          <p:cNvGrpSpPr/>
          <p:nvPr/>
        </p:nvGrpSpPr>
        <p:grpSpPr>
          <a:xfrm>
            <a:off x="9095740" y="2596229"/>
            <a:ext cx="1207770" cy="262890"/>
            <a:chOff x="1260" y="2133"/>
            <a:chExt cx="1902" cy="414"/>
          </a:xfrm>
        </p:grpSpPr>
        <p:sp>
          <p:nvSpPr>
            <p:cNvPr id="144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2" name="文本框 341"/>
            <p:cNvSpPr txBox="1"/>
            <p:nvPr>
              <p:custDataLst>
                <p:tags r:id="rId20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自迭代智能体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9095740" y="3009614"/>
            <a:ext cx="1207770" cy="262890"/>
            <a:chOff x="1260" y="2133"/>
            <a:chExt cx="1902" cy="414"/>
          </a:xfrm>
        </p:grpSpPr>
        <p:sp>
          <p:nvSpPr>
            <p:cNvPr id="344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5" name="文本框 344"/>
            <p:cNvSpPr txBox="1"/>
            <p:nvPr>
              <p:custDataLst>
                <p:tags r:id="rId21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智能体蜂群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10543540" y="2596229"/>
            <a:ext cx="1207770" cy="262890"/>
            <a:chOff x="1260" y="2133"/>
            <a:chExt cx="1902" cy="414"/>
          </a:xfrm>
        </p:grpSpPr>
        <p:sp>
          <p:nvSpPr>
            <p:cNvPr id="146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7" name="文本框 146"/>
            <p:cNvSpPr txBox="1"/>
            <p:nvPr>
              <p:custDataLst>
                <p:tags r:id="rId22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推理智能体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10543540" y="3009614"/>
            <a:ext cx="1207770" cy="262890"/>
            <a:chOff x="1260" y="2133"/>
            <a:chExt cx="1902" cy="414"/>
          </a:xfrm>
        </p:grpSpPr>
        <p:sp>
          <p:nvSpPr>
            <p:cNvPr id="149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0" name="文本框 149"/>
            <p:cNvSpPr txBox="1"/>
            <p:nvPr>
              <p:custDataLst>
                <p:tags r:id="rId23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智能体团队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90" name="组合 389"/>
          <p:cNvGrpSpPr/>
          <p:nvPr/>
        </p:nvGrpSpPr>
        <p:grpSpPr>
          <a:xfrm>
            <a:off x="4142740" y="2596229"/>
            <a:ext cx="1207770" cy="262890"/>
            <a:chOff x="1260" y="2133"/>
            <a:chExt cx="1902" cy="414"/>
          </a:xfrm>
        </p:grpSpPr>
        <p:sp>
          <p:nvSpPr>
            <p:cNvPr id="391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2" name="文本框 391"/>
            <p:cNvSpPr txBox="1"/>
            <p:nvPr>
              <p:custDataLst>
                <p:tags r:id="rId24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多智能体协同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396" name="组合 395"/>
          <p:cNvGrpSpPr/>
          <p:nvPr/>
        </p:nvGrpSpPr>
        <p:grpSpPr>
          <a:xfrm>
            <a:off x="5620528" y="2596229"/>
            <a:ext cx="1207770" cy="262890"/>
            <a:chOff x="1260" y="2133"/>
            <a:chExt cx="1902" cy="414"/>
          </a:xfrm>
        </p:grpSpPr>
        <p:sp>
          <p:nvSpPr>
            <p:cNvPr id="397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8" name="文本框 397"/>
            <p:cNvSpPr txBox="1"/>
            <p:nvPr>
              <p:custDataLst>
                <p:tags r:id="rId25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动态规划引擎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02" name="组合 401"/>
          <p:cNvGrpSpPr/>
          <p:nvPr/>
        </p:nvGrpSpPr>
        <p:grpSpPr>
          <a:xfrm>
            <a:off x="7098316" y="2600674"/>
            <a:ext cx="1207770" cy="262890"/>
            <a:chOff x="1260" y="2133"/>
            <a:chExt cx="1902" cy="414"/>
          </a:xfrm>
        </p:grpSpPr>
        <p:sp>
          <p:nvSpPr>
            <p:cNvPr id="403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4" name="文本框 403"/>
            <p:cNvSpPr txBox="1"/>
            <p:nvPr>
              <p:custDataLst>
                <p:tags r:id="rId26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智能体注册管理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05" name="组合 404"/>
          <p:cNvGrpSpPr/>
          <p:nvPr/>
        </p:nvGrpSpPr>
        <p:grpSpPr>
          <a:xfrm>
            <a:off x="7098316" y="2995644"/>
            <a:ext cx="1207770" cy="262890"/>
            <a:chOff x="1260" y="2133"/>
            <a:chExt cx="1902" cy="414"/>
          </a:xfrm>
        </p:grpSpPr>
        <p:sp>
          <p:nvSpPr>
            <p:cNvPr id="406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7" name="文本框 406"/>
            <p:cNvSpPr txBox="1"/>
            <p:nvPr>
              <p:custDataLst>
                <p:tags r:id="rId27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智能体服务运营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08" name="组合 407"/>
          <p:cNvGrpSpPr/>
          <p:nvPr/>
        </p:nvGrpSpPr>
        <p:grpSpPr>
          <a:xfrm>
            <a:off x="4142740" y="2995644"/>
            <a:ext cx="1207770" cy="262890"/>
            <a:chOff x="1260" y="2133"/>
            <a:chExt cx="1902" cy="414"/>
          </a:xfrm>
        </p:grpSpPr>
        <p:sp>
          <p:nvSpPr>
            <p:cNvPr id="409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0" name="文本框 409"/>
            <p:cNvSpPr txBox="1"/>
            <p:nvPr>
              <p:custDataLst>
                <p:tags r:id="rId28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外部平台接入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11" name="组合 410"/>
          <p:cNvGrpSpPr/>
          <p:nvPr/>
        </p:nvGrpSpPr>
        <p:grpSpPr>
          <a:xfrm>
            <a:off x="5620528" y="2995644"/>
            <a:ext cx="1207770" cy="262890"/>
            <a:chOff x="1260" y="2133"/>
            <a:chExt cx="1902" cy="414"/>
          </a:xfrm>
        </p:grpSpPr>
        <p:sp>
          <p:nvSpPr>
            <p:cNvPr id="412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3" name="文本框 412"/>
            <p:cNvSpPr txBox="1"/>
            <p:nvPr>
              <p:custDataLst>
                <p:tags r:id="rId29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智能体权限管控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417" name="文本框 416"/>
          <p:cNvSpPr txBox="1"/>
          <p:nvPr/>
        </p:nvSpPr>
        <p:spPr>
          <a:xfrm>
            <a:off x="2168581" y="1289592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通用智能服务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2033500" y="1604552"/>
            <a:ext cx="1103630" cy="262890"/>
            <a:chOff x="1260" y="2133"/>
            <a:chExt cx="1902" cy="414"/>
          </a:xfrm>
        </p:grpSpPr>
        <p:sp>
          <p:nvSpPr>
            <p:cNvPr id="419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0" name="文本框 419"/>
            <p:cNvSpPr txBox="1"/>
            <p:nvPr>
              <p:custDataLst>
                <p:tags r:id="rId30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智能问数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3277235" y="1605187"/>
            <a:ext cx="1103630" cy="262890"/>
            <a:chOff x="1260" y="2133"/>
            <a:chExt cx="1902" cy="414"/>
          </a:xfrm>
        </p:grpSpPr>
        <p:sp>
          <p:nvSpPr>
            <p:cNvPr id="422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3" name="文本框 422"/>
            <p:cNvSpPr txBox="1"/>
            <p:nvPr>
              <p:custDataLst>
                <p:tags r:id="rId31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</a:t>
              </a:r>
              <a:r>
                <a:rPr lang="en-US" altLang="zh-CN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 BI 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平台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4736465" y="1605187"/>
            <a:ext cx="1096645" cy="262890"/>
            <a:chOff x="1260" y="2133"/>
            <a:chExt cx="1902" cy="414"/>
          </a:xfrm>
        </p:grpSpPr>
        <p:sp>
          <p:nvSpPr>
            <p:cNvPr id="425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6" name="文本框 425"/>
            <p:cNvSpPr txBox="1"/>
            <p:nvPr>
              <p:custDataLst>
                <p:tags r:id="rId32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覆盖分析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427" name="文本框 426"/>
          <p:cNvSpPr txBox="1"/>
          <p:nvPr/>
        </p:nvSpPr>
        <p:spPr>
          <a:xfrm>
            <a:off x="7538085" y="1289592"/>
            <a:ext cx="129032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专业领域智能服务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28" name="组合 427"/>
          <p:cNvGrpSpPr/>
          <p:nvPr/>
        </p:nvGrpSpPr>
        <p:grpSpPr>
          <a:xfrm>
            <a:off x="5937758" y="1605187"/>
            <a:ext cx="1096645" cy="262890"/>
            <a:chOff x="1260" y="2133"/>
            <a:chExt cx="1902" cy="414"/>
          </a:xfrm>
        </p:grpSpPr>
        <p:sp>
          <p:nvSpPr>
            <p:cNvPr id="429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0" name="文本框 429"/>
            <p:cNvSpPr txBox="1"/>
            <p:nvPr>
              <p:custDataLst>
                <p:tags r:id="rId33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质差分析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31" name="组合 430"/>
          <p:cNvGrpSpPr/>
          <p:nvPr/>
        </p:nvGrpSpPr>
        <p:grpSpPr>
          <a:xfrm>
            <a:off x="7139051" y="1605187"/>
            <a:ext cx="1096645" cy="262890"/>
            <a:chOff x="1260" y="2133"/>
            <a:chExt cx="1902" cy="414"/>
          </a:xfrm>
        </p:grpSpPr>
        <p:sp>
          <p:nvSpPr>
            <p:cNvPr id="432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3" name="文本框 432"/>
            <p:cNvSpPr txBox="1"/>
            <p:nvPr>
              <p:custDataLst>
                <p:tags r:id="rId34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投诉分析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34" name="组合 433"/>
          <p:cNvGrpSpPr/>
          <p:nvPr/>
        </p:nvGrpSpPr>
        <p:grpSpPr>
          <a:xfrm>
            <a:off x="8340344" y="1605187"/>
            <a:ext cx="1096645" cy="262890"/>
            <a:chOff x="1260" y="2133"/>
            <a:chExt cx="1902" cy="414"/>
          </a:xfrm>
        </p:grpSpPr>
        <p:sp>
          <p:nvSpPr>
            <p:cNvPr id="435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6" name="文本框 435"/>
            <p:cNvSpPr txBox="1"/>
            <p:nvPr>
              <p:custDataLst>
                <p:tags r:id="rId35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排障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37" name="组合 436"/>
          <p:cNvGrpSpPr/>
          <p:nvPr/>
        </p:nvGrpSpPr>
        <p:grpSpPr>
          <a:xfrm>
            <a:off x="9541637" y="1605187"/>
            <a:ext cx="1096645" cy="262890"/>
            <a:chOff x="1260" y="2133"/>
            <a:chExt cx="1902" cy="414"/>
          </a:xfrm>
        </p:grpSpPr>
        <p:sp>
          <p:nvSpPr>
            <p:cNvPr id="438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9" name="文本框 438"/>
            <p:cNvSpPr txBox="1"/>
            <p:nvPr>
              <p:custDataLst>
                <p:tags r:id="rId36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代维智能综调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40" name="组合 439"/>
          <p:cNvGrpSpPr/>
          <p:nvPr/>
        </p:nvGrpSpPr>
        <p:grpSpPr>
          <a:xfrm>
            <a:off x="10742929" y="1605187"/>
            <a:ext cx="1096645" cy="262890"/>
            <a:chOff x="1260" y="2133"/>
            <a:chExt cx="1902" cy="414"/>
          </a:xfrm>
        </p:grpSpPr>
        <p:sp>
          <p:nvSpPr>
            <p:cNvPr id="441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2" name="文本框 441"/>
            <p:cNvSpPr txBox="1"/>
            <p:nvPr>
              <p:custDataLst>
                <p:tags r:id="rId37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时空洞察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151" name="任意多边形: 形状 18"/>
          <p:cNvSpPr/>
          <p:nvPr/>
        </p:nvSpPr>
        <p:spPr>
          <a:xfrm>
            <a:off x="623220" y="2188559"/>
            <a:ext cx="2967037" cy="1218565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1464564" y="2264124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专业智能体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53" name="组合 152"/>
          <p:cNvGrpSpPr/>
          <p:nvPr/>
        </p:nvGrpSpPr>
        <p:grpSpPr>
          <a:xfrm>
            <a:off x="778129" y="2596229"/>
            <a:ext cx="1207770" cy="262890"/>
            <a:chOff x="1260" y="2133"/>
            <a:chExt cx="1902" cy="414"/>
          </a:xfrm>
        </p:grpSpPr>
        <p:sp>
          <p:nvSpPr>
            <p:cNvPr id="154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5" name="文本框 154"/>
            <p:cNvSpPr txBox="1"/>
            <p:nvPr>
              <p:custDataLst>
                <p:tags r:id="rId38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智能查数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2224900" y="2596229"/>
            <a:ext cx="1207770" cy="262890"/>
            <a:chOff x="1260" y="2133"/>
            <a:chExt cx="1902" cy="414"/>
          </a:xfrm>
        </p:grpSpPr>
        <p:sp>
          <p:nvSpPr>
            <p:cNvPr id="157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8" name="文本框 157"/>
            <p:cNvSpPr txBox="1"/>
            <p:nvPr>
              <p:custDataLst>
                <p:tags r:id="rId39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深度分析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2224900" y="3009614"/>
            <a:ext cx="1207770" cy="262890"/>
            <a:chOff x="1260" y="2133"/>
            <a:chExt cx="1902" cy="414"/>
          </a:xfrm>
        </p:grpSpPr>
        <p:sp>
          <p:nvSpPr>
            <p:cNvPr id="160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1" name="文本框 160"/>
            <p:cNvSpPr txBox="1"/>
            <p:nvPr>
              <p:custDataLst>
                <p:tags r:id="rId40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000" b="1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... ...</a:t>
              </a:r>
              <a:endParaRPr lang="en-US" altLang="zh-CN" sz="10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78129" y="3009614"/>
            <a:ext cx="1207770" cy="262890"/>
            <a:chOff x="1260" y="2133"/>
            <a:chExt cx="1902" cy="414"/>
          </a:xfrm>
        </p:grpSpPr>
        <p:sp>
          <p:nvSpPr>
            <p:cNvPr id="163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4" name="文本框 163"/>
            <p:cNvSpPr txBox="1"/>
            <p:nvPr>
              <p:custDataLst>
                <p:tags r:id="rId41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决策辅助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165" name="任意多边形: 形状 210"/>
          <p:cNvSpPr/>
          <p:nvPr/>
        </p:nvSpPr>
        <p:spPr>
          <a:xfrm rot="16200000" flipH="1">
            <a:off x="8594647" y="2678730"/>
            <a:ext cx="175958" cy="245645"/>
          </a:xfrm>
          <a:custGeom>
            <a:avLst/>
            <a:gdLst>
              <a:gd name="connsiteX0" fmla="*/ 175958 w 175958"/>
              <a:gd name="connsiteY0" fmla="*/ 133350 h 247650"/>
              <a:gd name="connsiteX1" fmla="*/ 88011 w 175958"/>
              <a:gd name="connsiteY1" fmla="*/ 0 h 247650"/>
              <a:gd name="connsiteX2" fmla="*/ 0 w 175958"/>
              <a:gd name="connsiteY2" fmla="*/ 133350 h 247650"/>
              <a:gd name="connsiteX3" fmla="*/ 43561 w 175958"/>
              <a:gd name="connsiteY3" fmla="*/ 133350 h 247650"/>
              <a:gd name="connsiteX4" fmla="*/ 43561 w 175958"/>
              <a:gd name="connsiteY4" fmla="*/ 247650 h 247650"/>
              <a:gd name="connsiteX5" fmla="*/ 132461 w 175958"/>
              <a:gd name="connsiteY5" fmla="*/ 247650 h 247650"/>
              <a:gd name="connsiteX6" fmla="*/ 132461 w 175958"/>
              <a:gd name="connsiteY6" fmla="*/ 133350 h 247650"/>
              <a:gd name="connsiteX7" fmla="*/ 175958 w 175958"/>
              <a:gd name="connsiteY7" fmla="*/ 1333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958" h="247650">
                <a:moveTo>
                  <a:pt x="175958" y="133350"/>
                </a:moveTo>
                <a:lnTo>
                  <a:pt x="88011" y="0"/>
                </a:lnTo>
                <a:lnTo>
                  <a:pt x="0" y="133350"/>
                </a:lnTo>
                <a:lnTo>
                  <a:pt x="43561" y="133350"/>
                </a:lnTo>
                <a:lnTo>
                  <a:pt x="43561" y="247650"/>
                </a:lnTo>
                <a:lnTo>
                  <a:pt x="132461" y="247650"/>
                </a:lnTo>
                <a:lnTo>
                  <a:pt x="132461" y="133350"/>
                </a:lnTo>
                <a:lnTo>
                  <a:pt x="175958" y="133350"/>
                </a:lnTo>
                <a:close/>
              </a:path>
            </a:pathLst>
          </a:custGeom>
          <a:gradFill flip="none" rotWithShape="1">
            <a:gsLst>
              <a:gs pos="0">
                <a:srgbClr val="3465E9"/>
              </a:gs>
              <a:gs pos="84000">
                <a:srgbClr val="00B0F0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00"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166" name="任意多边形: 形状 210"/>
          <p:cNvSpPr/>
          <p:nvPr/>
        </p:nvSpPr>
        <p:spPr>
          <a:xfrm rot="5400000" flipH="1">
            <a:off x="3706589" y="2682964"/>
            <a:ext cx="175958" cy="237176"/>
          </a:xfrm>
          <a:custGeom>
            <a:avLst/>
            <a:gdLst>
              <a:gd name="connsiteX0" fmla="*/ 175958 w 175958"/>
              <a:gd name="connsiteY0" fmla="*/ 133350 h 247650"/>
              <a:gd name="connsiteX1" fmla="*/ 88011 w 175958"/>
              <a:gd name="connsiteY1" fmla="*/ 0 h 247650"/>
              <a:gd name="connsiteX2" fmla="*/ 0 w 175958"/>
              <a:gd name="connsiteY2" fmla="*/ 133350 h 247650"/>
              <a:gd name="connsiteX3" fmla="*/ 43561 w 175958"/>
              <a:gd name="connsiteY3" fmla="*/ 133350 h 247650"/>
              <a:gd name="connsiteX4" fmla="*/ 43561 w 175958"/>
              <a:gd name="connsiteY4" fmla="*/ 247650 h 247650"/>
              <a:gd name="connsiteX5" fmla="*/ 132461 w 175958"/>
              <a:gd name="connsiteY5" fmla="*/ 247650 h 247650"/>
              <a:gd name="connsiteX6" fmla="*/ 132461 w 175958"/>
              <a:gd name="connsiteY6" fmla="*/ 133350 h 247650"/>
              <a:gd name="connsiteX7" fmla="*/ 175958 w 175958"/>
              <a:gd name="connsiteY7" fmla="*/ 1333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958" h="247650">
                <a:moveTo>
                  <a:pt x="175958" y="133350"/>
                </a:moveTo>
                <a:lnTo>
                  <a:pt x="88011" y="0"/>
                </a:lnTo>
                <a:lnTo>
                  <a:pt x="0" y="133350"/>
                </a:lnTo>
                <a:lnTo>
                  <a:pt x="43561" y="133350"/>
                </a:lnTo>
                <a:lnTo>
                  <a:pt x="43561" y="247650"/>
                </a:lnTo>
                <a:lnTo>
                  <a:pt x="132461" y="247650"/>
                </a:lnTo>
                <a:lnTo>
                  <a:pt x="132461" y="133350"/>
                </a:lnTo>
                <a:lnTo>
                  <a:pt x="175958" y="133350"/>
                </a:lnTo>
                <a:close/>
              </a:path>
            </a:pathLst>
          </a:custGeom>
          <a:gradFill flip="none" rotWithShape="1">
            <a:gsLst>
              <a:gs pos="0">
                <a:srgbClr val="3465E9"/>
              </a:gs>
              <a:gs pos="84000">
                <a:srgbClr val="00B0F0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00"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1526576" y="5821679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大模型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5536504" y="2264124"/>
            <a:ext cx="137160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智能体网关（</a:t>
            </a:r>
            <a:r>
              <a:rPr lang="en-US" altLang="zh-CN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A2A</a:t>
            </a: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5499418" y="5821679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模型管理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9561794" y="5821679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小模型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8" name="任意多边形: 形状 18"/>
          <p:cNvSpPr/>
          <p:nvPr/>
        </p:nvSpPr>
        <p:spPr>
          <a:xfrm>
            <a:off x="6305551" y="3640306"/>
            <a:ext cx="5616574" cy="72257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任意多边形: 形状 18"/>
          <p:cNvSpPr/>
          <p:nvPr/>
        </p:nvSpPr>
        <p:spPr>
          <a:xfrm>
            <a:off x="623220" y="3640306"/>
            <a:ext cx="5588726" cy="72257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圆角矩形 12"/>
          <p:cNvSpPr/>
          <p:nvPr/>
        </p:nvSpPr>
        <p:spPr>
          <a:xfrm>
            <a:off x="141605" y="3586649"/>
            <a:ext cx="11922760" cy="820420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  <a:prstDash val="dash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能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力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789765" y="3980984"/>
            <a:ext cx="1103630" cy="262890"/>
            <a:chOff x="1260" y="2133"/>
            <a:chExt cx="1902" cy="414"/>
          </a:xfrm>
        </p:grpSpPr>
        <p:sp>
          <p:nvSpPr>
            <p:cNvPr id="222" name="矩形: 圆角 221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3" name="文本框 222"/>
            <p:cNvSpPr txBox="1"/>
            <p:nvPr>
              <p:custDataLst>
                <p:tags r:id="rId42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MCP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服务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443" name="文本框 442"/>
          <p:cNvSpPr txBox="1"/>
          <p:nvPr/>
        </p:nvSpPr>
        <p:spPr>
          <a:xfrm>
            <a:off x="2793135" y="3665389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MCP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能力管理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44" name="组合 443"/>
          <p:cNvGrpSpPr/>
          <p:nvPr/>
        </p:nvGrpSpPr>
        <p:grpSpPr>
          <a:xfrm>
            <a:off x="2149358" y="3980349"/>
            <a:ext cx="1103630" cy="262890"/>
            <a:chOff x="1260" y="2133"/>
            <a:chExt cx="1902" cy="414"/>
          </a:xfrm>
        </p:grpSpPr>
        <p:sp>
          <p:nvSpPr>
            <p:cNvPr id="445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6" name="文本框 445"/>
            <p:cNvSpPr txBox="1"/>
            <p:nvPr>
              <p:custDataLst>
                <p:tags r:id="rId43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MCP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工具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47" name="组合 446"/>
          <p:cNvGrpSpPr/>
          <p:nvPr/>
        </p:nvGrpSpPr>
        <p:grpSpPr>
          <a:xfrm>
            <a:off x="3508951" y="3980984"/>
            <a:ext cx="1103630" cy="262890"/>
            <a:chOff x="1260" y="2133"/>
            <a:chExt cx="1902" cy="414"/>
          </a:xfrm>
        </p:grpSpPr>
        <p:sp>
          <p:nvSpPr>
            <p:cNvPr id="448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9" name="文本框 448"/>
            <p:cNvSpPr txBox="1"/>
            <p:nvPr>
              <p:custDataLst>
                <p:tags r:id="rId44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外部服务接入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453" name="文本框 452"/>
          <p:cNvSpPr txBox="1"/>
          <p:nvPr/>
        </p:nvSpPr>
        <p:spPr>
          <a:xfrm>
            <a:off x="8461760" y="3665389"/>
            <a:ext cx="129032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skills</a:t>
            </a:r>
            <a:r>
              <a:rPr kumimoji="0" lang="zh-CN" alt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技能管理</a:t>
            </a:r>
            <a:endParaRPr kumimoji="0" lang="zh-CN" altLang="en-US" sz="1000" b="1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57" name="组合 456"/>
          <p:cNvGrpSpPr/>
          <p:nvPr/>
        </p:nvGrpSpPr>
        <p:grpSpPr>
          <a:xfrm>
            <a:off x="6583045" y="3980984"/>
            <a:ext cx="1096645" cy="262890"/>
            <a:chOff x="1260" y="2133"/>
            <a:chExt cx="1902" cy="414"/>
          </a:xfrm>
        </p:grpSpPr>
        <p:sp>
          <p:nvSpPr>
            <p:cNvPr id="458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9" name="文本框 458"/>
            <p:cNvSpPr txBox="1"/>
            <p:nvPr>
              <p:custDataLst>
                <p:tags r:id="rId45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Skills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生态管理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60" name="组合 459"/>
          <p:cNvGrpSpPr/>
          <p:nvPr/>
        </p:nvGrpSpPr>
        <p:grpSpPr>
          <a:xfrm>
            <a:off x="7921266" y="3980984"/>
            <a:ext cx="1096645" cy="262890"/>
            <a:chOff x="1260" y="2133"/>
            <a:chExt cx="1902" cy="414"/>
          </a:xfrm>
        </p:grpSpPr>
        <p:sp>
          <p:nvSpPr>
            <p:cNvPr id="461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2" name="文本框 461"/>
            <p:cNvSpPr txBox="1"/>
            <p:nvPr>
              <p:custDataLst>
                <p:tags r:id="rId46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公</a:t>
              </a:r>
              <a:r>
                <a:rPr lang="en-US" altLang="zh-CN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/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私记忆池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63" name="组合 462"/>
          <p:cNvGrpSpPr/>
          <p:nvPr/>
        </p:nvGrpSpPr>
        <p:grpSpPr>
          <a:xfrm>
            <a:off x="9259487" y="3980984"/>
            <a:ext cx="1096645" cy="262890"/>
            <a:chOff x="1260" y="2133"/>
            <a:chExt cx="1902" cy="414"/>
          </a:xfrm>
        </p:grpSpPr>
        <p:sp>
          <p:nvSpPr>
            <p:cNvPr id="464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5" name="文本框 464"/>
            <p:cNvSpPr txBox="1"/>
            <p:nvPr>
              <p:custDataLst>
                <p:tags r:id="rId47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弹性服务机制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66" name="组合 465"/>
          <p:cNvGrpSpPr/>
          <p:nvPr/>
        </p:nvGrpSpPr>
        <p:grpSpPr>
          <a:xfrm>
            <a:off x="10597707" y="3980984"/>
            <a:ext cx="1096645" cy="262890"/>
            <a:chOff x="1260" y="2133"/>
            <a:chExt cx="1902" cy="414"/>
          </a:xfrm>
        </p:grpSpPr>
        <p:sp>
          <p:nvSpPr>
            <p:cNvPr id="467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8" name="文本框 467"/>
            <p:cNvSpPr txBox="1"/>
            <p:nvPr>
              <p:custDataLst>
                <p:tags r:id="rId48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团队管控机制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69" name="组合 468"/>
          <p:cNvGrpSpPr/>
          <p:nvPr/>
        </p:nvGrpSpPr>
        <p:grpSpPr>
          <a:xfrm>
            <a:off x="4868545" y="3980984"/>
            <a:ext cx="1103630" cy="262890"/>
            <a:chOff x="1260" y="2133"/>
            <a:chExt cx="1902" cy="414"/>
          </a:xfrm>
        </p:grpSpPr>
        <p:sp>
          <p:nvSpPr>
            <p:cNvPr id="470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1" name="文本框 470"/>
            <p:cNvSpPr txBox="1"/>
            <p:nvPr>
              <p:custDataLst>
                <p:tags r:id="rId49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权限控制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474" name="任意多边形: 形状 18"/>
          <p:cNvSpPr/>
          <p:nvPr/>
        </p:nvSpPr>
        <p:spPr>
          <a:xfrm>
            <a:off x="4005063" y="4563915"/>
            <a:ext cx="3310137" cy="991251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5" name="任意多边形: 形状 18"/>
          <p:cNvSpPr/>
          <p:nvPr/>
        </p:nvSpPr>
        <p:spPr>
          <a:xfrm>
            <a:off x="623220" y="4563915"/>
            <a:ext cx="3205830" cy="991252"/>
          </a:xfrm>
          <a:custGeom>
            <a:avLst/>
            <a:gdLst>
              <a:gd name="connsiteX0" fmla="*/ 2717800 w 2768600"/>
              <a:gd name="connsiteY0" fmla="*/ 0 h 1930400"/>
              <a:gd name="connsiteX1" fmla="*/ 2768600 w 2768600"/>
              <a:gd name="connsiteY1" fmla="*/ 0 h 1930400"/>
              <a:gd name="connsiteX2" fmla="*/ 2768600 w 2768600"/>
              <a:gd name="connsiteY2" fmla="*/ 1930400 h 1930400"/>
              <a:gd name="connsiteX3" fmla="*/ 2717800 w 2768600"/>
              <a:gd name="connsiteY3" fmla="*/ 1930400 h 1930400"/>
              <a:gd name="connsiteX4" fmla="*/ 50800 w 2768600"/>
              <a:gd name="connsiteY4" fmla="*/ 1930400 h 1930400"/>
              <a:gd name="connsiteX5" fmla="*/ 0 w 2768600"/>
              <a:gd name="connsiteY5" fmla="*/ 1930400 h 1930400"/>
              <a:gd name="connsiteX6" fmla="*/ 0 w 2768600"/>
              <a:gd name="connsiteY6" fmla="*/ 0 h 1930400"/>
              <a:gd name="connsiteX7" fmla="*/ 50800 w 2768600"/>
              <a:gd name="connsiteY7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8600" h="1930400">
                <a:moveTo>
                  <a:pt x="2717800" y="0"/>
                </a:moveTo>
                <a:cubicBezTo>
                  <a:pt x="2745856" y="0"/>
                  <a:pt x="2768600" y="0"/>
                  <a:pt x="2768600" y="0"/>
                </a:cubicBezTo>
                <a:lnTo>
                  <a:pt x="2768600" y="1930400"/>
                </a:lnTo>
                <a:cubicBezTo>
                  <a:pt x="2768600" y="1930400"/>
                  <a:pt x="2745856" y="1930400"/>
                  <a:pt x="2717800" y="1930400"/>
                </a:cubicBezTo>
                <a:lnTo>
                  <a:pt x="50800" y="1930400"/>
                </a:lnTo>
                <a:cubicBezTo>
                  <a:pt x="22744" y="1930400"/>
                  <a:pt x="0" y="1930400"/>
                  <a:pt x="0" y="1930400"/>
                </a:cubicBezTo>
                <a:lnTo>
                  <a:pt x="0" y="0"/>
                </a:lnTo>
                <a:cubicBezTo>
                  <a:pt x="0" y="0"/>
                  <a:pt x="22744" y="0"/>
                  <a:pt x="50800" y="0"/>
                </a:cubicBezTo>
                <a:close/>
              </a:path>
            </a:pathLst>
          </a:custGeom>
          <a:solidFill>
            <a:srgbClr val="FCFBFE"/>
          </a:solidFill>
          <a:ln w="6350" cap="flat">
            <a:solidFill>
              <a:schemeClr val="accent5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76" name="组合 475"/>
          <p:cNvGrpSpPr/>
          <p:nvPr/>
        </p:nvGrpSpPr>
        <p:grpSpPr>
          <a:xfrm>
            <a:off x="935355" y="4888067"/>
            <a:ext cx="1207770" cy="262890"/>
            <a:chOff x="1260" y="2133"/>
            <a:chExt cx="1902" cy="414"/>
          </a:xfrm>
        </p:grpSpPr>
        <p:sp>
          <p:nvSpPr>
            <p:cNvPr id="477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8" name="文本框 477"/>
            <p:cNvSpPr txBox="1"/>
            <p:nvPr>
              <p:custDataLst>
                <p:tags r:id="rId50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数据接入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79" name="组合 478"/>
          <p:cNvGrpSpPr/>
          <p:nvPr/>
        </p:nvGrpSpPr>
        <p:grpSpPr>
          <a:xfrm>
            <a:off x="935355" y="5235126"/>
            <a:ext cx="1207770" cy="262890"/>
            <a:chOff x="1260" y="2133"/>
            <a:chExt cx="1902" cy="414"/>
          </a:xfrm>
        </p:grpSpPr>
        <p:sp>
          <p:nvSpPr>
            <p:cNvPr id="480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1" name="文本框 480"/>
            <p:cNvSpPr txBox="1"/>
            <p:nvPr>
              <p:custDataLst>
                <p:tags r:id="rId51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数据计算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82" name="组合 481"/>
          <p:cNvGrpSpPr/>
          <p:nvPr/>
        </p:nvGrpSpPr>
        <p:grpSpPr>
          <a:xfrm>
            <a:off x="2382487" y="4888067"/>
            <a:ext cx="1207770" cy="262890"/>
            <a:chOff x="1260" y="2133"/>
            <a:chExt cx="1902" cy="414"/>
          </a:xfrm>
        </p:grpSpPr>
        <p:sp>
          <p:nvSpPr>
            <p:cNvPr id="483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4" name="文本框 483"/>
            <p:cNvSpPr txBox="1"/>
            <p:nvPr>
              <p:custDataLst>
                <p:tags r:id="rId52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数据存储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85" name="组合 484"/>
          <p:cNvGrpSpPr/>
          <p:nvPr/>
        </p:nvGrpSpPr>
        <p:grpSpPr>
          <a:xfrm>
            <a:off x="2382487" y="5235126"/>
            <a:ext cx="1207770" cy="262890"/>
            <a:chOff x="1260" y="2133"/>
            <a:chExt cx="1902" cy="414"/>
          </a:xfrm>
        </p:grpSpPr>
        <p:sp>
          <p:nvSpPr>
            <p:cNvPr id="486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7" name="文本框 486"/>
            <p:cNvSpPr txBox="1"/>
            <p:nvPr>
              <p:custDataLst>
                <p:tags r:id="rId53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数据治理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88" name="组合 487"/>
          <p:cNvGrpSpPr/>
          <p:nvPr/>
        </p:nvGrpSpPr>
        <p:grpSpPr>
          <a:xfrm>
            <a:off x="4328734" y="4888067"/>
            <a:ext cx="1207770" cy="262890"/>
            <a:chOff x="1260" y="2133"/>
            <a:chExt cx="1902" cy="414"/>
          </a:xfrm>
        </p:grpSpPr>
        <p:sp>
          <p:nvSpPr>
            <p:cNvPr id="489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0" name="文本框 489"/>
            <p:cNvSpPr txBox="1"/>
            <p:nvPr>
              <p:custDataLst>
                <p:tags r:id="rId54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统一</a:t>
              </a:r>
              <a:r>
                <a:rPr lang="en-US" altLang="zh-CN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DSL</a:t>
              </a: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语言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91" name="组合 490"/>
          <p:cNvGrpSpPr/>
          <p:nvPr/>
        </p:nvGrpSpPr>
        <p:grpSpPr>
          <a:xfrm>
            <a:off x="4328734" y="5235126"/>
            <a:ext cx="1207770" cy="262890"/>
            <a:chOff x="1260" y="2133"/>
            <a:chExt cx="1902" cy="414"/>
          </a:xfrm>
        </p:grpSpPr>
        <p:sp>
          <p:nvSpPr>
            <p:cNvPr id="492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3" name="文本框 492"/>
            <p:cNvSpPr txBox="1"/>
            <p:nvPr>
              <p:custDataLst>
                <p:tags r:id="rId55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指标管理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94" name="组合 493"/>
          <p:cNvGrpSpPr/>
          <p:nvPr/>
        </p:nvGrpSpPr>
        <p:grpSpPr>
          <a:xfrm>
            <a:off x="5802314" y="4888067"/>
            <a:ext cx="1207770" cy="262890"/>
            <a:chOff x="1260" y="2133"/>
            <a:chExt cx="1902" cy="414"/>
          </a:xfrm>
        </p:grpSpPr>
        <p:sp>
          <p:nvSpPr>
            <p:cNvPr id="495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6" name="文本框 495"/>
            <p:cNvSpPr txBox="1"/>
            <p:nvPr>
              <p:custDataLst>
                <p:tags r:id="rId56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即席查询引擎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grpSp>
        <p:nvGrpSpPr>
          <p:cNvPr id="497" name="组合 496"/>
          <p:cNvGrpSpPr/>
          <p:nvPr/>
        </p:nvGrpSpPr>
        <p:grpSpPr>
          <a:xfrm>
            <a:off x="5802314" y="5235126"/>
            <a:ext cx="1207770" cy="262890"/>
            <a:chOff x="1260" y="2133"/>
            <a:chExt cx="1902" cy="414"/>
          </a:xfrm>
        </p:grpSpPr>
        <p:sp>
          <p:nvSpPr>
            <p:cNvPr id="498" name="矩形: 圆角 22"/>
            <p:cNvSpPr/>
            <p:nvPr/>
          </p:nvSpPr>
          <p:spPr>
            <a:xfrm>
              <a:off x="1260" y="2133"/>
              <a:ext cx="1902" cy="414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6350" cap="flat">
              <a:solidFill>
                <a:srgbClr val="0070C0"/>
              </a:solidFill>
              <a:prstDash val="solid"/>
              <a:miter/>
            </a:ln>
            <a:effectLst>
              <a:outerShdw blurRad="254000" dist="63500" dir="5400000" algn="t" rotWithShape="0">
                <a:schemeClr val="tx2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9" name="文本框 498"/>
            <p:cNvSpPr txBox="1"/>
            <p:nvPr>
              <p:custDataLst>
                <p:tags r:id="rId57"/>
              </p:custDataLst>
            </p:nvPr>
          </p:nvSpPr>
          <p:spPr>
            <a:xfrm>
              <a:off x="1260" y="2164"/>
              <a:ext cx="1903" cy="38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0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ea"/>
                </a:rPr>
                <a:t>指标查询加速</a:t>
              </a:r>
              <a:endParaRPr lang="zh-CN" altLang="en-US" sz="10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endParaRPr>
            </a:p>
          </p:txBody>
        </p:sp>
      </p:grpSp>
      <p:sp>
        <p:nvSpPr>
          <p:cNvPr id="514" name="文本框 513"/>
          <p:cNvSpPr txBox="1"/>
          <p:nvPr/>
        </p:nvSpPr>
        <p:spPr>
          <a:xfrm>
            <a:off x="1526576" y="4623620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数据能力服务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5" name="文本框 514"/>
          <p:cNvSpPr txBox="1"/>
          <p:nvPr/>
        </p:nvSpPr>
        <p:spPr>
          <a:xfrm>
            <a:off x="5108316" y="4623620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指标能力中台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6" name="文本框 515"/>
          <p:cNvSpPr txBox="1"/>
          <p:nvPr/>
        </p:nvSpPr>
        <p:spPr>
          <a:xfrm>
            <a:off x="9561794" y="4623620"/>
            <a:ext cx="1103630" cy="2393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0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知识工程</a:t>
            </a:r>
            <a:endParaRPr lang="zh-CN" altLang="en-US" sz="10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智能体创作中心 | 知识工程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03200" y="644525"/>
            <a:ext cx="11824547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AI + 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企业知识库：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构建以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AI 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驱动的知识平台，通过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“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管、建、用、治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 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的知识运营管理体系，将分散的数据转化为高质量的多元知识，并依托端到端工具链实现知识的加工、治理与安全管控，为全场景落地实践提供赋能。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614494" y="1659917"/>
            <a:ext cx="1402080" cy="2571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algn="l" defTabSz="914400">
              <a:lnSpc>
                <a:spcPct val="90000"/>
              </a:lnSpc>
              <a:buClrTx/>
              <a:buSzTx/>
              <a:buFontTx/>
            </a:pPr>
            <a:r>
              <a:rPr lang="zh-CN" altLang="en-US" sz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cs typeface="+mj-cs"/>
              </a:rPr>
              <a:t>知识运营管理体系</a:t>
            </a:r>
            <a:endParaRPr lang="zh-CN" altLang="en-US" sz="1200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cs typeface="+mj-cs"/>
            </a:endParaRPr>
          </a:p>
        </p:txBody>
      </p:sp>
      <p:sp>
        <p:nvSpPr>
          <p:cNvPr id="164" name="Double Bracket 16"/>
          <p:cNvSpPr/>
          <p:nvPr>
            <p:custDataLst>
              <p:tags r:id="rId1"/>
            </p:custDataLst>
          </p:nvPr>
        </p:nvSpPr>
        <p:spPr>
          <a:xfrm>
            <a:off x="835660" y="2109470"/>
            <a:ext cx="1096010" cy="846455"/>
          </a:xfrm>
          <a:prstGeom prst="bracketPair">
            <a:avLst>
              <a:gd name="adj" fmla="val 0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组织协同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分层分域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0" name="文本框 169"/>
          <p:cNvSpPr txBox="1"/>
          <p:nvPr>
            <p:custDataLst>
              <p:tags r:id="rId2"/>
            </p:custDataLst>
          </p:nvPr>
        </p:nvSpPr>
        <p:spPr>
          <a:xfrm>
            <a:off x="835660" y="2051050"/>
            <a:ext cx="1181100" cy="252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组织与权责</a:t>
            </a:r>
            <a:endParaRPr lang="zh-CN" altLang="en-US" sz="1200" b="1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73" name="Double Bracket 16"/>
          <p:cNvSpPr/>
          <p:nvPr>
            <p:custDataLst>
              <p:tags r:id="rId3"/>
            </p:custDataLst>
          </p:nvPr>
        </p:nvSpPr>
        <p:spPr>
          <a:xfrm>
            <a:off x="835660" y="3210560"/>
            <a:ext cx="1180465" cy="846455"/>
          </a:xfrm>
          <a:prstGeom prst="bracketPair">
            <a:avLst>
              <a:gd name="adj" fmla="val 0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全周期建设管理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流程化规范化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9" name="文本框 178"/>
          <p:cNvSpPr txBox="1"/>
          <p:nvPr>
            <p:custDataLst>
              <p:tags r:id="rId4"/>
            </p:custDataLst>
          </p:nvPr>
        </p:nvSpPr>
        <p:spPr>
          <a:xfrm>
            <a:off x="835660" y="3152140"/>
            <a:ext cx="1303020" cy="252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全周期流程规范</a:t>
            </a:r>
            <a:endParaRPr lang="zh-CN" altLang="en-US" sz="1200" b="1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80" name="Double Bracket 16"/>
          <p:cNvSpPr/>
          <p:nvPr>
            <p:custDataLst>
              <p:tags r:id="rId5"/>
            </p:custDataLst>
          </p:nvPr>
        </p:nvSpPr>
        <p:spPr>
          <a:xfrm>
            <a:off x="835660" y="4370070"/>
            <a:ext cx="1471295" cy="846455"/>
          </a:xfrm>
          <a:prstGeom prst="bracketPair">
            <a:avLst>
              <a:gd name="adj" fmla="val 0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需求驱动知识建设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应用反哺知识迭代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2" name="文本框 181"/>
          <p:cNvSpPr txBox="1"/>
          <p:nvPr>
            <p:custDataLst>
              <p:tags r:id="rId6"/>
            </p:custDataLst>
          </p:nvPr>
        </p:nvSpPr>
        <p:spPr>
          <a:xfrm>
            <a:off x="673735" y="4311650"/>
            <a:ext cx="1564640" cy="252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知识应用双向赋能</a:t>
            </a:r>
            <a:endParaRPr lang="zh-CN" altLang="en-US" sz="1200" b="1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83" name="Double Bracket 16"/>
          <p:cNvSpPr/>
          <p:nvPr>
            <p:custDataLst>
              <p:tags r:id="rId7"/>
            </p:custDataLst>
          </p:nvPr>
        </p:nvSpPr>
        <p:spPr>
          <a:xfrm>
            <a:off x="835660" y="5645150"/>
            <a:ext cx="1096010" cy="846455"/>
          </a:xfrm>
          <a:prstGeom prst="bracketPair">
            <a:avLst>
              <a:gd name="adj" fmla="val 0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动态评价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闭环治理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4" name="文本框 183"/>
          <p:cNvSpPr txBox="1"/>
          <p:nvPr>
            <p:custDataLst>
              <p:tags r:id="rId8"/>
            </p:custDataLst>
          </p:nvPr>
        </p:nvSpPr>
        <p:spPr>
          <a:xfrm>
            <a:off x="835660" y="5586730"/>
            <a:ext cx="1181100" cy="252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循环增值治理</a:t>
            </a:r>
            <a:endParaRPr lang="zh-CN" altLang="en-US" sz="1200" b="1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87" name="圆角矩形 186"/>
          <p:cNvSpPr/>
          <p:nvPr>
            <p:custDataLst>
              <p:tags r:id="rId9"/>
            </p:custDataLst>
          </p:nvPr>
        </p:nvSpPr>
        <p:spPr>
          <a:xfrm>
            <a:off x="253365" y="2316480"/>
            <a:ext cx="486410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管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8" name="圆角矩形 187"/>
          <p:cNvSpPr/>
          <p:nvPr>
            <p:custDataLst>
              <p:tags r:id="rId10"/>
            </p:custDataLst>
          </p:nvPr>
        </p:nvSpPr>
        <p:spPr>
          <a:xfrm>
            <a:off x="253365" y="3458845"/>
            <a:ext cx="486410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9" name="圆角矩形 188"/>
          <p:cNvSpPr/>
          <p:nvPr>
            <p:custDataLst>
              <p:tags r:id="rId11"/>
            </p:custDataLst>
          </p:nvPr>
        </p:nvSpPr>
        <p:spPr>
          <a:xfrm>
            <a:off x="253365" y="4551045"/>
            <a:ext cx="486410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0" name="圆角矩形 189"/>
          <p:cNvSpPr/>
          <p:nvPr>
            <p:custDataLst>
              <p:tags r:id="rId12"/>
            </p:custDataLst>
          </p:nvPr>
        </p:nvSpPr>
        <p:spPr>
          <a:xfrm>
            <a:off x="253365" y="5839460"/>
            <a:ext cx="486410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治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1" name="梯形 190"/>
          <p:cNvSpPr/>
          <p:nvPr/>
        </p:nvSpPr>
        <p:spPr>
          <a:xfrm>
            <a:off x="2330450" y="1474470"/>
            <a:ext cx="7618095" cy="1481455"/>
          </a:xfrm>
          <a:prstGeom prst="trapezoid">
            <a:avLst>
              <a:gd name="adj" fmla="val 0"/>
            </a:avLst>
          </a:prstGeom>
          <a:solidFill>
            <a:srgbClr val="B2EC0A">
              <a:alpha val="0"/>
            </a:srgbClr>
          </a:solidFill>
          <a:ln w="12700">
            <a:gradFill>
              <a:gsLst>
                <a:gs pos="0">
                  <a:srgbClr val="0093DB">
                    <a:alpha val="0"/>
                  </a:srgbClr>
                </a:gs>
                <a:gs pos="100000">
                  <a:srgbClr val="0093DB">
                    <a:lumMod val="92000"/>
                    <a:alpha val="64000"/>
                  </a:srgbClr>
                </a:gs>
              </a:gsLst>
              <a:lin ang="5400000" scaled="1"/>
            </a:gradFill>
            <a:miter lim="400000"/>
          </a:ln>
        </p:spPr>
        <p:txBody>
          <a:bodyPr lIns="22501" tIns="22501" rIns="22501" bIns="22501" anchor="ctr"/>
          <a:lstStyle/>
          <a:p>
            <a:pPr algn="ctr" defTabSz="457200">
              <a:defRPr/>
            </a:pPr>
            <a:endParaRPr kumimoji="1" lang="en-US" altLang="zh-CN" sz="2800" b="1" dirty="0">
              <a:solidFill>
                <a:srgbClr val="8ACE5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4" name="梯形 193"/>
          <p:cNvSpPr/>
          <p:nvPr/>
        </p:nvSpPr>
        <p:spPr>
          <a:xfrm>
            <a:off x="2330450" y="2888615"/>
            <a:ext cx="7618095" cy="1481455"/>
          </a:xfrm>
          <a:prstGeom prst="trapezoid">
            <a:avLst>
              <a:gd name="adj" fmla="val 0"/>
            </a:avLst>
          </a:prstGeom>
          <a:solidFill>
            <a:srgbClr val="B2EC0A">
              <a:alpha val="0"/>
            </a:srgbClr>
          </a:solidFill>
          <a:ln w="12700">
            <a:gradFill>
              <a:gsLst>
                <a:gs pos="0">
                  <a:srgbClr val="0093DB">
                    <a:alpha val="0"/>
                  </a:srgbClr>
                </a:gs>
                <a:gs pos="100000">
                  <a:srgbClr val="0093DB">
                    <a:lumMod val="92000"/>
                    <a:alpha val="64000"/>
                  </a:srgbClr>
                </a:gs>
              </a:gsLst>
              <a:lin ang="5400000" scaled="1"/>
            </a:gradFill>
            <a:miter lim="400000"/>
          </a:ln>
        </p:spPr>
        <p:txBody>
          <a:bodyPr lIns="22501" tIns="22501" rIns="22501" bIns="22501" anchor="ctr"/>
          <a:lstStyle/>
          <a:p>
            <a:pPr algn="ctr" defTabSz="457200">
              <a:defRPr/>
            </a:pPr>
            <a:endParaRPr kumimoji="1" lang="en-US" altLang="zh-CN" sz="2800" b="1" dirty="0">
              <a:solidFill>
                <a:srgbClr val="8ACE5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5" name="梯形 194"/>
          <p:cNvSpPr/>
          <p:nvPr/>
        </p:nvSpPr>
        <p:spPr>
          <a:xfrm>
            <a:off x="2334260" y="4065270"/>
            <a:ext cx="7618095" cy="1642110"/>
          </a:xfrm>
          <a:prstGeom prst="trapezoid">
            <a:avLst>
              <a:gd name="adj" fmla="val 0"/>
            </a:avLst>
          </a:prstGeom>
          <a:solidFill>
            <a:srgbClr val="B2EC0A">
              <a:alpha val="0"/>
            </a:srgbClr>
          </a:solidFill>
          <a:ln w="12700">
            <a:gradFill>
              <a:gsLst>
                <a:gs pos="0">
                  <a:srgbClr val="0093DB">
                    <a:alpha val="0"/>
                  </a:srgbClr>
                </a:gs>
                <a:gs pos="100000">
                  <a:srgbClr val="0093DB">
                    <a:lumMod val="92000"/>
                    <a:alpha val="64000"/>
                  </a:srgbClr>
                </a:gs>
              </a:gsLst>
              <a:lin ang="5400000" scaled="1"/>
            </a:gradFill>
            <a:miter lim="400000"/>
          </a:ln>
        </p:spPr>
        <p:txBody>
          <a:bodyPr lIns="22501" tIns="22501" rIns="22501" bIns="22501" anchor="ctr"/>
          <a:lstStyle/>
          <a:p>
            <a:pPr algn="ctr" defTabSz="457200">
              <a:defRPr/>
            </a:pPr>
            <a:endParaRPr kumimoji="1" lang="en-US" altLang="zh-CN" sz="2800" b="1" dirty="0">
              <a:solidFill>
                <a:srgbClr val="8ACE5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6" name="梯形 195"/>
          <p:cNvSpPr/>
          <p:nvPr/>
        </p:nvSpPr>
        <p:spPr>
          <a:xfrm>
            <a:off x="2334260" y="5252720"/>
            <a:ext cx="7618095" cy="1481455"/>
          </a:xfrm>
          <a:prstGeom prst="trapezoid">
            <a:avLst>
              <a:gd name="adj" fmla="val 0"/>
            </a:avLst>
          </a:prstGeom>
          <a:solidFill>
            <a:srgbClr val="B2EC0A">
              <a:alpha val="0"/>
            </a:srgbClr>
          </a:solidFill>
          <a:ln w="12700">
            <a:gradFill>
              <a:gsLst>
                <a:gs pos="0">
                  <a:srgbClr val="0093DB">
                    <a:alpha val="0"/>
                  </a:srgbClr>
                </a:gs>
                <a:gs pos="100000">
                  <a:srgbClr val="0093DB">
                    <a:lumMod val="92000"/>
                    <a:alpha val="64000"/>
                  </a:srgbClr>
                </a:gs>
              </a:gsLst>
              <a:lin ang="5400000" scaled="1"/>
            </a:gradFill>
            <a:miter lim="400000"/>
          </a:ln>
        </p:spPr>
        <p:txBody>
          <a:bodyPr lIns="22501" tIns="22501" rIns="22501" bIns="22501" anchor="ctr"/>
          <a:lstStyle/>
          <a:p>
            <a:pPr algn="ctr" defTabSz="457200">
              <a:defRPr/>
            </a:pPr>
            <a:endParaRPr kumimoji="1" lang="en-US" altLang="zh-CN" sz="2800" b="1" dirty="0">
              <a:solidFill>
                <a:srgbClr val="8ACE5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9" name="TextBox 56"/>
          <p:cNvSpPr txBox="1"/>
          <p:nvPr>
            <p:custDataLst>
              <p:tags r:id="rId13"/>
            </p:custDataLst>
          </p:nvPr>
        </p:nvSpPr>
        <p:spPr>
          <a:xfrm>
            <a:off x="2463165" y="1815465"/>
            <a:ext cx="226695" cy="94170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>
            <a:defPPr>
              <a:defRPr lang="zh-CN"/>
            </a:defPPr>
            <a:lvl1pPr algn="ctr">
              <a:defRPr sz="1200" b="1">
                <a:latin typeface="Amasis MT Pro" panose="02040504050005020304" pitchFamily="18" charset="0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企业赋能</a:t>
            </a:r>
            <a:endParaRPr lang="zh-CN" altLang="en-US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lt"/>
            </a:endParaRPr>
          </a:p>
        </p:txBody>
      </p:sp>
      <p:sp>
        <p:nvSpPr>
          <p:cNvPr id="202" name="TextBox 56"/>
          <p:cNvSpPr txBox="1"/>
          <p:nvPr>
            <p:custDataLst>
              <p:tags r:id="rId14"/>
            </p:custDataLst>
          </p:nvPr>
        </p:nvSpPr>
        <p:spPr>
          <a:xfrm>
            <a:off x="2463165" y="3268980"/>
            <a:ext cx="226695" cy="94170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>
            <a:defPPr>
              <a:defRPr lang="zh-CN"/>
            </a:defPPr>
            <a:lvl1pPr algn="ctr">
              <a:defRPr sz="1200" b="1">
                <a:latin typeface="Amasis MT Pro" panose="02040504050005020304" pitchFamily="18" charset="0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知识产品</a:t>
            </a:r>
            <a:endParaRPr lang="zh-CN" altLang="en-US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lt"/>
            </a:endParaRPr>
          </a:p>
        </p:txBody>
      </p:sp>
      <p:sp>
        <p:nvSpPr>
          <p:cNvPr id="203" name="TextBox 56"/>
          <p:cNvSpPr txBox="1"/>
          <p:nvPr>
            <p:custDataLst>
              <p:tags r:id="rId15"/>
            </p:custDataLst>
          </p:nvPr>
        </p:nvSpPr>
        <p:spPr>
          <a:xfrm>
            <a:off x="2463165" y="4587240"/>
            <a:ext cx="226695" cy="94170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>
            <a:defPPr>
              <a:defRPr lang="zh-CN"/>
            </a:defPPr>
            <a:lvl1pPr algn="ctr">
              <a:defRPr sz="1200" b="1">
                <a:latin typeface="Amasis MT Pro" panose="02040504050005020304" pitchFamily="18" charset="0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加工链条</a:t>
            </a:r>
            <a:endParaRPr lang="zh-CN" altLang="en-US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lt"/>
            </a:endParaRPr>
          </a:p>
        </p:txBody>
      </p:sp>
      <p:sp>
        <p:nvSpPr>
          <p:cNvPr id="204" name="TextBox 56"/>
          <p:cNvSpPr txBox="1"/>
          <p:nvPr>
            <p:custDataLst>
              <p:tags r:id="rId16"/>
            </p:custDataLst>
          </p:nvPr>
        </p:nvSpPr>
        <p:spPr>
          <a:xfrm>
            <a:off x="2463165" y="5876925"/>
            <a:ext cx="226695" cy="70929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>
            <a:defPPr>
              <a:defRPr lang="zh-CN"/>
            </a:defPPr>
            <a:lvl1pPr algn="ctr">
              <a:defRPr sz="1200" b="1">
                <a:latin typeface="Amasis MT Pro" panose="02040504050005020304" pitchFamily="18" charset="0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知识库</a:t>
            </a:r>
            <a:endParaRPr lang="zh-CN" altLang="en-US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lt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10208709" y="1660552"/>
            <a:ext cx="1706880" cy="2571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algn="l" defTabSz="914400">
              <a:lnSpc>
                <a:spcPct val="90000"/>
              </a:lnSpc>
              <a:buClrTx/>
              <a:buSzTx/>
              <a:buFontTx/>
            </a:pPr>
            <a:r>
              <a:rPr lang="zh-CN" altLang="en-US" sz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cs typeface="+mj-cs"/>
              </a:rPr>
              <a:t>落地实践，全场景赋能</a:t>
            </a:r>
            <a:endParaRPr lang="zh-CN" altLang="en-US" sz="1200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cs typeface="+mj-cs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10337165" y="1931035"/>
            <a:ext cx="1476375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500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天的知识服务</a:t>
            </a:r>
            <a:endParaRPr lang="zh-CN" alt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07" name="图片 206" descr="post_object_image_167165043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10798810" y="2924175"/>
            <a:ext cx="624840" cy="624840"/>
          </a:xfrm>
          <a:prstGeom prst="rect">
            <a:avLst/>
          </a:prstGeom>
        </p:spPr>
      </p:pic>
      <p:grpSp>
        <p:nvGrpSpPr>
          <p:cNvPr id="208" name="组合 207"/>
          <p:cNvGrpSpPr/>
          <p:nvPr/>
        </p:nvGrpSpPr>
        <p:grpSpPr>
          <a:xfrm>
            <a:off x="10421620" y="2229485"/>
            <a:ext cx="1391920" cy="207645"/>
            <a:chOff x="12441" y="-235"/>
            <a:chExt cx="4927" cy="734"/>
          </a:xfrm>
        </p:grpSpPr>
        <p:pic>
          <p:nvPicPr>
            <p:cNvPr id="209" name="Graphic 2049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441" y="-235"/>
              <a:ext cx="735" cy="735"/>
            </a:xfrm>
            <a:prstGeom prst="rect">
              <a:avLst/>
            </a:prstGeom>
          </p:spPr>
        </p:pic>
        <p:pic>
          <p:nvPicPr>
            <p:cNvPr id="210" name="Graphic 2051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530" y="-235"/>
              <a:ext cx="735" cy="735"/>
            </a:xfrm>
            <a:prstGeom prst="rect">
              <a:avLst/>
            </a:prstGeom>
          </p:spPr>
        </p:pic>
        <p:pic>
          <p:nvPicPr>
            <p:cNvPr id="211" name="Graphic 205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4653" y="-235"/>
              <a:ext cx="735" cy="735"/>
            </a:xfrm>
            <a:prstGeom prst="rect">
              <a:avLst/>
            </a:prstGeom>
          </p:spPr>
        </p:pic>
        <p:pic>
          <p:nvPicPr>
            <p:cNvPr id="212" name="Graphic 2054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5742" y="-235"/>
              <a:ext cx="735" cy="735"/>
            </a:xfrm>
            <a:prstGeom prst="rect">
              <a:avLst/>
            </a:prstGeom>
          </p:spPr>
        </p:pic>
        <p:pic>
          <p:nvPicPr>
            <p:cNvPr id="213" name="Graphic 2079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6634" y="-235"/>
              <a:ext cx="735" cy="735"/>
            </a:xfrm>
            <a:prstGeom prst="rect">
              <a:avLst/>
            </a:prstGeom>
          </p:spPr>
        </p:pic>
      </p:grpSp>
      <p:sp>
        <p:nvSpPr>
          <p:cNvPr id="214" name="矩形: 圆角 20"/>
          <p:cNvSpPr/>
          <p:nvPr/>
        </p:nvSpPr>
        <p:spPr>
          <a:xfrm>
            <a:off x="10453370" y="2428240"/>
            <a:ext cx="1260475" cy="4368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知识驱动智能</a:t>
            </a:r>
            <a:endParaRPr lang="zh-CN" altLang="en-US" sz="1200" b="1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grpSp>
        <p:nvGrpSpPr>
          <p:cNvPr id="216" name="组合 215"/>
          <p:cNvGrpSpPr/>
          <p:nvPr/>
        </p:nvGrpSpPr>
        <p:grpSpPr>
          <a:xfrm>
            <a:off x="10368915" y="4850765"/>
            <a:ext cx="1564640" cy="1374775"/>
            <a:chOff x="14804" y="2759"/>
            <a:chExt cx="6712" cy="5371"/>
          </a:xfrm>
        </p:grpSpPr>
        <p:sp>
          <p:nvSpPr>
            <p:cNvPr id="217" name="任意多边形: 形状 235"/>
            <p:cNvSpPr/>
            <p:nvPr>
              <p:custDataLst>
                <p:tags r:id="rId24"/>
              </p:custDataLst>
            </p:nvPr>
          </p:nvSpPr>
          <p:spPr>
            <a:xfrm>
              <a:off x="14804" y="6624"/>
              <a:ext cx="6712" cy="1506"/>
            </a:xfrm>
            <a:custGeom>
              <a:avLst/>
              <a:gdLst>
                <a:gd name="connsiteX0" fmla="*/ 3191713 w 3191713"/>
                <a:gd name="connsiteY0" fmla="*/ 661035 h 661035"/>
                <a:gd name="connsiteX1" fmla="*/ 0 w 3191713"/>
                <a:gd name="connsiteY1" fmla="*/ 661035 h 661035"/>
                <a:gd name="connsiteX2" fmla="*/ 346100 w 3191713"/>
                <a:gd name="connsiteY2" fmla="*/ 57836 h 661035"/>
                <a:gd name="connsiteX3" fmla="*/ 445999 w 3191713"/>
                <a:gd name="connsiteY3" fmla="*/ 0 h 661035"/>
                <a:gd name="connsiteX4" fmla="*/ 2745639 w 3191713"/>
                <a:gd name="connsiteY4" fmla="*/ 0 h 661035"/>
                <a:gd name="connsiteX5" fmla="*/ 2845537 w 3191713"/>
                <a:gd name="connsiteY5" fmla="*/ 57836 h 661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91713" h="661035">
                  <a:moveTo>
                    <a:pt x="3191713" y="661035"/>
                  </a:moveTo>
                  <a:lnTo>
                    <a:pt x="0" y="661035"/>
                  </a:lnTo>
                  <a:lnTo>
                    <a:pt x="346100" y="57836"/>
                  </a:lnTo>
                  <a:cubicBezTo>
                    <a:pt x="366613" y="22029"/>
                    <a:pt x="404736" y="-46"/>
                    <a:pt x="445999" y="0"/>
                  </a:cubicBezTo>
                  <a:lnTo>
                    <a:pt x="2745639" y="0"/>
                  </a:lnTo>
                  <a:cubicBezTo>
                    <a:pt x="2786901" y="-46"/>
                    <a:pt x="2825024" y="22029"/>
                    <a:pt x="2845537" y="57836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53975" rIns="91440" bIns="36195" numCol="1" spcCol="0" rtlCol="0" fromWordArt="0" anchor="ctr" anchorCtr="0" forceAA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数据</a:t>
              </a:r>
              <a:endParaRPr lang="en-US" alt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  <a:p>
              <a:pPr lvl="0" algn="ctr">
                <a:lnSpc>
                  <a:spcPct val="100000"/>
                </a:lnSpc>
                <a:spcBef>
                  <a:spcPts val="600"/>
                </a:spcBef>
                <a:buClrTx/>
                <a:buSzTx/>
                <a:buFontTx/>
              </a:pPr>
              <a:r>
                <a:rPr lang="zh-CN" altLang="en-US" sz="7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分散的运维</a:t>
              </a:r>
              <a:r>
                <a:rPr lang="zh-CN" altLang="en-US" sz="7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知识文件、知识数据</a:t>
              </a:r>
              <a:endParaRPr lang="zh-CN" altLang="en-US" sz="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221" name="任意多边形: 形状 237"/>
            <p:cNvSpPr/>
            <p:nvPr>
              <p:custDataLst>
                <p:tags r:id="rId25"/>
              </p:custDataLst>
            </p:nvPr>
          </p:nvSpPr>
          <p:spPr>
            <a:xfrm>
              <a:off x="15697" y="4657"/>
              <a:ext cx="4931" cy="1780"/>
            </a:xfrm>
            <a:custGeom>
              <a:avLst/>
              <a:gdLst>
                <a:gd name="connsiteX0" fmla="*/ 1569720 w 1569720"/>
                <a:gd name="connsiteY0" fmla="*/ 661035 h 661035"/>
                <a:gd name="connsiteX1" fmla="*/ 0 w 1569720"/>
                <a:gd name="connsiteY1" fmla="*/ 661035 h 661035"/>
                <a:gd name="connsiteX2" fmla="*/ 355778 w 1569720"/>
                <a:gd name="connsiteY2" fmla="*/ 40843 h 661035"/>
                <a:gd name="connsiteX3" fmla="*/ 426339 w 1569720"/>
                <a:gd name="connsiteY3" fmla="*/ 0 h 661035"/>
                <a:gd name="connsiteX4" fmla="*/ 1143229 w 1569720"/>
                <a:gd name="connsiteY4" fmla="*/ 0 h 661035"/>
                <a:gd name="connsiteX5" fmla="*/ 1213714 w 1569720"/>
                <a:gd name="connsiteY5" fmla="*/ 40843 h 661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9720" h="661035">
                  <a:moveTo>
                    <a:pt x="1569720" y="661035"/>
                  </a:moveTo>
                  <a:lnTo>
                    <a:pt x="0" y="661035"/>
                  </a:lnTo>
                  <a:lnTo>
                    <a:pt x="355778" y="40843"/>
                  </a:lnTo>
                  <a:cubicBezTo>
                    <a:pt x="370271" y="15560"/>
                    <a:pt x="397193" y="-30"/>
                    <a:pt x="426339" y="0"/>
                  </a:cubicBezTo>
                  <a:lnTo>
                    <a:pt x="1143229" y="0"/>
                  </a:lnTo>
                  <a:cubicBezTo>
                    <a:pt x="1172352" y="-15"/>
                    <a:pt x="1199251" y="15568"/>
                    <a:pt x="1213714" y="40843"/>
                  </a:cubicBez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53975" rIns="91440" bIns="36195" numCol="1" spcCol="0" rtlCol="0" fromWordArt="0" anchor="ctr" anchorCtr="0" forceAA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知识</a:t>
              </a:r>
              <a:endParaRPr lang="en-US" alt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>
                <a:spcBef>
                  <a:spcPts val="600"/>
                </a:spcBef>
                <a:buClrTx/>
                <a:buSzTx/>
                <a:buFontTx/>
              </a:pPr>
              <a:r>
                <a:rPr lang="en-US" altLang="zh-CN" sz="7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7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加工处理、嵌入表征</a:t>
              </a:r>
              <a:endParaRPr lang="zh-CN" altLang="en-US" sz="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2" name="任意多边形: 形状 238"/>
            <p:cNvSpPr/>
            <p:nvPr>
              <p:custDataLst>
                <p:tags r:id="rId26"/>
              </p:custDataLst>
            </p:nvPr>
          </p:nvSpPr>
          <p:spPr>
            <a:xfrm>
              <a:off x="16970" y="2759"/>
              <a:ext cx="2382" cy="1742"/>
            </a:xfrm>
            <a:custGeom>
              <a:avLst/>
              <a:gdLst>
                <a:gd name="connsiteX0" fmla="*/ 758495 w 758494"/>
                <a:gd name="connsiteY0" fmla="*/ 620236 h 620235"/>
                <a:gd name="connsiteX1" fmla="*/ 0 w 758494"/>
                <a:gd name="connsiteY1" fmla="*/ 620236 h 620235"/>
                <a:gd name="connsiteX2" fmla="*/ 344119 w 758494"/>
                <a:gd name="connsiteY2" fmla="*/ 20389 h 620235"/>
                <a:gd name="connsiteX3" fmla="*/ 399326 w 758494"/>
                <a:gd name="connsiteY3" fmla="*/ 5341 h 620235"/>
                <a:gd name="connsiteX4" fmla="*/ 414376 w 758494"/>
                <a:gd name="connsiteY4" fmla="*/ 20389 h 62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494" h="620235">
                  <a:moveTo>
                    <a:pt x="758495" y="620236"/>
                  </a:moveTo>
                  <a:lnTo>
                    <a:pt x="0" y="620236"/>
                  </a:lnTo>
                  <a:lnTo>
                    <a:pt x="344119" y="20389"/>
                  </a:lnTo>
                  <a:cubicBezTo>
                    <a:pt x="355206" y="989"/>
                    <a:pt x="379926" y="-5749"/>
                    <a:pt x="399326" y="5341"/>
                  </a:cubicBezTo>
                  <a:cubicBezTo>
                    <a:pt x="405597" y="8924"/>
                    <a:pt x="410794" y="14120"/>
                    <a:pt x="414376" y="20389"/>
                  </a:cubicBez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215900" rIns="91440" bIns="36195" numCol="1" spcCol="0" rtlCol="0" fromWordArt="0" anchor="ctr" anchorCtr="0" forceAA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应用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</p:grpSp>
      <p:sp>
        <p:nvSpPr>
          <p:cNvPr id="223" name="文本框 222"/>
          <p:cNvSpPr txBox="1"/>
          <p:nvPr/>
        </p:nvSpPr>
        <p:spPr>
          <a:xfrm>
            <a:off x="10728643" y="6273165"/>
            <a:ext cx="944880" cy="275590"/>
          </a:xfrm>
          <a:prstGeom prst="rect">
            <a:avLst/>
          </a:prstGeom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lvl="0" indent="-114300" algn="ctr">
              <a:spcBef>
                <a:spcPts val="500"/>
              </a:spcBef>
              <a:buClrTx/>
              <a:buSzTx/>
              <a:buFontTx/>
            </a:pPr>
            <a:r>
              <a:rPr lang="zh-CN" altLang="en-US" sz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cs typeface="+mj-cs"/>
                <a:sym typeface="+mn-ea"/>
              </a:rPr>
              <a:t>以知识筑基</a:t>
            </a:r>
            <a:endParaRPr lang="zh-CN" altLang="en-US" sz="1200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cs typeface="+mj-cs"/>
              <a:sym typeface="+mn-ea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10346055" y="3672205"/>
            <a:ext cx="1610995" cy="714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以应用场景为导向</a:t>
            </a: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推理决策依据</a:t>
            </a: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行业知识鸿沟”</a:t>
            </a: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25" name="直接连接符 224"/>
          <p:cNvCxnSpPr/>
          <p:nvPr/>
        </p:nvCxnSpPr>
        <p:spPr>
          <a:xfrm>
            <a:off x="10481945" y="4686300"/>
            <a:ext cx="12573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4" name="文本框 233"/>
          <p:cNvSpPr txBox="1"/>
          <p:nvPr/>
        </p:nvSpPr>
        <p:spPr>
          <a:xfrm>
            <a:off x="3757613" y="2551430"/>
            <a:ext cx="1554480" cy="275590"/>
          </a:xfrm>
          <a:prstGeom prst="rect">
            <a:avLst/>
          </a:prstGeom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lvl="0" indent="-114300" algn="ctr">
              <a:spcBef>
                <a:spcPts val="500"/>
              </a:spcBef>
              <a:buClrTx/>
              <a:buSzTx/>
              <a:buFontTx/>
            </a:pP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知识为体，智能为用</a:t>
            </a:r>
            <a:endParaRPr lang="zh-CN" altLang="en-US" sz="12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7305358" y="2576830"/>
            <a:ext cx="1249680" cy="275590"/>
          </a:xfrm>
          <a:prstGeom prst="rect">
            <a:avLst/>
          </a:prstGeom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lvl="0" indent="-114300" algn="ctr">
              <a:spcBef>
                <a:spcPts val="500"/>
              </a:spcBef>
              <a:buClrTx/>
              <a:buSzTx/>
              <a:buFontTx/>
            </a:pP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sym typeface="+mn-lt"/>
              </a:rPr>
              <a:t>新一代智能生态</a:t>
            </a:r>
            <a:endParaRPr lang="zh-CN" altLang="en-US" sz="1200" dirty="0">
              <a:solidFill>
                <a:schemeClr val="accent2">
                  <a:lumMod val="75000"/>
                </a:schemeClr>
              </a:solidFill>
              <a:sym typeface="+mn-lt"/>
            </a:endParaRPr>
          </a:p>
        </p:txBody>
      </p:sp>
      <p:sp>
        <p:nvSpPr>
          <p:cNvPr id="241" name="圆角矩形 240"/>
          <p:cNvSpPr/>
          <p:nvPr>
            <p:custDataLst>
              <p:tags r:id="rId27"/>
            </p:custDataLst>
          </p:nvPr>
        </p:nvSpPr>
        <p:spPr>
          <a:xfrm>
            <a:off x="3904615" y="1750695"/>
            <a:ext cx="729615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搜索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2" name="圆角矩形 241"/>
          <p:cNvSpPr/>
          <p:nvPr>
            <p:custDataLst>
              <p:tags r:id="rId28"/>
            </p:custDataLst>
          </p:nvPr>
        </p:nvSpPr>
        <p:spPr>
          <a:xfrm>
            <a:off x="4845685" y="1750695"/>
            <a:ext cx="729615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问答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3" name="圆角矩形 242"/>
          <p:cNvSpPr/>
          <p:nvPr>
            <p:custDataLst>
              <p:tags r:id="rId29"/>
            </p:custDataLst>
          </p:nvPr>
        </p:nvSpPr>
        <p:spPr>
          <a:xfrm>
            <a:off x="5786755" y="1750695"/>
            <a:ext cx="729615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4" name="圆角矩形 243"/>
          <p:cNvSpPr/>
          <p:nvPr>
            <p:custDataLst>
              <p:tags r:id="rId30"/>
            </p:custDataLst>
          </p:nvPr>
        </p:nvSpPr>
        <p:spPr>
          <a:xfrm>
            <a:off x="6727825" y="1750695"/>
            <a:ext cx="729615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生成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5" name="圆角矩形 244"/>
          <p:cNvSpPr/>
          <p:nvPr>
            <p:custDataLst>
              <p:tags r:id="rId31"/>
            </p:custDataLst>
          </p:nvPr>
        </p:nvSpPr>
        <p:spPr>
          <a:xfrm>
            <a:off x="7668895" y="1750695"/>
            <a:ext cx="729615" cy="3003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决策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3450590" y="2227263"/>
            <a:ext cx="944880" cy="257175"/>
          </a:xfrm>
          <a:prstGeom prst="rect">
            <a:avLst/>
          </a:prstGeom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lvl="0" algn="l">
              <a:lnSpc>
                <a:spcPct val="90000"/>
              </a:lnSpc>
              <a:spcBef>
                <a:spcPts val="500"/>
              </a:spcBef>
              <a:buClrTx/>
              <a:buSzTx/>
              <a:buFontTx/>
            </a:pPr>
            <a:r>
              <a:rPr lang="zh-CN" altLang="en-US" sz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cs typeface="+mj-cs"/>
                <a:sym typeface="+mn-ea"/>
              </a:rPr>
              <a:t>企业智能体</a:t>
            </a:r>
            <a:endParaRPr lang="zh-CN" altLang="en-US" sz="1200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cs typeface="+mj-cs"/>
              <a:sym typeface="+mn-ea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5088890" y="2227263"/>
            <a:ext cx="944880" cy="257175"/>
          </a:xfrm>
          <a:prstGeom prst="rect">
            <a:avLst/>
          </a:prstGeom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lvl="0" algn="l">
              <a:lnSpc>
                <a:spcPct val="90000"/>
              </a:lnSpc>
              <a:spcBef>
                <a:spcPts val="500"/>
              </a:spcBef>
              <a:buClrTx/>
              <a:buSzTx/>
              <a:buFontTx/>
            </a:pPr>
            <a:r>
              <a:rPr lang="zh-CN" altLang="en-US" sz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cs typeface="+mj-cs"/>
                <a:sym typeface="+mn-ea"/>
              </a:rPr>
              <a:t>数智化应用</a:t>
            </a:r>
            <a:endParaRPr lang="zh-CN" altLang="en-US" sz="1200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cs typeface="+mj-cs"/>
              <a:sym typeface="+mn-ea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6695440" y="2227263"/>
            <a:ext cx="1097280" cy="257175"/>
          </a:xfrm>
          <a:prstGeom prst="rect">
            <a:avLst/>
          </a:prstGeom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lvl="0" algn="l">
              <a:lnSpc>
                <a:spcPct val="90000"/>
              </a:lnSpc>
              <a:spcBef>
                <a:spcPts val="500"/>
              </a:spcBef>
              <a:buClrTx/>
              <a:buSzTx/>
              <a:buFontTx/>
            </a:pPr>
            <a:r>
              <a:rPr lang="zh-CN" altLang="en-US" sz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cs typeface="+mj-cs"/>
                <a:sym typeface="+mn-ea"/>
              </a:rPr>
              <a:t>企业知识检索</a:t>
            </a:r>
            <a:endParaRPr lang="zh-CN" altLang="en-US" sz="1200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cs typeface="+mj-cs"/>
              <a:sym typeface="+mn-ea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8416290" y="2227263"/>
            <a:ext cx="944880" cy="257175"/>
          </a:xfrm>
          <a:prstGeom prst="rect">
            <a:avLst/>
          </a:prstGeom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400" b="1">
                <a:gradFill>
                  <a:gsLst>
                    <a:gs pos="100000">
                      <a:srgbClr val="ED7D31">
                        <a:lumMod val="75000"/>
                      </a:srgbClr>
                    </a:gs>
                    <a:gs pos="53000">
                      <a:srgbClr val="FFC000"/>
                    </a:gs>
                    <a:gs pos="0">
                      <a:srgbClr val="FFED90"/>
                    </a:gs>
                  </a:gsLst>
                  <a:lin ang="2400000" scaled="0"/>
                </a:gra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pPr lvl="0" algn="l">
              <a:lnSpc>
                <a:spcPct val="90000"/>
              </a:lnSpc>
              <a:spcBef>
                <a:spcPts val="500"/>
              </a:spcBef>
              <a:buClrTx/>
              <a:buSzTx/>
              <a:buFontTx/>
            </a:pPr>
            <a:r>
              <a:rPr lang="zh-CN" altLang="en-US" sz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cs typeface="+mj-cs"/>
                <a:sym typeface="+mn-ea"/>
              </a:rPr>
              <a:t>自动化运维</a:t>
            </a:r>
            <a:endParaRPr lang="zh-CN" altLang="en-US" sz="1200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cs typeface="+mj-cs"/>
              <a:sym typeface="+mn-ea"/>
            </a:endParaRPr>
          </a:p>
        </p:txBody>
      </p:sp>
      <p:pic>
        <p:nvPicPr>
          <p:cNvPr id="255" name="图片 254" descr="热线 (1)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01670" y="2214245"/>
            <a:ext cx="283210" cy="283210"/>
          </a:xfrm>
          <a:prstGeom prst="rect">
            <a:avLst/>
          </a:prstGeom>
        </p:spPr>
      </p:pic>
      <p:pic>
        <p:nvPicPr>
          <p:cNvPr id="256" name="图片 255" descr="成套组配方案生成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98060" y="2198370"/>
            <a:ext cx="314960" cy="314960"/>
          </a:xfrm>
          <a:prstGeom prst="rect">
            <a:avLst/>
          </a:prstGeom>
        </p:spPr>
      </p:pic>
      <p:pic>
        <p:nvPicPr>
          <p:cNvPr id="257" name="图片 256" descr="搜索引擎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26200" y="2201863"/>
            <a:ext cx="307975" cy="307975"/>
          </a:xfrm>
          <a:prstGeom prst="rect">
            <a:avLst/>
          </a:prstGeom>
        </p:spPr>
      </p:pic>
      <p:pic>
        <p:nvPicPr>
          <p:cNvPr id="259" name="图片 258" descr="智慧办公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047355" y="2227263"/>
            <a:ext cx="372110" cy="257175"/>
          </a:xfrm>
          <a:prstGeom prst="rect">
            <a:avLst/>
          </a:prstGeom>
        </p:spPr>
      </p:pic>
      <p:sp>
        <p:nvSpPr>
          <p:cNvPr id="260" name="Freeform: Shape 48"/>
          <p:cNvSpPr/>
          <p:nvPr/>
        </p:nvSpPr>
        <p:spPr>
          <a:xfrm>
            <a:off x="4705350" y="3081020"/>
            <a:ext cx="1288415" cy="233045"/>
          </a:xfrm>
          <a:custGeom>
            <a:avLst/>
            <a:gdLst>
              <a:gd name="connsiteX0" fmla="*/ 75249 w 2362699"/>
              <a:gd name="connsiteY0" fmla="*/ 0 h 388945"/>
              <a:gd name="connsiteX1" fmla="*/ 2287450 w 2362699"/>
              <a:gd name="connsiteY1" fmla="*/ 0 h 388945"/>
              <a:gd name="connsiteX2" fmla="*/ 2362699 w 2362699"/>
              <a:gd name="connsiteY2" fmla="*/ 75249 h 388945"/>
              <a:gd name="connsiteX3" fmla="*/ 2362699 w 2362699"/>
              <a:gd name="connsiteY3" fmla="*/ 376236 h 388945"/>
              <a:gd name="connsiteX4" fmla="*/ 2361728 w 2362699"/>
              <a:gd name="connsiteY4" fmla="*/ 381046 h 388945"/>
              <a:gd name="connsiteX5" fmla="*/ 41689 w 2362699"/>
              <a:gd name="connsiteY5" fmla="*/ 381046 h 388945"/>
              <a:gd name="connsiteX6" fmla="*/ 2566 w 2362699"/>
              <a:gd name="connsiteY6" fmla="*/ 388945 h 388945"/>
              <a:gd name="connsiteX7" fmla="*/ 0 w 2362699"/>
              <a:gd name="connsiteY7" fmla="*/ 376236 h 388945"/>
              <a:gd name="connsiteX8" fmla="*/ 0 w 2362699"/>
              <a:gd name="connsiteY8" fmla="*/ 75249 h 388945"/>
              <a:gd name="connsiteX9" fmla="*/ 75249 w 2362699"/>
              <a:gd name="connsiteY9" fmla="*/ 0 h 388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62699" h="388945">
                <a:moveTo>
                  <a:pt x="75249" y="0"/>
                </a:moveTo>
                <a:lnTo>
                  <a:pt x="2287450" y="0"/>
                </a:lnTo>
                <a:cubicBezTo>
                  <a:pt x="2329009" y="0"/>
                  <a:pt x="2362699" y="33690"/>
                  <a:pt x="2362699" y="75249"/>
                </a:cubicBezTo>
                <a:lnTo>
                  <a:pt x="2362699" y="376236"/>
                </a:lnTo>
                <a:lnTo>
                  <a:pt x="2361728" y="381046"/>
                </a:lnTo>
                <a:lnTo>
                  <a:pt x="41689" y="381046"/>
                </a:lnTo>
                <a:lnTo>
                  <a:pt x="2566" y="388945"/>
                </a:lnTo>
                <a:lnTo>
                  <a:pt x="0" y="376236"/>
                </a:lnTo>
                <a:lnTo>
                  <a:pt x="0" y="75249"/>
                </a:lnTo>
                <a:cubicBezTo>
                  <a:pt x="0" y="33690"/>
                  <a:pt x="33690" y="0"/>
                  <a:pt x="75249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rIns="18000" rtlCol="0" anchor="ctr">
            <a:no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知识加工</a:t>
            </a:r>
            <a:endParaRPr lang="zh-CN" alt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61" name="Freeform: Shape 49"/>
          <p:cNvSpPr/>
          <p:nvPr/>
        </p:nvSpPr>
        <p:spPr>
          <a:xfrm>
            <a:off x="8417560" y="3081020"/>
            <a:ext cx="1288415" cy="233045"/>
          </a:xfrm>
          <a:custGeom>
            <a:avLst/>
            <a:gdLst>
              <a:gd name="connsiteX0" fmla="*/ 75249 w 2362699"/>
              <a:gd name="connsiteY0" fmla="*/ 0 h 381046"/>
              <a:gd name="connsiteX1" fmla="*/ 2287450 w 2362699"/>
              <a:gd name="connsiteY1" fmla="*/ 0 h 381046"/>
              <a:gd name="connsiteX2" fmla="*/ 2362699 w 2362699"/>
              <a:gd name="connsiteY2" fmla="*/ 75249 h 381046"/>
              <a:gd name="connsiteX3" fmla="*/ 2362699 w 2362699"/>
              <a:gd name="connsiteY3" fmla="*/ 376236 h 381046"/>
              <a:gd name="connsiteX4" fmla="*/ 2361728 w 2362699"/>
              <a:gd name="connsiteY4" fmla="*/ 381046 h 381046"/>
              <a:gd name="connsiteX5" fmla="*/ 971 w 2362699"/>
              <a:gd name="connsiteY5" fmla="*/ 381046 h 381046"/>
              <a:gd name="connsiteX6" fmla="*/ 0 w 2362699"/>
              <a:gd name="connsiteY6" fmla="*/ 376236 h 381046"/>
              <a:gd name="connsiteX7" fmla="*/ 0 w 2362699"/>
              <a:gd name="connsiteY7" fmla="*/ 75249 h 381046"/>
              <a:gd name="connsiteX8" fmla="*/ 75249 w 2362699"/>
              <a:gd name="connsiteY8" fmla="*/ 0 h 38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2699" h="381046">
                <a:moveTo>
                  <a:pt x="75249" y="0"/>
                </a:moveTo>
                <a:lnTo>
                  <a:pt x="2287450" y="0"/>
                </a:lnTo>
                <a:cubicBezTo>
                  <a:pt x="2329009" y="0"/>
                  <a:pt x="2362699" y="33690"/>
                  <a:pt x="2362699" y="75249"/>
                </a:cubicBezTo>
                <a:lnTo>
                  <a:pt x="2362699" y="376236"/>
                </a:lnTo>
                <a:lnTo>
                  <a:pt x="2361728" y="381046"/>
                </a:lnTo>
                <a:lnTo>
                  <a:pt x="971" y="381046"/>
                </a:lnTo>
                <a:lnTo>
                  <a:pt x="0" y="376236"/>
                </a:lnTo>
                <a:lnTo>
                  <a:pt x="0" y="75249"/>
                </a:lnTo>
                <a:cubicBezTo>
                  <a:pt x="0" y="33690"/>
                  <a:pt x="33690" y="0"/>
                  <a:pt x="75249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rIns="18000" rtlCol="0" anchor="ctr">
            <a:no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知识安全</a:t>
            </a:r>
            <a:endParaRPr lang="zh-CN" altLang="en-US" sz="1200" b="1" dirty="0">
              <a:ln w="6350">
                <a:noFill/>
              </a:ln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lt"/>
            </a:endParaRPr>
          </a:p>
        </p:txBody>
      </p:sp>
      <p:sp>
        <p:nvSpPr>
          <p:cNvPr id="262" name="Freeform: Shape 50"/>
          <p:cNvSpPr/>
          <p:nvPr/>
        </p:nvSpPr>
        <p:spPr>
          <a:xfrm>
            <a:off x="2997200" y="3081020"/>
            <a:ext cx="1288415" cy="233045"/>
          </a:xfrm>
          <a:custGeom>
            <a:avLst/>
            <a:gdLst>
              <a:gd name="connsiteX0" fmla="*/ 75249 w 2362699"/>
              <a:gd name="connsiteY0" fmla="*/ 0 h 381046"/>
              <a:gd name="connsiteX1" fmla="*/ 2287450 w 2362699"/>
              <a:gd name="connsiteY1" fmla="*/ 0 h 381046"/>
              <a:gd name="connsiteX2" fmla="*/ 2362699 w 2362699"/>
              <a:gd name="connsiteY2" fmla="*/ 75249 h 381046"/>
              <a:gd name="connsiteX3" fmla="*/ 2362699 w 2362699"/>
              <a:gd name="connsiteY3" fmla="*/ 376236 h 381046"/>
              <a:gd name="connsiteX4" fmla="*/ 2361728 w 2362699"/>
              <a:gd name="connsiteY4" fmla="*/ 381046 h 381046"/>
              <a:gd name="connsiteX5" fmla="*/ 971 w 2362699"/>
              <a:gd name="connsiteY5" fmla="*/ 381046 h 381046"/>
              <a:gd name="connsiteX6" fmla="*/ 0 w 2362699"/>
              <a:gd name="connsiteY6" fmla="*/ 376236 h 381046"/>
              <a:gd name="connsiteX7" fmla="*/ 0 w 2362699"/>
              <a:gd name="connsiteY7" fmla="*/ 75249 h 381046"/>
              <a:gd name="connsiteX8" fmla="*/ 75249 w 2362699"/>
              <a:gd name="connsiteY8" fmla="*/ 0 h 38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2699" h="381046">
                <a:moveTo>
                  <a:pt x="75249" y="0"/>
                </a:moveTo>
                <a:lnTo>
                  <a:pt x="2287450" y="0"/>
                </a:lnTo>
                <a:cubicBezTo>
                  <a:pt x="2329009" y="0"/>
                  <a:pt x="2362699" y="33690"/>
                  <a:pt x="2362699" y="75249"/>
                </a:cubicBezTo>
                <a:lnTo>
                  <a:pt x="2362699" y="376236"/>
                </a:lnTo>
                <a:lnTo>
                  <a:pt x="2361728" y="381046"/>
                </a:lnTo>
                <a:lnTo>
                  <a:pt x="971" y="381046"/>
                </a:lnTo>
                <a:lnTo>
                  <a:pt x="0" y="376236"/>
                </a:lnTo>
                <a:lnTo>
                  <a:pt x="0" y="75249"/>
                </a:lnTo>
                <a:cubicBezTo>
                  <a:pt x="0" y="33690"/>
                  <a:pt x="33690" y="0"/>
                  <a:pt x="75249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rIns="18000" rtlCol="0" anchor="ctr">
            <a:no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知识大脑</a:t>
            </a:r>
            <a:endParaRPr lang="zh-CN" alt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63" name="Freeform: Shape 66"/>
          <p:cNvSpPr/>
          <p:nvPr/>
        </p:nvSpPr>
        <p:spPr>
          <a:xfrm>
            <a:off x="6561455" y="3081020"/>
            <a:ext cx="1288415" cy="233045"/>
          </a:xfrm>
          <a:custGeom>
            <a:avLst/>
            <a:gdLst>
              <a:gd name="connsiteX0" fmla="*/ 75249 w 2362699"/>
              <a:gd name="connsiteY0" fmla="*/ 0 h 381046"/>
              <a:gd name="connsiteX1" fmla="*/ 2287450 w 2362699"/>
              <a:gd name="connsiteY1" fmla="*/ 0 h 381046"/>
              <a:gd name="connsiteX2" fmla="*/ 2362699 w 2362699"/>
              <a:gd name="connsiteY2" fmla="*/ 75249 h 381046"/>
              <a:gd name="connsiteX3" fmla="*/ 2362699 w 2362699"/>
              <a:gd name="connsiteY3" fmla="*/ 376236 h 381046"/>
              <a:gd name="connsiteX4" fmla="*/ 2361728 w 2362699"/>
              <a:gd name="connsiteY4" fmla="*/ 381046 h 381046"/>
              <a:gd name="connsiteX5" fmla="*/ 971 w 2362699"/>
              <a:gd name="connsiteY5" fmla="*/ 381046 h 381046"/>
              <a:gd name="connsiteX6" fmla="*/ 0 w 2362699"/>
              <a:gd name="connsiteY6" fmla="*/ 376236 h 381046"/>
              <a:gd name="connsiteX7" fmla="*/ 0 w 2362699"/>
              <a:gd name="connsiteY7" fmla="*/ 75249 h 381046"/>
              <a:gd name="connsiteX8" fmla="*/ 75249 w 2362699"/>
              <a:gd name="connsiteY8" fmla="*/ 0 h 38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2699" h="381046">
                <a:moveTo>
                  <a:pt x="75249" y="0"/>
                </a:moveTo>
                <a:lnTo>
                  <a:pt x="2287450" y="0"/>
                </a:lnTo>
                <a:cubicBezTo>
                  <a:pt x="2329009" y="0"/>
                  <a:pt x="2362699" y="33690"/>
                  <a:pt x="2362699" y="75249"/>
                </a:cubicBezTo>
                <a:lnTo>
                  <a:pt x="2362699" y="376236"/>
                </a:lnTo>
                <a:lnTo>
                  <a:pt x="2361728" y="381046"/>
                </a:lnTo>
                <a:lnTo>
                  <a:pt x="971" y="381046"/>
                </a:lnTo>
                <a:lnTo>
                  <a:pt x="0" y="376236"/>
                </a:lnTo>
                <a:lnTo>
                  <a:pt x="0" y="75249"/>
                </a:lnTo>
                <a:cubicBezTo>
                  <a:pt x="0" y="33690"/>
                  <a:pt x="33690" y="0"/>
                  <a:pt x="75249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rIns="18000" rtlCol="0" anchor="ctr">
            <a:no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rPr>
              <a:t>知识治理</a:t>
            </a:r>
            <a:endParaRPr lang="zh-CN" alt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4575810" y="4056380"/>
            <a:ext cx="29108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14300" algn="ctr">
              <a:spcBef>
                <a:spcPts val="500"/>
              </a:spcBef>
              <a:buClrTx/>
              <a:buSzTx/>
              <a:buFontTx/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知识即资产，智能即服务</a:t>
            </a:r>
            <a:endParaRPr lang="zh-CN" altLang="en-US" sz="1200" b="1" dirty="0">
              <a:solidFill>
                <a:schemeClr val="accent2">
                  <a:lumMod val="75000"/>
                </a:schemeClr>
              </a:solidFill>
              <a:effectLst>
                <a:glow rad="76200">
                  <a:srgbClr val="C7000B">
                    <a:alpha val="16000"/>
                  </a:srgbClr>
                </a:glow>
              </a:effectLst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266" name="Rectangle: Rounded Corners 33"/>
          <p:cNvSpPr/>
          <p:nvPr/>
        </p:nvSpPr>
        <p:spPr>
          <a:xfrm>
            <a:off x="4850130" y="3475673"/>
            <a:ext cx="1122045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多源解析    </a:t>
            </a: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抽取建模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69" name="Rectangle: Rounded Corners 35"/>
          <p:cNvSpPr/>
          <p:nvPr/>
        </p:nvSpPr>
        <p:spPr>
          <a:xfrm>
            <a:off x="4888865" y="3808730"/>
            <a:ext cx="1338580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知识图谱    </a:t>
            </a: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切片向量化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70" name="Rectangle: Rounded Corners 42"/>
          <p:cNvSpPr/>
          <p:nvPr/>
        </p:nvSpPr>
        <p:spPr>
          <a:xfrm>
            <a:off x="3190240" y="3475673"/>
            <a:ext cx="1276350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8000" rIns="18000" numCol="1" spcCol="0" rtlCol="0" fromWordArt="0" anchor="ctr" anchorCtr="0" forceAA="0" compatLnSpc="1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领域知识</a:t>
            </a:r>
            <a:r>
              <a:rPr lang="en-US" altLang="zh-CN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  </a:t>
            </a: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专业智库</a:t>
            </a: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71" name="Rectangle: Rounded Corners 44"/>
          <p:cNvSpPr/>
          <p:nvPr/>
        </p:nvSpPr>
        <p:spPr>
          <a:xfrm>
            <a:off x="3162935" y="3808413"/>
            <a:ext cx="1271270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知识即服务 开箱即用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72" name="Rectangle: Rounded Corners 55"/>
          <p:cNvSpPr/>
          <p:nvPr/>
        </p:nvSpPr>
        <p:spPr>
          <a:xfrm>
            <a:off x="6816725" y="3475673"/>
            <a:ext cx="1221740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知识评测    场景验证</a:t>
            </a: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73" name="Rectangle: Rounded Corners 62"/>
          <p:cNvSpPr/>
          <p:nvPr/>
        </p:nvSpPr>
        <p:spPr>
          <a:xfrm>
            <a:off x="6758305" y="3808413"/>
            <a:ext cx="1303655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问题归因    迭代</a:t>
            </a: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闭环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74" name="Rectangle: Rounded Corners 42"/>
          <p:cNvSpPr/>
          <p:nvPr/>
        </p:nvSpPr>
        <p:spPr>
          <a:xfrm>
            <a:off x="8636000" y="3469323"/>
            <a:ext cx="1194435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分层分域    日志审计 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75" name="Rectangle: Rounded Corners 44"/>
          <p:cNvSpPr/>
          <p:nvPr/>
        </p:nvSpPr>
        <p:spPr>
          <a:xfrm>
            <a:off x="8614410" y="3808413"/>
            <a:ext cx="1130935" cy="169545"/>
          </a:xfrm>
          <a:prstGeom prst="round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9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合规发布    黑白名单</a:t>
            </a: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276" name="图片 275" descr="post_object_image_257726159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617085" y="3808095"/>
            <a:ext cx="227965" cy="170180"/>
          </a:xfrm>
          <a:prstGeom prst="rect">
            <a:avLst/>
          </a:prstGeom>
        </p:spPr>
      </p:pic>
      <p:pic>
        <p:nvPicPr>
          <p:cNvPr id="277" name="Graphic 12" descr="Continuous Improvement outline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558665" y="3404553"/>
            <a:ext cx="315595" cy="311785"/>
          </a:xfrm>
          <a:prstGeom prst="rect">
            <a:avLst/>
          </a:prstGeom>
        </p:spPr>
      </p:pic>
      <p:pic>
        <p:nvPicPr>
          <p:cNvPr id="278" name="Graphic 112" descr="Rating Star with solid fill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506845" y="3366135"/>
            <a:ext cx="280035" cy="388620"/>
          </a:xfrm>
          <a:prstGeom prst="rect">
            <a:avLst/>
          </a:prstGeom>
        </p:spPr>
      </p:pic>
      <p:pic>
        <p:nvPicPr>
          <p:cNvPr id="279" name="Graphic 63" descr="Open book with solid fill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477000" y="3778250"/>
            <a:ext cx="281305" cy="229870"/>
          </a:xfrm>
          <a:prstGeom prst="rect">
            <a:avLst/>
          </a:prstGeom>
        </p:spPr>
      </p:pic>
      <p:pic>
        <p:nvPicPr>
          <p:cNvPr id="280" name="Graphic 129" descr="Users outline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930525" y="3438843"/>
            <a:ext cx="245745" cy="243205"/>
          </a:xfrm>
          <a:prstGeom prst="rect">
            <a:avLst/>
          </a:prstGeom>
        </p:spPr>
      </p:pic>
      <p:pic>
        <p:nvPicPr>
          <p:cNvPr id="281" name="Graphic 48" descr="Send with solid fill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919095" y="3784918"/>
            <a:ext cx="216535" cy="216535"/>
          </a:xfrm>
          <a:prstGeom prst="rect">
            <a:avLst/>
          </a:prstGeom>
        </p:spPr>
      </p:pic>
      <p:pic>
        <p:nvPicPr>
          <p:cNvPr id="282" name="Graphic 129" descr="Users outline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8377555" y="3432493"/>
            <a:ext cx="245745" cy="243205"/>
          </a:xfrm>
          <a:prstGeom prst="rect">
            <a:avLst/>
          </a:prstGeom>
        </p:spPr>
      </p:pic>
      <p:pic>
        <p:nvPicPr>
          <p:cNvPr id="283" name="Graphic 48" descr="Send with solid fill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371205" y="3784918"/>
            <a:ext cx="216535" cy="216535"/>
          </a:xfrm>
          <a:prstGeom prst="rect">
            <a:avLst/>
          </a:prstGeom>
        </p:spPr>
      </p:pic>
      <p:grpSp>
        <p:nvGrpSpPr>
          <p:cNvPr id="284" name="Group 44"/>
          <p:cNvGrpSpPr/>
          <p:nvPr/>
        </p:nvGrpSpPr>
        <p:grpSpPr>
          <a:xfrm>
            <a:off x="3162935" y="4428490"/>
            <a:ext cx="5765798" cy="245109"/>
            <a:chOff x="1390752" y="4279782"/>
            <a:chExt cx="9791496" cy="387102"/>
          </a:xfrm>
        </p:grpSpPr>
        <p:sp>
          <p:nvSpPr>
            <p:cNvPr id="285" name="Freeform: Shape 98"/>
            <p:cNvSpPr/>
            <p:nvPr/>
          </p:nvSpPr>
          <p:spPr>
            <a:xfrm>
              <a:off x="1390752" y="4289938"/>
              <a:ext cx="2017482" cy="376946"/>
            </a:xfrm>
            <a:custGeom>
              <a:avLst/>
              <a:gdLst>
                <a:gd name="connsiteX0" fmla="*/ 0 w 4366737"/>
                <a:gd name="connsiteY0" fmla="*/ 0 h 338813"/>
                <a:gd name="connsiteX1" fmla="*/ 4197331 w 4366737"/>
                <a:gd name="connsiteY1" fmla="*/ 0 h 338813"/>
                <a:gd name="connsiteX2" fmla="*/ 4366737 w 4366737"/>
                <a:gd name="connsiteY2" fmla="*/ 169407 h 338813"/>
                <a:gd name="connsiteX3" fmla="*/ 4197331 w 4366737"/>
                <a:gd name="connsiteY3" fmla="*/ 338813 h 338813"/>
                <a:gd name="connsiteX4" fmla="*/ 0 w 4366737"/>
                <a:gd name="connsiteY4" fmla="*/ 338813 h 338813"/>
                <a:gd name="connsiteX5" fmla="*/ 0 w 4366737"/>
                <a:gd name="connsiteY5" fmla="*/ 0 h 3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6737" h="338813">
                  <a:moveTo>
                    <a:pt x="0" y="0"/>
                  </a:moveTo>
                  <a:lnTo>
                    <a:pt x="4197331" y="0"/>
                  </a:lnTo>
                  <a:lnTo>
                    <a:pt x="4366737" y="169407"/>
                  </a:lnTo>
                  <a:lnTo>
                    <a:pt x="4197331" y="338813"/>
                  </a:lnTo>
                  <a:lnTo>
                    <a:pt x="0" y="33881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14DA9"/>
                  </a:solidFill>
                </a14:hiddenFill>
              </a:ext>
            </a:ex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9342" tIns="34671" rIns="102039" bIns="34671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lt"/>
                </a:rPr>
                <a:t>解析</a:t>
              </a:r>
              <a:endParaRPr lang="zh-CN" altLang="en-US" sz="900" b="1" kern="12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86" name="Freeform: Shape 99"/>
            <p:cNvSpPr/>
            <p:nvPr/>
          </p:nvSpPr>
          <p:spPr>
            <a:xfrm>
              <a:off x="3201327" y="4289905"/>
              <a:ext cx="1793941" cy="376946"/>
            </a:xfrm>
            <a:custGeom>
              <a:avLst/>
              <a:gdLst>
                <a:gd name="connsiteX0" fmla="*/ 0 w 4366737"/>
                <a:gd name="connsiteY0" fmla="*/ 0 h 338813"/>
                <a:gd name="connsiteX1" fmla="*/ 4197331 w 4366737"/>
                <a:gd name="connsiteY1" fmla="*/ 0 h 338813"/>
                <a:gd name="connsiteX2" fmla="*/ 4366737 w 4366737"/>
                <a:gd name="connsiteY2" fmla="*/ 169407 h 338813"/>
                <a:gd name="connsiteX3" fmla="*/ 4197331 w 4366737"/>
                <a:gd name="connsiteY3" fmla="*/ 338813 h 338813"/>
                <a:gd name="connsiteX4" fmla="*/ 0 w 4366737"/>
                <a:gd name="connsiteY4" fmla="*/ 338813 h 338813"/>
                <a:gd name="connsiteX5" fmla="*/ 169407 w 4366737"/>
                <a:gd name="connsiteY5" fmla="*/ 169407 h 338813"/>
                <a:gd name="connsiteX6" fmla="*/ 0 w 4366737"/>
                <a:gd name="connsiteY6" fmla="*/ 0 h 3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737" h="338813">
                  <a:moveTo>
                    <a:pt x="0" y="0"/>
                  </a:moveTo>
                  <a:lnTo>
                    <a:pt x="4197331" y="0"/>
                  </a:lnTo>
                  <a:lnTo>
                    <a:pt x="4366737" y="169407"/>
                  </a:lnTo>
                  <a:lnTo>
                    <a:pt x="4197331" y="338813"/>
                  </a:lnTo>
                  <a:lnTo>
                    <a:pt x="0" y="338813"/>
                  </a:lnTo>
                  <a:lnTo>
                    <a:pt x="169407" y="16940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14DA9"/>
                  </a:solidFill>
                </a14:hiddenFill>
              </a:ext>
            </a:ex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414" tIns="34671" rIns="186742" bIns="34671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lt"/>
                </a:rPr>
                <a:t>分解</a:t>
              </a:r>
              <a:endParaRPr lang="zh-CN" altLang="en-US" sz="900" b="1" kern="12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87" name="Freeform: Shape 100"/>
            <p:cNvSpPr/>
            <p:nvPr/>
          </p:nvSpPr>
          <p:spPr>
            <a:xfrm>
              <a:off x="5018350" y="4279782"/>
              <a:ext cx="1561464" cy="377075"/>
            </a:xfrm>
            <a:custGeom>
              <a:avLst/>
              <a:gdLst>
                <a:gd name="connsiteX0" fmla="*/ 0 w 4366737"/>
                <a:gd name="connsiteY0" fmla="*/ 0 h 338813"/>
                <a:gd name="connsiteX1" fmla="*/ 4197331 w 4366737"/>
                <a:gd name="connsiteY1" fmla="*/ 0 h 338813"/>
                <a:gd name="connsiteX2" fmla="*/ 4366737 w 4366737"/>
                <a:gd name="connsiteY2" fmla="*/ 169407 h 338813"/>
                <a:gd name="connsiteX3" fmla="*/ 4197331 w 4366737"/>
                <a:gd name="connsiteY3" fmla="*/ 338813 h 338813"/>
                <a:gd name="connsiteX4" fmla="*/ 0 w 4366737"/>
                <a:gd name="connsiteY4" fmla="*/ 338813 h 338813"/>
                <a:gd name="connsiteX5" fmla="*/ 169407 w 4366737"/>
                <a:gd name="connsiteY5" fmla="*/ 169407 h 338813"/>
                <a:gd name="connsiteX6" fmla="*/ 0 w 4366737"/>
                <a:gd name="connsiteY6" fmla="*/ 0 h 3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737" h="338813">
                  <a:moveTo>
                    <a:pt x="0" y="0"/>
                  </a:moveTo>
                  <a:lnTo>
                    <a:pt x="4197331" y="0"/>
                  </a:lnTo>
                  <a:lnTo>
                    <a:pt x="4366737" y="169407"/>
                  </a:lnTo>
                  <a:lnTo>
                    <a:pt x="4197331" y="338813"/>
                  </a:lnTo>
                  <a:lnTo>
                    <a:pt x="0" y="338813"/>
                  </a:lnTo>
                  <a:lnTo>
                    <a:pt x="169407" y="16940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14DA9"/>
                  </a:solidFill>
                </a14:hiddenFill>
              </a:ext>
            </a:ex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414" tIns="34671" rIns="186742" bIns="34671" numCol="1" spcCol="1270" anchor="ctr" anchorCtr="0">
              <a:noAutofit/>
            </a:bodyPr>
            <a:lstStyle/>
            <a:p>
              <a:pPr marL="0" lvl="0"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200" b="1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lt"/>
                </a:rPr>
                <a:t>预处理</a:t>
              </a:r>
              <a:endParaRPr lang="zh-CN" altLang="en-US" sz="1200" b="1" kern="1200" dirty="0">
                <a:ln w="6350"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lt"/>
              </a:endParaRPr>
            </a:p>
          </p:txBody>
        </p:sp>
        <p:sp>
          <p:nvSpPr>
            <p:cNvPr id="288" name="Freeform: Shape 102"/>
            <p:cNvSpPr/>
            <p:nvPr/>
          </p:nvSpPr>
          <p:spPr>
            <a:xfrm>
              <a:off x="6476961" y="4289870"/>
              <a:ext cx="1793941" cy="376946"/>
            </a:xfrm>
            <a:custGeom>
              <a:avLst/>
              <a:gdLst>
                <a:gd name="connsiteX0" fmla="*/ 0 w 4366737"/>
                <a:gd name="connsiteY0" fmla="*/ 0 h 338813"/>
                <a:gd name="connsiteX1" fmla="*/ 4197331 w 4366737"/>
                <a:gd name="connsiteY1" fmla="*/ 0 h 338813"/>
                <a:gd name="connsiteX2" fmla="*/ 4366737 w 4366737"/>
                <a:gd name="connsiteY2" fmla="*/ 169407 h 338813"/>
                <a:gd name="connsiteX3" fmla="*/ 4197331 w 4366737"/>
                <a:gd name="connsiteY3" fmla="*/ 338813 h 338813"/>
                <a:gd name="connsiteX4" fmla="*/ 0 w 4366737"/>
                <a:gd name="connsiteY4" fmla="*/ 338813 h 338813"/>
                <a:gd name="connsiteX5" fmla="*/ 169407 w 4366737"/>
                <a:gd name="connsiteY5" fmla="*/ 169407 h 338813"/>
                <a:gd name="connsiteX6" fmla="*/ 0 w 4366737"/>
                <a:gd name="connsiteY6" fmla="*/ 0 h 3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737" h="338813">
                  <a:moveTo>
                    <a:pt x="0" y="0"/>
                  </a:moveTo>
                  <a:lnTo>
                    <a:pt x="4197331" y="0"/>
                  </a:lnTo>
                  <a:lnTo>
                    <a:pt x="4366737" y="169407"/>
                  </a:lnTo>
                  <a:lnTo>
                    <a:pt x="4197331" y="338813"/>
                  </a:lnTo>
                  <a:lnTo>
                    <a:pt x="0" y="338813"/>
                  </a:lnTo>
                  <a:lnTo>
                    <a:pt x="169407" y="16940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14DA9"/>
                  </a:solidFill>
                </a14:hiddenFill>
              </a:ext>
            </a:ex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414" tIns="34671" rIns="186742" bIns="34671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lt"/>
                </a:rPr>
                <a:t>建模</a:t>
              </a:r>
              <a:endParaRPr lang="zh-CN" altLang="en-US" sz="900" b="1" kern="12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89" name="Freeform: Shape 103"/>
            <p:cNvSpPr/>
            <p:nvPr/>
          </p:nvSpPr>
          <p:spPr>
            <a:xfrm>
              <a:off x="8245608" y="4289905"/>
              <a:ext cx="1422744" cy="376946"/>
            </a:xfrm>
            <a:custGeom>
              <a:avLst/>
              <a:gdLst>
                <a:gd name="connsiteX0" fmla="*/ 0 w 4366737"/>
                <a:gd name="connsiteY0" fmla="*/ 0 h 338813"/>
                <a:gd name="connsiteX1" fmla="*/ 4197331 w 4366737"/>
                <a:gd name="connsiteY1" fmla="*/ 0 h 338813"/>
                <a:gd name="connsiteX2" fmla="*/ 4366737 w 4366737"/>
                <a:gd name="connsiteY2" fmla="*/ 169407 h 338813"/>
                <a:gd name="connsiteX3" fmla="*/ 4197331 w 4366737"/>
                <a:gd name="connsiteY3" fmla="*/ 338813 h 338813"/>
                <a:gd name="connsiteX4" fmla="*/ 0 w 4366737"/>
                <a:gd name="connsiteY4" fmla="*/ 338813 h 338813"/>
                <a:gd name="connsiteX5" fmla="*/ 169407 w 4366737"/>
                <a:gd name="connsiteY5" fmla="*/ 169407 h 338813"/>
                <a:gd name="connsiteX6" fmla="*/ 0 w 4366737"/>
                <a:gd name="connsiteY6" fmla="*/ 0 h 3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737" h="338813">
                  <a:moveTo>
                    <a:pt x="0" y="0"/>
                  </a:moveTo>
                  <a:lnTo>
                    <a:pt x="4197331" y="0"/>
                  </a:lnTo>
                  <a:lnTo>
                    <a:pt x="4366737" y="169407"/>
                  </a:lnTo>
                  <a:lnTo>
                    <a:pt x="4197331" y="338813"/>
                  </a:lnTo>
                  <a:lnTo>
                    <a:pt x="0" y="338813"/>
                  </a:lnTo>
                  <a:lnTo>
                    <a:pt x="169407" y="16940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14DA9"/>
                  </a:solidFill>
                </a14:hiddenFill>
              </a:ext>
            </a:ex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414" tIns="34671" rIns="186742" bIns="34671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lt"/>
                </a:rPr>
                <a:t>优化</a:t>
              </a:r>
              <a:endParaRPr lang="zh-CN" altLang="en-US" sz="900" b="1" kern="12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90" name="Freeform: Shape 104"/>
            <p:cNvSpPr/>
            <p:nvPr/>
          </p:nvSpPr>
          <p:spPr>
            <a:xfrm>
              <a:off x="9759504" y="4286802"/>
              <a:ext cx="1422744" cy="376946"/>
            </a:xfrm>
            <a:custGeom>
              <a:avLst/>
              <a:gdLst>
                <a:gd name="connsiteX0" fmla="*/ 0 w 4366737"/>
                <a:gd name="connsiteY0" fmla="*/ 0 h 338813"/>
                <a:gd name="connsiteX1" fmla="*/ 4197331 w 4366737"/>
                <a:gd name="connsiteY1" fmla="*/ 0 h 338813"/>
                <a:gd name="connsiteX2" fmla="*/ 4366737 w 4366737"/>
                <a:gd name="connsiteY2" fmla="*/ 169407 h 338813"/>
                <a:gd name="connsiteX3" fmla="*/ 4197331 w 4366737"/>
                <a:gd name="connsiteY3" fmla="*/ 338813 h 338813"/>
                <a:gd name="connsiteX4" fmla="*/ 0 w 4366737"/>
                <a:gd name="connsiteY4" fmla="*/ 338813 h 338813"/>
                <a:gd name="connsiteX5" fmla="*/ 169407 w 4366737"/>
                <a:gd name="connsiteY5" fmla="*/ 169407 h 338813"/>
                <a:gd name="connsiteX6" fmla="*/ 0 w 4366737"/>
                <a:gd name="connsiteY6" fmla="*/ 0 h 3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737" h="338813">
                  <a:moveTo>
                    <a:pt x="0" y="0"/>
                  </a:moveTo>
                  <a:lnTo>
                    <a:pt x="4197331" y="0"/>
                  </a:lnTo>
                  <a:lnTo>
                    <a:pt x="4366737" y="169407"/>
                  </a:lnTo>
                  <a:lnTo>
                    <a:pt x="4197331" y="338813"/>
                  </a:lnTo>
                  <a:lnTo>
                    <a:pt x="0" y="338813"/>
                  </a:lnTo>
                  <a:lnTo>
                    <a:pt x="169407" y="16940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14DA9"/>
                  </a:solidFill>
                </a14:hiddenFill>
              </a:ext>
            </a:ex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414" tIns="34671" rIns="186742" bIns="34671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ln w="6350">
                    <a:noFill/>
                  </a:ln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+mn-lt"/>
                </a:rPr>
                <a:t>融合</a:t>
              </a:r>
              <a:endParaRPr lang="zh-CN" altLang="en-US" sz="900" b="1" kern="12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91" name="图片 29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057650" y="4404360"/>
            <a:ext cx="518160" cy="298450"/>
          </a:xfrm>
          <a:custGeom>
            <a:avLst/>
            <a:gdLst>
              <a:gd name="connsiteX0" fmla="*/ 1816 w 1952625"/>
              <a:gd name="connsiteY0" fmla="*/ 521 h 1562100"/>
              <a:gd name="connsiteX1" fmla="*/ 1954441 w 1952625"/>
              <a:gd name="connsiteY1" fmla="*/ 521 h 1562100"/>
              <a:gd name="connsiteX2" fmla="*/ 1954441 w 1952625"/>
              <a:gd name="connsiteY2" fmla="*/ 1562621 h 1562100"/>
              <a:gd name="connsiteX3" fmla="*/ 1816 w 1952625"/>
              <a:gd name="connsiteY3" fmla="*/ 1562621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625" h="1562100">
                <a:moveTo>
                  <a:pt x="1816" y="521"/>
                </a:moveTo>
                <a:lnTo>
                  <a:pt x="1954441" y="521"/>
                </a:lnTo>
                <a:lnTo>
                  <a:pt x="1954441" y="1562621"/>
                </a:lnTo>
                <a:lnTo>
                  <a:pt x="1816" y="1562621"/>
                </a:lnTo>
                <a:close/>
              </a:path>
            </a:pathLst>
          </a:custGeom>
        </p:spPr>
      </p:pic>
      <p:pic>
        <p:nvPicPr>
          <p:cNvPr id="292" name="图片 291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006975" y="4391660"/>
            <a:ext cx="518160" cy="298450"/>
          </a:xfrm>
          <a:custGeom>
            <a:avLst/>
            <a:gdLst>
              <a:gd name="connsiteX0" fmla="*/ 1816 w 1952625"/>
              <a:gd name="connsiteY0" fmla="*/ 521 h 1562100"/>
              <a:gd name="connsiteX1" fmla="*/ 1954441 w 1952625"/>
              <a:gd name="connsiteY1" fmla="*/ 521 h 1562100"/>
              <a:gd name="connsiteX2" fmla="*/ 1954441 w 1952625"/>
              <a:gd name="connsiteY2" fmla="*/ 1562621 h 1562100"/>
              <a:gd name="connsiteX3" fmla="*/ 1816 w 1952625"/>
              <a:gd name="connsiteY3" fmla="*/ 1562621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625" h="1562100">
                <a:moveTo>
                  <a:pt x="1816" y="521"/>
                </a:moveTo>
                <a:lnTo>
                  <a:pt x="1954441" y="521"/>
                </a:lnTo>
                <a:lnTo>
                  <a:pt x="1954441" y="1562621"/>
                </a:lnTo>
                <a:lnTo>
                  <a:pt x="1816" y="1562621"/>
                </a:lnTo>
                <a:close/>
              </a:path>
            </a:pathLst>
          </a:custGeom>
        </p:spPr>
      </p:pic>
      <p:pic>
        <p:nvPicPr>
          <p:cNvPr id="293" name="图片 292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42025" y="4391660"/>
            <a:ext cx="518160" cy="298450"/>
          </a:xfrm>
          <a:custGeom>
            <a:avLst/>
            <a:gdLst>
              <a:gd name="connsiteX0" fmla="*/ 1816 w 1952625"/>
              <a:gd name="connsiteY0" fmla="*/ 521 h 1562100"/>
              <a:gd name="connsiteX1" fmla="*/ 1954441 w 1952625"/>
              <a:gd name="connsiteY1" fmla="*/ 521 h 1562100"/>
              <a:gd name="connsiteX2" fmla="*/ 1954441 w 1952625"/>
              <a:gd name="connsiteY2" fmla="*/ 1562621 h 1562100"/>
              <a:gd name="connsiteX3" fmla="*/ 1816 w 1952625"/>
              <a:gd name="connsiteY3" fmla="*/ 1562621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625" h="1562100">
                <a:moveTo>
                  <a:pt x="1816" y="521"/>
                </a:moveTo>
                <a:lnTo>
                  <a:pt x="1954441" y="521"/>
                </a:lnTo>
                <a:lnTo>
                  <a:pt x="1954441" y="1562621"/>
                </a:lnTo>
                <a:lnTo>
                  <a:pt x="1816" y="1562621"/>
                </a:lnTo>
                <a:close/>
              </a:path>
            </a:pathLst>
          </a:custGeom>
        </p:spPr>
      </p:pic>
      <p:pic>
        <p:nvPicPr>
          <p:cNvPr id="294" name="图片 293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955155" y="4391660"/>
            <a:ext cx="518160" cy="298450"/>
          </a:xfrm>
          <a:custGeom>
            <a:avLst/>
            <a:gdLst>
              <a:gd name="connsiteX0" fmla="*/ 1816 w 1952625"/>
              <a:gd name="connsiteY0" fmla="*/ 521 h 1562100"/>
              <a:gd name="connsiteX1" fmla="*/ 1954441 w 1952625"/>
              <a:gd name="connsiteY1" fmla="*/ 521 h 1562100"/>
              <a:gd name="connsiteX2" fmla="*/ 1954441 w 1952625"/>
              <a:gd name="connsiteY2" fmla="*/ 1562621 h 1562100"/>
              <a:gd name="connsiteX3" fmla="*/ 1816 w 1952625"/>
              <a:gd name="connsiteY3" fmla="*/ 1562621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625" h="1562100">
                <a:moveTo>
                  <a:pt x="1816" y="521"/>
                </a:moveTo>
                <a:lnTo>
                  <a:pt x="1954441" y="521"/>
                </a:lnTo>
                <a:lnTo>
                  <a:pt x="1954441" y="1562621"/>
                </a:lnTo>
                <a:lnTo>
                  <a:pt x="1816" y="1562621"/>
                </a:lnTo>
                <a:close/>
              </a:path>
            </a:pathLst>
          </a:custGeom>
        </p:spPr>
      </p:pic>
      <p:pic>
        <p:nvPicPr>
          <p:cNvPr id="295" name="图片 29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833995" y="4391660"/>
            <a:ext cx="518160" cy="298450"/>
          </a:xfrm>
          <a:custGeom>
            <a:avLst/>
            <a:gdLst>
              <a:gd name="connsiteX0" fmla="*/ 1816 w 1952625"/>
              <a:gd name="connsiteY0" fmla="*/ 521 h 1562100"/>
              <a:gd name="connsiteX1" fmla="*/ 1954441 w 1952625"/>
              <a:gd name="connsiteY1" fmla="*/ 521 h 1562100"/>
              <a:gd name="connsiteX2" fmla="*/ 1954441 w 1952625"/>
              <a:gd name="connsiteY2" fmla="*/ 1562621 h 1562100"/>
              <a:gd name="connsiteX3" fmla="*/ 1816 w 1952625"/>
              <a:gd name="connsiteY3" fmla="*/ 1562621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625" h="1562100">
                <a:moveTo>
                  <a:pt x="1816" y="521"/>
                </a:moveTo>
                <a:lnTo>
                  <a:pt x="1954441" y="521"/>
                </a:lnTo>
                <a:lnTo>
                  <a:pt x="1954441" y="1562621"/>
                </a:lnTo>
                <a:lnTo>
                  <a:pt x="1816" y="1562621"/>
                </a:lnTo>
                <a:close/>
              </a:path>
            </a:pathLst>
          </a:custGeom>
        </p:spPr>
      </p:pic>
      <p:sp>
        <p:nvSpPr>
          <p:cNvPr id="299" name="文本框 298"/>
          <p:cNvSpPr txBox="1"/>
          <p:nvPr/>
        </p:nvSpPr>
        <p:spPr>
          <a:xfrm>
            <a:off x="4575810" y="5439410"/>
            <a:ext cx="29108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14300" algn="ctr">
              <a:spcBef>
                <a:spcPts val="500"/>
              </a:spcBef>
              <a:buClrTx/>
              <a:buSzTx/>
              <a:buFontTx/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effectLst>
                  <a:glow rad="76200">
                    <a:srgbClr val="C7000B">
                      <a:alpha val="16000"/>
                    </a:srgb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数据到知识的高质量、高效转化</a:t>
            </a:r>
            <a:endParaRPr lang="zh-CN" altLang="en-US" sz="1200" b="1" dirty="0">
              <a:solidFill>
                <a:schemeClr val="accent2">
                  <a:lumMod val="75000"/>
                </a:schemeClr>
              </a:solidFill>
              <a:effectLst>
                <a:glow rad="76200">
                  <a:srgbClr val="C7000B">
                    <a:alpha val="16000"/>
                  </a:srgbClr>
                </a:glow>
              </a:effectLst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300" name="TextBox 93"/>
          <p:cNvSpPr txBox="1"/>
          <p:nvPr/>
        </p:nvSpPr>
        <p:spPr>
          <a:xfrm>
            <a:off x="2974340" y="4714875"/>
            <a:ext cx="6457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运维报告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1" name="TextBox 93"/>
          <p:cNvSpPr txBox="1"/>
          <p:nvPr/>
        </p:nvSpPr>
        <p:spPr>
          <a:xfrm>
            <a:off x="2968625" y="4911725"/>
            <a:ext cx="6508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工单数据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2" name="TextBox 93"/>
          <p:cNvSpPr txBox="1"/>
          <p:nvPr/>
        </p:nvSpPr>
        <p:spPr>
          <a:xfrm>
            <a:off x="2974340" y="5099050"/>
            <a:ext cx="644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专家经验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800" b="1">
                <a:solidFill>
                  <a:schemeClr val="tx1"/>
                </a:solidFill>
                <a:cs typeface="+mn-ea"/>
                <a:sym typeface="+mn-lt"/>
              </a:rPr>
              <a:t>......</a:t>
            </a:r>
            <a:endParaRPr lang="en-US" altLang="zh-CN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3" name="TextBox 93"/>
          <p:cNvSpPr txBox="1"/>
          <p:nvPr/>
        </p:nvSpPr>
        <p:spPr>
          <a:xfrm>
            <a:off x="4319270" y="4714875"/>
            <a:ext cx="76962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格式化工具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4" name="TextBox 93"/>
          <p:cNvSpPr txBox="1"/>
          <p:nvPr/>
        </p:nvSpPr>
        <p:spPr>
          <a:xfrm>
            <a:off x="4313555" y="4911725"/>
            <a:ext cx="7747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语义性工具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5" name="TextBox 93"/>
          <p:cNvSpPr txBox="1"/>
          <p:nvPr/>
        </p:nvSpPr>
        <p:spPr>
          <a:xfrm>
            <a:off x="4319270" y="5099050"/>
            <a:ext cx="793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一致性工具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800" b="1">
                <a:solidFill>
                  <a:schemeClr val="tx1"/>
                </a:solidFill>
                <a:cs typeface="+mn-ea"/>
                <a:sym typeface="+mn-lt"/>
              </a:rPr>
              <a:t>......</a:t>
            </a:r>
            <a:endParaRPr lang="en-US" altLang="zh-CN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306" name="图片 305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984875" y="4692015"/>
            <a:ext cx="1638300" cy="598805"/>
          </a:xfrm>
          <a:prstGeom prst="rect">
            <a:avLst/>
          </a:prstGeom>
        </p:spPr>
      </p:pic>
      <p:sp>
        <p:nvSpPr>
          <p:cNvPr id="307" name="TextBox 93"/>
          <p:cNvSpPr txBox="1"/>
          <p:nvPr/>
        </p:nvSpPr>
        <p:spPr>
          <a:xfrm>
            <a:off x="5963285" y="5250815"/>
            <a:ext cx="6457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内容分解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8" name="TextBox 93"/>
          <p:cNvSpPr txBox="1"/>
          <p:nvPr/>
        </p:nvSpPr>
        <p:spPr>
          <a:xfrm>
            <a:off x="6499860" y="5250815"/>
            <a:ext cx="6457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层次分析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9" name="TextBox 93"/>
          <p:cNvSpPr txBox="1"/>
          <p:nvPr/>
        </p:nvSpPr>
        <p:spPr>
          <a:xfrm>
            <a:off x="7028815" y="5250815"/>
            <a:ext cx="6457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图谱构建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10" name="TextBox 93"/>
          <p:cNvSpPr txBox="1"/>
          <p:nvPr/>
        </p:nvSpPr>
        <p:spPr>
          <a:xfrm>
            <a:off x="8487410" y="4714875"/>
            <a:ext cx="6457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图索引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11" name="TextBox 93"/>
          <p:cNvSpPr txBox="1"/>
          <p:nvPr/>
        </p:nvSpPr>
        <p:spPr>
          <a:xfrm>
            <a:off x="8481695" y="4911725"/>
            <a:ext cx="6508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向量索引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12" name="TextBox 93"/>
          <p:cNvSpPr txBox="1"/>
          <p:nvPr/>
        </p:nvSpPr>
        <p:spPr>
          <a:xfrm>
            <a:off x="8487410" y="5099050"/>
            <a:ext cx="6445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solidFill>
                  <a:schemeClr val="tx1"/>
                </a:solidFill>
                <a:cs typeface="+mn-ea"/>
                <a:sym typeface="+mn-lt"/>
              </a:rPr>
              <a:t>关系索引</a:t>
            </a:r>
            <a:endParaRPr lang="zh-CN" altLang="en-US" sz="800" b="1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313" name="Straight Arrow Connector 56"/>
          <p:cNvCxnSpPr/>
          <p:nvPr/>
        </p:nvCxnSpPr>
        <p:spPr>
          <a:xfrm flipV="1">
            <a:off x="8079740" y="4824095"/>
            <a:ext cx="196850" cy="190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56"/>
          <p:cNvCxnSpPr/>
          <p:nvPr/>
        </p:nvCxnSpPr>
        <p:spPr>
          <a:xfrm flipV="1">
            <a:off x="8079740" y="5132705"/>
            <a:ext cx="196850" cy="190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56"/>
          <p:cNvCxnSpPr/>
          <p:nvPr/>
        </p:nvCxnSpPr>
        <p:spPr>
          <a:xfrm flipV="1">
            <a:off x="5328285" y="4824095"/>
            <a:ext cx="196850" cy="190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56"/>
          <p:cNvCxnSpPr/>
          <p:nvPr/>
        </p:nvCxnSpPr>
        <p:spPr>
          <a:xfrm flipV="1">
            <a:off x="5328285" y="5132705"/>
            <a:ext cx="196850" cy="190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56"/>
          <p:cNvCxnSpPr/>
          <p:nvPr/>
        </p:nvCxnSpPr>
        <p:spPr>
          <a:xfrm flipV="1">
            <a:off x="3860800" y="4824095"/>
            <a:ext cx="196850" cy="190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56"/>
          <p:cNvCxnSpPr/>
          <p:nvPr/>
        </p:nvCxnSpPr>
        <p:spPr>
          <a:xfrm flipV="1">
            <a:off x="3860800" y="5132705"/>
            <a:ext cx="196850" cy="190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椭圆 71"/>
          <p:cNvSpPr/>
          <p:nvPr/>
        </p:nvSpPr>
        <p:spPr>
          <a:xfrm>
            <a:off x="7113270" y="5985510"/>
            <a:ext cx="1871345" cy="44005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椭圆 79"/>
          <p:cNvSpPr/>
          <p:nvPr/>
        </p:nvSpPr>
        <p:spPr>
          <a:xfrm>
            <a:off x="7187565" y="6073775"/>
            <a:ext cx="1626235" cy="246380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运维专业知识全覆盖</a:t>
            </a:r>
            <a:endParaRPr lang="zh-CN" altLang="en-US" sz="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3" name="文本框 80"/>
          <p:cNvSpPr txBox="1"/>
          <p:nvPr/>
        </p:nvSpPr>
        <p:spPr>
          <a:xfrm>
            <a:off x="7148830" y="5909945"/>
            <a:ext cx="436880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传输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80"/>
          <p:cNvSpPr txBox="1"/>
          <p:nvPr/>
        </p:nvSpPr>
        <p:spPr>
          <a:xfrm>
            <a:off x="7642225" y="5843270"/>
            <a:ext cx="436880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动力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80"/>
          <p:cNvSpPr txBox="1"/>
          <p:nvPr/>
        </p:nvSpPr>
        <p:spPr>
          <a:xfrm>
            <a:off x="8169275" y="5843270"/>
            <a:ext cx="436880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云化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文本框 80"/>
          <p:cNvSpPr txBox="1"/>
          <p:nvPr/>
        </p:nvSpPr>
        <p:spPr>
          <a:xfrm>
            <a:off x="8662670" y="5936615"/>
            <a:ext cx="436880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文本框 80"/>
          <p:cNvSpPr txBox="1"/>
          <p:nvPr/>
        </p:nvSpPr>
        <p:spPr>
          <a:xfrm>
            <a:off x="7642225" y="6383020"/>
            <a:ext cx="436880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无线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80"/>
          <p:cNvSpPr txBox="1"/>
          <p:nvPr/>
        </p:nvSpPr>
        <p:spPr>
          <a:xfrm>
            <a:off x="7148830" y="6322695"/>
            <a:ext cx="436880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80"/>
          <p:cNvSpPr txBox="1"/>
          <p:nvPr/>
        </p:nvSpPr>
        <p:spPr>
          <a:xfrm>
            <a:off x="8169275" y="6379845"/>
            <a:ext cx="517525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互联网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80"/>
          <p:cNvSpPr txBox="1"/>
          <p:nvPr/>
        </p:nvSpPr>
        <p:spPr>
          <a:xfrm>
            <a:off x="8687435" y="6307455"/>
            <a:ext cx="531495" cy="18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内容网</a:t>
            </a:r>
            <a:endParaRPr lang="zh-CN" altLang="en-US" sz="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TextBox 1"/>
          <p:cNvSpPr txBox="1"/>
          <p:nvPr/>
        </p:nvSpPr>
        <p:spPr>
          <a:xfrm>
            <a:off x="8984615" y="6101715"/>
            <a:ext cx="79184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......</a:t>
            </a:r>
            <a:endParaRPr lang="en-US" altLang="zh-CN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32" name="图片 33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283710" y="5817870"/>
            <a:ext cx="1052195" cy="180975"/>
          </a:xfrm>
          <a:custGeom>
            <a:avLst/>
            <a:gdLst>
              <a:gd name="connsiteX0" fmla="*/ 3429 w 2000250"/>
              <a:gd name="connsiteY0" fmla="*/ 1736 h 542925"/>
              <a:gd name="connsiteX1" fmla="*/ 2003679 w 2000250"/>
              <a:gd name="connsiteY1" fmla="*/ 1736 h 542925"/>
              <a:gd name="connsiteX2" fmla="*/ 2003679 w 2000250"/>
              <a:gd name="connsiteY2" fmla="*/ 544661 h 542925"/>
              <a:gd name="connsiteX3" fmla="*/ 3429 w 2000250"/>
              <a:gd name="connsiteY3" fmla="*/ 544661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250" h="542925">
                <a:moveTo>
                  <a:pt x="3429" y="1736"/>
                </a:moveTo>
                <a:lnTo>
                  <a:pt x="2003679" y="1736"/>
                </a:lnTo>
                <a:lnTo>
                  <a:pt x="2003679" y="544661"/>
                </a:lnTo>
                <a:lnTo>
                  <a:pt x="3429" y="54466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pic>
      <p:pic>
        <p:nvPicPr>
          <p:cNvPr id="333" name="图片 332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283710" y="6116320"/>
            <a:ext cx="1052195" cy="180975"/>
          </a:xfrm>
          <a:custGeom>
            <a:avLst/>
            <a:gdLst>
              <a:gd name="connsiteX0" fmla="*/ 3429 w 2000250"/>
              <a:gd name="connsiteY0" fmla="*/ 1830 h 542925"/>
              <a:gd name="connsiteX1" fmla="*/ 2003679 w 2000250"/>
              <a:gd name="connsiteY1" fmla="*/ 1830 h 542925"/>
              <a:gd name="connsiteX2" fmla="*/ 2003679 w 2000250"/>
              <a:gd name="connsiteY2" fmla="*/ 544755 h 542925"/>
              <a:gd name="connsiteX3" fmla="*/ 3429 w 2000250"/>
              <a:gd name="connsiteY3" fmla="*/ 544755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250" h="542925">
                <a:moveTo>
                  <a:pt x="3429" y="1830"/>
                </a:moveTo>
                <a:lnTo>
                  <a:pt x="2003679" y="1830"/>
                </a:lnTo>
                <a:lnTo>
                  <a:pt x="2003679" y="544755"/>
                </a:lnTo>
                <a:lnTo>
                  <a:pt x="3429" y="54475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pic>
      <p:sp>
        <p:nvSpPr>
          <p:cNvPr id="334" name="文本框 333"/>
          <p:cNvSpPr txBox="1"/>
          <p:nvPr/>
        </p:nvSpPr>
        <p:spPr>
          <a:xfrm>
            <a:off x="4513580" y="5814060"/>
            <a:ext cx="10680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52400">
              <a:defRPr/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知识图谱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pic>
        <p:nvPicPr>
          <p:cNvPr id="335" name="图片 33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283710" y="6384925"/>
            <a:ext cx="1052195" cy="180975"/>
          </a:xfrm>
          <a:custGeom>
            <a:avLst/>
            <a:gdLst>
              <a:gd name="connsiteX0" fmla="*/ 3429 w 2000250"/>
              <a:gd name="connsiteY0" fmla="*/ 1923 h 542925"/>
              <a:gd name="connsiteX1" fmla="*/ 2003679 w 2000250"/>
              <a:gd name="connsiteY1" fmla="*/ 1923 h 542925"/>
              <a:gd name="connsiteX2" fmla="*/ 2003679 w 2000250"/>
              <a:gd name="connsiteY2" fmla="*/ 544848 h 542925"/>
              <a:gd name="connsiteX3" fmla="*/ 3429 w 2000250"/>
              <a:gd name="connsiteY3" fmla="*/ 544848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250" h="542925">
                <a:moveTo>
                  <a:pt x="3429" y="1923"/>
                </a:moveTo>
                <a:lnTo>
                  <a:pt x="2003679" y="1923"/>
                </a:lnTo>
                <a:lnTo>
                  <a:pt x="2003679" y="544848"/>
                </a:lnTo>
                <a:lnTo>
                  <a:pt x="3429" y="54484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pic>
      <p:sp>
        <p:nvSpPr>
          <p:cNvPr id="336" name="文本框 335"/>
          <p:cNvSpPr txBox="1"/>
          <p:nvPr/>
        </p:nvSpPr>
        <p:spPr>
          <a:xfrm>
            <a:off x="4493260" y="6384925"/>
            <a:ext cx="10401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52400">
              <a:defRPr/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规则知识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pic>
        <p:nvPicPr>
          <p:cNvPr id="337" name="图片 336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523865" y="5929630"/>
            <a:ext cx="1052195" cy="180975"/>
          </a:xfrm>
          <a:custGeom>
            <a:avLst/>
            <a:gdLst>
              <a:gd name="connsiteX0" fmla="*/ 3429 w 2000250"/>
              <a:gd name="connsiteY0" fmla="*/ 1923 h 542925"/>
              <a:gd name="connsiteX1" fmla="*/ 2003679 w 2000250"/>
              <a:gd name="connsiteY1" fmla="*/ 1923 h 542925"/>
              <a:gd name="connsiteX2" fmla="*/ 2003679 w 2000250"/>
              <a:gd name="connsiteY2" fmla="*/ 544848 h 542925"/>
              <a:gd name="connsiteX3" fmla="*/ 3429 w 2000250"/>
              <a:gd name="connsiteY3" fmla="*/ 544848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250" h="542925">
                <a:moveTo>
                  <a:pt x="3429" y="1923"/>
                </a:moveTo>
                <a:lnTo>
                  <a:pt x="2003679" y="1923"/>
                </a:lnTo>
                <a:lnTo>
                  <a:pt x="2003679" y="544848"/>
                </a:lnTo>
                <a:lnTo>
                  <a:pt x="3429" y="54484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pic>
      <p:sp>
        <p:nvSpPr>
          <p:cNvPr id="338" name="文本框 337"/>
          <p:cNvSpPr txBox="1"/>
          <p:nvPr/>
        </p:nvSpPr>
        <p:spPr>
          <a:xfrm>
            <a:off x="5733415" y="5929630"/>
            <a:ext cx="10401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52400">
              <a:defRPr/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案例知识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pic>
        <p:nvPicPr>
          <p:cNvPr id="339" name="图片 33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522595" y="6269355"/>
            <a:ext cx="1052195" cy="180975"/>
          </a:xfrm>
          <a:custGeom>
            <a:avLst/>
            <a:gdLst>
              <a:gd name="connsiteX0" fmla="*/ 3429 w 2000250"/>
              <a:gd name="connsiteY0" fmla="*/ 1923 h 542925"/>
              <a:gd name="connsiteX1" fmla="*/ 2003679 w 2000250"/>
              <a:gd name="connsiteY1" fmla="*/ 1923 h 542925"/>
              <a:gd name="connsiteX2" fmla="*/ 2003679 w 2000250"/>
              <a:gd name="connsiteY2" fmla="*/ 544848 h 542925"/>
              <a:gd name="connsiteX3" fmla="*/ 3429 w 2000250"/>
              <a:gd name="connsiteY3" fmla="*/ 544848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250" h="542925">
                <a:moveTo>
                  <a:pt x="3429" y="1923"/>
                </a:moveTo>
                <a:lnTo>
                  <a:pt x="2003679" y="1923"/>
                </a:lnTo>
                <a:lnTo>
                  <a:pt x="2003679" y="544848"/>
                </a:lnTo>
                <a:lnTo>
                  <a:pt x="3429" y="54484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</p:pic>
      <p:sp>
        <p:nvSpPr>
          <p:cNvPr id="340" name="文本框 339"/>
          <p:cNvSpPr txBox="1"/>
          <p:nvPr/>
        </p:nvSpPr>
        <p:spPr>
          <a:xfrm>
            <a:off x="5732145" y="6269355"/>
            <a:ext cx="10401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52400">
              <a:defRPr/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网络本体知识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2724026" y="6406039"/>
            <a:ext cx="1338828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" dirty="0">
                <a:solidFill>
                  <a:schemeClr val="tx1"/>
                </a:solidFill>
              </a:rPr>
              <a:t>多元知识形态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pic>
        <p:nvPicPr>
          <p:cNvPr id="342" name="图片 341" descr="post_object_image_3102482059"/>
          <p:cNvPicPr>
            <a:picLocks noChangeAspect="1"/>
          </p:cNvPicPr>
          <p:nvPr/>
        </p:nvPicPr>
        <p:blipFill>
          <a:blip r:embed="rId5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39803" y="5873750"/>
            <a:ext cx="558165" cy="558165"/>
          </a:xfrm>
          <a:prstGeom prst="rect">
            <a:avLst/>
          </a:prstGeom>
        </p:spPr>
      </p:pic>
      <p:sp>
        <p:nvSpPr>
          <p:cNvPr id="343" name="文本框 342"/>
          <p:cNvSpPr txBox="1"/>
          <p:nvPr/>
        </p:nvSpPr>
        <p:spPr>
          <a:xfrm>
            <a:off x="4512945" y="6101715"/>
            <a:ext cx="8896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52400">
              <a:defRPr/>
            </a:pPr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  <a:rtl val="0"/>
              </a:rPr>
              <a:t>向量知识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  <a:rtl val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智能体创作中心 | MCP能力管理</a:t>
            </a:r>
            <a:endParaRPr lang="zh-CN" altLang="en-US" dirty="0">
              <a:cs typeface="+mn-cs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67911" y="5277256"/>
            <a:ext cx="3302635" cy="1224915"/>
            <a:chOff x="4028902" y="3336764"/>
            <a:chExt cx="4134196" cy="3138690"/>
          </a:xfrm>
        </p:grpSpPr>
        <p:sp>
          <p:nvSpPr>
            <p:cNvPr id="4" name="椭圆 3"/>
            <p:cNvSpPr/>
            <p:nvPr>
              <p:custDataLst>
                <p:tags r:id="rId1"/>
              </p:custDataLst>
            </p:nvPr>
          </p:nvSpPr>
          <p:spPr>
            <a:xfrm>
              <a:off x="4028902" y="5634280"/>
              <a:ext cx="4134196" cy="841174"/>
            </a:xfrm>
            <a:prstGeom prst="ellipse">
              <a:avLst/>
            </a:prstGeom>
            <a:gradFill flip="none" rotWithShape="1">
              <a:gsLst>
                <a:gs pos="100000">
                  <a:srgbClr val="1D78FA">
                    <a:alpha val="29000"/>
                  </a:srgbClr>
                </a:gs>
                <a:gs pos="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12700" cap="rnd" cmpd="sng" algn="ctr">
              <a:gradFill>
                <a:gsLst>
                  <a:gs pos="0">
                    <a:srgbClr val="1D78FA">
                      <a:lumMod val="20000"/>
                      <a:lumOff val="80000"/>
                      <a:alpha val="0"/>
                    </a:srgbClr>
                  </a:gs>
                  <a:gs pos="100000">
                    <a:srgbClr val="1D78FA"/>
                  </a:gs>
                </a:gsLst>
                <a:lin ang="5400000" scaled="1"/>
              </a:gra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任意多边形: 形状 48"/>
            <p:cNvSpPr/>
            <p:nvPr>
              <p:custDataLst>
                <p:tags r:id="rId2"/>
              </p:custDataLst>
            </p:nvPr>
          </p:nvSpPr>
          <p:spPr>
            <a:xfrm>
              <a:off x="4234991" y="3336764"/>
              <a:ext cx="3722018" cy="2964194"/>
            </a:xfrm>
            <a:custGeom>
              <a:avLst/>
              <a:gdLst>
                <a:gd name="connsiteX0" fmla="*/ 1 w 2859882"/>
                <a:gd name="connsiteY0" fmla="*/ 0 h 2277595"/>
                <a:gd name="connsiteX1" fmla="*/ 2859881 w 2859882"/>
                <a:gd name="connsiteY1" fmla="*/ 0 h 2277595"/>
                <a:gd name="connsiteX2" fmla="*/ 2859881 w 2859882"/>
                <a:gd name="connsiteY2" fmla="*/ 1985963 h 2277595"/>
                <a:gd name="connsiteX3" fmla="*/ 2859288 w 2859882"/>
                <a:gd name="connsiteY3" fmla="*/ 1985963 h 2277595"/>
                <a:gd name="connsiteX4" fmla="*/ 2859882 w 2859882"/>
                <a:gd name="connsiteY4" fmla="*/ 1988344 h 2277595"/>
                <a:gd name="connsiteX5" fmla="*/ 1429941 w 2859882"/>
                <a:gd name="connsiteY5" fmla="*/ 2277595 h 2277595"/>
                <a:gd name="connsiteX6" fmla="*/ 0 w 2859882"/>
                <a:gd name="connsiteY6" fmla="*/ 1988344 h 2277595"/>
                <a:gd name="connsiteX7" fmla="*/ 595 w 2859882"/>
                <a:gd name="connsiteY7" fmla="*/ 1985963 h 2277595"/>
                <a:gd name="connsiteX8" fmla="*/ 1 w 2859882"/>
                <a:gd name="connsiteY8" fmla="*/ 1985963 h 227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59882" h="2277595">
                  <a:moveTo>
                    <a:pt x="1" y="0"/>
                  </a:moveTo>
                  <a:lnTo>
                    <a:pt x="2859881" y="0"/>
                  </a:lnTo>
                  <a:lnTo>
                    <a:pt x="2859881" y="1985963"/>
                  </a:lnTo>
                  <a:lnTo>
                    <a:pt x="2859288" y="1985963"/>
                  </a:lnTo>
                  <a:lnTo>
                    <a:pt x="2859882" y="1988344"/>
                  </a:lnTo>
                  <a:cubicBezTo>
                    <a:pt x="2859882" y="2148093"/>
                    <a:pt x="2219676" y="2277595"/>
                    <a:pt x="1429941" y="2277595"/>
                  </a:cubicBezTo>
                  <a:cubicBezTo>
                    <a:pt x="640206" y="2277595"/>
                    <a:pt x="0" y="2148093"/>
                    <a:pt x="0" y="1988344"/>
                  </a:cubicBezTo>
                  <a:lnTo>
                    <a:pt x="595" y="1985963"/>
                  </a:lnTo>
                  <a:lnTo>
                    <a:pt x="1" y="1985963"/>
                  </a:lnTo>
                  <a:close/>
                </a:path>
              </a:pathLst>
            </a:custGeom>
            <a:gradFill>
              <a:gsLst>
                <a:gs pos="100000">
                  <a:srgbClr val="1D78FA">
                    <a:alpha val="22000"/>
                  </a:srgbClr>
                </a:gs>
                <a:gs pos="0">
                  <a:srgbClr val="1D78FA">
                    <a:lumMod val="40000"/>
                    <a:lumOff val="60000"/>
                    <a:alpha val="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任意多边形: 形状 49"/>
            <p:cNvSpPr/>
            <p:nvPr>
              <p:custDataLst>
                <p:tags r:id="rId3"/>
              </p:custDataLst>
            </p:nvPr>
          </p:nvSpPr>
          <p:spPr>
            <a:xfrm>
              <a:off x="4234992" y="5454481"/>
              <a:ext cx="3722015" cy="752896"/>
            </a:xfrm>
            <a:custGeom>
              <a:avLst/>
              <a:gdLst>
                <a:gd name="connsiteX0" fmla="*/ 1429941 w 2859880"/>
                <a:gd name="connsiteY0" fmla="*/ 0 h 578502"/>
                <a:gd name="connsiteX1" fmla="*/ 2852499 w 2859880"/>
                <a:gd name="connsiteY1" fmla="*/ 259677 h 578502"/>
                <a:gd name="connsiteX2" fmla="*/ 2859880 w 2859880"/>
                <a:gd name="connsiteY2" fmla="*/ 289243 h 578502"/>
                <a:gd name="connsiteX3" fmla="*/ 2859880 w 2859880"/>
                <a:gd name="connsiteY3" fmla="*/ 289259 h 578502"/>
                <a:gd name="connsiteX4" fmla="*/ 2852499 w 2859880"/>
                <a:gd name="connsiteY4" fmla="*/ 318825 h 578502"/>
                <a:gd name="connsiteX5" fmla="*/ 1429941 w 2859880"/>
                <a:gd name="connsiteY5" fmla="*/ 578502 h 578502"/>
                <a:gd name="connsiteX6" fmla="*/ 0 w 2859880"/>
                <a:gd name="connsiteY6" fmla="*/ 289251 h 578502"/>
                <a:gd name="connsiteX7" fmla="*/ 1429941 w 2859880"/>
                <a:gd name="connsiteY7" fmla="*/ 0 h 57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9880" h="578502">
                  <a:moveTo>
                    <a:pt x="1429941" y="0"/>
                  </a:moveTo>
                  <a:cubicBezTo>
                    <a:pt x="2170318" y="0"/>
                    <a:pt x="2779272" y="113820"/>
                    <a:pt x="2852499" y="259677"/>
                  </a:cubicBezTo>
                  <a:lnTo>
                    <a:pt x="2859880" y="289243"/>
                  </a:lnTo>
                  <a:lnTo>
                    <a:pt x="2859880" y="289259"/>
                  </a:lnTo>
                  <a:lnTo>
                    <a:pt x="2852499" y="318825"/>
                  </a:lnTo>
                  <a:cubicBezTo>
                    <a:pt x="2779272" y="464682"/>
                    <a:pt x="2170318" y="578502"/>
                    <a:pt x="1429941" y="578502"/>
                  </a:cubicBezTo>
                  <a:cubicBezTo>
                    <a:pt x="640206" y="578502"/>
                    <a:pt x="0" y="449000"/>
                    <a:pt x="0" y="289251"/>
                  </a:cubicBezTo>
                  <a:cubicBezTo>
                    <a:pt x="0" y="129502"/>
                    <a:pt x="640206" y="0"/>
                    <a:pt x="1429941" y="0"/>
                  </a:cubicBezTo>
                  <a:close/>
                </a:path>
              </a:pathLst>
            </a:custGeom>
            <a:gradFill>
              <a:gsLst>
                <a:gs pos="0">
                  <a:srgbClr val="1D78FA">
                    <a:lumMod val="20000"/>
                    <a:lumOff val="80000"/>
                  </a:srgbClr>
                </a:gs>
                <a:gs pos="100000">
                  <a:srgbClr val="1D78FA">
                    <a:lumMod val="50000"/>
                    <a:lumOff val="50000"/>
                  </a:srgbClr>
                </a:gs>
              </a:gsLst>
              <a:lin ang="5400000" scaled="1"/>
            </a:gradFill>
            <a:ln w="6350" cap="flat" cmpd="sng" algn="ctr">
              <a:solidFill>
                <a:srgbClr val="1D78FA">
                  <a:alpha val="33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任意多边形: 形状 50"/>
            <p:cNvSpPr/>
            <p:nvPr>
              <p:custDataLst>
                <p:tags r:id="rId4"/>
              </p:custDataLst>
            </p:nvPr>
          </p:nvSpPr>
          <p:spPr>
            <a:xfrm>
              <a:off x="4234992" y="5830929"/>
              <a:ext cx="3722015" cy="470029"/>
            </a:xfrm>
            <a:custGeom>
              <a:avLst/>
              <a:gdLst>
                <a:gd name="connsiteX0" fmla="*/ 1 w 2859882"/>
                <a:gd name="connsiteY0" fmla="*/ 0 h 361156"/>
                <a:gd name="connsiteX1" fmla="*/ 1429942 w 2859882"/>
                <a:gd name="connsiteY1" fmla="*/ 289251 h 361156"/>
                <a:gd name="connsiteX2" fmla="*/ 2852500 w 2859882"/>
                <a:gd name="connsiteY2" fmla="*/ 29574 h 361156"/>
                <a:gd name="connsiteX3" fmla="*/ 2859881 w 2859882"/>
                <a:gd name="connsiteY3" fmla="*/ 8 h 361156"/>
                <a:gd name="connsiteX4" fmla="*/ 2859881 w 2859882"/>
                <a:gd name="connsiteY4" fmla="*/ 69524 h 361156"/>
                <a:gd name="connsiteX5" fmla="*/ 2859288 w 2859882"/>
                <a:gd name="connsiteY5" fmla="*/ 69524 h 361156"/>
                <a:gd name="connsiteX6" fmla="*/ 2859882 w 2859882"/>
                <a:gd name="connsiteY6" fmla="*/ 71905 h 361156"/>
                <a:gd name="connsiteX7" fmla="*/ 1429941 w 2859882"/>
                <a:gd name="connsiteY7" fmla="*/ 361156 h 361156"/>
                <a:gd name="connsiteX8" fmla="*/ 0 w 2859882"/>
                <a:gd name="connsiteY8" fmla="*/ 71905 h 361156"/>
                <a:gd name="connsiteX9" fmla="*/ 595 w 2859882"/>
                <a:gd name="connsiteY9" fmla="*/ 69524 h 361156"/>
                <a:gd name="connsiteX10" fmla="*/ 1 w 2859882"/>
                <a:gd name="connsiteY10" fmla="*/ 69524 h 361156"/>
                <a:gd name="connsiteX11" fmla="*/ 1 w 2859882"/>
                <a:gd name="connsiteY11" fmla="*/ 0 h 3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59882" h="361156">
                  <a:moveTo>
                    <a:pt x="1" y="0"/>
                  </a:moveTo>
                  <a:cubicBezTo>
                    <a:pt x="1" y="159749"/>
                    <a:pt x="640207" y="289251"/>
                    <a:pt x="1429942" y="289251"/>
                  </a:cubicBezTo>
                  <a:cubicBezTo>
                    <a:pt x="2170319" y="289251"/>
                    <a:pt x="2779273" y="175431"/>
                    <a:pt x="2852500" y="29574"/>
                  </a:cubicBezTo>
                  <a:lnTo>
                    <a:pt x="2859881" y="8"/>
                  </a:lnTo>
                  <a:lnTo>
                    <a:pt x="2859881" y="69524"/>
                  </a:lnTo>
                  <a:lnTo>
                    <a:pt x="2859288" y="69524"/>
                  </a:lnTo>
                  <a:lnTo>
                    <a:pt x="2859882" y="71905"/>
                  </a:lnTo>
                  <a:cubicBezTo>
                    <a:pt x="2859882" y="231654"/>
                    <a:pt x="2219676" y="361156"/>
                    <a:pt x="1429941" y="361156"/>
                  </a:cubicBezTo>
                  <a:cubicBezTo>
                    <a:pt x="640206" y="361156"/>
                    <a:pt x="0" y="231654"/>
                    <a:pt x="0" y="71905"/>
                  </a:cubicBezTo>
                  <a:lnTo>
                    <a:pt x="595" y="69524"/>
                  </a:lnTo>
                  <a:lnTo>
                    <a:pt x="1" y="69524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50000">
                  <a:srgbClr val="1D78FA">
                    <a:lumMod val="50000"/>
                    <a:lumOff val="50000"/>
                  </a:srgbClr>
                </a:gs>
                <a:gs pos="0">
                  <a:srgbClr val="1D78FA">
                    <a:lumMod val="40000"/>
                    <a:lumOff val="60000"/>
                  </a:srgbClr>
                </a:gs>
                <a:gs pos="100000">
                  <a:srgbClr val="1D78FA"/>
                </a:gs>
              </a:gsLst>
              <a:lin ang="2700000" scaled="1"/>
              <a:tileRect/>
            </a:gradFill>
            <a:ln w="6350" cap="flat" cmpd="sng" algn="ctr">
              <a:gradFill flip="none" rotWithShape="1">
                <a:gsLst>
                  <a:gs pos="0">
                    <a:srgbClr val="1D78FA">
                      <a:alpha val="0"/>
                    </a:srgbClr>
                  </a:gs>
                  <a:gs pos="100000">
                    <a:srgbClr val="1D78FA"/>
                  </a:gs>
                </a:gsLst>
                <a:lin ang="5400000" scaled="1"/>
                <a:tileRect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椭圆 39"/>
            <p:cNvSpPr/>
            <p:nvPr>
              <p:custDataLst>
                <p:tags r:id="rId5"/>
              </p:custDataLst>
            </p:nvPr>
          </p:nvSpPr>
          <p:spPr>
            <a:xfrm>
              <a:off x="4234992" y="5190211"/>
              <a:ext cx="3722016" cy="752896"/>
            </a:xfrm>
            <a:prstGeom prst="ellipse">
              <a:avLst/>
            </a:prstGeom>
            <a:gradFill flip="none" rotWithShape="1">
              <a:gsLst>
                <a:gs pos="100000">
                  <a:srgbClr val="1D78FA">
                    <a:alpha val="0"/>
                  </a:srgbClr>
                </a:gs>
                <a:gs pos="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12700" cap="rnd" cmpd="sng" algn="ctr">
              <a:gradFill>
                <a:gsLst>
                  <a:gs pos="0">
                    <a:srgbClr val="1D78FA">
                      <a:lumMod val="20000"/>
                      <a:lumOff val="80000"/>
                      <a:alpha val="51000"/>
                    </a:srgbClr>
                  </a:gs>
                  <a:gs pos="100000">
                    <a:srgbClr val="1D78FA"/>
                  </a:gs>
                </a:gsLst>
                <a:lin ang="5400000" scaled="1"/>
              </a:gra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椭圆 40"/>
            <p:cNvSpPr/>
            <p:nvPr>
              <p:custDataLst>
                <p:tags r:id="rId6"/>
              </p:custDataLst>
            </p:nvPr>
          </p:nvSpPr>
          <p:spPr>
            <a:xfrm>
              <a:off x="4028902" y="4628802"/>
              <a:ext cx="4134196" cy="841174"/>
            </a:xfrm>
            <a:prstGeom prst="ellipse">
              <a:avLst/>
            </a:prstGeom>
            <a:gradFill flip="none" rotWithShape="1">
              <a:gsLst>
                <a:gs pos="100000">
                  <a:srgbClr val="1D78FA">
                    <a:alpha val="0"/>
                  </a:srgbClr>
                </a:gs>
                <a:gs pos="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12700" cap="rnd" cmpd="sng" algn="ctr">
              <a:gradFill>
                <a:gsLst>
                  <a:gs pos="0">
                    <a:srgbClr val="1D78FA">
                      <a:lumMod val="20000"/>
                      <a:lumOff val="80000"/>
                      <a:alpha val="51000"/>
                    </a:srgbClr>
                  </a:gs>
                  <a:gs pos="100000">
                    <a:srgbClr val="1D78FA"/>
                  </a:gs>
                </a:gsLst>
                <a:lin ang="5400000" scaled="1"/>
              </a:gra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椭圆 41"/>
            <p:cNvSpPr/>
            <p:nvPr>
              <p:custDataLst>
                <p:tags r:id="rId7"/>
              </p:custDataLst>
            </p:nvPr>
          </p:nvSpPr>
          <p:spPr>
            <a:xfrm flipV="1">
              <a:off x="5584649" y="5667639"/>
              <a:ext cx="1022702" cy="227581"/>
            </a:xfrm>
            <a:prstGeom prst="ellipse">
              <a:avLst/>
            </a:prstGeom>
            <a:gradFill>
              <a:gsLst>
                <a:gs pos="0">
                  <a:srgbClr val="1D78FA"/>
                </a:gs>
                <a:gs pos="100000">
                  <a:srgbClr val="1D78FA">
                    <a:lumMod val="40000"/>
                    <a:lumOff val="60000"/>
                  </a:srgbClr>
                </a:gs>
              </a:gsLst>
              <a:lin ang="5400000" scaled="1"/>
            </a:gradFill>
            <a:ln w="6350" cap="flat" cmpd="sng" algn="ctr">
              <a:solidFill>
                <a:sysClr val="window" lastClr="FFFFFF">
                  <a:alpha val="31000"/>
                </a:sys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椭圆 42"/>
            <p:cNvSpPr/>
            <p:nvPr>
              <p:custDataLst>
                <p:tags r:id="rId8"/>
              </p:custDataLst>
            </p:nvPr>
          </p:nvSpPr>
          <p:spPr>
            <a:xfrm flipV="1">
              <a:off x="5906955" y="5738803"/>
              <a:ext cx="378089" cy="79056"/>
            </a:xfrm>
            <a:prstGeom prst="ellipse">
              <a:avLst/>
            </a:prstGeom>
            <a:gradFill>
              <a:gsLst>
                <a:gs pos="0">
                  <a:srgbClr val="1D78FA">
                    <a:lumMod val="20000"/>
                    <a:lumOff val="80000"/>
                  </a:srgbClr>
                </a:gs>
                <a:gs pos="100000">
                  <a:srgbClr val="1D78FA">
                    <a:lumMod val="40000"/>
                    <a:lumOff val="60000"/>
                  </a:srgbClr>
                </a:gs>
              </a:gsLst>
              <a:lin ang="5400000" scaled="1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4" name="直接连接符 43"/>
            <p:cNvCxnSpPr/>
            <p:nvPr>
              <p:custDataLst>
                <p:tags r:id="rId9"/>
              </p:custDataLst>
            </p:nvPr>
          </p:nvCxnSpPr>
          <p:spPr>
            <a:xfrm>
              <a:off x="4698308" y="5118744"/>
              <a:ext cx="0" cy="766507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1D78FA"/>
                  </a:gs>
                  <a:gs pos="100000">
                    <a:srgbClr val="1D78FA">
                      <a:lumMod val="20000"/>
                      <a:lumOff val="8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10"/>
              </p:custDataLst>
            </p:nvPr>
          </p:nvCxnSpPr>
          <p:spPr>
            <a:xfrm>
              <a:off x="5203462" y="5534452"/>
              <a:ext cx="0" cy="766507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1D78FA"/>
                  </a:gs>
                  <a:gs pos="70000">
                    <a:srgbClr val="1D78FA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11"/>
              </p:custDataLst>
            </p:nvPr>
          </p:nvCxnSpPr>
          <p:spPr>
            <a:xfrm>
              <a:off x="6563966" y="4972296"/>
              <a:ext cx="0" cy="766507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1D78FA"/>
                  </a:gs>
                  <a:gs pos="70000">
                    <a:srgbClr val="1D78FA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12"/>
              </p:custDataLst>
            </p:nvPr>
          </p:nvCxnSpPr>
          <p:spPr>
            <a:xfrm>
              <a:off x="6948254" y="5705558"/>
              <a:ext cx="0" cy="766507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1D78FA"/>
                  </a:gs>
                  <a:gs pos="70000">
                    <a:srgbClr val="1D78FA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13"/>
              </p:custDataLst>
            </p:nvPr>
          </p:nvCxnSpPr>
          <p:spPr>
            <a:xfrm>
              <a:off x="7416218" y="5434605"/>
              <a:ext cx="0" cy="766507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1D78FA"/>
                  </a:gs>
                  <a:gs pos="70000">
                    <a:srgbClr val="1D78FA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49" name="任意多边形: 形状 71"/>
            <p:cNvSpPr/>
            <p:nvPr>
              <p:custDataLst>
                <p:tags r:id="rId14"/>
              </p:custDataLst>
            </p:nvPr>
          </p:nvSpPr>
          <p:spPr>
            <a:xfrm rot="10800000">
              <a:off x="5086891" y="4862547"/>
              <a:ext cx="2018218" cy="1025803"/>
            </a:xfrm>
            <a:custGeom>
              <a:avLst/>
              <a:gdLst>
                <a:gd name="connsiteX0" fmla="*/ 1550736 w 1550736"/>
                <a:gd name="connsiteY0" fmla="*/ 788195 h 788195"/>
                <a:gd name="connsiteX1" fmla="*/ 0 w 1550736"/>
                <a:gd name="connsiteY1" fmla="*/ 788195 h 788195"/>
                <a:gd name="connsiteX2" fmla="*/ 384627 w 1550736"/>
                <a:gd name="connsiteY2" fmla="*/ 84742 h 788195"/>
                <a:gd name="connsiteX3" fmla="*/ 383379 w 1550736"/>
                <a:gd name="connsiteY3" fmla="*/ 82154 h 788195"/>
                <a:gd name="connsiteX4" fmla="*/ 776285 w 1550736"/>
                <a:gd name="connsiteY4" fmla="*/ 0 h 788195"/>
                <a:gd name="connsiteX5" fmla="*/ 1169191 w 1550736"/>
                <a:gd name="connsiteY5" fmla="*/ 82154 h 788195"/>
                <a:gd name="connsiteX6" fmla="*/ 1167084 w 1550736"/>
                <a:gd name="connsiteY6" fmla="*/ 86525 h 7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0736" h="788195">
                  <a:moveTo>
                    <a:pt x="1550736" y="788195"/>
                  </a:moveTo>
                  <a:lnTo>
                    <a:pt x="0" y="788195"/>
                  </a:lnTo>
                  <a:lnTo>
                    <a:pt x="384627" y="84742"/>
                  </a:lnTo>
                  <a:lnTo>
                    <a:pt x="383379" y="82154"/>
                  </a:lnTo>
                  <a:cubicBezTo>
                    <a:pt x="383379" y="36782"/>
                    <a:pt x="559289" y="0"/>
                    <a:pt x="776285" y="0"/>
                  </a:cubicBezTo>
                  <a:cubicBezTo>
                    <a:pt x="993281" y="0"/>
                    <a:pt x="1169191" y="36782"/>
                    <a:pt x="1169191" y="82154"/>
                  </a:cubicBezTo>
                  <a:lnTo>
                    <a:pt x="1167084" y="86525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1D78FA">
                    <a:alpha val="34000"/>
                  </a:srgbClr>
                </a:gs>
                <a:gs pos="0">
                  <a:srgbClr val="1D78FA">
                    <a:lumMod val="40000"/>
                    <a:lumOff val="60000"/>
                    <a:alpha val="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: 圆角 23"/>
          <p:cNvSpPr/>
          <p:nvPr/>
        </p:nvSpPr>
        <p:spPr>
          <a:xfrm>
            <a:off x="1100565" y="1912070"/>
            <a:ext cx="2140342" cy="4286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行业痛点现状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矩形: 圆角 30"/>
          <p:cNvSpPr/>
          <p:nvPr/>
        </p:nvSpPr>
        <p:spPr>
          <a:xfrm>
            <a:off x="466049" y="2424201"/>
            <a:ext cx="3487206" cy="3998595"/>
          </a:xfrm>
          <a:prstGeom prst="roundRect">
            <a:avLst>
              <a:gd name="adj" fmla="val 3204"/>
            </a:avLst>
          </a:prstGeom>
          <a:gradFill>
            <a:gsLst>
              <a:gs pos="100000">
                <a:srgbClr val="3161E7"/>
              </a:gs>
              <a:gs pos="0">
                <a:srgbClr val="4C84F7"/>
              </a:gs>
              <a:gs pos="54000">
                <a:srgbClr val="3161E7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: 圆角 31"/>
          <p:cNvSpPr/>
          <p:nvPr/>
        </p:nvSpPr>
        <p:spPr>
          <a:xfrm>
            <a:off x="521989" y="2467381"/>
            <a:ext cx="3376830" cy="3787775"/>
          </a:xfrm>
          <a:prstGeom prst="roundRect">
            <a:avLst>
              <a:gd name="adj" fmla="val 3204"/>
            </a:avLst>
          </a:prstGeom>
          <a:solidFill>
            <a:schemeClr val="bg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74346" y="3014116"/>
            <a:ext cx="2678430" cy="1173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" algn="just">
              <a:spcBef>
                <a:spcPts val="600"/>
              </a:spcBef>
            </a:pP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4046" y="3163976"/>
            <a:ext cx="2678430" cy="1173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" algn="just">
              <a:spcBef>
                <a:spcPts val="600"/>
              </a:spcBef>
            </a:pP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72974" y="5109230"/>
            <a:ext cx="3406078" cy="868680"/>
            <a:chOff x="5866" y="4071"/>
            <a:chExt cx="5238" cy="1368"/>
          </a:xfrm>
        </p:grpSpPr>
        <p:sp>
          <p:nvSpPr>
            <p:cNvPr id="30" name="文本框 29"/>
            <p:cNvSpPr txBox="1"/>
            <p:nvPr/>
          </p:nvSpPr>
          <p:spPr>
            <a:xfrm>
              <a:off x="6767" y="4218"/>
              <a:ext cx="3525" cy="53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lvl="0" algn="l">
                <a:buClrTx/>
                <a:buSzTx/>
                <a:buFontTx/>
              </a:pPr>
              <a:r>
                <a:rPr lang="zh-CN" altLang="en-US" sz="1600" b="1" dirty="0">
                  <a:gradFill flip="none" rotWithShape="1">
                    <a:gsLst>
                      <a:gs pos="0">
                        <a:srgbClr val="19ABEB"/>
                      </a:gs>
                      <a:gs pos="50000">
                        <a:srgbClr val="1D78FA"/>
                      </a:gs>
                      <a:gs pos="100000">
                        <a:srgbClr val="3161E7"/>
                      </a:gs>
                    </a:gsLst>
                    <a:lin ang="27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工具适配维护难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866" y="4822"/>
              <a:ext cx="5238" cy="61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7145"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数据工具业务描述调整依赖开发人员处理并发版本，易致版本混乱、数据不一致影响服务调用。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5969" y="4071"/>
              <a:ext cx="860" cy="861"/>
              <a:chOff x="419645" y="2622866"/>
              <a:chExt cx="540385" cy="546735"/>
            </a:xfrm>
          </p:grpSpPr>
          <p:pic>
            <p:nvPicPr>
              <p:cNvPr id="33" name="图片 32" descr="yuan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9645" y="2622866"/>
                <a:ext cx="540385" cy="546735"/>
              </a:xfrm>
              <a:prstGeom prst="rect">
                <a:avLst/>
              </a:prstGeom>
            </p:spPr>
          </p:pic>
          <p:sp>
            <p:nvSpPr>
              <p:cNvPr id="34" name="Freeform 112"/>
              <p:cNvSpPr>
                <a:spLocks noChangeArrowheads="1"/>
              </p:cNvSpPr>
              <p:nvPr/>
            </p:nvSpPr>
            <p:spPr bwMode="auto">
              <a:xfrm>
                <a:off x="560028" y="2765053"/>
                <a:ext cx="261755" cy="223262"/>
              </a:xfrm>
              <a:custGeom>
                <a:avLst/>
                <a:gdLst>
                  <a:gd name="T0" fmla="*/ 172426 w 601"/>
                  <a:gd name="T1" fmla="*/ 114823 h 510"/>
                  <a:gd name="T2" fmla="*/ 172426 w 601"/>
                  <a:gd name="T3" fmla="*/ 28164 h 510"/>
                  <a:gd name="T4" fmla="*/ 172426 w 601"/>
                  <a:gd name="T5" fmla="*/ 114823 h 510"/>
                  <a:gd name="T6" fmla="*/ 192902 w 601"/>
                  <a:gd name="T7" fmla="*/ 61383 h 510"/>
                  <a:gd name="T8" fmla="*/ 182844 w 601"/>
                  <a:gd name="T9" fmla="*/ 50912 h 510"/>
                  <a:gd name="T10" fmla="*/ 162368 w 601"/>
                  <a:gd name="T11" fmla="*/ 50912 h 510"/>
                  <a:gd name="T12" fmla="*/ 152310 w 601"/>
                  <a:gd name="T13" fmla="*/ 61383 h 510"/>
                  <a:gd name="T14" fmla="*/ 152310 w 601"/>
                  <a:gd name="T15" fmla="*/ 81604 h 510"/>
                  <a:gd name="T16" fmla="*/ 162368 w 601"/>
                  <a:gd name="T17" fmla="*/ 91714 h 510"/>
                  <a:gd name="T18" fmla="*/ 182844 w 601"/>
                  <a:gd name="T19" fmla="*/ 91714 h 510"/>
                  <a:gd name="T20" fmla="*/ 192902 w 601"/>
                  <a:gd name="T21" fmla="*/ 81604 h 510"/>
                  <a:gd name="T22" fmla="*/ 192902 w 601"/>
                  <a:gd name="T23" fmla="*/ 61383 h 510"/>
                  <a:gd name="T24" fmla="*/ 129320 w 601"/>
                  <a:gd name="T25" fmla="*/ 35747 h 510"/>
                  <a:gd name="T26" fmla="*/ 119261 w 601"/>
                  <a:gd name="T27" fmla="*/ 15165 h 510"/>
                  <a:gd name="T28" fmla="*/ 126805 w 601"/>
                  <a:gd name="T29" fmla="*/ 0 h 510"/>
                  <a:gd name="T30" fmla="*/ 136863 w 601"/>
                  <a:gd name="T31" fmla="*/ 5055 h 510"/>
                  <a:gd name="T32" fmla="*/ 129320 w 601"/>
                  <a:gd name="T33" fmla="*/ 35747 h 510"/>
                  <a:gd name="T34" fmla="*/ 96271 w 601"/>
                  <a:gd name="T35" fmla="*/ 15165 h 510"/>
                  <a:gd name="T36" fmla="*/ 50650 w 601"/>
                  <a:gd name="T37" fmla="*/ 58856 h 510"/>
                  <a:gd name="T38" fmla="*/ 78669 w 601"/>
                  <a:gd name="T39" fmla="*/ 5055 h 510"/>
                  <a:gd name="T40" fmla="*/ 96271 w 601"/>
                  <a:gd name="T41" fmla="*/ 10110 h 510"/>
                  <a:gd name="T42" fmla="*/ 81184 w 601"/>
                  <a:gd name="T43" fmla="*/ 68966 h 510"/>
                  <a:gd name="T44" fmla="*/ 116747 w 601"/>
                  <a:gd name="T45" fmla="*/ 68966 h 510"/>
                  <a:gd name="T46" fmla="*/ 136863 w 601"/>
                  <a:gd name="T47" fmla="*/ 114823 h 510"/>
                  <a:gd name="T48" fmla="*/ 147281 w 601"/>
                  <a:gd name="T49" fmla="*/ 163207 h 510"/>
                  <a:gd name="T50" fmla="*/ 157339 w 601"/>
                  <a:gd name="T51" fmla="*/ 124933 h 510"/>
                  <a:gd name="T52" fmla="*/ 187873 w 601"/>
                  <a:gd name="T53" fmla="*/ 122406 h 510"/>
                  <a:gd name="T54" fmla="*/ 174941 w 601"/>
                  <a:gd name="T55" fmla="*/ 176206 h 510"/>
                  <a:gd name="T56" fmla="*/ 164883 w 601"/>
                  <a:gd name="T57" fmla="*/ 183789 h 510"/>
                  <a:gd name="T58" fmla="*/ 159853 w 601"/>
                  <a:gd name="T59" fmla="*/ 183789 h 510"/>
                  <a:gd name="T60" fmla="*/ 50650 w 601"/>
                  <a:gd name="T61" fmla="*/ 183789 h 510"/>
                  <a:gd name="T62" fmla="*/ 50650 w 601"/>
                  <a:gd name="T63" fmla="*/ 183789 h 510"/>
                  <a:gd name="T64" fmla="*/ 40592 w 601"/>
                  <a:gd name="T65" fmla="*/ 176206 h 510"/>
                  <a:gd name="T66" fmla="*/ 10058 w 601"/>
                  <a:gd name="T67" fmla="*/ 89186 h 510"/>
                  <a:gd name="T68" fmla="*/ 10058 w 601"/>
                  <a:gd name="T69" fmla="*/ 68966 h 510"/>
                  <a:gd name="T70" fmla="*/ 81184 w 601"/>
                  <a:gd name="T71" fmla="*/ 68966 h 510"/>
                  <a:gd name="T72" fmla="*/ 96271 w 601"/>
                  <a:gd name="T73" fmla="*/ 153097 h 510"/>
                  <a:gd name="T74" fmla="*/ 116747 w 601"/>
                  <a:gd name="T75" fmla="*/ 153097 h 510"/>
                  <a:gd name="T76" fmla="*/ 106689 w 601"/>
                  <a:gd name="T77" fmla="*/ 89186 h 510"/>
                  <a:gd name="T78" fmla="*/ 96271 w 601"/>
                  <a:gd name="T79" fmla="*/ 153097 h 510"/>
                  <a:gd name="T80" fmla="*/ 76155 w 601"/>
                  <a:gd name="T81" fmla="*/ 99658 h 510"/>
                  <a:gd name="T82" fmla="*/ 55679 w 601"/>
                  <a:gd name="T83" fmla="*/ 99658 h 510"/>
                  <a:gd name="T84" fmla="*/ 65737 w 601"/>
                  <a:gd name="T85" fmla="*/ 163207 h 510"/>
                  <a:gd name="T86" fmla="*/ 76155 w 601"/>
                  <a:gd name="T87" fmla="*/ 99658 h 51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601" h="510">
                    <a:moveTo>
                      <a:pt x="480" y="318"/>
                    </a:moveTo>
                    <a:lnTo>
                      <a:pt x="480" y="318"/>
                    </a:lnTo>
                    <a:cubicBezTo>
                      <a:pt x="410" y="318"/>
                      <a:pt x="353" y="269"/>
                      <a:pt x="353" y="198"/>
                    </a:cubicBezTo>
                    <a:cubicBezTo>
                      <a:pt x="353" y="127"/>
                      <a:pt x="410" y="78"/>
                      <a:pt x="480" y="78"/>
                    </a:cubicBezTo>
                    <a:cubicBezTo>
                      <a:pt x="544" y="78"/>
                      <a:pt x="600" y="127"/>
                      <a:pt x="600" y="198"/>
                    </a:cubicBezTo>
                    <a:cubicBezTo>
                      <a:pt x="600" y="269"/>
                      <a:pt x="544" y="318"/>
                      <a:pt x="480" y="318"/>
                    </a:cubicBezTo>
                    <a:close/>
                    <a:moveTo>
                      <a:pt x="537" y="170"/>
                    </a:moveTo>
                    <a:lnTo>
                      <a:pt x="537" y="170"/>
                    </a:lnTo>
                    <a:cubicBezTo>
                      <a:pt x="509" y="170"/>
                      <a:pt x="509" y="170"/>
                      <a:pt x="509" y="170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27"/>
                      <a:pt x="494" y="113"/>
                      <a:pt x="480" y="113"/>
                    </a:cubicBezTo>
                    <a:cubicBezTo>
                      <a:pt x="459" y="113"/>
                      <a:pt x="452" y="127"/>
                      <a:pt x="452" y="141"/>
                    </a:cubicBezTo>
                    <a:cubicBezTo>
                      <a:pt x="452" y="170"/>
                      <a:pt x="452" y="170"/>
                      <a:pt x="452" y="170"/>
                    </a:cubicBezTo>
                    <a:cubicBezTo>
                      <a:pt x="424" y="170"/>
                      <a:pt x="424" y="170"/>
                      <a:pt x="424" y="170"/>
                    </a:cubicBezTo>
                    <a:cubicBezTo>
                      <a:pt x="403" y="170"/>
                      <a:pt x="396" y="184"/>
                      <a:pt x="396" y="198"/>
                    </a:cubicBezTo>
                    <a:cubicBezTo>
                      <a:pt x="396" y="212"/>
                      <a:pt x="403" y="226"/>
                      <a:pt x="424" y="226"/>
                    </a:cubicBezTo>
                    <a:cubicBezTo>
                      <a:pt x="452" y="226"/>
                      <a:pt x="452" y="226"/>
                      <a:pt x="452" y="226"/>
                    </a:cubicBezTo>
                    <a:cubicBezTo>
                      <a:pt x="452" y="254"/>
                      <a:pt x="452" y="254"/>
                      <a:pt x="452" y="254"/>
                    </a:cubicBezTo>
                    <a:cubicBezTo>
                      <a:pt x="452" y="269"/>
                      <a:pt x="459" y="283"/>
                      <a:pt x="480" y="283"/>
                    </a:cubicBezTo>
                    <a:cubicBezTo>
                      <a:pt x="494" y="283"/>
                      <a:pt x="509" y="269"/>
                      <a:pt x="509" y="254"/>
                    </a:cubicBezTo>
                    <a:cubicBezTo>
                      <a:pt x="509" y="226"/>
                      <a:pt x="509" y="226"/>
                      <a:pt x="509" y="226"/>
                    </a:cubicBezTo>
                    <a:cubicBezTo>
                      <a:pt x="537" y="226"/>
                      <a:pt x="537" y="226"/>
                      <a:pt x="537" y="226"/>
                    </a:cubicBezTo>
                    <a:cubicBezTo>
                      <a:pt x="551" y="226"/>
                      <a:pt x="565" y="212"/>
                      <a:pt x="565" y="198"/>
                    </a:cubicBezTo>
                    <a:cubicBezTo>
                      <a:pt x="565" y="184"/>
                      <a:pt x="551" y="170"/>
                      <a:pt x="537" y="170"/>
                    </a:cubicBezTo>
                    <a:close/>
                    <a:moveTo>
                      <a:pt x="360" y="99"/>
                    </a:moveTo>
                    <a:lnTo>
                      <a:pt x="360" y="99"/>
                    </a:lnTo>
                    <a:cubicBezTo>
                      <a:pt x="332" y="42"/>
                      <a:pt x="332" y="42"/>
                      <a:pt x="332" y="42"/>
                    </a:cubicBezTo>
                    <a:cubicBezTo>
                      <a:pt x="332" y="35"/>
                      <a:pt x="325" y="35"/>
                      <a:pt x="325" y="28"/>
                    </a:cubicBezTo>
                    <a:cubicBezTo>
                      <a:pt x="325" y="14"/>
                      <a:pt x="339" y="0"/>
                      <a:pt x="353" y="0"/>
                    </a:cubicBezTo>
                    <a:cubicBezTo>
                      <a:pt x="367" y="0"/>
                      <a:pt x="374" y="7"/>
                      <a:pt x="381" y="14"/>
                    </a:cubicBezTo>
                    <a:cubicBezTo>
                      <a:pt x="410" y="63"/>
                      <a:pt x="410" y="63"/>
                      <a:pt x="410" y="63"/>
                    </a:cubicBezTo>
                    <a:cubicBezTo>
                      <a:pt x="389" y="71"/>
                      <a:pt x="374" y="85"/>
                      <a:pt x="360" y="99"/>
                    </a:cubicBezTo>
                    <a:close/>
                    <a:moveTo>
                      <a:pt x="268" y="42"/>
                    </a:moveTo>
                    <a:lnTo>
                      <a:pt x="268" y="42"/>
                    </a:lnTo>
                    <a:cubicBezTo>
                      <a:pt x="205" y="163"/>
                      <a:pt x="205" y="163"/>
                      <a:pt x="205" y="163"/>
                    </a:cubicBezTo>
                    <a:cubicBezTo>
                      <a:pt x="141" y="163"/>
                      <a:pt x="141" y="163"/>
                      <a:pt x="141" y="163"/>
                    </a:cubicBezTo>
                    <a:cubicBezTo>
                      <a:pt x="219" y="14"/>
                      <a:pt x="219" y="14"/>
                      <a:pt x="219" y="14"/>
                    </a:cubicBezTo>
                    <a:cubicBezTo>
                      <a:pt x="219" y="7"/>
                      <a:pt x="233" y="0"/>
                      <a:pt x="240" y="0"/>
                    </a:cubicBezTo>
                    <a:cubicBezTo>
                      <a:pt x="261" y="0"/>
                      <a:pt x="268" y="14"/>
                      <a:pt x="268" y="28"/>
                    </a:cubicBezTo>
                    <a:cubicBezTo>
                      <a:pt x="268" y="35"/>
                      <a:pt x="268" y="35"/>
                      <a:pt x="268" y="42"/>
                    </a:cubicBezTo>
                    <a:close/>
                    <a:moveTo>
                      <a:pt x="226" y="191"/>
                    </a:moveTo>
                    <a:lnTo>
                      <a:pt x="226" y="191"/>
                    </a:lnTo>
                    <a:cubicBezTo>
                      <a:pt x="325" y="191"/>
                      <a:pt x="325" y="191"/>
                      <a:pt x="325" y="191"/>
                    </a:cubicBezTo>
                    <a:lnTo>
                      <a:pt x="325" y="198"/>
                    </a:lnTo>
                    <a:cubicBezTo>
                      <a:pt x="325" y="247"/>
                      <a:pt x="346" y="290"/>
                      <a:pt x="381" y="318"/>
                    </a:cubicBezTo>
                    <a:cubicBezTo>
                      <a:pt x="381" y="424"/>
                      <a:pt x="381" y="424"/>
                      <a:pt x="381" y="424"/>
                    </a:cubicBezTo>
                    <a:cubicBezTo>
                      <a:pt x="381" y="438"/>
                      <a:pt x="396" y="452"/>
                      <a:pt x="410" y="452"/>
                    </a:cubicBezTo>
                    <a:cubicBezTo>
                      <a:pt x="431" y="452"/>
                      <a:pt x="438" y="438"/>
                      <a:pt x="438" y="424"/>
                    </a:cubicBezTo>
                    <a:cubicBezTo>
                      <a:pt x="438" y="346"/>
                      <a:pt x="438" y="346"/>
                      <a:pt x="438" y="346"/>
                    </a:cubicBezTo>
                    <a:cubicBezTo>
                      <a:pt x="452" y="346"/>
                      <a:pt x="466" y="346"/>
                      <a:pt x="480" y="346"/>
                    </a:cubicBezTo>
                    <a:cubicBezTo>
                      <a:pt x="494" y="346"/>
                      <a:pt x="509" y="346"/>
                      <a:pt x="523" y="339"/>
                    </a:cubicBezTo>
                    <a:cubicBezTo>
                      <a:pt x="487" y="488"/>
                      <a:pt x="487" y="488"/>
                      <a:pt x="487" y="488"/>
                    </a:cubicBezTo>
                    <a:cubicBezTo>
                      <a:pt x="480" y="502"/>
                      <a:pt x="473" y="509"/>
                      <a:pt x="459" y="509"/>
                    </a:cubicBezTo>
                    <a:cubicBezTo>
                      <a:pt x="452" y="509"/>
                      <a:pt x="452" y="509"/>
                      <a:pt x="452" y="509"/>
                    </a:cubicBezTo>
                    <a:cubicBezTo>
                      <a:pt x="445" y="509"/>
                      <a:pt x="445" y="509"/>
                      <a:pt x="445" y="509"/>
                    </a:cubicBezTo>
                    <a:cubicBezTo>
                      <a:pt x="141" y="509"/>
                      <a:pt x="141" y="509"/>
                      <a:pt x="141" y="509"/>
                    </a:cubicBezTo>
                    <a:cubicBezTo>
                      <a:pt x="127" y="509"/>
                      <a:pt x="113" y="502"/>
                      <a:pt x="113" y="488"/>
                    </a:cubicBezTo>
                    <a:cubicBezTo>
                      <a:pt x="49" y="247"/>
                      <a:pt x="49" y="247"/>
                      <a:pt x="49" y="247"/>
                    </a:cubicBezTo>
                    <a:cubicBezTo>
                      <a:pt x="28" y="247"/>
                      <a:pt x="28" y="247"/>
                      <a:pt x="28" y="247"/>
                    </a:cubicBezTo>
                    <a:cubicBezTo>
                      <a:pt x="7" y="247"/>
                      <a:pt x="0" y="233"/>
                      <a:pt x="0" y="219"/>
                    </a:cubicBezTo>
                    <a:cubicBezTo>
                      <a:pt x="0" y="198"/>
                      <a:pt x="7" y="191"/>
                      <a:pt x="28" y="191"/>
                    </a:cubicBezTo>
                    <a:cubicBezTo>
                      <a:pt x="134" y="191"/>
                      <a:pt x="134" y="191"/>
                      <a:pt x="134" y="191"/>
                    </a:cubicBezTo>
                    <a:cubicBezTo>
                      <a:pt x="226" y="191"/>
                      <a:pt x="226" y="191"/>
                      <a:pt x="226" y="191"/>
                    </a:cubicBezTo>
                    <a:close/>
                    <a:moveTo>
                      <a:pt x="268" y="424"/>
                    </a:moveTo>
                    <a:lnTo>
                      <a:pt x="268" y="424"/>
                    </a:lnTo>
                    <a:cubicBezTo>
                      <a:pt x="268" y="438"/>
                      <a:pt x="283" y="452"/>
                      <a:pt x="297" y="452"/>
                    </a:cubicBezTo>
                    <a:cubicBezTo>
                      <a:pt x="318" y="452"/>
                      <a:pt x="325" y="438"/>
                      <a:pt x="325" y="424"/>
                    </a:cubicBezTo>
                    <a:cubicBezTo>
                      <a:pt x="325" y="276"/>
                      <a:pt x="325" y="276"/>
                      <a:pt x="325" y="276"/>
                    </a:cubicBezTo>
                    <a:cubicBezTo>
                      <a:pt x="325" y="254"/>
                      <a:pt x="318" y="247"/>
                      <a:pt x="297" y="247"/>
                    </a:cubicBezTo>
                    <a:cubicBezTo>
                      <a:pt x="283" y="247"/>
                      <a:pt x="268" y="254"/>
                      <a:pt x="268" y="276"/>
                    </a:cubicBezTo>
                    <a:lnTo>
                      <a:pt x="268" y="424"/>
                    </a:lnTo>
                    <a:close/>
                    <a:moveTo>
                      <a:pt x="212" y="276"/>
                    </a:moveTo>
                    <a:lnTo>
                      <a:pt x="212" y="276"/>
                    </a:lnTo>
                    <a:cubicBezTo>
                      <a:pt x="212" y="254"/>
                      <a:pt x="205" y="247"/>
                      <a:pt x="183" y="247"/>
                    </a:cubicBezTo>
                    <a:cubicBezTo>
                      <a:pt x="169" y="247"/>
                      <a:pt x="155" y="254"/>
                      <a:pt x="155" y="276"/>
                    </a:cubicBezTo>
                    <a:cubicBezTo>
                      <a:pt x="155" y="424"/>
                      <a:pt x="155" y="424"/>
                      <a:pt x="155" y="424"/>
                    </a:cubicBezTo>
                    <a:cubicBezTo>
                      <a:pt x="155" y="438"/>
                      <a:pt x="169" y="452"/>
                      <a:pt x="183" y="452"/>
                    </a:cubicBezTo>
                    <a:cubicBezTo>
                      <a:pt x="205" y="452"/>
                      <a:pt x="212" y="438"/>
                      <a:pt x="212" y="424"/>
                    </a:cubicBezTo>
                    <a:lnTo>
                      <a:pt x="212" y="27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472974" y="2545329"/>
            <a:ext cx="3406078" cy="874395"/>
            <a:chOff x="5866" y="5470"/>
            <a:chExt cx="5238" cy="1377"/>
          </a:xfrm>
        </p:grpSpPr>
        <p:sp>
          <p:nvSpPr>
            <p:cNvPr id="53" name="文本框 52"/>
            <p:cNvSpPr txBox="1"/>
            <p:nvPr/>
          </p:nvSpPr>
          <p:spPr>
            <a:xfrm>
              <a:off x="6767" y="5607"/>
              <a:ext cx="3721" cy="53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lvl="0" algn="l">
                <a:buClrTx/>
                <a:buSzTx/>
                <a:buFontTx/>
              </a:pPr>
              <a:r>
                <a:rPr lang="zh-CN" altLang="en-US" sz="1600" b="1" dirty="0">
                  <a:gradFill flip="none" rotWithShape="1">
                    <a:gsLst>
                      <a:gs pos="0">
                        <a:srgbClr val="19ABEB"/>
                      </a:gs>
                      <a:gs pos="50000">
                        <a:srgbClr val="1D78FA"/>
                      </a:gs>
                      <a:gs pos="100000">
                        <a:srgbClr val="3161E7"/>
                      </a:gs>
                    </a:gsLst>
                    <a:lin ang="27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异构工具生态割裂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5866" y="6199"/>
              <a:ext cx="5238" cy="64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7145"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外部工具接口协议与数据模型差异大，需为每个工具定制适配逻辑，技术栈分散且扩展难。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5969" y="5470"/>
              <a:ext cx="860" cy="861"/>
              <a:chOff x="419645" y="3510768"/>
              <a:chExt cx="540385" cy="546735"/>
            </a:xfrm>
          </p:grpSpPr>
          <p:pic>
            <p:nvPicPr>
              <p:cNvPr id="59" name="图片 58" descr="yuan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9645" y="3510768"/>
                <a:ext cx="540385" cy="546735"/>
              </a:xfrm>
              <a:prstGeom prst="rect">
                <a:avLst/>
              </a:prstGeom>
            </p:spPr>
          </p:pic>
          <p:sp>
            <p:nvSpPr>
              <p:cNvPr id="61" name="Freeform 31"/>
              <p:cNvSpPr>
                <a:spLocks noChangeArrowheads="1"/>
              </p:cNvSpPr>
              <p:nvPr/>
            </p:nvSpPr>
            <p:spPr bwMode="auto">
              <a:xfrm>
                <a:off x="552937" y="3710546"/>
                <a:ext cx="264028" cy="133955"/>
              </a:xfrm>
              <a:custGeom>
                <a:avLst/>
                <a:gdLst>
                  <a:gd name="T0" fmla="*/ 205475 w 601"/>
                  <a:gd name="T1" fmla="*/ 48124 h 305"/>
                  <a:gd name="T2" fmla="*/ 205475 w 601"/>
                  <a:gd name="T3" fmla="*/ 48124 h 305"/>
                  <a:gd name="T4" fmla="*/ 195416 w 601"/>
                  <a:gd name="T5" fmla="*/ 58539 h 305"/>
                  <a:gd name="T6" fmla="*/ 195416 w 601"/>
                  <a:gd name="T7" fmla="*/ 73623 h 305"/>
                  <a:gd name="T8" fmla="*/ 144407 w 601"/>
                  <a:gd name="T9" fmla="*/ 22985 h 305"/>
                  <a:gd name="T10" fmla="*/ 144407 w 601"/>
                  <a:gd name="T11" fmla="*/ 22985 h 305"/>
                  <a:gd name="T12" fmla="*/ 124291 w 601"/>
                  <a:gd name="T13" fmla="*/ 2514 h 305"/>
                  <a:gd name="T14" fmla="*/ 124291 w 601"/>
                  <a:gd name="T15" fmla="*/ 2514 h 305"/>
                  <a:gd name="T16" fmla="*/ 116747 w 601"/>
                  <a:gd name="T17" fmla="*/ 0 h 305"/>
                  <a:gd name="T18" fmla="*/ 111718 w 601"/>
                  <a:gd name="T19" fmla="*/ 2514 h 305"/>
                  <a:gd name="T20" fmla="*/ 111718 w 601"/>
                  <a:gd name="T21" fmla="*/ 2514 h 305"/>
                  <a:gd name="T22" fmla="*/ 63223 w 601"/>
                  <a:gd name="T23" fmla="*/ 50638 h 305"/>
                  <a:gd name="T24" fmla="*/ 15087 w 601"/>
                  <a:gd name="T25" fmla="*/ 2514 h 305"/>
                  <a:gd name="T26" fmla="*/ 15087 w 601"/>
                  <a:gd name="T27" fmla="*/ 2514 h 305"/>
                  <a:gd name="T28" fmla="*/ 10058 w 601"/>
                  <a:gd name="T29" fmla="*/ 0 h 305"/>
                  <a:gd name="T30" fmla="*/ 0 w 601"/>
                  <a:gd name="T31" fmla="*/ 10056 h 305"/>
                  <a:gd name="T32" fmla="*/ 2515 w 601"/>
                  <a:gd name="T33" fmla="*/ 17957 h 305"/>
                  <a:gd name="T34" fmla="*/ 2515 w 601"/>
                  <a:gd name="T35" fmla="*/ 17957 h 305"/>
                  <a:gd name="T36" fmla="*/ 55679 w 601"/>
                  <a:gd name="T37" fmla="*/ 71109 h 305"/>
                  <a:gd name="T38" fmla="*/ 55679 w 601"/>
                  <a:gd name="T39" fmla="*/ 71109 h 305"/>
                  <a:gd name="T40" fmla="*/ 63223 w 601"/>
                  <a:gd name="T41" fmla="*/ 73623 h 305"/>
                  <a:gd name="T42" fmla="*/ 70767 w 601"/>
                  <a:gd name="T43" fmla="*/ 71109 h 305"/>
                  <a:gd name="T44" fmla="*/ 70767 w 601"/>
                  <a:gd name="T45" fmla="*/ 71109 h 305"/>
                  <a:gd name="T46" fmla="*/ 116747 w 601"/>
                  <a:gd name="T47" fmla="*/ 25499 h 305"/>
                  <a:gd name="T48" fmla="*/ 129320 w 601"/>
                  <a:gd name="T49" fmla="*/ 38069 h 305"/>
                  <a:gd name="T50" fmla="*/ 129320 w 601"/>
                  <a:gd name="T51" fmla="*/ 38069 h 305"/>
                  <a:gd name="T52" fmla="*/ 131834 w 601"/>
                  <a:gd name="T53" fmla="*/ 38069 h 305"/>
                  <a:gd name="T54" fmla="*/ 136863 w 601"/>
                  <a:gd name="T55" fmla="*/ 43097 h 305"/>
                  <a:gd name="T56" fmla="*/ 136863 w 601"/>
                  <a:gd name="T57" fmla="*/ 43097 h 305"/>
                  <a:gd name="T58" fmla="*/ 179970 w 601"/>
                  <a:gd name="T59" fmla="*/ 88707 h 305"/>
                  <a:gd name="T60" fmla="*/ 164883 w 601"/>
                  <a:gd name="T61" fmla="*/ 88707 h 305"/>
                  <a:gd name="T62" fmla="*/ 154824 w 601"/>
                  <a:gd name="T63" fmla="*/ 99122 h 305"/>
                  <a:gd name="T64" fmla="*/ 164883 w 601"/>
                  <a:gd name="T65" fmla="*/ 109178 h 305"/>
                  <a:gd name="T66" fmla="*/ 205475 w 601"/>
                  <a:gd name="T67" fmla="*/ 109178 h 305"/>
                  <a:gd name="T68" fmla="*/ 215533 w 601"/>
                  <a:gd name="T69" fmla="*/ 99122 h 305"/>
                  <a:gd name="T70" fmla="*/ 215533 w 601"/>
                  <a:gd name="T71" fmla="*/ 58539 h 305"/>
                  <a:gd name="T72" fmla="*/ 205475 w 601"/>
                  <a:gd name="T73" fmla="*/ 48124 h 30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601" h="305">
                    <a:moveTo>
                      <a:pt x="572" y="134"/>
                    </a:moveTo>
                    <a:lnTo>
                      <a:pt x="572" y="134"/>
                    </a:lnTo>
                    <a:cubicBezTo>
                      <a:pt x="558" y="134"/>
                      <a:pt x="544" y="141"/>
                      <a:pt x="544" y="163"/>
                    </a:cubicBezTo>
                    <a:cubicBezTo>
                      <a:pt x="544" y="205"/>
                      <a:pt x="544" y="205"/>
                      <a:pt x="544" y="205"/>
                    </a:cubicBezTo>
                    <a:cubicBezTo>
                      <a:pt x="402" y="64"/>
                      <a:pt x="402" y="64"/>
                      <a:pt x="402" y="64"/>
                    </a:cubicBezTo>
                    <a:cubicBezTo>
                      <a:pt x="346" y="7"/>
                      <a:pt x="346" y="7"/>
                      <a:pt x="346" y="7"/>
                    </a:cubicBezTo>
                    <a:cubicBezTo>
                      <a:pt x="339" y="0"/>
                      <a:pt x="332" y="0"/>
                      <a:pt x="325" y="0"/>
                    </a:cubicBezTo>
                    <a:cubicBezTo>
                      <a:pt x="318" y="0"/>
                      <a:pt x="311" y="0"/>
                      <a:pt x="311" y="7"/>
                    </a:cubicBezTo>
                    <a:cubicBezTo>
                      <a:pt x="176" y="141"/>
                      <a:pt x="176" y="141"/>
                      <a:pt x="176" y="141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0"/>
                      <a:pt x="35" y="0"/>
                      <a:pt x="28" y="0"/>
                    </a:cubicBezTo>
                    <a:cubicBezTo>
                      <a:pt x="7" y="0"/>
                      <a:pt x="0" y="14"/>
                      <a:pt x="0" y="28"/>
                    </a:cubicBezTo>
                    <a:cubicBezTo>
                      <a:pt x="0" y="35"/>
                      <a:pt x="0" y="43"/>
                      <a:pt x="7" y="50"/>
                    </a:cubicBezTo>
                    <a:cubicBezTo>
                      <a:pt x="155" y="198"/>
                      <a:pt x="155" y="198"/>
                      <a:pt x="155" y="198"/>
                    </a:cubicBezTo>
                    <a:cubicBezTo>
                      <a:pt x="162" y="205"/>
                      <a:pt x="169" y="205"/>
                      <a:pt x="176" y="205"/>
                    </a:cubicBezTo>
                    <a:cubicBezTo>
                      <a:pt x="183" y="205"/>
                      <a:pt x="190" y="205"/>
                      <a:pt x="197" y="198"/>
                    </a:cubicBezTo>
                    <a:cubicBezTo>
                      <a:pt x="325" y="71"/>
                      <a:pt x="325" y="71"/>
                      <a:pt x="325" y="71"/>
                    </a:cubicBezTo>
                    <a:cubicBezTo>
                      <a:pt x="360" y="106"/>
                      <a:pt x="360" y="106"/>
                      <a:pt x="360" y="106"/>
                    </a:cubicBezTo>
                    <a:cubicBezTo>
                      <a:pt x="367" y="106"/>
                      <a:pt x="367" y="106"/>
                      <a:pt x="367" y="106"/>
                    </a:cubicBezTo>
                    <a:cubicBezTo>
                      <a:pt x="381" y="120"/>
                      <a:pt x="381" y="120"/>
                      <a:pt x="381" y="120"/>
                    </a:cubicBezTo>
                    <a:cubicBezTo>
                      <a:pt x="501" y="247"/>
                      <a:pt x="501" y="247"/>
                      <a:pt x="501" y="247"/>
                    </a:cubicBezTo>
                    <a:cubicBezTo>
                      <a:pt x="459" y="247"/>
                      <a:pt x="459" y="247"/>
                      <a:pt x="459" y="247"/>
                    </a:cubicBezTo>
                    <a:cubicBezTo>
                      <a:pt x="445" y="247"/>
                      <a:pt x="431" y="254"/>
                      <a:pt x="431" y="276"/>
                    </a:cubicBezTo>
                    <a:cubicBezTo>
                      <a:pt x="431" y="290"/>
                      <a:pt x="445" y="304"/>
                      <a:pt x="459" y="304"/>
                    </a:cubicBezTo>
                    <a:cubicBezTo>
                      <a:pt x="572" y="304"/>
                      <a:pt x="572" y="304"/>
                      <a:pt x="572" y="304"/>
                    </a:cubicBezTo>
                    <a:cubicBezTo>
                      <a:pt x="586" y="304"/>
                      <a:pt x="600" y="290"/>
                      <a:pt x="600" y="276"/>
                    </a:cubicBezTo>
                    <a:cubicBezTo>
                      <a:pt x="600" y="163"/>
                      <a:pt x="600" y="163"/>
                      <a:pt x="600" y="163"/>
                    </a:cubicBezTo>
                    <a:cubicBezTo>
                      <a:pt x="600" y="141"/>
                      <a:pt x="586" y="134"/>
                      <a:pt x="572" y="1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62" name="组合 61"/>
          <p:cNvGrpSpPr/>
          <p:nvPr/>
        </p:nvGrpSpPr>
        <p:grpSpPr>
          <a:xfrm>
            <a:off x="472974" y="3826327"/>
            <a:ext cx="3406078" cy="876300"/>
            <a:chOff x="5866" y="6848"/>
            <a:chExt cx="5238" cy="1380"/>
          </a:xfrm>
        </p:grpSpPr>
        <p:sp>
          <p:nvSpPr>
            <p:cNvPr id="63" name="文本框 62"/>
            <p:cNvSpPr txBox="1"/>
            <p:nvPr/>
          </p:nvSpPr>
          <p:spPr>
            <a:xfrm>
              <a:off x="6767" y="6996"/>
              <a:ext cx="3413" cy="53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lvl="0" algn="l">
                <a:buClrTx/>
                <a:buSzTx/>
                <a:buFontTx/>
              </a:pPr>
              <a:r>
                <a:rPr lang="zh-CN" altLang="en-US" sz="1600" b="1" dirty="0">
                  <a:gradFill flip="none" rotWithShape="1">
                    <a:gsLst>
                      <a:gs pos="0">
                        <a:srgbClr val="19ABEB"/>
                      </a:gs>
                      <a:gs pos="50000">
                        <a:srgbClr val="1D78FA"/>
                      </a:gs>
                      <a:gs pos="100000">
                        <a:srgbClr val="3161E7"/>
                      </a:gs>
                    </a:gsLst>
                    <a:lin ang="27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存量接口兼容难</a:t>
              </a:r>
              <a:endParaRPr lang="zh-CN" altLang="en-US" sz="1600" b="1" dirty="0">
                <a:gradFill flip="none" rotWithShape="1"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5866" y="7580"/>
              <a:ext cx="5238" cy="64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7145"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存量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API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服务适配改造工作量大且易引入故障，直接改造可能导致系统不稳定，影响现有业务。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5969" y="6848"/>
              <a:ext cx="860" cy="861"/>
              <a:chOff x="419645" y="4385905"/>
              <a:chExt cx="540385" cy="546735"/>
            </a:xfrm>
          </p:grpSpPr>
          <p:pic>
            <p:nvPicPr>
              <p:cNvPr id="66" name="图片 65" descr="yuan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9645" y="4385905"/>
                <a:ext cx="540385" cy="546735"/>
              </a:xfrm>
              <a:prstGeom prst="rect">
                <a:avLst/>
              </a:prstGeom>
            </p:spPr>
          </p:pic>
          <p:sp>
            <p:nvSpPr>
              <p:cNvPr id="67" name="Freeform 102"/>
              <p:cNvSpPr>
                <a:spLocks noChangeArrowheads="1"/>
              </p:cNvSpPr>
              <p:nvPr/>
            </p:nvSpPr>
            <p:spPr bwMode="auto">
              <a:xfrm>
                <a:off x="557070" y="4564248"/>
                <a:ext cx="262090" cy="163806"/>
              </a:xfrm>
              <a:custGeom>
                <a:avLst/>
                <a:gdLst>
                  <a:gd name="T0" fmla="*/ 205475 w 601"/>
                  <a:gd name="T1" fmla="*/ 134577 h 375"/>
                  <a:gd name="T2" fmla="*/ 195416 w 601"/>
                  <a:gd name="T3" fmla="*/ 116945 h 375"/>
                  <a:gd name="T4" fmla="*/ 195416 w 601"/>
                  <a:gd name="T5" fmla="*/ 76284 h 375"/>
                  <a:gd name="T6" fmla="*/ 195416 w 601"/>
                  <a:gd name="T7" fmla="*/ 50736 h 375"/>
                  <a:gd name="T8" fmla="*/ 195416 w 601"/>
                  <a:gd name="T9" fmla="*/ 10075 h 375"/>
                  <a:gd name="T10" fmla="*/ 215533 w 601"/>
                  <a:gd name="T11" fmla="*/ 10075 h 375"/>
                  <a:gd name="T12" fmla="*/ 215533 w 601"/>
                  <a:gd name="T13" fmla="*/ 50736 h 375"/>
                  <a:gd name="T14" fmla="*/ 215533 w 601"/>
                  <a:gd name="T15" fmla="*/ 76284 h 375"/>
                  <a:gd name="T16" fmla="*/ 215533 w 601"/>
                  <a:gd name="T17" fmla="*/ 116945 h 375"/>
                  <a:gd name="T18" fmla="*/ 205475 w 601"/>
                  <a:gd name="T19" fmla="*/ 134577 h 375"/>
                  <a:gd name="T20" fmla="*/ 174941 w 601"/>
                  <a:gd name="T21" fmla="*/ 114427 h 375"/>
                  <a:gd name="T22" fmla="*/ 164883 w 601"/>
                  <a:gd name="T23" fmla="*/ 96435 h 375"/>
                  <a:gd name="T24" fmla="*/ 164883 w 601"/>
                  <a:gd name="T25" fmla="*/ 30586 h 375"/>
                  <a:gd name="T26" fmla="*/ 184999 w 601"/>
                  <a:gd name="T27" fmla="*/ 30586 h 375"/>
                  <a:gd name="T28" fmla="*/ 184999 w 601"/>
                  <a:gd name="T29" fmla="*/ 96435 h 375"/>
                  <a:gd name="T30" fmla="*/ 174941 w 601"/>
                  <a:gd name="T31" fmla="*/ 114427 h 375"/>
                  <a:gd name="T32" fmla="*/ 144407 w 601"/>
                  <a:gd name="T33" fmla="*/ 114427 h 375"/>
                  <a:gd name="T34" fmla="*/ 60708 w 601"/>
                  <a:gd name="T35" fmla="*/ 104351 h 375"/>
                  <a:gd name="T36" fmla="*/ 70767 w 601"/>
                  <a:gd name="T37" fmla="*/ 20151 h 375"/>
                  <a:gd name="T38" fmla="*/ 154824 w 601"/>
                  <a:gd name="T39" fmla="*/ 30586 h 375"/>
                  <a:gd name="T40" fmla="*/ 144407 w 601"/>
                  <a:gd name="T41" fmla="*/ 114427 h 375"/>
                  <a:gd name="T42" fmla="*/ 134349 w 601"/>
                  <a:gd name="T43" fmla="*/ 40661 h 375"/>
                  <a:gd name="T44" fmla="*/ 81184 w 601"/>
                  <a:gd name="T45" fmla="*/ 93916 h 375"/>
                  <a:gd name="T46" fmla="*/ 134349 w 601"/>
                  <a:gd name="T47" fmla="*/ 40661 h 375"/>
                  <a:gd name="T48" fmla="*/ 40592 w 601"/>
                  <a:gd name="T49" fmla="*/ 114427 h 375"/>
                  <a:gd name="T50" fmla="*/ 30175 w 601"/>
                  <a:gd name="T51" fmla="*/ 96435 h 375"/>
                  <a:gd name="T52" fmla="*/ 30175 w 601"/>
                  <a:gd name="T53" fmla="*/ 30586 h 375"/>
                  <a:gd name="T54" fmla="*/ 50650 w 601"/>
                  <a:gd name="T55" fmla="*/ 30586 h 375"/>
                  <a:gd name="T56" fmla="*/ 50650 w 601"/>
                  <a:gd name="T57" fmla="*/ 96435 h 375"/>
                  <a:gd name="T58" fmla="*/ 40592 w 601"/>
                  <a:gd name="T59" fmla="*/ 114427 h 375"/>
                  <a:gd name="T60" fmla="*/ 10058 w 601"/>
                  <a:gd name="T61" fmla="*/ 134577 h 375"/>
                  <a:gd name="T62" fmla="*/ 0 w 601"/>
                  <a:gd name="T63" fmla="*/ 116945 h 375"/>
                  <a:gd name="T64" fmla="*/ 0 w 601"/>
                  <a:gd name="T65" fmla="*/ 76284 h 375"/>
                  <a:gd name="T66" fmla="*/ 0 w 601"/>
                  <a:gd name="T67" fmla="*/ 50736 h 375"/>
                  <a:gd name="T68" fmla="*/ 0 w 601"/>
                  <a:gd name="T69" fmla="*/ 10075 h 375"/>
                  <a:gd name="T70" fmla="*/ 20116 w 601"/>
                  <a:gd name="T71" fmla="*/ 10075 h 375"/>
                  <a:gd name="T72" fmla="*/ 20116 w 601"/>
                  <a:gd name="T73" fmla="*/ 50736 h 375"/>
                  <a:gd name="T74" fmla="*/ 20116 w 601"/>
                  <a:gd name="T75" fmla="*/ 76284 h 375"/>
                  <a:gd name="T76" fmla="*/ 20116 w 601"/>
                  <a:gd name="T77" fmla="*/ 116945 h 375"/>
                  <a:gd name="T78" fmla="*/ 10058 w 601"/>
                  <a:gd name="T79" fmla="*/ 134577 h 37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601" h="375">
                    <a:moveTo>
                      <a:pt x="572" y="374"/>
                    </a:moveTo>
                    <a:lnTo>
                      <a:pt x="572" y="374"/>
                    </a:lnTo>
                    <a:cubicBezTo>
                      <a:pt x="558" y="374"/>
                      <a:pt x="544" y="360"/>
                      <a:pt x="544" y="346"/>
                    </a:cubicBezTo>
                    <a:cubicBezTo>
                      <a:pt x="544" y="325"/>
                      <a:pt x="544" y="325"/>
                      <a:pt x="544" y="325"/>
                    </a:cubicBezTo>
                    <a:cubicBezTo>
                      <a:pt x="544" y="233"/>
                      <a:pt x="544" y="233"/>
                      <a:pt x="544" y="233"/>
                    </a:cubicBezTo>
                    <a:cubicBezTo>
                      <a:pt x="544" y="212"/>
                      <a:pt x="544" y="212"/>
                      <a:pt x="544" y="212"/>
                    </a:cubicBezTo>
                    <a:cubicBezTo>
                      <a:pt x="544" y="155"/>
                      <a:pt x="544" y="155"/>
                      <a:pt x="544" y="155"/>
                    </a:cubicBezTo>
                    <a:cubicBezTo>
                      <a:pt x="544" y="141"/>
                      <a:pt x="544" y="141"/>
                      <a:pt x="544" y="141"/>
                    </a:cubicBezTo>
                    <a:cubicBezTo>
                      <a:pt x="544" y="42"/>
                      <a:pt x="544" y="42"/>
                      <a:pt x="544" y="42"/>
                    </a:cubicBezTo>
                    <a:cubicBezTo>
                      <a:pt x="544" y="28"/>
                      <a:pt x="544" y="28"/>
                      <a:pt x="544" y="28"/>
                    </a:cubicBezTo>
                    <a:cubicBezTo>
                      <a:pt x="544" y="7"/>
                      <a:pt x="558" y="0"/>
                      <a:pt x="572" y="0"/>
                    </a:cubicBezTo>
                    <a:cubicBezTo>
                      <a:pt x="593" y="0"/>
                      <a:pt x="600" y="7"/>
                      <a:pt x="600" y="28"/>
                    </a:cubicBezTo>
                    <a:cubicBezTo>
                      <a:pt x="600" y="42"/>
                      <a:pt x="600" y="42"/>
                      <a:pt x="600" y="42"/>
                    </a:cubicBezTo>
                    <a:cubicBezTo>
                      <a:pt x="600" y="141"/>
                      <a:pt x="600" y="141"/>
                      <a:pt x="600" y="141"/>
                    </a:cubicBezTo>
                    <a:cubicBezTo>
                      <a:pt x="600" y="155"/>
                      <a:pt x="600" y="155"/>
                      <a:pt x="600" y="155"/>
                    </a:cubicBezTo>
                    <a:cubicBezTo>
                      <a:pt x="600" y="212"/>
                      <a:pt x="600" y="212"/>
                      <a:pt x="600" y="212"/>
                    </a:cubicBezTo>
                    <a:cubicBezTo>
                      <a:pt x="600" y="233"/>
                      <a:pt x="600" y="233"/>
                      <a:pt x="600" y="233"/>
                    </a:cubicBezTo>
                    <a:cubicBezTo>
                      <a:pt x="600" y="325"/>
                      <a:pt x="600" y="325"/>
                      <a:pt x="600" y="325"/>
                    </a:cubicBezTo>
                    <a:cubicBezTo>
                      <a:pt x="600" y="346"/>
                      <a:pt x="600" y="346"/>
                      <a:pt x="600" y="346"/>
                    </a:cubicBezTo>
                    <a:cubicBezTo>
                      <a:pt x="600" y="360"/>
                      <a:pt x="593" y="374"/>
                      <a:pt x="572" y="374"/>
                    </a:cubicBezTo>
                    <a:close/>
                    <a:moveTo>
                      <a:pt x="487" y="318"/>
                    </a:moveTo>
                    <a:lnTo>
                      <a:pt x="487" y="318"/>
                    </a:lnTo>
                    <a:cubicBezTo>
                      <a:pt x="473" y="318"/>
                      <a:pt x="459" y="304"/>
                      <a:pt x="459" y="290"/>
                    </a:cubicBezTo>
                    <a:cubicBezTo>
                      <a:pt x="459" y="268"/>
                      <a:pt x="459" y="268"/>
                      <a:pt x="459" y="268"/>
                    </a:cubicBezTo>
                    <a:cubicBezTo>
                      <a:pt x="459" y="99"/>
                      <a:pt x="459" y="99"/>
                      <a:pt x="459" y="99"/>
                    </a:cubicBezTo>
                    <a:cubicBezTo>
                      <a:pt x="459" y="85"/>
                      <a:pt x="459" y="85"/>
                      <a:pt x="459" y="85"/>
                    </a:cubicBezTo>
                    <a:cubicBezTo>
                      <a:pt x="459" y="63"/>
                      <a:pt x="473" y="56"/>
                      <a:pt x="487" y="56"/>
                    </a:cubicBezTo>
                    <a:cubicBezTo>
                      <a:pt x="508" y="56"/>
                      <a:pt x="515" y="63"/>
                      <a:pt x="515" y="85"/>
                    </a:cubicBezTo>
                    <a:cubicBezTo>
                      <a:pt x="515" y="99"/>
                      <a:pt x="515" y="99"/>
                      <a:pt x="515" y="99"/>
                    </a:cubicBezTo>
                    <a:cubicBezTo>
                      <a:pt x="515" y="268"/>
                      <a:pt x="515" y="268"/>
                      <a:pt x="515" y="268"/>
                    </a:cubicBezTo>
                    <a:cubicBezTo>
                      <a:pt x="515" y="290"/>
                      <a:pt x="515" y="290"/>
                      <a:pt x="515" y="290"/>
                    </a:cubicBezTo>
                    <a:cubicBezTo>
                      <a:pt x="515" y="304"/>
                      <a:pt x="508" y="318"/>
                      <a:pt x="487" y="318"/>
                    </a:cubicBezTo>
                    <a:close/>
                    <a:moveTo>
                      <a:pt x="402" y="318"/>
                    </a:moveTo>
                    <a:lnTo>
                      <a:pt x="402" y="318"/>
                    </a:lnTo>
                    <a:cubicBezTo>
                      <a:pt x="197" y="318"/>
                      <a:pt x="197" y="318"/>
                      <a:pt x="197" y="318"/>
                    </a:cubicBezTo>
                    <a:cubicBezTo>
                      <a:pt x="183" y="318"/>
                      <a:pt x="169" y="304"/>
                      <a:pt x="169" y="290"/>
                    </a:cubicBezTo>
                    <a:cubicBezTo>
                      <a:pt x="169" y="85"/>
                      <a:pt x="169" y="85"/>
                      <a:pt x="169" y="85"/>
                    </a:cubicBezTo>
                    <a:cubicBezTo>
                      <a:pt x="169" y="63"/>
                      <a:pt x="183" y="56"/>
                      <a:pt x="197" y="56"/>
                    </a:cubicBezTo>
                    <a:cubicBezTo>
                      <a:pt x="402" y="56"/>
                      <a:pt x="402" y="56"/>
                      <a:pt x="402" y="56"/>
                    </a:cubicBezTo>
                    <a:cubicBezTo>
                      <a:pt x="424" y="56"/>
                      <a:pt x="431" y="63"/>
                      <a:pt x="431" y="85"/>
                    </a:cubicBezTo>
                    <a:cubicBezTo>
                      <a:pt x="431" y="290"/>
                      <a:pt x="431" y="290"/>
                      <a:pt x="431" y="290"/>
                    </a:cubicBezTo>
                    <a:cubicBezTo>
                      <a:pt x="431" y="304"/>
                      <a:pt x="424" y="318"/>
                      <a:pt x="402" y="318"/>
                    </a:cubicBezTo>
                    <a:close/>
                    <a:moveTo>
                      <a:pt x="374" y="113"/>
                    </a:moveTo>
                    <a:lnTo>
                      <a:pt x="374" y="113"/>
                    </a:lnTo>
                    <a:cubicBezTo>
                      <a:pt x="226" y="113"/>
                      <a:pt x="226" y="113"/>
                      <a:pt x="226" y="113"/>
                    </a:cubicBezTo>
                    <a:cubicBezTo>
                      <a:pt x="226" y="261"/>
                      <a:pt x="226" y="261"/>
                      <a:pt x="226" y="261"/>
                    </a:cubicBezTo>
                    <a:cubicBezTo>
                      <a:pt x="374" y="261"/>
                      <a:pt x="374" y="261"/>
                      <a:pt x="374" y="261"/>
                    </a:cubicBezTo>
                    <a:lnTo>
                      <a:pt x="374" y="113"/>
                    </a:lnTo>
                    <a:close/>
                    <a:moveTo>
                      <a:pt x="113" y="318"/>
                    </a:moveTo>
                    <a:lnTo>
                      <a:pt x="113" y="318"/>
                    </a:lnTo>
                    <a:cubicBezTo>
                      <a:pt x="99" y="318"/>
                      <a:pt x="84" y="304"/>
                      <a:pt x="84" y="290"/>
                    </a:cubicBezTo>
                    <a:cubicBezTo>
                      <a:pt x="84" y="268"/>
                      <a:pt x="84" y="268"/>
                      <a:pt x="84" y="268"/>
                    </a:cubicBezTo>
                    <a:cubicBezTo>
                      <a:pt x="84" y="99"/>
                      <a:pt x="84" y="99"/>
                      <a:pt x="84" y="99"/>
                    </a:cubicBezTo>
                    <a:cubicBezTo>
                      <a:pt x="84" y="85"/>
                      <a:pt x="84" y="85"/>
                      <a:pt x="84" y="85"/>
                    </a:cubicBezTo>
                    <a:cubicBezTo>
                      <a:pt x="84" y="63"/>
                      <a:pt x="99" y="56"/>
                      <a:pt x="113" y="56"/>
                    </a:cubicBezTo>
                    <a:cubicBezTo>
                      <a:pt x="127" y="56"/>
                      <a:pt x="141" y="63"/>
                      <a:pt x="141" y="85"/>
                    </a:cubicBezTo>
                    <a:cubicBezTo>
                      <a:pt x="141" y="99"/>
                      <a:pt x="141" y="99"/>
                      <a:pt x="141" y="99"/>
                    </a:cubicBezTo>
                    <a:cubicBezTo>
                      <a:pt x="141" y="268"/>
                      <a:pt x="141" y="268"/>
                      <a:pt x="141" y="268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41" y="304"/>
                      <a:pt x="127" y="318"/>
                      <a:pt x="113" y="318"/>
                    </a:cubicBezTo>
                    <a:close/>
                    <a:moveTo>
                      <a:pt x="28" y="374"/>
                    </a:moveTo>
                    <a:lnTo>
                      <a:pt x="28" y="374"/>
                    </a:lnTo>
                    <a:cubicBezTo>
                      <a:pt x="14" y="374"/>
                      <a:pt x="0" y="360"/>
                      <a:pt x="0" y="346"/>
                    </a:cubicBezTo>
                    <a:cubicBezTo>
                      <a:pt x="0" y="325"/>
                      <a:pt x="0" y="325"/>
                      <a:pt x="0" y="325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0" y="212"/>
                      <a:pt x="0" y="212"/>
                      <a:pt x="0" y="212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141"/>
                      <a:pt x="0" y="141"/>
                      <a:pt x="0" y="14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7"/>
                      <a:pt x="14" y="0"/>
                      <a:pt x="28" y="0"/>
                    </a:cubicBezTo>
                    <a:cubicBezTo>
                      <a:pt x="42" y="0"/>
                      <a:pt x="56" y="7"/>
                      <a:pt x="56" y="28"/>
                    </a:cubicBezTo>
                    <a:cubicBezTo>
                      <a:pt x="56" y="42"/>
                      <a:pt x="56" y="42"/>
                      <a:pt x="56" y="42"/>
                    </a:cubicBezTo>
                    <a:cubicBezTo>
                      <a:pt x="56" y="141"/>
                      <a:pt x="56" y="141"/>
                      <a:pt x="56" y="141"/>
                    </a:cubicBezTo>
                    <a:cubicBezTo>
                      <a:pt x="56" y="155"/>
                      <a:pt x="56" y="155"/>
                      <a:pt x="56" y="155"/>
                    </a:cubicBezTo>
                    <a:cubicBezTo>
                      <a:pt x="56" y="212"/>
                      <a:pt x="56" y="212"/>
                      <a:pt x="56" y="212"/>
                    </a:cubicBezTo>
                    <a:cubicBezTo>
                      <a:pt x="56" y="233"/>
                      <a:pt x="56" y="233"/>
                      <a:pt x="56" y="233"/>
                    </a:cubicBezTo>
                    <a:cubicBezTo>
                      <a:pt x="56" y="325"/>
                      <a:pt x="56" y="325"/>
                      <a:pt x="56" y="325"/>
                    </a:cubicBezTo>
                    <a:cubicBezTo>
                      <a:pt x="56" y="346"/>
                      <a:pt x="56" y="346"/>
                      <a:pt x="56" y="346"/>
                    </a:cubicBezTo>
                    <a:cubicBezTo>
                      <a:pt x="56" y="360"/>
                      <a:pt x="42" y="374"/>
                      <a:pt x="28" y="37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68" name="等腰三角形 24"/>
          <p:cNvSpPr/>
          <p:nvPr>
            <p:custDataLst>
              <p:tags r:id="rId16"/>
            </p:custDataLst>
          </p:nvPr>
        </p:nvSpPr>
        <p:spPr>
          <a:xfrm rot="16200000" flipV="1">
            <a:off x="2540998" y="4175590"/>
            <a:ext cx="3339576" cy="410843"/>
          </a:xfrm>
          <a:custGeom>
            <a:avLst/>
            <a:gdLst>
              <a:gd name="connsiteX0" fmla="*/ 0 w 578876"/>
              <a:gd name="connsiteY0" fmla="*/ 4648025 h 4648025"/>
              <a:gd name="connsiteX1" fmla="*/ 289438 w 578876"/>
              <a:gd name="connsiteY1" fmla="*/ 0 h 4648025"/>
              <a:gd name="connsiteX2" fmla="*/ 578876 w 578876"/>
              <a:gd name="connsiteY2" fmla="*/ 4648025 h 4648025"/>
              <a:gd name="connsiteX3" fmla="*/ 0 w 578876"/>
              <a:gd name="connsiteY3" fmla="*/ 4648025 h 4648025"/>
              <a:gd name="connsiteX0-1" fmla="*/ 0 w 578876"/>
              <a:gd name="connsiteY0-2" fmla="*/ 4648025 h 4648025"/>
              <a:gd name="connsiteX1-3" fmla="*/ 289438 w 578876"/>
              <a:gd name="connsiteY1-4" fmla="*/ 0 h 4648025"/>
              <a:gd name="connsiteX2-5" fmla="*/ 578876 w 578876"/>
              <a:gd name="connsiteY2-6" fmla="*/ 4648025 h 4648025"/>
              <a:gd name="connsiteX3-7" fmla="*/ 0 w 578876"/>
              <a:gd name="connsiteY3-8" fmla="*/ 4648025 h 4648025"/>
              <a:gd name="connsiteX0-9" fmla="*/ 0 w 578876"/>
              <a:gd name="connsiteY0-10" fmla="*/ 4648025 h 4648025"/>
              <a:gd name="connsiteX1-11" fmla="*/ 289438 w 578876"/>
              <a:gd name="connsiteY1-12" fmla="*/ 0 h 4648025"/>
              <a:gd name="connsiteX2-13" fmla="*/ 578876 w 578876"/>
              <a:gd name="connsiteY2-14" fmla="*/ 4648025 h 4648025"/>
              <a:gd name="connsiteX3-15" fmla="*/ 0 w 578876"/>
              <a:gd name="connsiteY3-16" fmla="*/ 4648025 h 4648025"/>
              <a:gd name="connsiteX0-17" fmla="*/ 0 w 578876"/>
              <a:gd name="connsiteY0-18" fmla="*/ 4648025 h 4648025"/>
              <a:gd name="connsiteX1-19" fmla="*/ 289438 w 578876"/>
              <a:gd name="connsiteY1-20" fmla="*/ 0 h 4648025"/>
              <a:gd name="connsiteX2-21" fmla="*/ 578876 w 578876"/>
              <a:gd name="connsiteY2-22" fmla="*/ 4648025 h 4648025"/>
              <a:gd name="connsiteX3-23" fmla="*/ 0 w 578876"/>
              <a:gd name="connsiteY3-24" fmla="*/ 4648025 h 4648025"/>
              <a:gd name="connsiteX0-25" fmla="*/ 0 w 578876"/>
              <a:gd name="connsiteY0-26" fmla="*/ 4648025 h 4648025"/>
              <a:gd name="connsiteX1-27" fmla="*/ 289438 w 578876"/>
              <a:gd name="connsiteY1-28" fmla="*/ 0 h 4648025"/>
              <a:gd name="connsiteX2-29" fmla="*/ 578876 w 578876"/>
              <a:gd name="connsiteY2-30" fmla="*/ 4648025 h 4648025"/>
              <a:gd name="connsiteX3-31" fmla="*/ 0 w 578876"/>
              <a:gd name="connsiteY3-32" fmla="*/ 4648025 h 4648025"/>
              <a:gd name="connsiteX0-33" fmla="*/ 0 w 578876"/>
              <a:gd name="connsiteY0-34" fmla="*/ 4648025 h 4648025"/>
              <a:gd name="connsiteX1-35" fmla="*/ 289438 w 578876"/>
              <a:gd name="connsiteY1-36" fmla="*/ 0 h 4648025"/>
              <a:gd name="connsiteX2-37" fmla="*/ 578876 w 578876"/>
              <a:gd name="connsiteY2-38" fmla="*/ 4648025 h 4648025"/>
              <a:gd name="connsiteX3-39" fmla="*/ 0 w 578876"/>
              <a:gd name="connsiteY3-40" fmla="*/ 4648025 h 4648025"/>
              <a:gd name="connsiteX0-41" fmla="*/ 0 w 578876"/>
              <a:gd name="connsiteY0-42" fmla="*/ 4648025 h 4648025"/>
              <a:gd name="connsiteX1-43" fmla="*/ 289438 w 578876"/>
              <a:gd name="connsiteY1-44" fmla="*/ 0 h 4648025"/>
              <a:gd name="connsiteX2-45" fmla="*/ 578876 w 578876"/>
              <a:gd name="connsiteY2-46" fmla="*/ 4648025 h 4648025"/>
              <a:gd name="connsiteX3-47" fmla="*/ 0 w 578876"/>
              <a:gd name="connsiteY3-48" fmla="*/ 4648025 h 4648025"/>
              <a:gd name="connsiteX0-49" fmla="*/ 0 w 578876"/>
              <a:gd name="connsiteY0-50" fmla="*/ 4648025 h 4648025"/>
              <a:gd name="connsiteX1-51" fmla="*/ 289438 w 578876"/>
              <a:gd name="connsiteY1-52" fmla="*/ 0 h 4648025"/>
              <a:gd name="connsiteX2-53" fmla="*/ 578876 w 578876"/>
              <a:gd name="connsiteY2-54" fmla="*/ 4648025 h 4648025"/>
              <a:gd name="connsiteX3-55" fmla="*/ 0 w 578876"/>
              <a:gd name="connsiteY3-56" fmla="*/ 4648025 h 4648025"/>
              <a:gd name="connsiteX0-57" fmla="*/ 0 w 578876"/>
              <a:gd name="connsiteY0-58" fmla="*/ 4648025 h 4648025"/>
              <a:gd name="connsiteX1-59" fmla="*/ 289438 w 578876"/>
              <a:gd name="connsiteY1-60" fmla="*/ 0 h 4648025"/>
              <a:gd name="connsiteX2-61" fmla="*/ 578876 w 578876"/>
              <a:gd name="connsiteY2-62" fmla="*/ 4648025 h 4648025"/>
              <a:gd name="connsiteX3-63" fmla="*/ 0 w 578876"/>
              <a:gd name="connsiteY3-64" fmla="*/ 4648025 h 4648025"/>
              <a:gd name="connsiteX0-65" fmla="*/ 0 w 578876"/>
              <a:gd name="connsiteY0-66" fmla="*/ 4648025 h 4648025"/>
              <a:gd name="connsiteX1-67" fmla="*/ 289438 w 578876"/>
              <a:gd name="connsiteY1-68" fmla="*/ 0 h 4648025"/>
              <a:gd name="connsiteX2-69" fmla="*/ 578876 w 578876"/>
              <a:gd name="connsiteY2-70" fmla="*/ 4648025 h 4648025"/>
              <a:gd name="connsiteX3-71" fmla="*/ 0 w 578876"/>
              <a:gd name="connsiteY3-72" fmla="*/ 4648025 h 4648025"/>
              <a:gd name="connsiteX0-73" fmla="*/ 0 w 578876"/>
              <a:gd name="connsiteY0-74" fmla="*/ 4648025 h 4648025"/>
              <a:gd name="connsiteX1-75" fmla="*/ 289438 w 578876"/>
              <a:gd name="connsiteY1-76" fmla="*/ 0 h 4648025"/>
              <a:gd name="connsiteX2-77" fmla="*/ 578876 w 578876"/>
              <a:gd name="connsiteY2-78" fmla="*/ 4648025 h 4648025"/>
              <a:gd name="connsiteX3-79" fmla="*/ 0 w 578876"/>
              <a:gd name="connsiteY3-80" fmla="*/ 4648025 h 4648025"/>
              <a:gd name="connsiteX0-81" fmla="*/ 0 w 578876"/>
              <a:gd name="connsiteY0-82" fmla="*/ 4648025 h 4648025"/>
              <a:gd name="connsiteX1-83" fmla="*/ 289438 w 578876"/>
              <a:gd name="connsiteY1-84" fmla="*/ 0 h 4648025"/>
              <a:gd name="connsiteX2-85" fmla="*/ 578876 w 578876"/>
              <a:gd name="connsiteY2-86" fmla="*/ 4648025 h 4648025"/>
              <a:gd name="connsiteX3-87" fmla="*/ 0 w 578876"/>
              <a:gd name="connsiteY3-88" fmla="*/ 4648025 h 4648025"/>
              <a:gd name="connsiteX0-89" fmla="*/ 0 w 578876"/>
              <a:gd name="connsiteY0-90" fmla="*/ 4648025 h 4648025"/>
              <a:gd name="connsiteX1-91" fmla="*/ 289438 w 578876"/>
              <a:gd name="connsiteY1-92" fmla="*/ 0 h 4648025"/>
              <a:gd name="connsiteX2-93" fmla="*/ 578876 w 578876"/>
              <a:gd name="connsiteY2-94" fmla="*/ 4648025 h 4648025"/>
              <a:gd name="connsiteX3-95" fmla="*/ 0 w 578876"/>
              <a:gd name="connsiteY3-96" fmla="*/ 4648025 h 4648025"/>
              <a:gd name="connsiteX0-97" fmla="*/ 0 w 578876"/>
              <a:gd name="connsiteY0-98" fmla="*/ 4648025 h 4648025"/>
              <a:gd name="connsiteX1-99" fmla="*/ 289438 w 578876"/>
              <a:gd name="connsiteY1-100" fmla="*/ 0 h 4648025"/>
              <a:gd name="connsiteX2-101" fmla="*/ 578876 w 578876"/>
              <a:gd name="connsiteY2-102" fmla="*/ 4648025 h 4648025"/>
              <a:gd name="connsiteX3-103" fmla="*/ 0 w 578876"/>
              <a:gd name="connsiteY3-104" fmla="*/ 4648025 h 4648025"/>
              <a:gd name="connsiteX0-105" fmla="*/ 0 w 578876"/>
              <a:gd name="connsiteY0-106" fmla="*/ 4648025 h 4648025"/>
              <a:gd name="connsiteX1-107" fmla="*/ 289438 w 578876"/>
              <a:gd name="connsiteY1-108" fmla="*/ 0 h 4648025"/>
              <a:gd name="connsiteX2-109" fmla="*/ 578876 w 578876"/>
              <a:gd name="connsiteY2-110" fmla="*/ 4648025 h 4648025"/>
              <a:gd name="connsiteX3-111" fmla="*/ 0 w 578876"/>
              <a:gd name="connsiteY3-112" fmla="*/ 4648025 h 46480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8876" h="4648025">
                <a:moveTo>
                  <a:pt x="0" y="4648025"/>
                </a:moveTo>
                <a:cubicBezTo>
                  <a:pt x="162866" y="3047883"/>
                  <a:pt x="238853" y="1866842"/>
                  <a:pt x="289438" y="0"/>
                </a:cubicBezTo>
                <a:cubicBezTo>
                  <a:pt x="343197" y="1879542"/>
                  <a:pt x="403887" y="3035183"/>
                  <a:pt x="578876" y="4648025"/>
                </a:cubicBezTo>
                <a:lnTo>
                  <a:pt x="0" y="4648025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3161E7"/>
              </a:gs>
              <a:gs pos="16000">
                <a:srgbClr val="2193F1">
                  <a:alpha val="10000"/>
                </a:srgbClr>
              </a:gs>
              <a:gs pos="64000">
                <a:srgbClr val="4176F1">
                  <a:alpha val="7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73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9" name="矩形: 圆角 25"/>
          <p:cNvSpPr/>
          <p:nvPr/>
        </p:nvSpPr>
        <p:spPr>
          <a:xfrm>
            <a:off x="5349057" y="1912070"/>
            <a:ext cx="2140342" cy="4178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MCP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服务模块打造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0" name="矩形: 圆角 27"/>
          <p:cNvSpPr/>
          <p:nvPr/>
        </p:nvSpPr>
        <p:spPr>
          <a:xfrm>
            <a:off x="9186215" y="1912070"/>
            <a:ext cx="2140342" cy="4178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MCP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服务价值</a:t>
            </a:r>
            <a:endParaRPr lang="zh-CN" altLang="en-US" sz="16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71" name="Google Shape;3565;p74"/>
          <p:cNvGrpSpPr/>
          <p:nvPr/>
        </p:nvGrpSpPr>
        <p:grpSpPr>
          <a:xfrm>
            <a:off x="4100324" y="1985296"/>
            <a:ext cx="331470" cy="283210"/>
            <a:chOff x="4854075" y="2527625"/>
            <a:chExt cx="56000" cy="59050"/>
          </a:xfrm>
        </p:grpSpPr>
        <p:sp>
          <p:nvSpPr>
            <p:cNvPr id="72" name="Google Shape;3566;p74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Google Shape;3567;p74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4" name="文本框 73"/>
          <p:cNvSpPr txBox="1"/>
          <p:nvPr/>
        </p:nvSpPr>
        <p:spPr>
          <a:xfrm>
            <a:off x="8863258" y="2681613"/>
            <a:ext cx="2320650" cy="3371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 b="1" dirty="0">
                <a:gradFill flip="none" rotWithShape="1"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异构工具标准化接入</a:t>
            </a:r>
            <a:endParaRPr lang="zh-CN" altLang="en-US" sz="1600" b="1" dirty="0">
              <a:gradFill flip="none" rotWithShape="1">
                <a:gsLst>
                  <a:gs pos="0">
                    <a:srgbClr val="19ABEB"/>
                  </a:gs>
                  <a:gs pos="50000">
                    <a:srgbClr val="1D78FA"/>
                  </a:gs>
                  <a:gs pos="100000">
                    <a:srgbClr val="3161E7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9241083" y="3989730"/>
            <a:ext cx="2394760" cy="3371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 b="1" dirty="0">
                <a:gradFill flip="none" rotWithShape="1"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声明式调用极简开发</a:t>
            </a:r>
            <a:endParaRPr lang="zh-CN" altLang="en-US" sz="1600" b="1" dirty="0">
              <a:gradFill flip="none" rotWithShape="1">
                <a:gsLst>
                  <a:gs pos="0">
                    <a:srgbClr val="19ABEB"/>
                  </a:gs>
                  <a:gs pos="50000">
                    <a:srgbClr val="1D78FA"/>
                  </a:gs>
                  <a:gs pos="100000">
                    <a:srgbClr val="3161E7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933826" y="5248930"/>
            <a:ext cx="2232681" cy="3371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 b="1" dirty="0">
                <a:gradFill flip="none" rotWithShape="1"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上下文无缝协同管理</a:t>
            </a:r>
            <a:endParaRPr lang="zh-CN" altLang="en-US" sz="1600" b="1" dirty="0">
              <a:gradFill flip="none" rotWithShape="1">
                <a:gsLst>
                  <a:gs pos="0">
                    <a:srgbClr val="19ABEB"/>
                  </a:gs>
                  <a:gs pos="50000">
                    <a:srgbClr val="1D78FA"/>
                  </a:gs>
                  <a:gs pos="100000">
                    <a:srgbClr val="3161E7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105192" y="2966093"/>
            <a:ext cx="2945838" cy="6254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通过协议统一接口定义，屏蔽底层差异，实现“一次接入，跨工具复用”。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241081" y="4283734"/>
            <a:ext cx="2719143" cy="66586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工具调用转为配置化声明，开发模式从“编码”转向“配置”。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791502" y="5556270"/>
            <a:ext cx="3053831" cy="63817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内置上下文管理机制，确保大模型与工具数据状态实时同步，交互链路透明。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8578142" y="2599698"/>
            <a:ext cx="527050" cy="532765"/>
            <a:chOff x="8954553" y="2808506"/>
            <a:chExt cx="540385" cy="546735"/>
          </a:xfrm>
        </p:grpSpPr>
        <p:pic>
          <p:nvPicPr>
            <p:cNvPr id="81" name="图片 80" descr="yua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954553" y="2808506"/>
              <a:ext cx="540385" cy="546735"/>
            </a:xfrm>
            <a:prstGeom prst="rect">
              <a:avLst/>
            </a:prstGeom>
          </p:spPr>
        </p:pic>
        <p:sp>
          <p:nvSpPr>
            <p:cNvPr id="82" name="Freeform 127"/>
            <p:cNvSpPr>
              <a:spLocks noChangeArrowheads="1"/>
            </p:cNvSpPr>
            <p:nvPr/>
          </p:nvSpPr>
          <p:spPr bwMode="auto">
            <a:xfrm>
              <a:off x="9095886" y="2982646"/>
              <a:ext cx="243743" cy="182579"/>
            </a:xfrm>
            <a:custGeom>
              <a:avLst/>
              <a:gdLst>
                <a:gd name="T0" fmla="*/ 180089 w 531"/>
                <a:gd name="T1" fmla="*/ 112357 h 602"/>
                <a:gd name="T2" fmla="*/ 149596 w 531"/>
                <a:gd name="T3" fmla="*/ 102241 h 602"/>
                <a:gd name="T4" fmla="*/ 159641 w 531"/>
                <a:gd name="T5" fmla="*/ 51301 h 602"/>
                <a:gd name="T6" fmla="*/ 190134 w 531"/>
                <a:gd name="T7" fmla="*/ 61417 h 602"/>
                <a:gd name="T8" fmla="*/ 180089 w 531"/>
                <a:gd name="T9" fmla="*/ 112357 h 602"/>
                <a:gd name="T10" fmla="*/ 159641 w 531"/>
                <a:gd name="T11" fmla="*/ 10477 h 602"/>
                <a:gd name="T12" fmla="*/ 180089 w 531"/>
                <a:gd name="T13" fmla="*/ 10477 h 602"/>
                <a:gd name="T14" fmla="*/ 159641 w 531"/>
                <a:gd name="T15" fmla="*/ 40824 h 602"/>
                <a:gd name="T16" fmla="*/ 104036 w 531"/>
                <a:gd name="T17" fmla="*/ 166187 h 602"/>
                <a:gd name="T18" fmla="*/ 83587 w 531"/>
                <a:gd name="T19" fmla="*/ 166187 h 602"/>
                <a:gd name="T20" fmla="*/ 73542 w 531"/>
                <a:gd name="T21" fmla="*/ 114886 h 602"/>
                <a:gd name="T22" fmla="*/ 104036 w 531"/>
                <a:gd name="T23" fmla="*/ 104770 h 602"/>
                <a:gd name="T24" fmla="*/ 114081 w 531"/>
                <a:gd name="T25" fmla="*/ 155710 h 602"/>
                <a:gd name="T26" fmla="*/ 83587 w 531"/>
                <a:gd name="T27" fmla="*/ 10477 h 602"/>
                <a:gd name="T28" fmla="*/ 93632 w 531"/>
                <a:gd name="T29" fmla="*/ 0 h 602"/>
                <a:gd name="T30" fmla="*/ 104036 w 531"/>
                <a:gd name="T31" fmla="*/ 94654 h 602"/>
                <a:gd name="T32" fmla="*/ 83587 w 531"/>
                <a:gd name="T33" fmla="*/ 10477 h 602"/>
                <a:gd name="T34" fmla="*/ 30493 w 531"/>
                <a:gd name="T35" fmla="*/ 140536 h 602"/>
                <a:gd name="T36" fmla="*/ 0 w 531"/>
                <a:gd name="T37" fmla="*/ 130421 h 602"/>
                <a:gd name="T38" fmla="*/ 10045 w 531"/>
                <a:gd name="T39" fmla="*/ 79119 h 602"/>
                <a:gd name="T40" fmla="*/ 40538 w 531"/>
                <a:gd name="T41" fmla="*/ 89596 h 602"/>
                <a:gd name="T42" fmla="*/ 30493 w 531"/>
                <a:gd name="T43" fmla="*/ 140536 h 602"/>
                <a:gd name="T44" fmla="*/ 10045 w 531"/>
                <a:gd name="T45" fmla="*/ 10477 h 602"/>
                <a:gd name="T46" fmla="*/ 30493 w 531"/>
                <a:gd name="T47" fmla="*/ 10477 h 602"/>
                <a:gd name="T48" fmla="*/ 10045 w 531"/>
                <a:gd name="T49" fmla="*/ 69004 h 602"/>
                <a:gd name="T50" fmla="*/ 30493 w 531"/>
                <a:gd name="T51" fmla="*/ 207011 h 602"/>
                <a:gd name="T52" fmla="*/ 20090 w 531"/>
                <a:gd name="T53" fmla="*/ 217127 h 602"/>
                <a:gd name="T54" fmla="*/ 10045 w 531"/>
                <a:gd name="T55" fmla="*/ 150652 h 602"/>
                <a:gd name="T56" fmla="*/ 30493 w 531"/>
                <a:gd name="T57" fmla="*/ 207011 h 602"/>
                <a:gd name="T58" fmla="*/ 104036 w 531"/>
                <a:gd name="T59" fmla="*/ 207011 h 602"/>
                <a:gd name="T60" fmla="*/ 83587 w 531"/>
                <a:gd name="T61" fmla="*/ 207011 h 602"/>
                <a:gd name="T62" fmla="*/ 104036 w 531"/>
                <a:gd name="T63" fmla="*/ 176303 h 602"/>
                <a:gd name="T64" fmla="*/ 180089 w 531"/>
                <a:gd name="T65" fmla="*/ 207011 h 602"/>
                <a:gd name="T66" fmla="*/ 169686 w 531"/>
                <a:gd name="T67" fmla="*/ 217127 h 602"/>
                <a:gd name="T68" fmla="*/ 159641 w 531"/>
                <a:gd name="T69" fmla="*/ 122834 h 602"/>
                <a:gd name="T70" fmla="*/ 180089 w 531"/>
                <a:gd name="T71" fmla="*/ 207011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31" h="602">
                  <a:moveTo>
                    <a:pt x="502" y="311"/>
                  </a:moveTo>
                  <a:lnTo>
                    <a:pt x="502" y="311"/>
                  </a:lnTo>
                  <a:cubicBezTo>
                    <a:pt x="445" y="311"/>
                    <a:pt x="445" y="311"/>
                    <a:pt x="445" y="311"/>
                  </a:cubicBezTo>
                  <a:cubicBezTo>
                    <a:pt x="424" y="311"/>
                    <a:pt x="417" y="297"/>
                    <a:pt x="417" y="283"/>
                  </a:cubicBezTo>
                  <a:cubicBezTo>
                    <a:pt x="417" y="170"/>
                    <a:pt x="417" y="170"/>
                    <a:pt x="417" y="170"/>
                  </a:cubicBezTo>
                  <a:cubicBezTo>
                    <a:pt x="417" y="156"/>
                    <a:pt x="424" y="142"/>
                    <a:pt x="445" y="142"/>
                  </a:cubicBezTo>
                  <a:cubicBezTo>
                    <a:pt x="502" y="142"/>
                    <a:pt x="502" y="142"/>
                    <a:pt x="502" y="142"/>
                  </a:cubicBezTo>
                  <a:cubicBezTo>
                    <a:pt x="516" y="142"/>
                    <a:pt x="530" y="156"/>
                    <a:pt x="530" y="170"/>
                  </a:cubicBezTo>
                  <a:cubicBezTo>
                    <a:pt x="530" y="283"/>
                    <a:pt x="530" y="283"/>
                    <a:pt x="530" y="283"/>
                  </a:cubicBezTo>
                  <a:cubicBezTo>
                    <a:pt x="530" y="297"/>
                    <a:pt x="516" y="311"/>
                    <a:pt x="502" y="311"/>
                  </a:cubicBezTo>
                  <a:close/>
                  <a:moveTo>
                    <a:pt x="445" y="29"/>
                  </a:moveTo>
                  <a:lnTo>
                    <a:pt x="445" y="29"/>
                  </a:lnTo>
                  <a:cubicBezTo>
                    <a:pt x="445" y="15"/>
                    <a:pt x="452" y="0"/>
                    <a:pt x="473" y="0"/>
                  </a:cubicBezTo>
                  <a:cubicBezTo>
                    <a:pt x="487" y="0"/>
                    <a:pt x="502" y="15"/>
                    <a:pt x="502" y="29"/>
                  </a:cubicBezTo>
                  <a:cubicBezTo>
                    <a:pt x="502" y="113"/>
                    <a:pt x="502" y="113"/>
                    <a:pt x="502" y="113"/>
                  </a:cubicBezTo>
                  <a:cubicBezTo>
                    <a:pt x="445" y="113"/>
                    <a:pt x="445" y="113"/>
                    <a:pt x="445" y="113"/>
                  </a:cubicBezTo>
                  <a:lnTo>
                    <a:pt x="445" y="29"/>
                  </a:lnTo>
                  <a:close/>
                  <a:moveTo>
                    <a:pt x="290" y="460"/>
                  </a:moveTo>
                  <a:lnTo>
                    <a:pt x="290" y="460"/>
                  </a:lnTo>
                  <a:cubicBezTo>
                    <a:pt x="233" y="460"/>
                    <a:pt x="233" y="460"/>
                    <a:pt x="233" y="460"/>
                  </a:cubicBezTo>
                  <a:cubicBezTo>
                    <a:pt x="219" y="460"/>
                    <a:pt x="205" y="453"/>
                    <a:pt x="205" y="431"/>
                  </a:cubicBezTo>
                  <a:cubicBezTo>
                    <a:pt x="205" y="318"/>
                    <a:pt x="205" y="318"/>
                    <a:pt x="205" y="318"/>
                  </a:cubicBezTo>
                  <a:cubicBezTo>
                    <a:pt x="205" y="304"/>
                    <a:pt x="219" y="290"/>
                    <a:pt x="233" y="290"/>
                  </a:cubicBezTo>
                  <a:cubicBezTo>
                    <a:pt x="290" y="290"/>
                    <a:pt x="290" y="290"/>
                    <a:pt x="290" y="290"/>
                  </a:cubicBezTo>
                  <a:cubicBezTo>
                    <a:pt x="311" y="290"/>
                    <a:pt x="318" y="304"/>
                    <a:pt x="318" y="318"/>
                  </a:cubicBezTo>
                  <a:cubicBezTo>
                    <a:pt x="318" y="431"/>
                    <a:pt x="318" y="431"/>
                    <a:pt x="318" y="431"/>
                  </a:cubicBezTo>
                  <a:cubicBezTo>
                    <a:pt x="318" y="453"/>
                    <a:pt x="311" y="460"/>
                    <a:pt x="290" y="460"/>
                  </a:cubicBezTo>
                  <a:close/>
                  <a:moveTo>
                    <a:pt x="233" y="29"/>
                  </a:moveTo>
                  <a:lnTo>
                    <a:pt x="233" y="29"/>
                  </a:lnTo>
                  <a:cubicBezTo>
                    <a:pt x="233" y="15"/>
                    <a:pt x="247" y="0"/>
                    <a:pt x="261" y="0"/>
                  </a:cubicBezTo>
                  <a:cubicBezTo>
                    <a:pt x="283" y="0"/>
                    <a:pt x="290" y="15"/>
                    <a:pt x="290" y="29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33" y="262"/>
                    <a:pt x="233" y="262"/>
                    <a:pt x="233" y="262"/>
                  </a:cubicBezTo>
                  <a:lnTo>
                    <a:pt x="233" y="29"/>
                  </a:lnTo>
                  <a:close/>
                  <a:moveTo>
                    <a:pt x="85" y="389"/>
                  </a:moveTo>
                  <a:lnTo>
                    <a:pt x="85" y="389"/>
                  </a:lnTo>
                  <a:cubicBezTo>
                    <a:pt x="28" y="389"/>
                    <a:pt x="28" y="389"/>
                    <a:pt x="28" y="389"/>
                  </a:cubicBezTo>
                  <a:cubicBezTo>
                    <a:pt x="14" y="389"/>
                    <a:pt x="0" y="375"/>
                    <a:pt x="0" y="361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26"/>
                    <a:pt x="14" y="219"/>
                    <a:pt x="28" y="219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99" y="219"/>
                    <a:pt x="113" y="226"/>
                    <a:pt x="113" y="248"/>
                  </a:cubicBezTo>
                  <a:cubicBezTo>
                    <a:pt x="113" y="361"/>
                    <a:pt x="113" y="361"/>
                    <a:pt x="113" y="361"/>
                  </a:cubicBezTo>
                  <a:cubicBezTo>
                    <a:pt x="113" y="375"/>
                    <a:pt x="99" y="389"/>
                    <a:pt x="85" y="389"/>
                  </a:cubicBezTo>
                  <a:close/>
                  <a:moveTo>
                    <a:pt x="28" y="29"/>
                  </a:moveTo>
                  <a:lnTo>
                    <a:pt x="28" y="29"/>
                  </a:lnTo>
                  <a:cubicBezTo>
                    <a:pt x="28" y="15"/>
                    <a:pt x="42" y="0"/>
                    <a:pt x="56" y="0"/>
                  </a:cubicBezTo>
                  <a:cubicBezTo>
                    <a:pt x="71" y="0"/>
                    <a:pt x="85" y="15"/>
                    <a:pt x="85" y="29"/>
                  </a:cubicBezTo>
                  <a:cubicBezTo>
                    <a:pt x="85" y="191"/>
                    <a:pt x="85" y="191"/>
                    <a:pt x="85" y="191"/>
                  </a:cubicBezTo>
                  <a:cubicBezTo>
                    <a:pt x="28" y="191"/>
                    <a:pt x="28" y="191"/>
                    <a:pt x="28" y="191"/>
                  </a:cubicBezTo>
                  <a:lnTo>
                    <a:pt x="28" y="29"/>
                  </a:lnTo>
                  <a:close/>
                  <a:moveTo>
                    <a:pt x="85" y="573"/>
                  </a:moveTo>
                  <a:lnTo>
                    <a:pt x="85" y="573"/>
                  </a:lnTo>
                  <a:cubicBezTo>
                    <a:pt x="85" y="594"/>
                    <a:pt x="71" y="601"/>
                    <a:pt x="56" y="601"/>
                  </a:cubicBezTo>
                  <a:cubicBezTo>
                    <a:pt x="42" y="601"/>
                    <a:pt x="28" y="594"/>
                    <a:pt x="28" y="573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85" y="417"/>
                    <a:pt x="85" y="417"/>
                    <a:pt x="85" y="417"/>
                  </a:cubicBezTo>
                  <a:lnTo>
                    <a:pt x="85" y="573"/>
                  </a:lnTo>
                  <a:close/>
                  <a:moveTo>
                    <a:pt x="290" y="573"/>
                  </a:moveTo>
                  <a:lnTo>
                    <a:pt x="290" y="573"/>
                  </a:lnTo>
                  <a:cubicBezTo>
                    <a:pt x="290" y="594"/>
                    <a:pt x="283" y="601"/>
                    <a:pt x="261" y="601"/>
                  </a:cubicBezTo>
                  <a:cubicBezTo>
                    <a:pt x="247" y="601"/>
                    <a:pt x="233" y="594"/>
                    <a:pt x="233" y="573"/>
                  </a:cubicBezTo>
                  <a:cubicBezTo>
                    <a:pt x="233" y="488"/>
                    <a:pt x="233" y="488"/>
                    <a:pt x="233" y="488"/>
                  </a:cubicBezTo>
                  <a:cubicBezTo>
                    <a:pt x="290" y="488"/>
                    <a:pt x="290" y="488"/>
                    <a:pt x="290" y="488"/>
                  </a:cubicBezTo>
                  <a:lnTo>
                    <a:pt x="290" y="573"/>
                  </a:lnTo>
                  <a:close/>
                  <a:moveTo>
                    <a:pt x="502" y="573"/>
                  </a:moveTo>
                  <a:lnTo>
                    <a:pt x="502" y="573"/>
                  </a:lnTo>
                  <a:cubicBezTo>
                    <a:pt x="502" y="594"/>
                    <a:pt x="487" y="601"/>
                    <a:pt x="473" y="601"/>
                  </a:cubicBezTo>
                  <a:cubicBezTo>
                    <a:pt x="452" y="601"/>
                    <a:pt x="445" y="594"/>
                    <a:pt x="445" y="573"/>
                  </a:cubicBezTo>
                  <a:cubicBezTo>
                    <a:pt x="445" y="340"/>
                    <a:pt x="445" y="340"/>
                    <a:pt x="445" y="340"/>
                  </a:cubicBezTo>
                  <a:cubicBezTo>
                    <a:pt x="502" y="340"/>
                    <a:pt x="502" y="340"/>
                    <a:pt x="502" y="340"/>
                  </a:cubicBezTo>
                  <a:lnTo>
                    <a:pt x="502" y="5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/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8984892" y="3905910"/>
            <a:ext cx="527050" cy="532765"/>
            <a:chOff x="9327179" y="4155050"/>
            <a:chExt cx="540385" cy="546735"/>
          </a:xfrm>
        </p:grpSpPr>
        <p:pic>
          <p:nvPicPr>
            <p:cNvPr id="84" name="图片 83" descr="yua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327179" y="4155050"/>
              <a:ext cx="540385" cy="546735"/>
            </a:xfrm>
            <a:prstGeom prst="rect">
              <a:avLst/>
            </a:prstGeom>
          </p:spPr>
        </p:pic>
        <p:sp>
          <p:nvSpPr>
            <p:cNvPr id="85" name="Freeform 100"/>
            <p:cNvSpPr>
              <a:spLocks noChangeArrowheads="1"/>
            </p:cNvSpPr>
            <p:nvPr/>
          </p:nvSpPr>
          <p:spPr bwMode="auto">
            <a:xfrm>
              <a:off x="9487614" y="4302491"/>
              <a:ext cx="220630" cy="188112"/>
            </a:xfrm>
            <a:custGeom>
              <a:avLst/>
              <a:gdLst>
                <a:gd name="T0" fmla="*/ 205475 w 601"/>
                <a:gd name="T1" fmla="*/ 185379 h 517"/>
                <a:gd name="T2" fmla="*/ 0 w 601"/>
                <a:gd name="T3" fmla="*/ 174960 h 517"/>
                <a:gd name="T4" fmla="*/ 0 w 601"/>
                <a:gd name="T5" fmla="*/ 111730 h 517"/>
                <a:gd name="T6" fmla="*/ 28019 w 601"/>
                <a:gd name="T7" fmla="*/ 35567 h 517"/>
                <a:gd name="T8" fmla="*/ 35563 w 601"/>
                <a:gd name="T9" fmla="*/ 30537 h 517"/>
                <a:gd name="T10" fmla="*/ 53165 w 601"/>
                <a:gd name="T11" fmla="*/ 30537 h 517"/>
                <a:gd name="T12" fmla="*/ 86213 w 601"/>
                <a:gd name="T13" fmla="*/ 35567 h 517"/>
                <a:gd name="T14" fmla="*/ 53165 w 601"/>
                <a:gd name="T15" fmla="*/ 50656 h 517"/>
                <a:gd name="T16" fmla="*/ 43107 w 601"/>
                <a:gd name="T17" fmla="*/ 50656 h 517"/>
                <a:gd name="T18" fmla="*/ 45621 w 601"/>
                <a:gd name="T19" fmla="*/ 101312 h 517"/>
                <a:gd name="T20" fmla="*/ 55679 w 601"/>
                <a:gd name="T21" fmla="*/ 101312 h 517"/>
                <a:gd name="T22" fmla="*/ 65737 w 601"/>
                <a:gd name="T23" fmla="*/ 121790 h 517"/>
                <a:gd name="T24" fmla="*/ 147281 w 601"/>
                <a:gd name="T25" fmla="*/ 111730 h 517"/>
                <a:gd name="T26" fmla="*/ 167397 w 601"/>
                <a:gd name="T27" fmla="*/ 101312 h 517"/>
                <a:gd name="T28" fmla="*/ 190387 w 601"/>
                <a:gd name="T29" fmla="*/ 101312 h 517"/>
                <a:gd name="T30" fmla="*/ 162368 w 601"/>
                <a:gd name="T31" fmla="*/ 50656 h 517"/>
                <a:gd name="T32" fmla="*/ 126805 w 601"/>
                <a:gd name="T33" fmla="*/ 50656 h 517"/>
                <a:gd name="T34" fmla="*/ 126805 w 601"/>
                <a:gd name="T35" fmla="*/ 30537 h 517"/>
                <a:gd name="T36" fmla="*/ 162368 w 601"/>
                <a:gd name="T37" fmla="*/ 30537 h 517"/>
                <a:gd name="T38" fmla="*/ 177455 w 601"/>
                <a:gd name="T39" fmla="*/ 30537 h 517"/>
                <a:gd name="T40" fmla="*/ 215533 w 601"/>
                <a:gd name="T41" fmla="*/ 106341 h 517"/>
                <a:gd name="T42" fmla="*/ 215533 w 601"/>
                <a:gd name="T43" fmla="*/ 111730 h 517"/>
                <a:gd name="T44" fmla="*/ 215533 w 601"/>
                <a:gd name="T45" fmla="*/ 174960 h 517"/>
                <a:gd name="T46" fmla="*/ 142252 w 601"/>
                <a:gd name="T47" fmla="*/ 73649 h 517"/>
                <a:gd name="T48" fmla="*/ 136863 w 601"/>
                <a:gd name="T49" fmla="*/ 81193 h 517"/>
                <a:gd name="T50" fmla="*/ 106689 w 601"/>
                <a:gd name="T51" fmla="*/ 106341 h 517"/>
                <a:gd name="T52" fmla="*/ 76155 w 601"/>
                <a:gd name="T53" fmla="*/ 81193 h 517"/>
                <a:gd name="T54" fmla="*/ 83699 w 601"/>
                <a:gd name="T55" fmla="*/ 63230 h 517"/>
                <a:gd name="T56" fmla="*/ 96271 w 601"/>
                <a:gd name="T57" fmla="*/ 73649 h 517"/>
                <a:gd name="T58" fmla="*/ 96271 w 601"/>
                <a:gd name="T59" fmla="*/ 25148 h 517"/>
                <a:gd name="T60" fmla="*/ 106689 w 601"/>
                <a:gd name="T61" fmla="*/ 0 h 517"/>
                <a:gd name="T62" fmla="*/ 116747 w 601"/>
                <a:gd name="T63" fmla="*/ 30537 h 517"/>
                <a:gd name="T64" fmla="*/ 116747 w 601"/>
                <a:gd name="T65" fmla="*/ 73649 h 517"/>
                <a:gd name="T66" fmla="*/ 131834 w 601"/>
                <a:gd name="T67" fmla="*/ 63230 h 5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01" h="517">
                  <a:moveTo>
                    <a:pt x="572" y="516"/>
                  </a:moveTo>
                  <a:lnTo>
                    <a:pt x="572" y="516"/>
                  </a:lnTo>
                  <a:cubicBezTo>
                    <a:pt x="28" y="516"/>
                    <a:pt x="28" y="516"/>
                    <a:pt x="28" y="516"/>
                  </a:cubicBezTo>
                  <a:cubicBezTo>
                    <a:pt x="7" y="516"/>
                    <a:pt x="0" y="502"/>
                    <a:pt x="0" y="487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304"/>
                    <a:pt x="0" y="304"/>
                    <a:pt x="0" y="296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92"/>
                    <a:pt x="92" y="85"/>
                    <a:pt x="99" y="85"/>
                  </a:cubicBezTo>
                  <a:cubicBezTo>
                    <a:pt x="148" y="85"/>
                    <a:pt x="148" y="85"/>
                    <a:pt x="148" y="85"/>
                  </a:cubicBezTo>
                  <a:cubicBezTo>
                    <a:pt x="240" y="85"/>
                    <a:pt x="240" y="85"/>
                    <a:pt x="240" y="85"/>
                  </a:cubicBezTo>
                  <a:cubicBezTo>
                    <a:pt x="240" y="99"/>
                    <a:pt x="240" y="99"/>
                    <a:pt x="240" y="99"/>
                  </a:cubicBezTo>
                  <a:cubicBezTo>
                    <a:pt x="240" y="141"/>
                    <a:pt x="240" y="141"/>
                    <a:pt x="240" y="141"/>
                  </a:cubicBezTo>
                  <a:cubicBezTo>
                    <a:pt x="148" y="141"/>
                    <a:pt x="148" y="141"/>
                    <a:pt x="148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63" y="282"/>
                    <a:pt x="63" y="282"/>
                    <a:pt x="63" y="282"/>
                  </a:cubicBezTo>
                  <a:cubicBezTo>
                    <a:pt x="127" y="282"/>
                    <a:pt x="127" y="282"/>
                    <a:pt x="127" y="282"/>
                  </a:cubicBezTo>
                  <a:cubicBezTo>
                    <a:pt x="155" y="282"/>
                    <a:pt x="155" y="282"/>
                    <a:pt x="155" y="282"/>
                  </a:cubicBezTo>
                  <a:cubicBezTo>
                    <a:pt x="176" y="282"/>
                    <a:pt x="183" y="289"/>
                    <a:pt x="183" y="311"/>
                  </a:cubicBezTo>
                  <a:cubicBezTo>
                    <a:pt x="183" y="339"/>
                    <a:pt x="183" y="339"/>
                    <a:pt x="183" y="339"/>
                  </a:cubicBezTo>
                  <a:cubicBezTo>
                    <a:pt x="410" y="339"/>
                    <a:pt x="410" y="339"/>
                    <a:pt x="410" y="339"/>
                  </a:cubicBezTo>
                  <a:cubicBezTo>
                    <a:pt x="410" y="311"/>
                    <a:pt x="410" y="311"/>
                    <a:pt x="410" y="311"/>
                  </a:cubicBezTo>
                  <a:cubicBezTo>
                    <a:pt x="410" y="289"/>
                    <a:pt x="424" y="282"/>
                    <a:pt x="438" y="282"/>
                  </a:cubicBezTo>
                  <a:cubicBezTo>
                    <a:pt x="466" y="282"/>
                    <a:pt x="466" y="282"/>
                    <a:pt x="466" y="282"/>
                  </a:cubicBezTo>
                  <a:cubicBezTo>
                    <a:pt x="530" y="282"/>
                    <a:pt x="530" y="282"/>
                    <a:pt x="530" y="282"/>
                  </a:cubicBezTo>
                  <a:cubicBezTo>
                    <a:pt x="480" y="141"/>
                    <a:pt x="480" y="141"/>
                    <a:pt x="480" y="141"/>
                  </a:cubicBezTo>
                  <a:cubicBezTo>
                    <a:pt x="452" y="141"/>
                    <a:pt x="452" y="141"/>
                    <a:pt x="452" y="141"/>
                  </a:cubicBezTo>
                  <a:cubicBezTo>
                    <a:pt x="353" y="141"/>
                    <a:pt x="353" y="141"/>
                    <a:pt x="353" y="141"/>
                  </a:cubicBezTo>
                  <a:cubicBezTo>
                    <a:pt x="353" y="99"/>
                    <a:pt x="353" y="99"/>
                    <a:pt x="353" y="99"/>
                  </a:cubicBezTo>
                  <a:cubicBezTo>
                    <a:pt x="353" y="85"/>
                    <a:pt x="353" y="85"/>
                    <a:pt x="353" y="85"/>
                  </a:cubicBezTo>
                  <a:cubicBezTo>
                    <a:pt x="452" y="85"/>
                    <a:pt x="452" y="85"/>
                    <a:pt x="452" y="85"/>
                  </a:cubicBezTo>
                  <a:cubicBezTo>
                    <a:pt x="494" y="85"/>
                    <a:pt x="494" y="85"/>
                    <a:pt x="494" y="85"/>
                  </a:cubicBezTo>
                  <a:cubicBezTo>
                    <a:pt x="509" y="85"/>
                    <a:pt x="523" y="92"/>
                    <a:pt x="523" y="99"/>
                  </a:cubicBezTo>
                  <a:cubicBezTo>
                    <a:pt x="600" y="296"/>
                    <a:pt x="600" y="296"/>
                    <a:pt x="600" y="296"/>
                  </a:cubicBezTo>
                  <a:cubicBezTo>
                    <a:pt x="600" y="304"/>
                    <a:pt x="600" y="304"/>
                    <a:pt x="600" y="311"/>
                  </a:cubicBezTo>
                  <a:cubicBezTo>
                    <a:pt x="600" y="487"/>
                    <a:pt x="600" y="487"/>
                    <a:pt x="600" y="487"/>
                  </a:cubicBezTo>
                  <a:cubicBezTo>
                    <a:pt x="600" y="502"/>
                    <a:pt x="586" y="516"/>
                    <a:pt x="572" y="516"/>
                  </a:cubicBezTo>
                  <a:close/>
                  <a:moveTo>
                    <a:pt x="396" y="205"/>
                  </a:moveTo>
                  <a:lnTo>
                    <a:pt x="396" y="205"/>
                  </a:lnTo>
                  <a:cubicBezTo>
                    <a:pt x="396" y="212"/>
                    <a:pt x="389" y="219"/>
                    <a:pt x="381" y="226"/>
                  </a:cubicBezTo>
                  <a:cubicBezTo>
                    <a:pt x="318" y="289"/>
                    <a:pt x="318" y="289"/>
                    <a:pt x="318" y="289"/>
                  </a:cubicBezTo>
                  <a:cubicBezTo>
                    <a:pt x="311" y="296"/>
                    <a:pt x="304" y="296"/>
                    <a:pt x="297" y="296"/>
                  </a:cubicBezTo>
                  <a:cubicBezTo>
                    <a:pt x="290" y="296"/>
                    <a:pt x="283" y="296"/>
                    <a:pt x="283" y="289"/>
                  </a:cubicBezTo>
                  <a:cubicBezTo>
                    <a:pt x="212" y="226"/>
                    <a:pt x="212" y="226"/>
                    <a:pt x="212" y="226"/>
                  </a:cubicBezTo>
                  <a:cubicBezTo>
                    <a:pt x="205" y="219"/>
                    <a:pt x="205" y="212"/>
                    <a:pt x="205" y="205"/>
                  </a:cubicBezTo>
                  <a:cubicBezTo>
                    <a:pt x="205" y="191"/>
                    <a:pt x="219" y="176"/>
                    <a:pt x="233" y="176"/>
                  </a:cubicBezTo>
                  <a:cubicBezTo>
                    <a:pt x="240" y="176"/>
                    <a:pt x="247" y="176"/>
                    <a:pt x="254" y="183"/>
                  </a:cubicBezTo>
                  <a:cubicBezTo>
                    <a:pt x="268" y="205"/>
                    <a:pt x="268" y="205"/>
                    <a:pt x="268" y="205"/>
                  </a:cubicBezTo>
                  <a:cubicBezTo>
                    <a:pt x="268" y="99"/>
                    <a:pt x="268" y="99"/>
                    <a:pt x="268" y="99"/>
                  </a:cubicBezTo>
                  <a:cubicBezTo>
                    <a:pt x="268" y="70"/>
                    <a:pt x="268" y="70"/>
                    <a:pt x="268" y="70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68" y="7"/>
                    <a:pt x="283" y="0"/>
                    <a:pt x="297" y="0"/>
                  </a:cubicBezTo>
                  <a:cubicBezTo>
                    <a:pt x="318" y="0"/>
                    <a:pt x="325" y="7"/>
                    <a:pt x="325" y="28"/>
                  </a:cubicBezTo>
                  <a:cubicBezTo>
                    <a:pt x="325" y="85"/>
                    <a:pt x="325" y="85"/>
                    <a:pt x="325" y="85"/>
                  </a:cubicBezTo>
                  <a:cubicBezTo>
                    <a:pt x="325" y="92"/>
                    <a:pt x="325" y="92"/>
                    <a:pt x="325" y="92"/>
                  </a:cubicBezTo>
                  <a:cubicBezTo>
                    <a:pt x="325" y="205"/>
                    <a:pt x="325" y="205"/>
                    <a:pt x="325" y="205"/>
                  </a:cubicBezTo>
                  <a:cubicBezTo>
                    <a:pt x="346" y="183"/>
                    <a:pt x="346" y="183"/>
                    <a:pt x="346" y="183"/>
                  </a:cubicBezTo>
                  <a:cubicBezTo>
                    <a:pt x="353" y="176"/>
                    <a:pt x="360" y="176"/>
                    <a:pt x="367" y="176"/>
                  </a:cubicBezTo>
                  <a:cubicBezTo>
                    <a:pt x="381" y="176"/>
                    <a:pt x="396" y="191"/>
                    <a:pt x="396" y="20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/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8628391" y="5154950"/>
            <a:ext cx="527050" cy="532765"/>
            <a:chOff x="8979031" y="5491015"/>
            <a:chExt cx="540385" cy="546735"/>
          </a:xfrm>
        </p:grpSpPr>
        <p:pic>
          <p:nvPicPr>
            <p:cNvPr id="87" name="图片 86" descr="yua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979031" y="5491015"/>
              <a:ext cx="540385" cy="546735"/>
            </a:xfrm>
            <a:prstGeom prst="rect">
              <a:avLst/>
            </a:prstGeom>
          </p:spPr>
        </p:pic>
        <p:sp>
          <p:nvSpPr>
            <p:cNvPr id="88" name="Freeform 78"/>
            <p:cNvSpPr>
              <a:spLocks noChangeArrowheads="1"/>
            </p:cNvSpPr>
            <p:nvPr/>
          </p:nvSpPr>
          <p:spPr bwMode="auto">
            <a:xfrm>
              <a:off x="9131138" y="5635897"/>
              <a:ext cx="238965" cy="240893"/>
            </a:xfrm>
            <a:custGeom>
              <a:avLst/>
              <a:gdLst>
                <a:gd name="T0" fmla="*/ 193954 w 545"/>
                <a:gd name="T1" fmla="*/ 17942 h 553"/>
                <a:gd name="T2" fmla="*/ 160725 w 545"/>
                <a:gd name="T3" fmla="*/ 68538 h 553"/>
                <a:gd name="T4" fmla="*/ 160725 w 545"/>
                <a:gd name="T5" fmla="*/ 88992 h 553"/>
                <a:gd name="T6" fmla="*/ 109799 w 545"/>
                <a:gd name="T7" fmla="*/ 78586 h 553"/>
                <a:gd name="T8" fmla="*/ 119912 w 545"/>
                <a:gd name="T9" fmla="*/ 27989 h 553"/>
                <a:gd name="T10" fmla="*/ 130025 w 545"/>
                <a:gd name="T11" fmla="*/ 53467 h 553"/>
                <a:gd name="T12" fmla="*/ 181312 w 545"/>
                <a:gd name="T13" fmla="*/ 2512 h 553"/>
                <a:gd name="T14" fmla="*/ 196482 w 545"/>
                <a:gd name="T15" fmla="*/ 10047 h 553"/>
                <a:gd name="T16" fmla="*/ 119912 w 545"/>
                <a:gd name="T17" fmla="*/ 109087 h 553"/>
                <a:gd name="T18" fmla="*/ 160725 w 545"/>
                <a:gd name="T19" fmla="*/ 109087 h 553"/>
                <a:gd name="T20" fmla="*/ 160725 w 545"/>
                <a:gd name="T21" fmla="*/ 129541 h 553"/>
                <a:gd name="T22" fmla="*/ 193954 w 545"/>
                <a:gd name="T23" fmla="*/ 180137 h 553"/>
                <a:gd name="T24" fmla="*/ 196482 w 545"/>
                <a:gd name="T25" fmla="*/ 187673 h 553"/>
                <a:gd name="T26" fmla="*/ 181312 w 545"/>
                <a:gd name="T27" fmla="*/ 195567 h 553"/>
                <a:gd name="T28" fmla="*/ 130025 w 545"/>
                <a:gd name="T29" fmla="*/ 144612 h 553"/>
                <a:gd name="T30" fmla="*/ 119912 w 545"/>
                <a:gd name="T31" fmla="*/ 170090 h 553"/>
                <a:gd name="T32" fmla="*/ 109799 w 545"/>
                <a:gd name="T33" fmla="*/ 119135 h 553"/>
                <a:gd name="T34" fmla="*/ 79098 w 545"/>
                <a:gd name="T35" fmla="*/ 170090 h 553"/>
                <a:gd name="T36" fmla="*/ 68985 w 545"/>
                <a:gd name="T37" fmla="*/ 159683 h 553"/>
                <a:gd name="T38" fmla="*/ 17698 w 545"/>
                <a:gd name="T39" fmla="*/ 195567 h 553"/>
                <a:gd name="T40" fmla="*/ 10113 w 545"/>
                <a:gd name="T41" fmla="*/ 198079 h 553"/>
                <a:gd name="T42" fmla="*/ 2528 w 545"/>
                <a:gd name="T43" fmla="*/ 180137 h 553"/>
                <a:gd name="T44" fmla="*/ 53455 w 545"/>
                <a:gd name="T45" fmla="*/ 129541 h 553"/>
                <a:gd name="T46" fmla="*/ 28172 w 545"/>
                <a:gd name="T47" fmla="*/ 119135 h 553"/>
                <a:gd name="T48" fmla="*/ 79098 w 545"/>
                <a:gd name="T49" fmla="*/ 109087 h 553"/>
                <a:gd name="T50" fmla="*/ 89211 w 545"/>
                <a:gd name="T51" fmla="*/ 159683 h 553"/>
                <a:gd name="T52" fmla="*/ 79098 w 545"/>
                <a:gd name="T53" fmla="*/ 88992 h 553"/>
                <a:gd name="T54" fmla="*/ 38285 w 545"/>
                <a:gd name="T55" fmla="*/ 88992 h 553"/>
                <a:gd name="T56" fmla="*/ 38285 w 545"/>
                <a:gd name="T57" fmla="*/ 68538 h 553"/>
                <a:gd name="T58" fmla="*/ 2528 w 545"/>
                <a:gd name="T59" fmla="*/ 17942 h 553"/>
                <a:gd name="T60" fmla="*/ 0 w 545"/>
                <a:gd name="T61" fmla="*/ 10047 h 553"/>
                <a:gd name="T62" fmla="*/ 17698 w 545"/>
                <a:gd name="T63" fmla="*/ 2512 h 553"/>
                <a:gd name="T64" fmla="*/ 68985 w 545"/>
                <a:gd name="T65" fmla="*/ 53467 h 553"/>
                <a:gd name="T66" fmla="*/ 79098 w 545"/>
                <a:gd name="T67" fmla="*/ 27989 h 553"/>
                <a:gd name="T68" fmla="*/ 89211 w 545"/>
                <a:gd name="T69" fmla="*/ 78586 h 55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45" h="553">
                  <a:moveTo>
                    <a:pt x="537" y="50"/>
                  </a:moveTo>
                  <a:lnTo>
                    <a:pt x="537" y="50"/>
                  </a:lnTo>
                  <a:cubicBezTo>
                    <a:pt x="396" y="191"/>
                    <a:pt x="396" y="191"/>
                    <a:pt x="396" y="191"/>
                  </a:cubicBezTo>
                  <a:cubicBezTo>
                    <a:pt x="445" y="191"/>
                    <a:pt x="445" y="191"/>
                    <a:pt x="445" y="191"/>
                  </a:cubicBezTo>
                  <a:cubicBezTo>
                    <a:pt x="459" y="191"/>
                    <a:pt x="473" y="205"/>
                    <a:pt x="473" y="219"/>
                  </a:cubicBezTo>
                  <a:cubicBezTo>
                    <a:pt x="473" y="234"/>
                    <a:pt x="459" y="248"/>
                    <a:pt x="445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11" y="248"/>
                    <a:pt x="304" y="234"/>
                    <a:pt x="304" y="219"/>
                  </a:cubicBezTo>
                  <a:cubicBezTo>
                    <a:pt x="304" y="106"/>
                    <a:pt x="304" y="106"/>
                    <a:pt x="304" y="106"/>
                  </a:cubicBezTo>
                  <a:cubicBezTo>
                    <a:pt x="304" y="92"/>
                    <a:pt x="311" y="78"/>
                    <a:pt x="332" y="78"/>
                  </a:cubicBezTo>
                  <a:cubicBezTo>
                    <a:pt x="346" y="78"/>
                    <a:pt x="360" y="92"/>
                    <a:pt x="360" y="106"/>
                  </a:cubicBezTo>
                  <a:cubicBezTo>
                    <a:pt x="360" y="149"/>
                    <a:pt x="360" y="149"/>
                    <a:pt x="360" y="149"/>
                  </a:cubicBezTo>
                  <a:cubicBezTo>
                    <a:pt x="502" y="7"/>
                    <a:pt x="502" y="7"/>
                    <a:pt x="502" y="7"/>
                  </a:cubicBezTo>
                  <a:cubicBezTo>
                    <a:pt x="502" y="7"/>
                    <a:pt x="509" y="0"/>
                    <a:pt x="516" y="0"/>
                  </a:cubicBezTo>
                  <a:cubicBezTo>
                    <a:pt x="537" y="0"/>
                    <a:pt x="544" y="14"/>
                    <a:pt x="544" y="28"/>
                  </a:cubicBezTo>
                  <a:cubicBezTo>
                    <a:pt x="544" y="36"/>
                    <a:pt x="544" y="43"/>
                    <a:pt x="537" y="50"/>
                  </a:cubicBezTo>
                  <a:close/>
                  <a:moveTo>
                    <a:pt x="332" y="304"/>
                  </a:moveTo>
                  <a:lnTo>
                    <a:pt x="332" y="304"/>
                  </a:lnTo>
                  <a:cubicBezTo>
                    <a:pt x="445" y="304"/>
                    <a:pt x="445" y="304"/>
                    <a:pt x="445" y="304"/>
                  </a:cubicBezTo>
                  <a:cubicBezTo>
                    <a:pt x="459" y="304"/>
                    <a:pt x="473" y="318"/>
                    <a:pt x="473" y="332"/>
                  </a:cubicBezTo>
                  <a:cubicBezTo>
                    <a:pt x="473" y="347"/>
                    <a:pt x="459" y="361"/>
                    <a:pt x="445" y="361"/>
                  </a:cubicBezTo>
                  <a:cubicBezTo>
                    <a:pt x="396" y="361"/>
                    <a:pt x="396" y="361"/>
                    <a:pt x="396" y="361"/>
                  </a:cubicBezTo>
                  <a:cubicBezTo>
                    <a:pt x="537" y="502"/>
                    <a:pt x="537" y="502"/>
                    <a:pt x="537" y="502"/>
                  </a:cubicBezTo>
                  <a:cubicBezTo>
                    <a:pt x="544" y="509"/>
                    <a:pt x="544" y="516"/>
                    <a:pt x="544" y="523"/>
                  </a:cubicBezTo>
                  <a:cubicBezTo>
                    <a:pt x="544" y="537"/>
                    <a:pt x="537" y="552"/>
                    <a:pt x="516" y="552"/>
                  </a:cubicBezTo>
                  <a:cubicBezTo>
                    <a:pt x="509" y="552"/>
                    <a:pt x="502" y="545"/>
                    <a:pt x="502" y="545"/>
                  </a:cubicBezTo>
                  <a:cubicBezTo>
                    <a:pt x="360" y="403"/>
                    <a:pt x="360" y="403"/>
                    <a:pt x="360" y="403"/>
                  </a:cubicBezTo>
                  <a:cubicBezTo>
                    <a:pt x="360" y="445"/>
                    <a:pt x="360" y="445"/>
                    <a:pt x="360" y="445"/>
                  </a:cubicBezTo>
                  <a:cubicBezTo>
                    <a:pt x="360" y="460"/>
                    <a:pt x="346" y="474"/>
                    <a:pt x="332" y="474"/>
                  </a:cubicBezTo>
                  <a:cubicBezTo>
                    <a:pt x="311" y="474"/>
                    <a:pt x="304" y="460"/>
                    <a:pt x="304" y="445"/>
                  </a:cubicBezTo>
                  <a:cubicBezTo>
                    <a:pt x="304" y="332"/>
                    <a:pt x="304" y="332"/>
                    <a:pt x="304" y="332"/>
                  </a:cubicBezTo>
                  <a:cubicBezTo>
                    <a:pt x="304" y="318"/>
                    <a:pt x="311" y="304"/>
                    <a:pt x="332" y="304"/>
                  </a:cubicBezTo>
                  <a:close/>
                  <a:moveTo>
                    <a:pt x="219" y="474"/>
                  </a:moveTo>
                  <a:lnTo>
                    <a:pt x="219" y="474"/>
                  </a:lnTo>
                  <a:cubicBezTo>
                    <a:pt x="198" y="474"/>
                    <a:pt x="191" y="460"/>
                    <a:pt x="191" y="445"/>
                  </a:cubicBezTo>
                  <a:cubicBezTo>
                    <a:pt x="191" y="403"/>
                    <a:pt x="191" y="403"/>
                    <a:pt x="191" y="403"/>
                  </a:cubicBezTo>
                  <a:cubicBezTo>
                    <a:pt x="49" y="545"/>
                    <a:pt x="49" y="545"/>
                    <a:pt x="49" y="545"/>
                  </a:cubicBezTo>
                  <a:cubicBezTo>
                    <a:pt x="42" y="545"/>
                    <a:pt x="35" y="552"/>
                    <a:pt x="28" y="552"/>
                  </a:cubicBezTo>
                  <a:cubicBezTo>
                    <a:pt x="14" y="552"/>
                    <a:pt x="0" y="537"/>
                    <a:pt x="0" y="523"/>
                  </a:cubicBezTo>
                  <a:cubicBezTo>
                    <a:pt x="0" y="516"/>
                    <a:pt x="0" y="509"/>
                    <a:pt x="7" y="502"/>
                  </a:cubicBezTo>
                  <a:cubicBezTo>
                    <a:pt x="148" y="361"/>
                    <a:pt x="148" y="361"/>
                    <a:pt x="148" y="361"/>
                  </a:cubicBezTo>
                  <a:cubicBezTo>
                    <a:pt x="106" y="361"/>
                    <a:pt x="106" y="361"/>
                    <a:pt x="106" y="361"/>
                  </a:cubicBezTo>
                  <a:cubicBezTo>
                    <a:pt x="85" y="361"/>
                    <a:pt x="78" y="347"/>
                    <a:pt x="78" y="332"/>
                  </a:cubicBezTo>
                  <a:cubicBezTo>
                    <a:pt x="78" y="318"/>
                    <a:pt x="85" y="304"/>
                    <a:pt x="106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33" y="304"/>
                    <a:pt x="247" y="318"/>
                    <a:pt x="247" y="332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60"/>
                    <a:pt x="233" y="474"/>
                    <a:pt x="219" y="474"/>
                  </a:cubicBezTo>
                  <a:close/>
                  <a:moveTo>
                    <a:pt x="219" y="248"/>
                  </a:moveTo>
                  <a:lnTo>
                    <a:pt x="219" y="248"/>
                  </a:lnTo>
                  <a:cubicBezTo>
                    <a:pt x="106" y="248"/>
                    <a:pt x="106" y="248"/>
                    <a:pt x="106" y="248"/>
                  </a:cubicBezTo>
                  <a:cubicBezTo>
                    <a:pt x="85" y="248"/>
                    <a:pt x="78" y="234"/>
                    <a:pt x="78" y="219"/>
                  </a:cubicBezTo>
                  <a:cubicBezTo>
                    <a:pt x="78" y="205"/>
                    <a:pt x="85" y="191"/>
                    <a:pt x="106" y="191"/>
                  </a:cubicBezTo>
                  <a:cubicBezTo>
                    <a:pt x="148" y="191"/>
                    <a:pt x="148" y="191"/>
                    <a:pt x="148" y="19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0" y="43"/>
                    <a:pt x="0" y="36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35" y="0"/>
                    <a:pt x="42" y="7"/>
                    <a:pt x="49" y="7"/>
                  </a:cubicBezTo>
                  <a:cubicBezTo>
                    <a:pt x="191" y="149"/>
                    <a:pt x="191" y="149"/>
                    <a:pt x="191" y="149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92"/>
                    <a:pt x="198" y="78"/>
                    <a:pt x="219" y="78"/>
                  </a:cubicBezTo>
                  <a:cubicBezTo>
                    <a:pt x="233" y="78"/>
                    <a:pt x="247" y="92"/>
                    <a:pt x="247" y="106"/>
                  </a:cubicBezTo>
                  <a:cubicBezTo>
                    <a:pt x="247" y="219"/>
                    <a:pt x="247" y="219"/>
                    <a:pt x="247" y="219"/>
                  </a:cubicBezTo>
                  <a:cubicBezTo>
                    <a:pt x="247" y="234"/>
                    <a:pt x="233" y="248"/>
                    <a:pt x="219" y="2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/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5108575" y="2754630"/>
            <a:ext cx="413385" cy="471170"/>
            <a:chOff x="5477321" y="2928654"/>
            <a:chExt cx="418023" cy="481064"/>
          </a:xfrm>
          <a:effectLst/>
        </p:grpSpPr>
        <p:sp>
          <p:nvSpPr>
            <p:cNvPr id="91" name="任意多边形: 形状 90"/>
            <p:cNvSpPr/>
            <p:nvPr/>
          </p:nvSpPr>
          <p:spPr>
            <a:xfrm>
              <a:off x="5477321" y="2928654"/>
              <a:ext cx="418023" cy="481064"/>
            </a:xfrm>
            <a:custGeom>
              <a:avLst/>
              <a:gdLst>
                <a:gd name="connsiteX0" fmla="*/ 2972 w 418023"/>
                <a:gd name="connsiteY0" fmla="*/ 127377 h 481064"/>
                <a:gd name="connsiteX1" fmla="*/ 58337 w 418023"/>
                <a:gd name="connsiteY1" fmla="*/ 159283 h 481064"/>
                <a:gd name="connsiteX2" fmla="*/ 56016 w 418023"/>
                <a:gd name="connsiteY2" fmla="*/ 173846 h 481064"/>
                <a:gd name="connsiteX3" fmla="*/ 56016 w 418023"/>
                <a:gd name="connsiteY3" fmla="*/ 301827 h 481064"/>
                <a:gd name="connsiteX4" fmla="*/ 78588 w 418023"/>
                <a:gd name="connsiteY4" fmla="*/ 341703 h 481064"/>
                <a:gd name="connsiteX5" fmla="*/ 183092 w 418023"/>
                <a:gd name="connsiteY5" fmla="*/ 404241 h 481064"/>
                <a:gd name="connsiteX6" fmla="*/ 190432 w 418023"/>
                <a:gd name="connsiteY6" fmla="*/ 407794 h 481064"/>
                <a:gd name="connsiteX7" fmla="*/ 190432 w 418023"/>
                <a:gd name="connsiteY7" fmla="*/ 481064 h 481064"/>
                <a:gd name="connsiteX8" fmla="*/ 185160 w 418023"/>
                <a:gd name="connsiteY8" fmla="*/ 478350 h 481064"/>
                <a:gd name="connsiteX9" fmla="*/ 22597 w 418023"/>
                <a:gd name="connsiteY9" fmla="*/ 381064 h 481064"/>
                <a:gd name="connsiteX10" fmla="*/ 0 w 418023"/>
                <a:gd name="connsiteY10" fmla="*/ 341237 h 481064"/>
                <a:gd name="connsiteX11" fmla="*/ 0 w 418023"/>
                <a:gd name="connsiteY11" fmla="*/ 143724 h 481064"/>
                <a:gd name="connsiteX12" fmla="*/ 2975 w 418023"/>
                <a:gd name="connsiteY12" fmla="*/ 127377 h 481064"/>
                <a:gd name="connsiteX13" fmla="*/ 418018 w 418023"/>
                <a:gd name="connsiteY13" fmla="*/ 143724 h 481064"/>
                <a:gd name="connsiteX14" fmla="*/ 418018 w 418023"/>
                <a:gd name="connsiteY14" fmla="*/ 341215 h 481064"/>
                <a:gd name="connsiteX15" fmla="*/ 395421 w 418023"/>
                <a:gd name="connsiteY15" fmla="*/ 381064 h 481064"/>
                <a:gd name="connsiteX16" fmla="*/ 232863 w 418023"/>
                <a:gd name="connsiteY16" fmla="*/ 478374 h 481064"/>
                <a:gd name="connsiteX17" fmla="*/ 227591 w 418023"/>
                <a:gd name="connsiteY17" fmla="*/ 481064 h 481064"/>
                <a:gd name="connsiteX18" fmla="*/ 227591 w 418023"/>
                <a:gd name="connsiteY18" fmla="*/ 405987 h 481064"/>
                <a:gd name="connsiteX19" fmla="*/ 230796 w 418023"/>
                <a:gd name="connsiteY19" fmla="*/ 404244 h 481064"/>
                <a:gd name="connsiteX20" fmla="*/ 335300 w 418023"/>
                <a:gd name="connsiteY20" fmla="*/ 341705 h 481064"/>
                <a:gd name="connsiteX21" fmla="*/ 357894 w 418023"/>
                <a:gd name="connsiteY21" fmla="*/ 301829 h 481064"/>
                <a:gd name="connsiteX22" fmla="*/ 357894 w 418023"/>
                <a:gd name="connsiteY22" fmla="*/ 173846 h 481064"/>
                <a:gd name="connsiteX23" fmla="*/ 357246 w 418023"/>
                <a:gd name="connsiteY23" fmla="*/ 166043 h 481064"/>
                <a:gd name="connsiteX24" fmla="*/ 416487 w 418023"/>
                <a:gd name="connsiteY24" fmla="*/ 131905 h 481064"/>
                <a:gd name="connsiteX25" fmla="*/ 418023 w 418023"/>
                <a:gd name="connsiteY25" fmla="*/ 143724 h 481064"/>
                <a:gd name="connsiteX26" fmla="*/ 232863 w 418023"/>
                <a:gd name="connsiteY26" fmla="*/ 6591 h 481064"/>
                <a:gd name="connsiteX27" fmla="*/ 393171 w 418023"/>
                <a:gd name="connsiteY27" fmla="*/ 102505 h 481064"/>
                <a:gd name="connsiteX28" fmla="*/ 336855 w 418023"/>
                <a:gd name="connsiteY28" fmla="*/ 134946 h 481064"/>
                <a:gd name="connsiteX29" fmla="*/ 335300 w 418023"/>
                <a:gd name="connsiteY29" fmla="*/ 133970 h 481064"/>
                <a:gd name="connsiteX30" fmla="*/ 230796 w 418023"/>
                <a:gd name="connsiteY30" fmla="*/ 71432 h 481064"/>
                <a:gd name="connsiteX31" fmla="*/ 183095 w 418023"/>
                <a:gd name="connsiteY31" fmla="*/ 71432 h 481064"/>
                <a:gd name="connsiteX32" fmla="*/ 83558 w 418023"/>
                <a:gd name="connsiteY32" fmla="*/ 130998 h 481064"/>
                <a:gd name="connsiteX33" fmla="*/ 29378 w 418023"/>
                <a:gd name="connsiteY33" fmla="*/ 99786 h 481064"/>
                <a:gd name="connsiteX34" fmla="*/ 185160 w 418023"/>
                <a:gd name="connsiteY34" fmla="*/ 6591 h 481064"/>
                <a:gd name="connsiteX35" fmla="*/ 232861 w 418023"/>
                <a:gd name="connsiteY35" fmla="*/ 6591 h 48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18023" h="481064">
                  <a:moveTo>
                    <a:pt x="2972" y="127377"/>
                  </a:moveTo>
                  <a:lnTo>
                    <a:pt x="58337" y="159283"/>
                  </a:lnTo>
                  <a:cubicBezTo>
                    <a:pt x="56790" y="163982"/>
                    <a:pt x="56006" y="168899"/>
                    <a:pt x="56016" y="173846"/>
                  </a:cubicBezTo>
                  <a:lnTo>
                    <a:pt x="56016" y="301827"/>
                  </a:lnTo>
                  <a:cubicBezTo>
                    <a:pt x="56004" y="318164"/>
                    <a:pt x="64575" y="333305"/>
                    <a:pt x="78588" y="341703"/>
                  </a:cubicBezTo>
                  <a:lnTo>
                    <a:pt x="183092" y="404241"/>
                  </a:lnTo>
                  <a:cubicBezTo>
                    <a:pt x="185430" y="405639"/>
                    <a:pt x="187886" y="406828"/>
                    <a:pt x="190432" y="407794"/>
                  </a:cubicBezTo>
                  <a:lnTo>
                    <a:pt x="190432" y="481064"/>
                  </a:lnTo>
                  <a:cubicBezTo>
                    <a:pt x="188619" y="480274"/>
                    <a:pt x="186858" y="479364"/>
                    <a:pt x="185160" y="478350"/>
                  </a:cubicBezTo>
                  <a:lnTo>
                    <a:pt x="22597" y="381064"/>
                  </a:lnTo>
                  <a:cubicBezTo>
                    <a:pt x="8589" y="372682"/>
                    <a:pt x="9" y="357562"/>
                    <a:pt x="0" y="341237"/>
                  </a:cubicBezTo>
                  <a:lnTo>
                    <a:pt x="0" y="143724"/>
                  </a:lnTo>
                  <a:cubicBezTo>
                    <a:pt x="0" y="138059"/>
                    <a:pt x="1046" y="132532"/>
                    <a:pt x="2975" y="127377"/>
                  </a:cubicBezTo>
                  <a:close/>
                  <a:moveTo>
                    <a:pt x="418018" y="143724"/>
                  </a:moveTo>
                  <a:lnTo>
                    <a:pt x="418018" y="341215"/>
                  </a:lnTo>
                  <a:cubicBezTo>
                    <a:pt x="418016" y="357547"/>
                    <a:pt x="409436" y="372678"/>
                    <a:pt x="395421" y="381064"/>
                  </a:cubicBezTo>
                  <a:lnTo>
                    <a:pt x="232863" y="478374"/>
                  </a:lnTo>
                  <a:cubicBezTo>
                    <a:pt x="231144" y="479374"/>
                    <a:pt x="229379" y="480279"/>
                    <a:pt x="227591" y="481064"/>
                  </a:cubicBezTo>
                  <a:lnTo>
                    <a:pt x="227591" y="405987"/>
                  </a:lnTo>
                  <a:cubicBezTo>
                    <a:pt x="228681" y="405451"/>
                    <a:pt x="229749" y="404870"/>
                    <a:pt x="230796" y="404244"/>
                  </a:cubicBezTo>
                  <a:lnTo>
                    <a:pt x="335300" y="341705"/>
                  </a:lnTo>
                  <a:cubicBezTo>
                    <a:pt x="349321" y="333313"/>
                    <a:pt x="357901" y="318170"/>
                    <a:pt x="357894" y="301829"/>
                  </a:cubicBezTo>
                  <a:lnTo>
                    <a:pt x="357894" y="173846"/>
                  </a:lnTo>
                  <a:cubicBezTo>
                    <a:pt x="357899" y="171231"/>
                    <a:pt x="357682" y="168621"/>
                    <a:pt x="357246" y="166043"/>
                  </a:cubicBezTo>
                  <a:lnTo>
                    <a:pt x="416487" y="131905"/>
                  </a:lnTo>
                  <a:cubicBezTo>
                    <a:pt x="417487" y="135713"/>
                    <a:pt x="418023" y="139684"/>
                    <a:pt x="418023" y="143724"/>
                  </a:cubicBezTo>
                  <a:close/>
                  <a:moveTo>
                    <a:pt x="232863" y="6591"/>
                  </a:moveTo>
                  <a:lnTo>
                    <a:pt x="393171" y="102505"/>
                  </a:lnTo>
                  <a:lnTo>
                    <a:pt x="336855" y="134946"/>
                  </a:lnTo>
                  <a:cubicBezTo>
                    <a:pt x="336343" y="134611"/>
                    <a:pt x="335823" y="134287"/>
                    <a:pt x="335300" y="133970"/>
                  </a:cubicBezTo>
                  <a:lnTo>
                    <a:pt x="230796" y="71432"/>
                  </a:lnTo>
                  <a:cubicBezTo>
                    <a:pt x="216110" y="62643"/>
                    <a:pt x="197780" y="62643"/>
                    <a:pt x="183095" y="71432"/>
                  </a:cubicBezTo>
                  <a:lnTo>
                    <a:pt x="83558" y="130998"/>
                  </a:lnTo>
                  <a:lnTo>
                    <a:pt x="29378" y="99786"/>
                  </a:lnTo>
                  <a:lnTo>
                    <a:pt x="185160" y="6591"/>
                  </a:lnTo>
                  <a:cubicBezTo>
                    <a:pt x="199846" y="-2197"/>
                    <a:pt x="218175" y="-2197"/>
                    <a:pt x="232861" y="659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5565131" y="3030484"/>
              <a:ext cx="233112" cy="261933"/>
            </a:xfrm>
            <a:custGeom>
              <a:avLst/>
              <a:gdLst>
                <a:gd name="connsiteX0" fmla="*/ 3504 w 233112"/>
                <a:gd name="connsiteY0" fmla="*/ 70575 h 261933"/>
                <a:gd name="connsiteX1" fmla="*/ 107916 w 233112"/>
                <a:gd name="connsiteY1" fmla="*/ 130492 h 261933"/>
                <a:gd name="connsiteX2" fmla="*/ 107916 w 233112"/>
                <a:gd name="connsiteY2" fmla="*/ 261933 h 261933"/>
                <a:gd name="connsiteX3" fmla="*/ 92773 w 233112"/>
                <a:gd name="connsiteY3" fmla="*/ 256174 h 261933"/>
                <a:gd name="connsiteX4" fmla="*/ 22644 w 233112"/>
                <a:gd name="connsiteY4" fmla="*/ 214374 h 261933"/>
                <a:gd name="connsiteX5" fmla="*/ 0 w 233112"/>
                <a:gd name="connsiteY5" fmla="*/ 174476 h 261933"/>
                <a:gd name="connsiteX6" fmla="*/ 0 w 233112"/>
                <a:gd name="connsiteY6" fmla="*/ 88271 h 261933"/>
                <a:gd name="connsiteX7" fmla="*/ 3482 w 233112"/>
                <a:gd name="connsiteY7" fmla="*/ 70575 h 261933"/>
                <a:gd name="connsiteX8" fmla="*/ 3507 w 233112"/>
                <a:gd name="connsiteY8" fmla="*/ 70575 h 261933"/>
                <a:gd name="connsiteX9" fmla="*/ 233112 w 233112"/>
                <a:gd name="connsiteY9" fmla="*/ 88271 h 261933"/>
                <a:gd name="connsiteX10" fmla="*/ 233112 w 233112"/>
                <a:gd name="connsiteY10" fmla="*/ 174476 h 261933"/>
                <a:gd name="connsiteX11" fmla="*/ 210447 w 233112"/>
                <a:gd name="connsiteY11" fmla="*/ 214374 h 261933"/>
                <a:gd name="connsiteX12" fmla="*/ 140334 w 233112"/>
                <a:gd name="connsiteY12" fmla="*/ 256174 h 261933"/>
                <a:gd name="connsiteX13" fmla="*/ 136572 w 233112"/>
                <a:gd name="connsiteY13" fmla="*/ 258198 h 261933"/>
                <a:gd name="connsiteX14" fmla="*/ 136572 w 233112"/>
                <a:gd name="connsiteY14" fmla="*/ 134601 h 261933"/>
                <a:gd name="connsiteX15" fmla="*/ 232322 w 233112"/>
                <a:gd name="connsiteY15" fmla="*/ 79702 h 261933"/>
                <a:gd name="connsiteX16" fmla="*/ 233112 w 233112"/>
                <a:gd name="connsiteY16" fmla="*/ 88271 h 261933"/>
                <a:gd name="connsiteX17" fmla="*/ 140334 w 233112"/>
                <a:gd name="connsiteY17" fmla="*/ 6573 h 261933"/>
                <a:gd name="connsiteX18" fmla="*/ 210469 w 233112"/>
                <a:gd name="connsiteY18" fmla="*/ 48375 h 261933"/>
                <a:gd name="connsiteX19" fmla="*/ 218691 w 233112"/>
                <a:gd name="connsiteY19" fmla="*/ 54645 h 261933"/>
                <a:gd name="connsiteX20" fmla="*/ 126587 w 233112"/>
                <a:gd name="connsiteY20" fmla="*/ 107432 h 261933"/>
                <a:gd name="connsiteX21" fmla="*/ 125055 w 233112"/>
                <a:gd name="connsiteY21" fmla="*/ 107432 h 261933"/>
                <a:gd name="connsiteX22" fmla="*/ 22407 w 233112"/>
                <a:gd name="connsiteY22" fmla="*/ 48514 h 261933"/>
                <a:gd name="connsiteX23" fmla="*/ 22641 w 233112"/>
                <a:gd name="connsiteY23" fmla="*/ 48351 h 261933"/>
                <a:gd name="connsiteX24" fmla="*/ 92773 w 233112"/>
                <a:gd name="connsiteY24" fmla="*/ 6549 h 261933"/>
                <a:gd name="connsiteX25" fmla="*/ 140332 w 233112"/>
                <a:gd name="connsiteY25" fmla="*/ 6549 h 261933"/>
                <a:gd name="connsiteX26" fmla="*/ 140332 w 233112"/>
                <a:gd name="connsiteY26" fmla="*/ 6573 h 261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3112" h="261933">
                  <a:moveTo>
                    <a:pt x="3504" y="70575"/>
                  </a:moveTo>
                  <a:lnTo>
                    <a:pt x="107916" y="130492"/>
                  </a:lnTo>
                  <a:lnTo>
                    <a:pt x="107916" y="261933"/>
                  </a:lnTo>
                  <a:cubicBezTo>
                    <a:pt x="102569" y="260917"/>
                    <a:pt x="97443" y="258968"/>
                    <a:pt x="92773" y="256174"/>
                  </a:cubicBezTo>
                  <a:lnTo>
                    <a:pt x="22644" y="214374"/>
                  </a:lnTo>
                  <a:cubicBezTo>
                    <a:pt x="8596" y="205990"/>
                    <a:pt x="-5" y="190835"/>
                    <a:pt x="0" y="174476"/>
                  </a:cubicBezTo>
                  <a:lnTo>
                    <a:pt x="0" y="88271"/>
                  </a:lnTo>
                  <a:cubicBezTo>
                    <a:pt x="0" y="82094"/>
                    <a:pt x="1232" y="76103"/>
                    <a:pt x="3482" y="70575"/>
                  </a:cubicBezTo>
                  <a:lnTo>
                    <a:pt x="3507" y="70575"/>
                  </a:lnTo>
                  <a:close/>
                  <a:moveTo>
                    <a:pt x="233112" y="88271"/>
                  </a:moveTo>
                  <a:lnTo>
                    <a:pt x="233112" y="174476"/>
                  </a:lnTo>
                  <a:cubicBezTo>
                    <a:pt x="233112" y="190838"/>
                    <a:pt x="224502" y="205996"/>
                    <a:pt x="210447" y="214374"/>
                  </a:cubicBezTo>
                  <a:lnTo>
                    <a:pt x="140334" y="256174"/>
                  </a:lnTo>
                  <a:cubicBezTo>
                    <a:pt x="139106" y="256896"/>
                    <a:pt x="137850" y="257569"/>
                    <a:pt x="136572" y="258198"/>
                  </a:cubicBezTo>
                  <a:lnTo>
                    <a:pt x="136572" y="134601"/>
                  </a:lnTo>
                  <a:lnTo>
                    <a:pt x="232322" y="79702"/>
                  </a:lnTo>
                  <a:cubicBezTo>
                    <a:pt x="232851" y="82530"/>
                    <a:pt x="233114" y="85395"/>
                    <a:pt x="233112" y="88271"/>
                  </a:cubicBezTo>
                  <a:close/>
                  <a:moveTo>
                    <a:pt x="140334" y="6573"/>
                  </a:moveTo>
                  <a:lnTo>
                    <a:pt x="210469" y="48375"/>
                  </a:lnTo>
                  <a:cubicBezTo>
                    <a:pt x="213435" y="50152"/>
                    <a:pt x="216192" y="52255"/>
                    <a:pt x="218691" y="54645"/>
                  </a:cubicBezTo>
                  <a:lnTo>
                    <a:pt x="126587" y="107432"/>
                  </a:lnTo>
                  <a:lnTo>
                    <a:pt x="125055" y="107432"/>
                  </a:lnTo>
                  <a:lnTo>
                    <a:pt x="22407" y="48514"/>
                  </a:lnTo>
                  <a:lnTo>
                    <a:pt x="22641" y="48351"/>
                  </a:lnTo>
                  <a:lnTo>
                    <a:pt x="92773" y="6549"/>
                  </a:lnTo>
                  <a:cubicBezTo>
                    <a:pt x="107424" y="-2183"/>
                    <a:pt x="125681" y="-2183"/>
                    <a:pt x="140332" y="6549"/>
                  </a:cubicBezTo>
                  <a:lnTo>
                    <a:pt x="140332" y="6573"/>
                  </a:ln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3" name="图形 80"/>
          <p:cNvSpPr/>
          <p:nvPr/>
        </p:nvSpPr>
        <p:spPr>
          <a:xfrm>
            <a:off x="5854700" y="2759075"/>
            <a:ext cx="423545" cy="461645"/>
          </a:xfrm>
          <a:custGeom>
            <a:avLst/>
            <a:gdLst>
              <a:gd name="connsiteX0" fmla="*/ 186082 w 428174"/>
              <a:gd name="connsiteY0" fmla="*/ 6758 h 470920"/>
              <a:gd name="connsiteX1" fmla="*/ 242092 w 428174"/>
              <a:gd name="connsiteY1" fmla="*/ 6758 h 470920"/>
              <a:gd name="connsiteX2" fmla="*/ 392532 w 428174"/>
              <a:gd name="connsiteY2" fmla="*/ 83545 h 470920"/>
              <a:gd name="connsiteX3" fmla="*/ 428174 w 428174"/>
              <a:gd name="connsiteY3" fmla="*/ 143057 h 470920"/>
              <a:gd name="connsiteX4" fmla="*/ 428174 w 428174"/>
              <a:gd name="connsiteY4" fmla="*/ 327881 h 470920"/>
              <a:gd name="connsiteX5" fmla="*/ 392532 w 428174"/>
              <a:gd name="connsiteY5" fmla="*/ 387393 h 470920"/>
              <a:gd name="connsiteX6" fmla="*/ 242092 w 428174"/>
              <a:gd name="connsiteY6" fmla="*/ 464156 h 470920"/>
              <a:gd name="connsiteX7" fmla="*/ 189415 w 428174"/>
              <a:gd name="connsiteY7" fmla="*/ 465746 h 470920"/>
              <a:gd name="connsiteX8" fmla="*/ 186082 w 428174"/>
              <a:gd name="connsiteY8" fmla="*/ 464156 h 470920"/>
              <a:gd name="connsiteX9" fmla="*/ 35643 w 428174"/>
              <a:gd name="connsiteY9" fmla="*/ 387393 h 470920"/>
              <a:gd name="connsiteX10" fmla="*/ 0 w 428174"/>
              <a:gd name="connsiteY10" fmla="*/ 327881 h 470920"/>
              <a:gd name="connsiteX11" fmla="*/ 0 w 428174"/>
              <a:gd name="connsiteY11" fmla="*/ 143033 h 470920"/>
              <a:gd name="connsiteX12" fmla="*/ 35643 w 428174"/>
              <a:gd name="connsiteY12" fmla="*/ 83521 h 470920"/>
              <a:gd name="connsiteX13" fmla="*/ 186082 w 428174"/>
              <a:gd name="connsiteY13" fmla="*/ 6758 h 470920"/>
              <a:gd name="connsiteX14" fmla="*/ 320552 w 428174"/>
              <a:gd name="connsiteY14" fmla="*/ 146310 h 470920"/>
              <a:gd name="connsiteX15" fmla="*/ 297709 w 428174"/>
              <a:gd name="connsiteY15" fmla="*/ 141684 h 470920"/>
              <a:gd name="connsiteX16" fmla="*/ 296251 w 428174"/>
              <a:gd name="connsiteY16" fmla="*/ 142720 h 470920"/>
              <a:gd name="connsiteX17" fmla="*/ 214087 w 428174"/>
              <a:gd name="connsiteY17" fmla="*/ 206858 h 470920"/>
              <a:gd name="connsiteX18" fmla="*/ 131924 w 428174"/>
              <a:gd name="connsiteY18" fmla="*/ 142720 h 470920"/>
              <a:gd name="connsiteX19" fmla="*/ 130466 w 428174"/>
              <a:gd name="connsiteY19" fmla="*/ 141684 h 470920"/>
              <a:gd name="connsiteX20" fmla="*/ 106648 w 428174"/>
              <a:gd name="connsiteY20" fmla="*/ 147871 h 470920"/>
              <a:gd name="connsiteX21" fmla="*/ 109728 w 428174"/>
              <a:gd name="connsiteY21" fmla="*/ 170428 h 470920"/>
              <a:gd name="connsiteX22" fmla="*/ 111094 w 428174"/>
              <a:gd name="connsiteY22" fmla="*/ 171609 h 470920"/>
              <a:gd name="connsiteX23" fmla="*/ 196729 w 428174"/>
              <a:gd name="connsiteY23" fmla="*/ 238469 h 470920"/>
              <a:gd name="connsiteX24" fmla="*/ 196729 w 428174"/>
              <a:gd name="connsiteY24" fmla="*/ 349927 h 470920"/>
              <a:gd name="connsiteX25" fmla="*/ 214087 w 428174"/>
              <a:gd name="connsiteY25" fmla="*/ 367997 h 470920"/>
              <a:gd name="connsiteX26" fmla="*/ 231446 w 428174"/>
              <a:gd name="connsiteY26" fmla="*/ 349927 h 470920"/>
              <a:gd name="connsiteX27" fmla="*/ 231446 w 428174"/>
              <a:gd name="connsiteY27" fmla="*/ 238469 h 470920"/>
              <a:gd name="connsiteX28" fmla="*/ 317081 w 428174"/>
              <a:gd name="connsiteY28" fmla="*/ 171632 h 470920"/>
              <a:gd name="connsiteX29" fmla="*/ 318446 w 428174"/>
              <a:gd name="connsiteY29" fmla="*/ 170452 h 470920"/>
              <a:gd name="connsiteX30" fmla="*/ 320529 w 428174"/>
              <a:gd name="connsiteY30" fmla="*/ 146334 h 47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8174" h="470920">
                <a:moveTo>
                  <a:pt x="186082" y="6758"/>
                </a:moveTo>
                <a:cubicBezTo>
                  <a:pt x="203749" y="-2253"/>
                  <a:pt x="224426" y="-2253"/>
                  <a:pt x="242092" y="6758"/>
                </a:cubicBezTo>
                <a:lnTo>
                  <a:pt x="392532" y="83545"/>
                </a:lnTo>
                <a:cubicBezTo>
                  <a:pt x="414346" y="94679"/>
                  <a:pt x="428173" y="117766"/>
                  <a:pt x="428174" y="143057"/>
                </a:cubicBezTo>
                <a:lnTo>
                  <a:pt x="428174" y="327881"/>
                </a:lnTo>
                <a:cubicBezTo>
                  <a:pt x="428174" y="353180"/>
                  <a:pt x="414334" y="376261"/>
                  <a:pt x="392532" y="387393"/>
                </a:cubicBezTo>
                <a:lnTo>
                  <a:pt x="242092" y="464156"/>
                </a:lnTo>
                <a:cubicBezTo>
                  <a:pt x="225578" y="472584"/>
                  <a:pt x="206370" y="473164"/>
                  <a:pt x="189415" y="465746"/>
                </a:cubicBezTo>
                <a:lnTo>
                  <a:pt x="186082" y="464156"/>
                </a:lnTo>
                <a:lnTo>
                  <a:pt x="35643" y="387393"/>
                </a:lnTo>
                <a:cubicBezTo>
                  <a:pt x="13828" y="376260"/>
                  <a:pt x="1" y="353172"/>
                  <a:pt x="0" y="327881"/>
                </a:cubicBezTo>
                <a:lnTo>
                  <a:pt x="0" y="143033"/>
                </a:lnTo>
                <a:cubicBezTo>
                  <a:pt x="0" y="117735"/>
                  <a:pt x="13841" y="94652"/>
                  <a:pt x="35643" y="83521"/>
                </a:cubicBezTo>
                <a:lnTo>
                  <a:pt x="186082" y="6758"/>
                </a:lnTo>
                <a:close/>
                <a:moveTo>
                  <a:pt x="320552" y="146310"/>
                </a:moveTo>
                <a:cubicBezTo>
                  <a:pt x="315205" y="138896"/>
                  <a:pt x="305336" y="136897"/>
                  <a:pt x="297709" y="141684"/>
                </a:cubicBezTo>
                <a:lnTo>
                  <a:pt x="296251" y="142720"/>
                </a:lnTo>
                <a:lnTo>
                  <a:pt x="214087" y="206858"/>
                </a:lnTo>
                <a:lnTo>
                  <a:pt x="131924" y="142720"/>
                </a:lnTo>
                <a:lnTo>
                  <a:pt x="130466" y="141684"/>
                </a:lnTo>
                <a:cubicBezTo>
                  <a:pt x="122248" y="136545"/>
                  <a:pt x="111584" y="139316"/>
                  <a:pt x="106648" y="147871"/>
                </a:cubicBezTo>
                <a:cubicBezTo>
                  <a:pt x="102419" y="155202"/>
                  <a:pt x="103705" y="164615"/>
                  <a:pt x="109728" y="170428"/>
                </a:cubicBezTo>
                <a:lnTo>
                  <a:pt x="111094" y="171609"/>
                </a:lnTo>
                <a:lnTo>
                  <a:pt x="196729" y="238469"/>
                </a:lnTo>
                <a:lnTo>
                  <a:pt x="196729" y="349927"/>
                </a:lnTo>
                <a:cubicBezTo>
                  <a:pt x="196729" y="359907"/>
                  <a:pt x="204500" y="367997"/>
                  <a:pt x="214087" y="367997"/>
                </a:cubicBezTo>
                <a:cubicBezTo>
                  <a:pt x="223674" y="367997"/>
                  <a:pt x="231446" y="359907"/>
                  <a:pt x="231446" y="349927"/>
                </a:cubicBezTo>
                <a:lnTo>
                  <a:pt x="231446" y="238469"/>
                </a:lnTo>
                <a:lnTo>
                  <a:pt x="317081" y="171632"/>
                </a:lnTo>
                <a:lnTo>
                  <a:pt x="318446" y="170452"/>
                </a:lnTo>
                <a:cubicBezTo>
                  <a:pt x="324977" y="164157"/>
                  <a:pt x="325877" y="153740"/>
                  <a:pt x="320529" y="146334"/>
                </a:cubicBezTo>
                <a:close/>
              </a:path>
            </a:pathLst>
          </a:cu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图形 82"/>
          <p:cNvSpPr/>
          <p:nvPr/>
        </p:nvSpPr>
        <p:spPr>
          <a:xfrm>
            <a:off x="6610350" y="2774950"/>
            <a:ext cx="386715" cy="430530"/>
          </a:xfrm>
          <a:custGeom>
            <a:avLst/>
            <a:gdLst>
              <a:gd name="connsiteX0" fmla="*/ 362369 w 391411"/>
              <a:gd name="connsiteY0" fmla="*/ 89851 h 439208"/>
              <a:gd name="connsiteX1" fmla="*/ 298706 w 391411"/>
              <a:gd name="connsiteY1" fmla="*/ 53089 h 439208"/>
              <a:gd name="connsiteX2" fmla="*/ 113305 w 391411"/>
              <a:gd name="connsiteY2" fmla="*/ 160136 h 439208"/>
              <a:gd name="connsiteX3" fmla="*/ 195711 w 391411"/>
              <a:gd name="connsiteY3" fmla="*/ 207713 h 439208"/>
              <a:gd name="connsiteX4" fmla="*/ 362369 w 391411"/>
              <a:gd name="connsiteY4" fmla="*/ 111482 h 439208"/>
              <a:gd name="connsiteX5" fmla="*/ 362610 w 391411"/>
              <a:gd name="connsiteY5" fmla="*/ 111350 h 439208"/>
              <a:gd name="connsiteX6" fmla="*/ 367246 w 391411"/>
              <a:gd name="connsiteY6" fmla="*/ 94620 h 439208"/>
              <a:gd name="connsiteX7" fmla="*/ 362369 w 391411"/>
              <a:gd name="connsiteY7" fmla="*/ 89851 h 439208"/>
              <a:gd name="connsiteX8" fmla="*/ 195700 w 391411"/>
              <a:gd name="connsiteY8" fmla="*/ 231496 h 439208"/>
              <a:gd name="connsiteX9" fmla="*/ 11815 w 391411"/>
              <a:gd name="connsiteY9" fmla="*/ 337674 h 439208"/>
              <a:gd name="connsiteX10" fmla="*/ 20083 w 391411"/>
              <a:gd name="connsiteY10" fmla="*/ 344186 h 439208"/>
              <a:gd name="connsiteX11" fmla="*/ 20105 w 391411"/>
              <a:gd name="connsiteY11" fmla="*/ 344208 h 439208"/>
              <a:gd name="connsiteX12" fmla="*/ 20215 w 391411"/>
              <a:gd name="connsiteY12" fmla="*/ 344274 h 439208"/>
              <a:gd name="connsiteX13" fmla="*/ 92695 w 391411"/>
              <a:gd name="connsiteY13" fmla="*/ 386108 h 439208"/>
              <a:gd name="connsiteX14" fmla="*/ 92706 w 391411"/>
              <a:gd name="connsiteY14" fmla="*/ 386108 h 439208"/>
              <a:gd name="connsiteX15" fmla="*/ 278107 w 391411"/>
              <a:gd name="connsiteY15" fmla="*/ 279073 h 439208"/>
              <a:gd name="connsiteX16" fmla="*/ 195700 w 391411"/>
              <a:gd name="connsiteY16" fmla="*/ 231496 h 439208"/>
              <a:gd name="connsiteX17" fmla="*/ 391411 w 391411"/>
              <a:gd name="connsiteY17" fmla="*/ 258716 h 439208"/>
              <a:gd name="connsiteX18" fmla="*/ 379145 w 391411"/>
              <a:gd name="connsiteY18" fmla="*/ 246452 h 439208"/>
              <a:gd name="connsiteX19" fmla="*/ 373184 w 391411"/>
              <a:gd name="connsiteY19" fmla="*/ 247999 h 439208"/>
              <a:gd name="connsiteX20" fmla="*/ 373184 w 391411"/>
              <a:gd name="connsiteY20" fmla="*/ 247988 h 439208"/>
              <a:gd name="connsiteX21" fmla="*/ 113294 w 391411"/>
              <a:gd name="connsiteY21" fmla="*/ 398011 h 439208"/>
              <a:gd name="connsiteX22" fmla="*/ 175354 w 391411"/>
              <a:gd name="connsiteY22" fmla="*/ 433828 h 439208"/>
              <a:gd name="connsiteX23" fmla="*/ 175530 w 391411"/>
              <a:gd name="connsiteY23" fmla="*/ 433938 h 439208"/>
              <a:gd name="connsiteX24" fmla="*/ 175617 w 391411"/>
              <a:gd name="connsiteY24" fmla="*/ 433982 h 439208"/>
              <a:gd name="connsiteX25" fmla="*/ 195711 w 391411"/>
              <a:gd name="connsiteY25" fmla="*/ 439209 h 439208"/>
              <a:gd name="connsiteX26" fmla="*/ 215981 w 391411"/>
              <a:gd name="connsiteY26" fmla="*/ 433872 h 439208"/>
              <a:gd name="connsiteX27" fmla="*/ 216113 w 391411"/>
              <a:gd name="connsiteY27" fmla="*/ 433806 h 439208"/>
              <a:gd name="connsiteX28" fmla="*/ 216244 w 391411"/>
              <a:gd name="connsiteY28" fmla="*/ 433729 h 439208"/>
              <a:gd name="connsiteX29" fmla="*/ 370769 w 391411"/>
              <a:gd name="connsiteY29" fmla="*/ 344504 h 439208"/>
              <a:gd name="connsiteX30" fmla="*/ 371065 w 391411"/>
              <a:gd name="connsiteY30" fmla="*/ 344350 h 439208"/>
              <a:gd name="connsiteX31" fmla="*/ 391411 w 391411"/>
              <a:gd name="connsiteY31" fmla="*/ 308797 h 439208"/>
              <a:gd name="connsiteX32" fmla="*/ 391411 w 391411"/>
              <a:gd name="connsiteY32" fmla="*/ 258727 h 439208"/>
              <a:gd name="connsiteX33" fmla="*/ 175102 w 391411"/>
              <a:gd name="connsiteY33" fmla="*/ 219604 h 439208"/>
              <a:gd name="connsiteX34" fmla="*/ 1493 w 391411"/>
              <a:gd name="connsiteY34" fmla="*/ 119355 h 439208"/>
              <a:gd name="connsiteX35" fmla="*/ 0 w 391411"/>
              <a:gd name="connsiteY35" fmla="*/ 130401 h 439208"/>
              <a:gd name="connsiteX36" fmla="*/ 0 w 391411"/>
              <a:gd name="connsiteY36" fmla="*/ 308807 h 439208"/>
              <a:gd name="connsiteX37" fmla="*/ 1504 w 391411"/>
              <a:gd name="connsiteY37" fmla="*/ 319832 h 439208"/>
              <a:gd name="connsiteX38" fmla="*/ 175102 w 391411"/>
              <a:gd name="connsiteY38" fmla="*/ 219604 h 439208"/>
              <a:gd name="connsiteX39" fmla="*/ 92706 w 391411"/>
              <a:gd name="connsiteY39" fmla="*/ 148233 h 439208"/>
              <a:gd name="connsiteX40" fmla="*/ 278118 w 391411"/>
              <a:gd name="connsiteY40" fmla="*/ 41187 h 439208"/>
              <a:gd name="connsiteX41" fmla="*/ 215706 w 391411"/>
              <a:gd name="connsiteY41" fmla="*/ 5172 h 439208"/>
              <a:gd name="connsiteX42" fmla="*/ 215695 w 391411"/>
              <a:gd name="connsiteY42" fmla="*/ 5172 h 439208"/>
              <a:gd name="connsiteX43" fmla="*/ 195711 w 391411"/>
              <a:gd name="connsiteY43" fmla="*/ 0 h 439208"/>
              <a:gd name="connsiteX44" fmla="*/ 175716 w 391411"/>
              <a:gd name="connsiteY44" fmla="*/ 5161 h 439208"/>
              <a:gd name="connsiteX45" fmla="*/ 175705 w 391411"/>
              <a:gd name="connsiteY45" fmla="*/ 5161 h 439208"/>
              <a:gd name="connsiteX46" fmla="*/ 21302 w 391411"/>
              <a:gd name="connsiteY46" fmla="*/ 94298 h 439208"/>
              <a:gd name="connsiteX47" fmla="*/ 21302 w 391411"/>
              <a:gd name="connsiteY47" fmla="*/ 94309 h 439208"/>
              <a:gd name="connsiteX48" fmla="*/ 21280 w 391411"/>
              <a:gd name="connsiteY48" fmla="*/ 94309 h 439208"/>
              <a:gd name="connsiteX49" fmla="*/ 11815 w 391411"/>
              <a:gd name="connsiteY49" fmla="*/ 101534 h 439208"/>
              <a:gd name="connsiteX50" fmla="*/ 92695 w 391411"/>
              <a:gd name="connsiteY50" fmla="*/ 148244 h 43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91411" h="439208">
                <a:moveTo>
                  <a:pt x="362369" y="89851"/>
                </a:moveTo>
                <a:lnTo>
                  <a:pt x="298706" y="53089"/>
                </a:lnTo>
                <a:lnTo>
                  <a:pt x="113305" y="160136"/>
                </a:lnTo>
                <a:lnTo>
                  <a:pt x="195711" y="207713"/>
                </a:lnTo>
                <a:lnTo>
                  <a:pt x="362369" y="111482"/>
                </a:lnTo>
                <a:lnTo>
                  <a:pt x="362610" y="111350"/>
                </a:lnTo>
                <a:cubicBezTo>
                  <a:pt x="368510" y="108011"/>
                  <a:pt x="370586" y="100520"/>
                  <a:pt x="367246" y="94620"/>
                </a:cubicBezTo>
                <a:cubicBezTo>
                  <a:pt x="366104" y="92602"/>
                  <a:pt x="364412" y="90948"/>
                  <a:pt x="362369" y="89851"/>
                </a:cubicBezTo>
                <a:moveTo>
                  <a:pt x="195700" y="231496"/>
                </a:moveTo>
                <a:lnTo>
                  <a:pt x="11815" y="337674"/>
                </a:lnTo>
                <a:cubicBezTo>
                  <a:pt x="14274" y="340167"/>
                  <a:pt x="17052" y="342374"/>
                  <a:pt x="20083" y="344186"/>
                </a:cubicBezTo>
                <a:lnTo>
                  <a:pt x="20105" y="344208"/>
                </a:lnTo>
                <a:lnTo>
                  <a:pt x="20215" y="344274"/>
                </a:lnTo>
                <a:lnTo>
                  <a:pt x="92695" y="386108"/>
                </a:lnTo>
                <a:lnTo>
                  <a:pt x="92706" y="386108"/>
                </a:lnTo>
                <a:lnTo>
                  <a:pt x="278107" y="279073"/>
                </a:lnTo>
                <a:lnTo>
                  <a:pt x="195700" y="231496"/>
                </a:lnTo>
                <a:close/>
                <a:moveTo>
                  <a:pt x="391411" y="258716"/>
                </a:moveTo>
                <a:cubicBezTo>
                  <a:pt x="391411" y="251942"/>
                  <a:pt x="385919" y="246451"/>
                  <a:pt x="379145" y="246452"/>
                </a:cubicBezTo>
                <a:cubicBezTo>
                  <a:pt x="377059" y="246452"/>
                  <a:pt x="375007" y="246985"/>
                  <a:pt x="373184" y="247999"/>
                </a:cubicBezTo>
                <a:lnTo>
                  <a:pt x="373184" y="247988"/>
                </a:lnTo>
                <a:lnTo>
                  <a:pt x="113294" y="398011"/>
                </a:lnTo>
                <a:lnTo>
                  <a:pt x="175354" y="433828"/>
                </a:lnTo>
                <a:lnTo>
                  <a:pt x="175530" y="433938"/>
                </a:lnTo>
                <a:lnTo>
                  <a:pt x="175617" y="433982"/>
                </a:lnTo>
                <a:cubicBezTo>
                  <a:pt x="181756" y="437420"/>
                  <a:pt x="188676" y="439220"/>
                  <a:pt x="195711" y="439209"/>
                </a:cubicBezTo>
                <a:cubicBezTo>
                  <a:pt x="203068" y="439209"/>
                  <a:pt x="209996" y="437276"/>
                  <a:pt x="215981" y="433872"/>
                </a:cubicBezTo>
                <a:lnTo>
                  <a:pt x="216113" y="433806"/>
                </a:lnTo>
                <a:lnTo>
                  <a:pt x="216244" y="433729"/>
                </a:lnTo>
                <a:lnTo>
                  <a:pt x="370769" y="344504"/>
                </a:lnTo>
                <a:lnTo>
                  <a:pt x="371065" y="344350"/>
                </a:lnTo>
                <a:cubicBezTo>
                  <a:pt x="383680" y="336953"/>
                  <a:pt x="391424" y="323420"/>
                  <a:pt x="391411" y="308797"/>
                </a:cubicBezTo>
                <a:lnTo>
                  <a:pt x="391411" y="258727"/>
                </a:lnTo>
                <a:close/>
                <a:moveTo>
                  <a:pt x="175102" y="219604"/>
                </a:moveTo>
                <a:lnTo>
                  <a:pt x="1493" y="119355"/>
                </a:lnTo>
                <a:cubicBezTo>
                  <a:pt x="527" y="122880"/>
                  <a:pt x="0" y="126580"/>
                  <a:pt x="0" y="130401"/>
                </a:cubicBezTo>
                <a:lnTo>
                  <a:pt x="0" y="308807"/>
                </a:lnTo>
                <a:cubicBezTo>
                  <a:pt x="0" y="312629"/>
                  <a:pt x="538" y="316318"/>
                  <a:pt x="1504" y="319832"/>
                </a:cubicBezTo>
                <a:lnTo>
                  <a:pt x="175102" y="219604"/>
                </a:lnTo>
                <a:close/>
                <a:moveTo>
                  <a:pt x="92706" y="148233"/>
                </a:moveTo>
                <a:lnTo>
                  <a:pt x="278118" y="41187"/>
                </a:lnTo>
                <a:lnTo>
                  <a:pt x="215706" y="5172"/>
                </a:lnTo>
                <a:lnTo>
                  <a:pt x="215695" y="5172"/>
                </a:lnTo>
                <a:cubicBezTo>
                  <a:pt x="209777" y="1878"/>
                  <a:pt x="202958" y="0"/>
                  <a:pt x="195711" y="0"/>
                </a:cubicBezTo>
                <a:cubicBezTo>
                  <a:pt x="188453" y="0"/>
                  <a:pt x="181635" y="1867"/>
                  <a:pt x="175716" y="5161"/>
                </a:cubicBezTo>
                <a:lnTo>
                  <a:pt x="175705" y="5161"/>
                </a:lnTo>
                <a:lnTo>
                  <a:pt x="21302" y="94298"/>
                </a:lnTo>
                <a:lnTo>
                  <a:pt x="21302" y="94309"/>
                </a:lnTo>
                <a:lnTo>
                  <a:pt x="21280" y="94309"/>
                </a:lnTo>
                <a:cubicBezTo>
                  <a:pt x="17796" y="96252"/>
                  <a:pt x="14608" y="98685"/>
                  <a:pt x="11815" y="101534"/>
                </a:cubicBezTo>
                <a:lnTo>
                  <a:pt x="92695" y="148244"/>
                </a:lnTo>
                <a:close/>
              </a:path>
            </a:pathLst>
          </a:cu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735320" y="2454275"/>
            <a:ext cx="144208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客户端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7" name="矩形: 圆角 30"/>
          <p:cNvSpPr/>
          <p:nvPr/>
        </p:nvSpPr>
        <p:spPr>
          <a:xfrm>
            <a:off x="4871085" y="2450465"/>
            <a:ext cx="3096260" cy="825500"/>
          </a:xfrm>
          <a:prstGeom prst="roundRect">
            <a:avLst>
              <a:gd name="adj" fmla="val 3204"/>
            </a:avLst>
          </a:prstGeom>
          <a:noFill/>
          <a:ln w="12700" cap="rnd">
            <a:solidFill>
              <a:schemeClr val="bg1">
                <a:lumMod val="50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7329805" y="2748280"/>
            <a:ext cx="428625" cy="483235"/>
            <a:chOff x="6535502" y="3486774"/>
            <a:chExt cx="428319" cy="483322"/>
          </a:xfrm>
          <a:effectLst/>
        </p:grpSpPr>
        <p:sp>
          <p:nvSpPr>
            <p:cNvPr id="101" name="任意多边形: 形状 100"/>
            <p:cNvSpPr/>
            <p:nvPr/>
          </p:nvSpPr>
          <p:spPr>
            <a:xfrm>
              <a:off x="6535502" y="3486774"/>
              <a:ext cx="428319" cy="483322"/>
            </a:xfrm>
            <a:custGeom>
              <a:avLst/>
              <a:gdLst>
                <a:gd name="connsiteX0" fmla="*/ 459130 w 459130"/>
                <a:gd name="connsiteY0" fmla="*/ 354321 h 511789"/>
                <a:gd name="connsiteX1" fmla="*/ 459130 w 459130"/>
                <a:gd name="connsiteY1" fmla="*/ 157468 h 511789"/>
                <a:gd name="connsiteX2" fmla="*/ 429574 w 459130"/>
                <a:gd name="connsiteY2" fmla="*/ 106390 h 511789"/>
                <a:gd name="connsiteX3" fmla="*/ 259121 w 459130"/>
                <a:gd name="connsiteY3" fmla="*/ 7964 h 511789"/>
                <a:gd name="connsiteX4" fmla="*/ 200009 w 459130"/>
                <a:gd name="connsiteY4" fmla="*/ 7964 h 511789"/>
                <a:gd name="connsiteX5" fmla="*/ 29556 w 459130"/>
                <a:gd name="connsiteY5" fmla="*/ 106390 h 511789"/>
                <a:gd name="connsiteX6" fmla="*/ 0 w 459130"/>
                <a:gd name="connsiteY6" fmla="*/ 157468 h 511789"/>
                <a:gd name="connsiteX7" fmla="*/ 0 w 459130"/>
                <a:gd name="connsiteY7" fmla="*/ 354321 h 511789"/>
                <a:gd name="connsiteX8" fmla="*/ 29556 w 459130"/>
                <a:gd name="connsiteY8" fmla="*/ 405399 h 511789"/>
                <a:gd name="connsiteX9" fmla="*/ 200009 w 459130"/>
                <a:gd name="connsiteY9" fmla="*/ 503826 h 511789"/>
                <a:gd name="connsiteX10" fmla="*/ 259121 w 459130"/>
                <a:gd name="connsiteY10" fmla="*/ 503826 h 511789"/>
                <a:gd name="connsiteX11" fmla="*/ 429574 w 459130"/>
                <a:gd name="connsiteY11" fmla="*/ 405399 h 511789"/>
                <a:gd name="connsiteX12" fmla="*/ 459130 w 459130"/>
                <a:gd name="connsiteY12" fmla="*/ 354321 h 511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9130" h="511789">
                  <a:moveTo>
                    <a:pt x="459130" y="354321"/>
                  </a:moveTo>
                  <a:lnTo>
                    <a:pt x="459130" y="157468"/>
                  </a:lnTo>
                  <a:cubicBezTo>
                    <a:pt x="459130" y="136521"/>
                    <a:pt x="447939" y="117008"/>
                    <a:pt x="429574" y="106390"/>
                  </a:cubicBezTo>
                  <a:lnTo>
                    <a:pt x="259121" y="7964"/>
                  </a:lnTo>
                  <a:cubicBezTo>
                    <a:pt x="240848" y="-2655"/>
                    <a:pt x="218282" y="-2655"/>
                    <a:pt x="200009" y="7964"/>
                  </a:cubicBezTo>
                  <a:lnTo>
                    <a:pt x="29556" y="106390"/>
                  </a:lnTo>
                  <a:cubicBezTo>
                    <a:pt x="11191" y="117008"/>
                    <a:pt x="0" y="136521"/>
                    <a:pt x="0" y="157468"/>
                  </a:cubicBezTo>
                  <a:lnTo>
                    <a:pt x="0" y="354321"/>
                  </a:lnTo>
                  <a:cubicBezTo>
                    <a:pt x="0" y="375268"/>
                    <a:pt x="11191" y="394782"/>
                    <a:pt x="29556" y="405399"/>
                  </a:cubicBezTo>
                  <a:lnTo>
                    <a:pt x="200009" y="503826"/>
                  </a:lnTo>
                  <a:cubicBezTo>
                    <a:pt x="218374" y="514444"/>
                    <a:pt x="240756" y="514444"/>
                    <a:pt x="259121" y="503826"/>
                  </a:cubicBezTo>
                  <a:lnTo>
                    <a:pt x="429574" y="405399"/>
                  </a:lnTo>
                  <a:cubicBezTo>
                    <a:pt x="447939" y="394782"/>
                    <a:pt x="459130" y="375268"/>
                    <a:pt x="459130" y="35432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6709239" y="3844421"/>
              <a:ext cx="80845" cy="81840"/>
            </a:xfrm>
            <a:custGeom>
              <a:avLst/>
              <a:gdLst>
                <a:gd name="connsiteX0" fmla="*/ 0 w 86661"/>
                <a:gd name="connsiteY0" fmla="*/ 43331 h 86660"/>
                <a:gd name="connsiteX1" fmla="*/ 43331 w 86661"/>
                <a:gd name="connsiteY1" fmla="*/ 86661 h 86660"/>
                <a:gd name="connsiteX2" fmla="*/ 86661 w 86661"/>
                <a:gd name="connsiteY2" fmla="*/ 43331 h 86660"/>
                <a:gd name="connsiteX3" fmla="*/ 43331 w 86661"/>
                <a:gd name="connsiteY3" fmla="*/ 0 h 86660"/>
                <a:gd name="connsiteX4" fmla="*/ 0 w 86661"/>
                <a:gd name="connsiteY4" fmla="*/ 43331 h 8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61" h="86660">
                  <a:moveTo>
                    <a:pt x="0" y="43331"/>
                  </a:moveTo>
                  <a:cubicBezTo>
                    <a:pt x="0" y="67261"/>
                    <a:pt x="19400" y="86661"/>
                    <a:pt x="43331" y="86661"/>
                  </a:cubicBezTo>
                  <a:cubicBezTo>
                    <a:pt x="67261" y="86661"/>
                    <a:pt x="86661" y="67261"/>
                    <a:pt x="86661" y="43331"/>
                  </a:cubicBezTo>
                  <a:cubicBezTo>
                    <a:pt x="86661" y="19400"/>
                    <a:pt x="67261" y="0"/>
                    <a:pt x="43331" y="0"/>
                  </a:cubicBezTo>
                  <a:cubicBezTo>
                    <a:pt x="19400" y="0"/>
                    <a:pt x="0" y="19400"/>
                    <a:pt x="0" y="43331"/>
                  </a:cubicBezTo>
                  <a:close/>
                </a:path>
              </a:pathLst>
            </a:custGeom>
            <a:solidFill>
              <a:schemeClr val="bg1"/>
            </a:soli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6850049" y="3606212"/>
              <a:ext cx="80844" cy="81849"/>
            </a:xfrm>
            <a:custGeom>
              <a:avLst/>
              <a:gdLst>
                <a:gd name="connsiteX0" fmla="*/ 0 w 86660"/>
                <a:gd name="connsiteY0" fmla="*/ 43335 h 86670"/>
                <a:gd name="connsiteX1" fmla="*/ 43326 w 86660"/>
                <a:gd name="connsiteY1" fmla="*/ 86670 h 86670"/>
                <a:gd name="connsiteX2" fmla="*/ 86661 w 86660"/>
                <a:gd name="connsiteY2" fmla="*/ 43344 h 86670"/>
                <a:gd name="connsiteX3" fmla="*/ 86661 w 86660"/>
                <a:gd name="connsiteY3" fmla="*/ 43335 h 86670"/>
                <a:gd name="connsiteX4" fmla="*/ 43335 w 86660"/>
                <a:gd name="connsiteY4" fmla="*/ 0 h 86670"/>
                <a:gd name="connsiteX5" fmla="*/ 0 w 86660"/>
                <a:gd name="connsiteY5" fmla="*/ 43326 h 86670"/>
                <a:gd name="connsiteX6" fmla="*/ 0 w 86660"/>
                <a:gd name="connsiteY6" fmla="*/ 43335 h 8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660" h="86670">
                  <a:moveTo>
                    <a:pt x="0" y="43335"/>
                  </a:moveTo>
                  <a:cubicBezTo>
                    <a:pt x="-3" y="67266"/>
                    <a:pt x="19395" y="86668"/>
                    <a:pt x="43326" y="86670"/>
                  </a:cubicBezTo>
                  <a:cubicBezTo>
                    <a:pt x="67256" y="86673"/>
                    <a:pt x="86658" y="67275"/>
                    <a:pt x="86661" y="43344"/>
                  </a:cubicBezTo>
                  <a:cubicBezTo>
                    <a:pt x="86661" y="43341"/>
                    <a:pt x="86661" y="43338"/>
                    <a:pt x="86661" y="43335"/>
                  </a:cubicBezTo>
                  <a:cubicBezTo>
                    <a:pt x="86663" y="19404"/>
                    <a:pt x="67266" y="3"/>
                    <a:pt x="43335" y="0"/>
                  </a:cubicBezTo>
                  <a:cubicBezTo>
                    <a:pt x="19404" y="-3"/>
                    <a:pt x="3" y="19395"/>
                    <a:pt x="0" y="43326"/>
                  </a:cubicBezTo>
                  <a:cubicBezTo>
                    <a:pt x="0" y="43329"/>
                    <a:pt x="0" y="43332"/>
                    <a:pt x="0" y="43335"/>
                  </a:cubicBezTo>
                  <a:close/>
                </a:path>
              </a:pathLst>
            </a:custGeom>
            <a:solidFill>
              <a:schemeClr val="bg1"/>
            </a:soli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6563611" y="3606216"/>
              <a:ext cx="80845" cy="81840"/>
            </a:xfrm>
            <a:custGeom>
              <a:avLst/>
              <a:gdLst>
                <a:gd name="connsiteX0" fmla="*/ 0 w 86661"/>
                <a:gd name="connsiteY0" fmla="*/ 43331 h 86660"/>
                <a:gd name="connsiteX1" fmla="*/ 43331 w 86661"/>
                <a:gd name="connsiteY1" fmla="*/ 86661 h 86660"/>
                <a:gd name="connsiteX2" fmla="*/ 86661 w 86661"/>
                <a:gd name="connsiteY2" fmla="*/ 43331 h 86660"/>
                <a:gd name="connsiteX3" fmla="*/ 43331 w 86661"/>
                <a:gd name="connsiteY3" fmla="*/ 0 h 86660"/>
                <a:gd name="connsiteX4" fmla="*/ 0 w 86661"/>
                <a:gd name="connsiteY4" fmla="*/ 43331 h 8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61" h="86660">
                  <a:moveTo>
                    <a:pt x="0" y="43331"/>
                  </a:moveTo>
                  <a:cubicBezTo>
                    <a:pt x="0" y="67261"/>
                    <a:pt x="19400" y="86661"/>
                    <a:pt x="43331" y="86661"/>
                  </a:cubicBezTo>
                  <a:cubicBezTo>
                    <a:pt x="67261" y="86661"/>
                    <a:pt x="86661" y="67261"/>
                    <a:pt x="86661" y="43331"/>
                  </a:cubicBezTo>
                  <a:cubicBezTo>
                    <a:pt x="86661" y="19400"/>
                    <a:pt x="67261" y="0"/>
                    <a:pt x="43331" y="0"/>
                  </a:cubicBezTo>
                  <a:cubicBezTo>
                    <a:pt x="19400" y="0"/>
                    <a:pt x="0" y="19400"/>
                    <a:pt x="0" y="43331"/>
                  </a:cubicBezTo>
                  <a:close/>
                </a:path>
              </a:pathLst>
            </a:custGeom>
            <a:solidFill>
              <a:schemeClr val="bg1"/>
            </a:soli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6607983" y="3642862"/>
              <a:ext cx="151014" cy="108772"/>
            </a:xfrm>
            <a:custGeom>
              <a:avLst/>
              <a:gdLst>
                <a:gd name="connsiteX0" fmla="*/ 22337 w 161877"/>
                <a:gd name="connsiteY0" fmla="*/ 2309 h 115179"/>
                <a:gd name="connsiteX1" fmla="*/ 156073 w 161877"/>
                <a:gd name="connsiteY1" fmla="*/ 86657 h 115179"/>
                <a:gd name="connsiteX2" fmla="*/ 159569 w 161877"/>
                <a:gd name="connsiteY2" fmla="*/ 102093 h 115179"/>
                <a:gd name="connsiteX3" fmla="*/ 154976 w 161877"/>
                <a:gd name="connsiteY3" fmla="*/ 109374 h 115179"/>
                <a:gd name="connsiteX4" fmla="*/ 139540 w 161877"/>
                <a:gd name="connsiteY4" fmla="*/ 112870 h 115179"/>
                <a:gd name="connsiteX5" fmla="*/ 5805 w 161877"/>
                <a:gd name="connsiteY5" fmla="*/ 28522 h 115179"/>
                <a:gd name="connsiteX6" fmla="*/ 2309 w 161877"/>
                <a:gd name="connsiteY6" fmla="*/ 13086 h 115179"/>
                <a:gd name="connsiteX7" fmla="*/ 6901 w 161877"/>
                <a:gd name="connsiteY7" fmla="*/ 5804 h 115179"/>
                <a:gd name="connsiteX8" fmla="*/ 22337 w 161877"/>
                <a:gd name="connsiteY8" fmla="*/ 2309 h 115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877" h="115179">
                  <a:moveTo>
                    <a:pt x="22337" y="2309"/>
                  </a:moveTo>
                  <a:lnTo>
                    <a:pt x="156073" y="86657"/>
                  </a:lnTo>
                  <a:cubicBezTo>
                    <a:pt x="162383" y="90637"/>
                    <a:pt x="163549" y="95783"/>
                    <a:pt x="159569" y="102093"/>
                  </a:cubicBezTo>
                  <a:lnTo>
                    <a:pt x="154976" y="109374"/>
                  </a:lnTo>
                  <a:cubicBezTo>
                    <a:pt x="150996" y="115685"/>
                    <a:pt x="145850" y="116850"/>
                    <a:pt x="139540" y="112870"/>
                  </a:cubicBezTo>
                  <a:lnTo>
                    <a:pt x="5805" y="28522"/>
                  </a:lnTo>
                  <a:cubicBezTo>
                    <a:pt x="-506" y="24542"/>
                    <a:pt x="-1671" y="19397"/>
                    <a:pt x="2309" y="13086"/>
                  </a:cubicBezTo>
                  <a:lnTo>
                    <a:pt x="6901" y="5804"/>
                  </a:lnTo>
                  <a:cubicBezTo>
                    <a:pt x="10882" y="-506"/>
                    <a:pt x="16027" y="-1671"/>
                    <a:pt x="22337" y="2309"/>
                  </a:cubicBezTo>
                  <a:close/>
                </a:path>
              </a:pathLst>
            </a:custGeom>
            <a:solidFill>
              <a:schemeClr val="bg1"/>
            </a:soli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6734939" y="3734126"/>
              <a:ext cx="28911" cy="157990"/>
            </a:xfrm>
            <a:custGeom>
              <a:avLst/>
              <a:gdLst>
                <a:gd name="connsiteX0" fmla="*/ 30992 w 30991"/>
                <a:gd name="connsiteY0" fmla="*/ 10618 h 167295"/>
                <a:gd name="connsiteX1" fmla="*/ 30992 w 30991"/>
                <a:gd name="connsiteY1" fmla="*/ 156678 h 167295"/>
                <a:gd name="connsiteX2" fmla="*/ 20374 w 30991"/>
                <a:gd name="connsiteY2" fmla="*/ 167296 h 167295"/>
                <a:gd name="connsiteX3" fmla="*/ 10618 w 30991"/>
                <a:gd name="connsiteY3" fmla="*/ 167296 h 167295"/>
                <a:gd name="connsiteX4" fmla="*/ 0 w 30991"/>
                <a:gd name="connsiteY4" fmla="*/ 156678 h 167295"/>
                <a:gd name="connsiteX5" fmla="*/ 0 w 30991"/>
                <a:gd name="connsiteY5" fmla="*/ 10618 h 167295"/>
                <a:gd name="connsiteX6" fmla="*/ 10618 w 30991"/>
                <a:gd name="connsiteY6" fmla="*/ 0 h 167295"/>
                <a:gd name="connsiteX7" fmla="*/ 20374 w 30991"/>
                <a:gd name="connsiteY7" fmla="*/ 0 h 167295"/>
                <a:gd name="connsiteX8" fmla="*/ 30992 w 30991"/>
                <a:gd name="connsiteY8" fmla="*/ 10618 h 16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991" h="167295">
                  <a:moveTo>
                    <a:pt x="30992" y="10618"/>
                  </a:moveTo>
                  <a:lnTo>
                    <a:pt x="30992" y="156678"/>
                  </a:lnTo>
                  <a:cubicBezTo>
                    <a:pt x="30992" y="163756"/>
                    <a:pt x="27452" y="167296"/>
                    <a:pt x="20374" y="167296"/>
                  </a:cubicBezTo>
                  <a:lnTo>
                    <a:pt x="10618" y="167296"/>
                  </a:lnTo>
                  <a:cubicBezTo>
                    <a:pt x="3540" y="167296"/>
                    <a:pt x="0" y="163756"/>
                    <a:pt x="0" y="156678"/>
                  </a:cubicBezTo>
                  <a:lnTo>
                    <a:pt x="0" y="10618"/>
                  </a:lnTo>
                  <a:cubicBezTo>
                    <a:pt x="0" y="3539"/>
                    <a:pt x="3540" y="0"/>
                    <a:pt x="10618" y="0"/>
                  </a:cubicBezTo>
                  <a:lnTo>
                    <a:pt x="20374" y="0"/>
                  </a:lnTo>
                  <a:cubicBezTo>
                    <a:pt x="27452" y="0"/>
                    <a:pt x="30992" y="3539"/>
                    <a:pt x="30992" y="10618"/>
                  </a:cubicBezTo>
                  <a:close/>
                </a:path>
              </a:pathLst>
            </a:custGeom>
            <a:solidFill>
              <a:schemeClr val="bg1"/>
            </a:soli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6738661" y="3638607"/>
              <a:ext cx="156232" cy="113738"/>
            </a:xfrm>
            <a:custGeom>
              <a:avLst/>
              <a:gdLst>
                <a:gd name="connsiteX0" fmla="*/ 161603 w 167471"/>
                <a:gd name="connsiteY0" fmla="*/ 28489 h 120437"/>
                <a:gd name="connsiteX1" fmla="*/ 22653 w 167471"/>
                <a:gd name="connsiteY1" fmla="*/ 118002 h 120437"/>
                <a:gd name="connsiteX2" fmla="*/ 6787 w 167471"/>
                <a:gd name="connsiteY2" fmla="*/ 114568 h 120437"/>
                <a:gd name="connsiteX3" fmla="*/ 2436 w 167471"/>
                <a:gd name="connsiteY3" fmla="*/ 107814 h 120437"/>
                <a:gd name="connsiteX4" fmla="*/ 5869 w 167471"/>
                <a:gd name="connsiteY4" fmla="*/ 91949 h 120437"/>
                <a:gd name="connsiteX5" fmla="*/ 144819 w 167471"/>
                <a:gd name="connsiteY5" fmla="*/ 2436 h 120437"/>
                <a:gd name="connsiteX6" fmla="*/ 160685 w 167471"/>
                <a:gd name="connsiteY6" fmla="*/ 5869 h 120437"/>
                <a:gd name="connsiteX7" fmla="*/ 165036 w 167471"/>
                <a:gd name="connsiteY7" fmla="*/ 12623 h 120437"/>
                <a:gd name="connsiteX8" fmla="*/ 161603 w 167471"/>
                <a:gd name="connsiteY8" fmla="*/ 28489 h 12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471" h="120437">
                  <a:moveTo>
                    <a:pt x="161603" y="28489"/>
                  </a:moveTo>
                  <a:lnTo>
                    <a:pt x="22653" y="118002"/>
                  </a:lnTo>
                  <a:cubicBezTo>
                    <a:pt x="16219" y="122146"/>
                    <a:pt x="10931" y="121002"/>
                    <a:pt x="6787" y="114568"/>
                  </a:cubicBezTo>
                  <a:lnTo>
                    <a:pt x="2436" y="107814"/>
                  </a:lnTo>
                  <a:cubicBezTo>
                    <a:pt x="-1709" y="101381"/>
                    <a:pt x="-564" y="96093"/>
                    <a:pt x="5869" y="91949"/>
                  </a:cubicBezTo>
                  <a:lnTo>
                    <a:pt x="144819" y="2436"/>
                  </a:lnTo>
                  <a:cubicBezTo>
                    <a:pt x="151252" y="-1709"/>
                    <a:pt x="156540" y="-564"/>
                    <a:pt x="160685" y="5869"/>
                  </a:cubicBezTo>
                  <a:lnTo>
                    <a:pt x="165036" y="12623"/>
                  </a:lnTo>
                  <a:cubicBezTo>
                    <a:pt x="169180" y="19056"/>
                    <a:pt x="168036" y="24345"/>
                    <a:pt x="161603" y="28489"/>
                  </a:cubicBezTo>
                  <a:close/>
                </a:path>
              </a:pathLst>
            </a:custGeom>
            <a:solidFill>
              <a:schemeClr val="bg1"/>
            </a:soli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3" name="图形 111"/>
          <p:cNvSpPr/>
          <p:nvPr/>
        </p:nvSpPr>
        <p:spPr>
          <a:xfrm>
            <a:off x="6127750" y="3722370"/>
            <a:ext cx="582295" cy="582295"/>
          </a:xfrm>
          <a:custGeom>
            <a:avLst/>
            <a:gdLst>
              <a:gd name="connsiteX0" fmla="*/ 291161 w 582417"/>
              <a:gd name="connsiteY0" fmla="*/ 582417 h 582417"/>
              <a:gd name="connsiteX1" fmla="*/ 85345 w 582417"/>
              <a:gd name="connsiteY1" fmla="*/ 497141 h 582417"/>
              <a:gd name="connsiteX2" fmla="*/ 0 w 582417"/>
              <a:gd name="connsiteY2" fmla="*/ 291277 h 582417"/>
              <a:gd name="connsiteX3" fmla="*/ 85345 w 582417"/>
              <a:gd name="connsiteY3" fmla="*/ 85389 h 582417"/>
              <a:gd name="connsiteX4" fmla="*/ 291161 w 582417"/>
              <a:gd name="connsiteY4" fmla="*/ 0 h 582417"/>
              <a:gd name="connsiteX5" fmla="*/ 497027 w 582417"/>
              <a:gd name="connsiteY5" fmla="*/ 85392 h 582417"/>
              <a:gd name="connsiteX6" fmla="*/ 582418 w 582417"/>
              <a:gd name="connsiteY6" fmla="*/ 291281 h 582417"/>
              <a:gd name="connsiteX7" fmla="*/ 497027 w 582417"/>
              <a:gd name="connsiteY7" fmla="*/ 497145 h 582417"/>
              <a:gd name="connsiteX8" fmla="*/ 291161 w 582417"/>
              <a:gd name="connsiteY8" fmla="*/ 582417 h 582417"/>
              <a:gd name="connsiteX9" fmla="*/ 214276 w 582417"/>
              <a:gd name="connsiteY9" fmla="*/ 411343 h 582417"/>
              <a:gd name="connsiteX10" fmla="*/ 199281 w 582417"/>
              <a:gd name="connsiteY10" fmla="*/ 429964 h 582417"/>
              <a:gd name="connsiteX11" fmla="*/ 291450 w 582417"/>
              <a:gd name="connsiteY11" fmla="*/ 457788 h 582417"/>
              <a:gd name="connsiteX12" fmla="*/ 329460 w 582417"/>
              <a:gd name="connsiteY12" fmla="*/ 453368 h 582417"/>
              <a:gd name="connsiteX13" fmla="*/ 435711 w 582417"/>
              <a:gd name="connsiteY13" fmla="*/ 374534 h 582417"/>
              <a:gd name="connsiteX14" fmla="*/ 407309 w 582417"/>
              <a:gd name="connsiteY14" fmla="*/ 374534 h 582417"/>
              <a:gd name="connsiteX15" fmla="*/ 291306 w 582417"/>
              <a:gd name="connsiteY15" fmla="*/ 434049 h 582417"/>
              <a:gd name="connsiteX16" fmla="*/ 214276 w 582417"/>
              <a:gd name="connsiteY16" fmla="*/ 411343 h 582417"/>
              <a:gd name="connsiteX17" fmla="*/ 178476 w 582417"/>
              <a:gd name="connsiteY17" fmla="*/ 374534 h 582417"/>
              <a:gd name="connsiteX18" fmla="*/ 157763 w 582417"/>
              <a:gd name="connsiteY18" fmla="*/ 395294 h 582417"/>
              <a:gd name="connsiteX19" fmla="*/ 178476 w 582417"/>
              <a:gd name="connsiteY19" fmla="*/ 416149 h 582417"/>
              <a:gd name="connsiteX20" fmla="*/ 199378 w 582417"/>
              <a:gd name="connsiteY20" fmla="*/ 395294 h 582417"/>
              <a:gd name="connsiteX21" fmla="*/ 178475 w 582417"/>
              <a:gd name="connsiteY21" fmla="*/ 374534 h 582417"/>
              <a:gd name="connsiteX22" fmla="*/ 400967 w 582417"/>
              <a:gd name="connsiteY22" fmla="*/ 230467 h 582417"/>
              <a:gd name="connsiteX23" fmla="*/ 400772 w 582417"/>
              <a:gd name="connsiteY23" fmla="*/ 230467 h 582417"/>
              <a:gd name="connsiteX24" fmla="*/ 393326 w 582417"/>
              <a:gd name="connsiteY24" fmla="*/ 233566 h 582417"/>
              <a:gd name="connsiteX25" fmla="*/ 390202 w 582417"/>
              <a:gd name="connsiteY25" fmla="*/ 241447 h 582417"/>
              <a:gd name="connsiteX26" fmla="*/ 390202 w 582417"/>
              <a:gd name="connsiteY26" fmla="*/ 356584 h 582417"/>
              <a:gd name="connsiteX27" fmla="*/ 416346 w 582417"/>
              <a:gd name="connsiteY27" fmla="*/ 356584 h 582417"/>
              <a:gd name="connsiteX28" fmla="*/ 416346 w 582417"/>
              <a:gd name="connsiteY28" fmla="*/ 316556 h 582417"/>
              <a:gd name="connsiteX29" fmla="*/ 462620 w 582417"/>
              <a:gd name="connsiteY29" fmla="*/ 316556 h 582417"/>
              <a:gd name="connsiteX30" fmla="*/ 494048 w 582417"/>
              <a:gd name="connsiteY30" fmla="*/ 307883 h 582417"/>
              <a:gd name="connsiteX31" fmla="*/ 503419 w 582417"/>
              <a:gd name="connsiteY31" fmla="*/ 280972 h 582417"/>
              <a:gd name="connsiteX32" fmla="*/ 503419 w 582417"/>
              <a:gd name="connsiteY32" fmla="*/ 265545 h 582417"/>
              <a:gd name="connsiteX33" fmla="*/ 493808 w 582417"/>
              <a:gd name="connsiteY33" fmla="*/ 239044 h 582417"/>
              <a:gd name="connsiteX34" fmla="*/ 461034 w 582417"/>
              <a:gd name="connsiteY34" fmla="*/ 230491 h 582417"/>
              <a:gd name="connsiteX35" fmla="*/ 401160 w 582417"/>
              <a:gd name="connsiteY35" fmla="*/ 230491 h 582417"/>
              <a:gd name="connsiteX36" fmla="*/ 400966 w 582417"/>
              <a:gd name="connsiteY36" fmla="*/ 230467 h 582417"/>
              <a:gd name="connsiteX37" fmla="*/ 202839 w 582417"/>
              <a:gd name="connsiteY37" fmla="*/ 271001 h 582417"/>
              <a:gd name="connsiteX38" fmla="*/ 202887 w 582417"/>
              <a:gd name="connsiteY38" fmla="*/ 271001 h 582417"/>
              <a:gd name="connsiteX39" fmla="*/ 202887 w 582417"/>
              <a:gd name="connsiteY39" fmla="*/ 356584 h 582417"/>
              <a:gd name="connsiteX40" fmla="*/ 228933 w 582417"/>
              <a:gd name="connsiteY40" fmla="*/ 356584 h 582417"/>
              <a:gd name="connsiteX41" fmla="*/ 228933 w 582417"/>
              <a:gd name="connsiteY41" fmla="*/ 241447 h 582417"/>
              <a:gd name="connsiteX42" fmla="*/ 225715 w 582417"/>
              <a:gd name="connsiteY42" fmla="*/ 233566 h 582417"/>
              <a:gd name="connsiteX43" fmla="*/ 218217 w 582417"/>
              <a:gd name="connsiteY43" fmla="*/ 230490 h 582417"/>
              <a:gd name="connsiteX44" fmla="*/ 207543 w 582417"/>
              <a:gd name="connsiteY44" fmla="*/ 230490 h 582417"/>
              <a:gd name="connsiteX45" fmla="*/ 192119 w 582417"/>
              <a:gd name="connsiteY45" fmla="*/ 239596 h 582417"/>
              <a:gd name="connsiteX46" fmla="*/ 153867 w 582417"/>
              <a:gd name="connsiteY46" fmla="*/ 316170 h 582417"/>
              <a:gd name="connsiteX47" fmla="*/ 115329 w 582417"/>
              <a:gd name="connsiteY47" fmla="*/ 239477 h 582417"/>
              <a:gd name="connsiteX48" fmla="*/ 101294 w 582417"/>
              <a:gd name="connsiteY48" fmla="*/ 230467 h 582417"/>
              <a:gd name="connsiteX49" fmla="*/ 101005 w 582417"/>
              <a:gd name="connsiteY49" fmla="*/ 230490 h 582417"/>
              <a:gd name="connsiteX50" fmla="*/ 89618 w 582417"/>
              <a:gd name="connsiteY50" fmla="*/ 230490 h 582417"/>
              <a:gd name="connsiteX51" fmla="*/ 82026 w 582417"/>
              <a:gd name="connsiteY51" fmla="*/ 233566 h 582417"/>
              <a:gd name="connsiteX52" fmla="*/ 78901 w 582417"/>
              <a:gd name="connsiteY52" fmla="*/ 241447 h 582417"/>
              <a:gd name="connsiteX53" fmla="*/ 78901 w 582417"/>
              <a:gd name="connsiteY53" fmla="*/ 356584 h 582417"/>
              <a:gd name="connsiteX54" fmla="*/ 105041 w 582417"/>
              <a:gd name="connsiteY54" fmla="*/ 356584 h 582417"/>
              <a:gd name="connsiteX55" fmla="*/ 105041 w 582417"/>
              <a:gd name="connsiteY55" fmla="*/ 271457 h 582417"/>
              <a:gd name="connsiteX56" fmla="*/ 136471 w 582417"/>
              <a:gd name="connsiteY56" fmla="*/ 335056 h 582417"/>
              <a:gd name="connsiteX57" fmla="*/ 152137 w 582417"/>
              <a:gd name="connsiteY57" fmla="*/ 344283 h 582417"/>
              <a:gd name="connsiteX58" fmla="*/ 155500 w 582417"/>
              <a:gd name="connsiteY58" fmla="*/ 344283 h 582417"/>
              <a:gd name="connsiteX59" fmla="*/ 170973 w 582417"/>
              <a:gd name="connsiteY59" fmla="*/ 335176 h 582417"/>
              <a:gd name="connsiteX60" fmla="*/ 297599 w 582417"/>
              <a:gd name="connsiteY60" fmla="*/ 230490 h 582417"/>
              <a:gd name="connsiteX61" fmla="*/ 258916 w 582417"/>
              <a:gd name="connsiteY61" fmla="*/ 241879 h 582417"/>
              <a:gd name="connsiteX62" fmla="*/ 246856 w 582417"/>
              <a:gd name="connsiteY62" fmla="*/ 276409 h 582417"/>
              <a:gd name="connsiteX63" fmla="*/ 246856 w 582417"/>
              <a:gd name="connsiteY63" fmla="*/ 309998 h 582417"/>
              <a:gd name="connsiteX64" fmla="*/ 258916 w 582417"/>
              <a:gd name="connsiteY64" fmla="*/ 345198 h 582417"/>
              <a:gd name="connsiteX65" fmla="*/ 297599 w 582417"/>
              <a:gd name="connsiteY65" fmla="*/ 356586 h 582417"/>
              <a:gd name="connsiteX66" fmla="*/ 368575 w 582417"/>
              <a:gd name="connsiteY66" fmla="*/ 356586 h 582417"/>
              <a:gd name="connsiteX67" fmla="*/ 368575 w 582417"/>
              <a:gd name="connsiteY67" fmla="*/ 345198 h 582417"/>
              <a:gd name="connsiteX68" fmla="*/ 365309 w 582417"/>
              <a:gd name="connsiteY68" fmla="*/ 335563 h 582417"/>
              <a:gd name="connsiteX69" fmla="*/ 355842 w 582417"/>
              <a:gd name="connsiteY69" fmla="*/ 332608 h 582417"/>
              <a:gd name="connsiteX70" fmla="*/ 297310 w 582417"/>
              <a:gd name="connsiteY70" fmla="*/ 332608 h 582417"/>
              <a:gd name="connsiteX71" fmla="*/ 278472 w 582417"/>
              <a:gd name="connsiteY71" fmla="*/ 327274 h 582417"/>
              <a:gd name="connsiteX72" fmla="*/ 272850 w 582417"/>
              <a:gd name="connsiteY72" fmla="*/ 309350 h 582417"/>
              <a:gd name="connsiteX73" fmla="*/ 272850 w 582417"/>
              <a:gd name="connsiteY73" fmla="*/ 276412 h 582417"/>
              <a:gd name="connsiteX74" fmla="*/ 278329 w 582417"/>
              <a:gd name="connsiteY74" fmla="*/ 259690 h 582417"/>
              <a:gd name="connsiteX75" fmla="*/ 297310 w 582417"/>
              <a:gd name="connsiteY75" fmla="*/ 254308 h 582417"/>
              <a:gd name="connsiteX76" fmla="*/ 368575 w 582417"/>
              <a:gd name="connsiteY76" fmla="*/ 254308 h 582417"/>
              <a:gd name="connsiteX77" fmla="*/ 368575 w 582417"/>
              <a:gd name="connsiteY77" fmla="*/ 243087 h 582417"/>
              <a:gd name="connsiteX78" fmla="*/ 355842 w 582417"/>
              <a:gd name="connsiteY78" fmla="*/ 230497 h 582417"/>
              <a:gd name="connsiteX79" fmla="*/ 291496 w 582417"/>
              <a:gd name="connsiteY79" fmla="*/ 124699 h 582417"/>
              <a:gd name="connsiteX80" fmla="*/ 147334 w 582417"/>
              <a:gd name="connsiteY80" fmla="*/ 208000 h 582417"/>
              <a:gd name="connsiteX81" fmla="*/ 175541 w 582417"/>
              <a:gd name="connsiteY81" fmla="*/ 208000 h 582417"/>
              <a:gd name="connsiteX82" fmla="*/ 291544 w 582417"/>
              <a:gd name="connsiteY82" fmla="*/ 148485 h 582417"/>
              <a:gd name="connsiteX83" fmla="*/ 358099 w 582417"/>
              <a:gd name="connsiteY83" fmla="*/ 165040 h 582417"/>
              <a:gd name="connsiteX84" fmla="*/ 372034 w 582417"/>
              <a:gd name="connsiteY84" fmla="*/ 145626 h 582417"/>
              <a:gd name="connsiteX85" fmla="*/ 291497 w 582417"/>
              <a:gd name="connsiteY85" fmla="*/ 124700 h 582417"/>
              <a:gd name="connsiteX86" fmla="*/ 395581 w 582417"/>
              <a:gd name="connsiteY86" fmla="*/ 157399 h 582417"/>
              <a:gd name="connsiteX87" fmla="*/ 374725 w 582417"/>
              <a:gd name="connsiteY87" fmla="*/ 178280 h 582417"/>
              <a:gd name="connsiteX88" fmla="*/ 395581 w 582417"/>
              <a:gd name="connsiteY88" fmla="*/ 199039 h 582417"/>
              <a:gd name="connsiteX89" fmla="*/ 416343 w 582417"/>
              <a:gd name="connsiteY89" fmla="*/ 178280 h 582417"/>
              <a:gd name="connsiteX90" fmla="*/ 395583 w 582417"/>
              <a:gd name="connsiteY90" fmla="*/ 157401 h 582417"/>
              <a:gd name="connsiteX91" fmla="*/ 463579 w 582417"/>
              <a:gd name="connsiteY91" fmla="*/ 292721 h 582417"/>
              <a:gd name="connsiteX92" fmla="*/ 416343 w 582417"/>
              <a:gd name="connsiteY92" fmla="*/ 292721 h 582417"/>
              <a:gd name="connsiteX93" fmla="*/ 416343 w 582417"/>
              <a:gd name="connsiteY93" fmla="*/ 254301 h 582417"/>
              <a:gd name="connsiteX94" fmla="*/ 462474 w 582417"/>
              <a:gd name="connsiteY94" fmla="*/ 254301 h 582417"/>
              <a:gd name="connsiteX95" fmla="*/ 474534 w 582417"/>
              <a:gd name="connsiteY95" fmla="*/ 256584 h 582417"/>
              <a:gd name="connsiteX96" fmla="*/ 477224 w 582417"/>
              <a:gd name="connsiteY96" fmla="*/ 265545 h 582417"/>
              <a:gd name="connsiteX97" fmla="*/ 477224 w 582417"/>
              <a:gd name="connsiteY97" fmla="*/ 280972 h 582417"/>
              <a:gd name="connsiteX98" fmla="*/ 474678 w 582417"/>
              <a:gd name="connsiteY98" fmla="*/ 290318 h 582417"/>
              <a:gd name="connsiteX99" fmla="*/ 463580 w 582417"/>
              <a:gd name="connsiteY99" fmla="*/ 292722 h 582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582417" h="582417">
                <a:moveTo>
                  <a:pt x="291161" y="582417"/>
                </a:moveTo>
                <a:cubicBezTo>
                  <a:pt x="213699" y="582417"/>
                  <a:pt x="140605" y="552143"/>
                  <a:pt x="85345" y="497141"/>
                </a:cubicBezTo>
                <a:cubicBezTo>
                  <a:pt x="30322" y="441662"/>
                  <a:pt x="0" y="368576"/>
                  <a:pt x="0" y="291277"/>
                </a:cubicBezTo>
                <a:cubicBezTo>
                  <a:pt x="0" y="213837"/>
                  <a:pt x="30322" y="140723"/>
                  <a:pt x="85345" y="85389"/>
                </a:cubicBezTo>
                <a:cubicBezTo>
                  <a:pt x="140414" y="30321"/>
                  <a:pt x="213552" y="0"/>
                  <a:pt x="291161" y="0"/>
                </a:cubicBezTo>
                <a:cubicBezTo>
                  <a:pt x="368815" y="0"/>
                  <a:pt x="441908" y="30322"/>
                  <a:pt x="497027" y="85392"/>
                </a:cubicBezTo>
                <a:cubicBezTo>
                  <a:pt x="552049" y="140727"/>
                  <a:pt x="582418" y="213841"/>
                  <a:pt x="582418" y="291281"/>
                </a:cubicBezTo>
                <a:cubicBezTo>
                  <a:pt x="582418" y="368552"/>
                  <a:pt x="552049" y="441666"/>
                  <a:pt x="497027" y="497145"/>
                </a:cubicBezTo>
                <a:cubicBezTo>
                  <a:pt x="441764" y="552143"/>
                  <a:pt x="368671" y="582417"/>
                  <a:pt x="291161" y="582417"/>
                </a:cubicBezTo>
                <a:close/>
                <a:moveTo>
                  <a:pt x="214276" y="411343"/>
                </a:moveTo>
                <a:lnTo>
                  <a:pt x="199281" y="429964"/>
                </a:lnTo>
                <a:cubicBezTo>
                  <a:pt x="226572" y="448160"/>
                  <a:pt x="258650" y="457844"/>
                  <a:pt x="291450" y="457788"/>
                </a:cubicBezTo>
                <a:cubicBezTo>
                  <a:pt x="304247" y="457765"/>
                  <a:pt x="316999" y="456282"/>
                  <a:pt x="329460" y="453368"/>
                </a:cubicBezTo>
                <a:cubicBezTo>
                  <a:pt x="374231" y="442864"/>
                  <a:pt x="412678" y="414338"/>
                  <a:pt x="435711" y="374534"/>
                </a:cubicBezTo>
                <a:lnTo>
                  <a:pt x="407309" y="374534"/>
                </a:lnTo>
                <a:cubicBezTo>
                  <a:pt x="380425" y="411830"/>
                  <a:pt x="337282" y="433965"/>
                  <a:pt x="291306" y="434049"/>
                </a:cubicBezTo>
                <a:cubicBezTo>
                  <a:pt x="263980" y="434047"/>
                  <a:pt x="237234" y="426163"/>
                  <a:pt x="214276" y="411343"/>
                </a:cubicBezTo>
                <a:close/>
                <a:moveTo>
                  <a:pt x="178476" y="374534"/>
                </a:moveTo>
                <a:cubicBezTo>
                  <a:pt x="167025" y="374548"/>
                  <a:pt x="157753" y="383842"/>
                  <a:pt x="157763" y="395294"/>
                </a:cubicBezTo>
                <a:cubicBezTo>
                  <a:pt x="157737" y="406768"/>
                  <a:pt x="167003" y="416097"/>
                  <a:pt x="178476" y="416149"/>
                </a:cubicBezTo>
                <a:cubicBezTo>
                  <a:pt x="190000" y="416146"/>
                  <a:pt x="199349" y="406818"/>
                  <a:pt x="199378" y="395294"/>
                </a:cubicBezTo>
                <a:cubicBezTo>
                  <a:pt x="199332" y="383792"/>
                  <a:pt x="189977" y="374500"/>
                  <a:pt x="178475" y="374534"/>
                </a:cubicBezTo>
                <a:close/>
                <a:moveTo>
                  <a:pt x="400967" y="230467"/>
                </a:moveTo>
                <a:lnTo>
                  <a:pt x="400772" y="230467"/>
                </a:lnTo>
                <a:cubicBezTo>
                  <a:pt x="397985" y="230509"/>
                  <a:pt x="395321" y="231618"/>
                  <a:pt x="393326" y="233566"/>
                </a:cubicBezTo>
                <a:cubicBezTo>
                  <a:pt x="391276" y="235671"/>
                  <a:pt x="390151" y="238509"/>
                  <a:pt x="390202" y="241447"/>
                </a:cubicBezTo>
                <a:lnTo>
                  <a:pt x="390202" y="356584"/>
                </a:lnTo>
                <a:lnTo>
                  <a:pt x="416346" y="356584"/>
                </a:lnTo>
                <a:lnTo>
                  <a:pt x="416346" y="316556"/>
                </a:lnTo>
                <a:lnTo>
                  <a:pt x="462620" y="316556"/>
                </a:lnTo>
                <a:cubicBezTo>
                  <a:pt x="477083" y="316556"/>
                  <a:pt x="487657" y="313648"/>
                  <a:pt x="494048" y="307883"/>
                </a:cubicBezTo>
                <a:cubicBezTo>
                  <a:pt x="500389" y="302237"/>
                  <a:pt x="503419" y="293418"/>
                  <a:pt x="503419" y="280972"/>
                </a:cubicBezTo>
                <a:lnTo>
                  <a:pt x="503419" y="265545"/>
                </a:lnTo>
                <a:cubicBezTo>
                  <a:pt x="503419" y="253436"/>
                  <a:pt x="500198" y="244499"/>
                  <a:pt x="493808" y="239044"/>
                </a:cubicBezTo>
                <a:cubicBezTo>
                  <a:pt x="487220" y="233278"/>
                  <a:pt x="476556" y="230491"/>
                  <a:pt x="461034" y="230491"/>
                </a:cubicBezTo>
                <a:lnTo>
                  <a:pt x="401160" y="230491"/>
                </a:lnTo>
                <a:cubicBezTo>
                  <a:pt x="401094" y="230495"/>
                  <a:pt x="401028" y="230488"/>
                  <a:pt x="400966" y="230467"/>
                </a:cubicBezTo>
                <a:close/>
                <a:moveTo>
                  <a:pt x="202839" y="271001"/>
                </a:moveTo>
                <a:lnTo>
                  <a:pt x="202887" y="271001"/>
                </a:lnTo>
                <a:lnTo>
                  <a:pt x="202887" y="356584"/>
                </a:lnTo>
                <a:lnTo>
                  <a:pt x="228933" y="356584"/>
                </a:lnTo>
                <a:lnTo>
                  <a:pt x="228933" y="241447"/>
                </a:lnTo>
                <a:cubicBezTo>
                  <a:pt x="229001" y="238487"/>
                  <a:pt x="227835" y="235632"/>
                  <a:pt x="225715" y="233566"/>
                </a:cubicBezTo>
                <a:cubicBezTo>
                  <a:pt x="223719" y="231592"/>
                  <a:pt x="221024" y="230487"/>
                  <a:pt x="218217" y="230490"/>
                </a:cubicBezTo>
                <a:lnTo>
                  <a:pt x="207543" y="230490"/>
                </a:lnTo>
                <a:cubicBezTo>
                  <a:pt x="200337" y="230490"/>
                  <a:pt x="195289" y="233469"/>
                  <a:pt x="192119" y="239596"/>
                </a:cubicBezTo>
                <a:lnTo>
                  <a:pt x="153867" y="316170"/>
                </a:lnTo>
                <a:lnTo>
                  <a:pt x="115329" y="239477"/>
                </a:lnTo>
                <a:cubicBezTo>
                  <a:pt x="112820" y="233983"/>
                  <a:pt x="107334" y="230461"/>
                  <a:pt x="101294" y="230467"/>
                </a:cubicBezTo>
                <a:cubicBezTo>
                  <a:pt x="101197" y="230462"/>
                  <a:pt x="101100" y="230470"/>
                  <a:pt x="101005" y="230490"/>
                </a:cubicBezTo>
                <a:lnTo>
                  <a:pt x="89618" y="230490"/>
                </a:lnTo>
                <a:cubicBezTo>
                  <a:pt x="86789" y="230515"/>
                  <a:pt x="84074" y="231614"/>
                  <a:pt x="82026" y="233566"/>
                </a:cubicBezTo>
                <a:cubicBezTo>
                  <a:pt x="80020" y="235700"/>
                  <a:pt x="78903" y="238519"/>
                  <a:pt x="78901" y="241447"/>
                </a:cubicBezTo>
                <a:lnTo>
                  <a:pt x="78901" y="356584"/>
                </a:lnTo>
                <a:lnTo>
                  <a:pt x="105041" y="356584"/>
                </a:lnTo>
                <a:lnTo>
                  <a:pt x="105041" y="271457"/>
                </a:lnTo>
                <a:lnTo>
                  <a:pt x="136471" y="335056"/>
                </a:lnTo>
                <a:cubicBezTo>
                  <a:pt x="139497" y="341184"/>
                  <a:pt x="144782" y="344283"/>
                  <a:pt x="152137" y="344283"/>
                </a:cubicBezTo>
                <a:lnTo>
                  <a:pt x="155500" y="344283"/>
                </a:lnTo>
                <a:cubicBezTo>
                  <a:pt x="162709" y="344283"/>
                  <a:pt x="167944" y="341207"/>
                  <a:pt x="170973" y="335176"/>
                </a:cubicBezTo>
                <a:close/>
                <a:moveTo>
                  <a:pt x="297599" y="230490"/>
                </a:moveTo>
                <a:cubicBezTo>
                  <a:pt x="280152" y="230490"/>
                  <a:pt x="267134" y="234310"/>
                  <a:pt x="258916" y="241879"/>
                </a:cubicBezTo>
                <a:cubicBezTo>
                  <a:pt x="250892" y="249232"/>
                  <a:pt x="246856" y="260884"/>
                  <a:pt x="246856" y="276409"/>
                </a:cubicBezTo>
                <a:lnTo>
                  <a:pt x="246856" y="309998"/>
                </a:lnTo>
                <a:cubicBezTo>
                  <a:pt x="246856" y="325880"/>
                  <a:pt x="250892" y="337702"/>
                  <a:pt x="258916" y="345198"/>
                </a:cubicBezTo>
                <a:cubicBezTo>
                  <a:pt x="267134" y="352767"/>
                  <a:pt x="280154" y="356586"/>
                  <a:pt x="297599" y="356586"/>
                </a:cubicBezTo>
                <a:lnTo>
                  <a:pt x="368575" y="356586"/>
                </a:lnTo>
                <a:lnTo>
                  <a:pt x="368575" y="345198"/>
                </a:lnTo>
                <a:cubicBezTo>
                  <a:pt x="368575" y="340872"/>
                  <a:pt x="367423" y="337533"/>
                  <a:pt x="365309" y="335563"/>
                </a:cubicBezTo>
                <a:cubicBezTo>
                  <a:pt x="363242" y="333593"/>
                  <a:pt x="360024" y="332608"/>
                  <a:pt x="355842" y="332608"/>
                </a:cubicBezTo>
                <a:lnTo>
                  <a:pt x="297310" y="332608"/>
                </a:lnTo>
                <a:cubicBezTo>
                  <a:pt x="288372" y="332608"/>
                  <a:pt x="282221" y="330853"/>
                  <a:pt x="278472" y="327274"/>
                </a:cubicBezTo>
                <a:cubicBezTo>
                  <a:pt x="274775" y="323838"/>
                  <a:pt x="272850" y="317782"/>
                  <a:pt x="272850" y="309350"/>
                </a:cubicBezTo>
                <a:lnTo>
                  <a:pt x="272850" y="276412"/>
                </a:lnTo>
                <a:cubicBezTo>
                  <a:pt x="272850" y="268626"/>
                  <a:pt x="274727" y="263028"/>
                  <a:pt x="278329" y="259690"/>
                </a:cubicBezTo>
                <a:cubicBezTo>
                  <a:pt x="282174" y="256134"/>
                  <a:pt x="288519" y="254308"/>
                  <a:pt x="297310" y="254308"/>
                </a:cubicBezTo>
                <a:lnTo>
                  <a:pt x="368575" y="254308"/>
                </a:lnTo>
                <a:lnTo>
                  <a:pt x="368575" y="243087"/>
                </a:lnTo>
                <a:cubicBezTo>
                  <a:pt x="368575" y="234750"/>
                  <a:pt x="364298" y="230497"/>
                  <a:pt x="355842" y="230497"/>
                </a:cubicBezTo>
                <a:close/>
                <a:moveTo>
                  <a:pt x="291496" y="124699"/>
                </a:moveTo>
                <a:cubicBezTo>
                  <a:pt x="232022" y="124760"/>
                  <a:pt x="177087" y="156503"/>
                  <a:pt x="147334" y="208000"/>
                </a:cubicBezTo>
                <a:lnTo>
                  <a:pt x="175541" y="208000"/>
                </a:lnTo>
                <a:cubicBezTo>
                  <a:pt x="202425" y="170705"/>
                  <a:pt x="245569" y="148571"/>
                  <a:pt x="291544" y="148485"/>
                </a:cubicBezTo>
                <a:cubicBezTo>
                  <a:pt x="314743" y="148521"/>
                  <a:pt x="337586" y="154202"/>
                  <a:pt x="358099" y="165040"/>
                </a:cubicBezTo>
                <a:lnTo>
                  <a:pt x="372034" y="145626"/>
                </a:lnTo>
                <a:cubicBezTo>
                  <a:pt x="347393" y="131945"/>
                  <a:pt x="319682" y="124745"/>
                  <a:pt x="291497" y="124700"/>
                </a:cubicBezTo>
                <a:close/>
                <a:moveTo>
                  <a:pt x="395581" y="157399"/>
                </a:moveTo>
                <a:cubicBezTo>
                  <a:pt x="384057" y="157409"/>
                  <a:pt x="374721" y="166756"/>
                  <a:pt x="374725" y="178280"/>
                </a:cubicBezTo>
                <a:cubicBezTo>
                  <a:pt x="374757" y="189769"/>
                  <a:pt x="384091" y="199061"/>
                  <a:pt x="395581" y="199039"/>
                </a:cubicBezTo>
                <a:cubicBezTo>
                  <a:pt x="407038" y="199019"/>
                  <a:pt x="416322" y="189737"/>
                  <a:pt x="416343" y="178280"/>
                </a:cubicBezTo>
                <a:cubicBezTo>
                  <a:pt x="416356" y="166789"/>
                  <a:pt x="407073" y="157453"/>
                  <a:pt x="395583" y="157401"/>
                </a:cubicBezTo>
                <a:close/>
                <a:moveTo>
                  <a:pt x="463579" y="292721"/>
                </a:moveTo>
                <a:lnTo>
                  <a:pt x="416343" y="292721"/>
                </a:lnTo>
                <a:lnTo>
                  <a:pt x="416343" y="254301"/>
                </a:lnTo>
                <a:lnTo>
                  <a:pt x="462474" y="254301"/>
                </a:lnTo>
                <a:cubicBezTo>
                  <a:pt x="468482" y="254301"/>
                  <a:pt x="472613" y="255071"/>
                  <a:pt x="474534" y="256584"/>
                </a:cubicBezTo>
                <a:cubicBezTo>
                  <a:pt x="476312" y="258026"/>
                  <a:pt x="477224" y="260884"/>
                  <a:pt x="477224" y="265545"/>
                </a:cubicBezTo>
                <a:lnTo>
                  <a:pt x="477224" y="280972"/>
                </a:lnTo>
                <a:cubicBezTo>
                  <a:pt x="477224" y="285729"/>
                  <a:pt x="476312" y="288876"/>
                  <a:pt x="474678" y="290318"/>
                </a:cubicBezTo>
                <a:cubicBezTo>
                  <a:pt x="472905" y="291929"/>
                  <a:pt x="469200" y="292722"/>
                  <a:pt x="463580" y="292722"/>
                </a:cubicBezTo>
                <a:close/>
              </a:path>
            </a:pathLst>
          </a:cu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4" name="直接箭头连接符 113"/>
          <p:cNvCxnSpPr/>
          <p:nvPr/>
        </p:nvCxnSpPr>
        <p:spPr>
          <a:xfrm rot="5400000">
            <a:off x="6141085" y="3496310"/>
            <a:ext cx="431800" cy="0"/>
          </a:xfrm>
          <a:prstGeom prst="straightConnector1">
            <a:avLst/>
          </a:prstGeom>
          <a:ln w="19050">
            <a:solidFill>
              <a:srgbClr val="0089F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rot="16200000" flipV="1">
            <a:off x="6250305" y="3484880"/>
            <a:ext cx="431800" cy="0"/>
          </a:xfrm>
          <a:prstGeom prst="straightConnector1">
            <a:avLst/>
          </a:prstGeom>
          <a:ln w="19050">
            <a:solidFill>
              <a:srgbClr val="0089F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5735320" y="5374005"/>
            <a:ext cx="144208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外部工具和资源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22" name="矩形: 圆角 30"/>
          <p:cNvSpPr/>
          <p:nvPr/>
        </p:nvSpPr>
        <p:spPr>
          <a:xfrm>
            <a:off x="4871085" y="4686300"/>
            <a:ext cx="3096260" cy="987425"/>
          </a:xfrm>
          <a:prstGeom prst="roundRect">
            <a:avLst>
              <a:gd name="adj" fmla="val 3204"/>
            </a:avLst>
          </a:prstGeom>
          <a:noFill/>
          <a:ln w="12700" cap="rnd">
            <a:solidFill>
              <a:schemeClr val="bg1">
                <a:lumMod val="50000"/>
              </a:schemeClr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6275070" y="3391535"/>
            <a:ext cx="1442085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MCP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服务协议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4787900" y="5166043"/>
            <a:ext cx="9525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API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33" name="图形 132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90556" y="4791075"/>
            <a:ext cx="360045" cy="360000"/>
          </a:xfrm>
          <a:prstGeom prst="rect">
            <a:avLst/>
          </a:prstGeom>
        </p:spPr>
      </p:pic>
      <p:pic>
        <p:nvPicPr>
          <p:cNvPr id="134" name="图形 133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28260" y="4791075"/>
            <a:ext cx="360571" cy="360000"/>
          </a:xfrm>
          <a:prstGeom prst="rect">
            <a:avLst/>
          </a:prstGeom>
        </p:spPr>
      </p:pic>
      <p:sp>
        <p:nvSpPr>
          <p:cNvPr id="137" name="文本框 136"/>
          <p:cNvSpPr txBox="1"/>
          <p:nvPr/>
        </p:nvSpPr>
        <p:spPr>
          <a:xfrm>
            <a:off x="6289040" y="5166043"/>
            <a:ext cx="952500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数据库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36" name="图形 135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21441" y="4791075"/>
            <a:ext cx="360045" cy="360000"/>
          </a:xfrm>
          <a:prstGeom prst="rect">
            <a:avLst/>
          </a:prstGeom>
        </p:spPr>
      </p:pic>
      <p:sp>
        <p:nvSpPr>
          <p:cNvPr id="138" name="文本框 137"/>
          <p:cNvSpPr txBox="1"/>
          <p:nvPr/>
        </p:nvSpPr>
        <p:spPr>
          <a:xfrm>
            <a:off x="7039610" y="5166043"/>
            <a:ext cx="952500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本地文件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56" name="直接箭头连接符 155"/>
          <p:cNvCxnSpPr>
            <a:endCxn id="113" idx="0"/>
          </p:cNvCxnSpPr>
          <p:nvPr/>
        </p:nvCxnSpPr>
        <p:spPr>
          <a:xfrm flipV="1">
            <a:off x="5304155" y="4304665"/>
            <a:ext cx="1114425" cy="370205"/>
          </a:xfrm>
          <a:prstGeom prst="straightConnector1">
            <a:avLst/>
          </a:prstGeom>
          <a:ln w="12700">
            <a:solidFill>
              <a:srgbClr val="0089F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>
            <a:endCxn id="113" idx="0"/>
          </p:cNvCxnSpPr>
          <p:nvPr/>
        </p:nvCxnSpPr>
        <p:spPr>
          <a:xfrm flipV="1">
            <a:off x="5953125" y="4304665"/>
            <a:ext cx="465455" cy="400685"/>
          </a:xfrm>
          <a:prstGeom prst="straightConnector1">
            <a:avLst/>
          </a:prstGeom>
          <a:ln w="12700">
            <a:solidFill>
              <a:srgbClr val="0089F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接箭头连接符 159"/>
          <p:cNvCxnSpPr>
            <a:endCxn id="113" idx="0"/>
          </p:cNvCxnSpPr>
          <p:nvPr/>
        </p:nvCxnSpPr>
        <p:spPr>
          <a:xfrm flipH="1" flipV="1">
            <a:off x="6418580" y="4304665"/>
            <a:ext cx="1053465" cy="380365"/>
          </a:xfrm>
          <a:prstGeom prst="straightConnector1">
            <a:avLst/>
          </a:prstGeom>
          <a:ln w="12700">
            <a:solidFill>
              <a:srgbClr val="0089F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2" name="Google Shape;3565;p74"/>
          <p:cNvGrpSpPr/>
          <p:nvPr/>
        </p:nvGrpSpPr>
        <p:grpSpPr>
          <a:xfrm>
            <a:off x="8304188" y="1985296"/>
            <a:ext cx="331470" cy="283210"/>
            <a:chOff x="4854075" y="2527625"/>
            <a:chExt cx="56000" cy="59050"/>
          </a:xfrm>
        </p:grpSpPr>
        <p:sp>
          <p:nvSpPr>
            <p:cNvPr id="173" name="Google Shape;3566;p74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Google Shape;3567;p74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5538470" y="5166043"/>
            <a:ext cx="9525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网页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96" name="直接箭头连接符 95"/>
          <p:cNvCxnSpPr>
            <a:endCxn id="113" idx="0"/>
          </p:cNvCxnSpPr>
          <p:nvPr/>
        </p:nvCxnSpPr>
        <p:spPr>
          <a:xfrm flipH="1" flipV="1">
            <a:off x="6418580" y="4304665"/>
            <a:ext cx="381635" cy="370205"/>
          </a:xfrm>
          <a:prstGeom prst="straightConnector1">
            <a:avLst/>
          </a:prstGeom>
          <a:ln w="12700">
            <a:solidFill>
              <a:srgbClr val="0089F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78" name="Freeform 37"/>
          <p:cNvSpPr>
            <a:spLocks noChangeAspect="1"/>
          </p:cNvSpPr>
          <p:nvPr/>
        </p:nvSpPr>
        <p:spPr>
          <a:xfrm>
            <a:off x="5807287" y="4790865"/>
            <a:ext cx="415513" cy="360000"/>
          </a:xfrm>
          <a:custGeom>
            <a:avLst/>
            <a:gdLst/>
            <a:ahLst/>
            <a:cxnLst/>
            <a:rect l="0" t="0" r="r" b="b"/>
            <a:pathLst>
              <a:path w="522816" h="452967">
                <a:moveTo>
                  <a:pt x="465666" y="105833"/>
                </a:moveTo>
                <a:lnTo>
                  <a:pt x="59267" y="105833"/>
                </a:lnTo>
                <a:lnTo>
                  <a:pt x="59267" y="391584"/>
                </a:lnTo>
                <a:lnTo>
                  <a:pt x="465666" y="391584"/>
                </a:lnTo>
                <a:lnTo>
                  <a:pt x="465666" y="105833"/>
                </a:lnTo>
                <a:close/>
                <a:moveTo>
                  <a:pt x="186266" y="196850"/>
                </a:moveTo>
                <a:lnTo>
                  <a:pt x="97367" y="232834"/>
                </a:lnTo>
                <a:lnTo>
                  <a:pt x="97367" y="207433"/>
                </a:lnTo>
                <a:lnTo>
                  <a:pt x="165100" y="184150"/>
                </a:lnTo>
                <a:lnTo>
                  <a:pt x="97367" y="160867"/>
                </a:lnTo>
                <a:lnTo>
                  <a:pt x="97367" y="135467"/>
                </a:lnTo>
                <a:lnTo>
                  <a:pt x="186266" y="175683"/>
                </a:lnTo>
                <a:lnTo>
                  <a:pt x="186266" y="196850"/>
                </a:lnTo>
                <a:close/>
                <a:moveTo>
                  <a:pt x="296333" y="228600"/>
                </a:moveTo>
                <a:lnTo>
                  <a:pt x="211666" y="228600"/>
                </a:lnTo>
                <a:lnTo>
                  <a:pt x="211666" y="207433"/>
                </a:lnTo>
                <a:lnTo>
                  <a:pt x="296333" y="207433"/>
                </a:lnTo>
                <a:lnTo>
                  <a:pt x="296333" y="228600"/>
                </a:lnTo>
                <a:close/>
                <a:moveTo>
                  <a:pt x="0" y="0"/>
                </a:moveTo>
                <a:lnTo>
                  <a:pt x="0" y="452967"/>
                </a:lnTo>
                <a:lnTo>
                  <a:pt x="522816" y="452967"/>
                </a:lnTo>
                <a:lnTo>
                  <a:pt x="522816" y="0"/>
                </a:lnTo>
                <a:lnTo>
                  <a:pt x="0" y="0"/>
                </a:lnTo>
                <a:close/>
                <a:moveTo>
                  <a:pt x="495299" y="423334"/>
                </a:moveTo>
                <a:lnTo>
                  <a:pt x="29633" y="423334"/>
                </a:lnTo>
                <a:lnTo>
                  <a:pt x="29633" y="76200"/>
                </a:lnTo>
                <a:lnTo>
                  <a:pt x="495299" y="76200"/>
                </a:lnTo>
                <a:lnTo>
                  <a:pt x="495299" y="423334"/>
                </a:lnTo>
                <a:close/>
              </a:path>
            </a:pathLst>
          </a:custGeom>
          <a:solidFill>
            <a:srgbClr val="0089F0"/>
          </a:solidFill>
          <a:ln>
            <a:noFill/>
          </a:ln>
        </p:spPr>
        <p:txBody>
          <a:bodyPr/>
          <a:lstStyle/>
          <a:p>
            <a:endParaRPr lang="zh-CN" sz="2400"/>
          </a:p>
        </p:txBody>
      </p:sp>
      <p:sp>
        <p:nvSpPr>
          <p:cNvPr id="19" name="矩形 18"/>
          <p:cNvSpPr/>
          <p:nvPr/>
        </p:nvSpPr>
        <p:spPr>
          <a:xfrm>
            <a:off x="353695" y="687705"/>
            <a:ext cx="11482705" cy="108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痛点解决破壁垒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：解决异构工具生态割裂、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存量接口兼容难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、工具适配维护难三大行业痛点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defTabSz="91440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标准接入促协同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：实现异构工具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标准化接入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，构建统一服务生态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defTabSz="91440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智能管理提效能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：通过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声明式调用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和上下文协同管理，显著提升开发效率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智能体创作中心 | skills技能管理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417830" y="661035"/>
            <a:ext cx="111696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将企业标准化的业务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SOP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、操作手册封装成结构化数字资产，是连接底层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MCP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能力与上层业务智能体的关键桥梁。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54" name="AutoShape 12"/>
          <p:cNvSpPr/>
          <p:nvPr/>
        </p:nvSpPr>
        <p:spPr>
          <a:xfrm>
            <a:off x="6189980" y="1243965"/>
            <a:ext cx="5588000" cy="4318000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5" name="AutoShape 13"/>
          <p:cNvSpPr/>
          <p:nvPr/>
        </p:nvSpPr>
        <p:spPr>
          <a:xfrm>
            <a:off x="6380480" y="1370965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生命周期管理流程</a:t>
            </a:r>
            <a:endParaRPr lang="en-US" sz="1100"/>
          </a:p>
        </p:txBody>
      </p:sp>
      <p:sp>
        <p:nvSpPr>
          <p:cNvPr id="157" name="AutoShape 14"/>
          <p:cNvSpPr/>
          <p:nvPr/>
        </p:nvSpPr>
        <p:spPr>
          <a:xfrm>
            <a:off x="6443980" y="1878965"/>
            <a:ext cx="2413000" cy="762000"/>
          </a:xfrm>
          <a:prstGeom prst="roundRect">
            <a:avLst>
              <a:gd name="adj" fmla="val 16666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8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0980" y="2069465"/>
            <a:ext cx="304800" cy="304800"/>
          </a:xfrm>
          <a:prstGeom prst="rect">
            <a:avLst/>
          </a:prstGeom>
        </p:spPr>
      </p:pic>
      <p:sp>
        <p:nvSpPr>
          <p:cNvPr id="161" name="AutoShape 16"/>
          <p:cNvSpPr/>
          <p:nvPr/>
        </p:nvSpPr>
        <p:spPr>
          <a:xfrm>
            <a:off x="6951980" y="1942465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需求提出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业务人员发起新需求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2" name="AutoShape 17"/>
          <p:cNvSpPr/>
          <p:nvPr/>
        </p:nvSpPr>
        <p:spPr>
          <a:xfrm>
            <a:off x="9110980" y="1878965"/>
            <a:ext cx="2413000" cy="762000"/>
          </a:xfrm>
          <a:prstGeom prst="roundRect">
            <a:avLst>
              <a:gd name="adj" fmla="val 16666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3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7980" y="2069465"/>
            <a:ext cx="304800" cy="304800"/>
          </a:xfrm>
          <a:prstGeom prst="rect">
            <a:avLst/>
          </a:prstGeom>
        </p:spPr>
      </p:pic>
      <p:sp>
        <p:nvSpPr>
          <p:cNvPr id="164" name="AutoShape 19"/>
          <p:cNvSpPr/>
          <p:nvPr/>
        </p:nvSpPr>
        <p:spPr>
          <a:xfrm>
            <a:off x="9618980" y="1942465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Skills创建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基于SOP生成结构化手册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5" name="AutoShape 20"/>
          <p:cNvSpPr/>
          <p:nvPr/>
        </p:nvSpPr>
        <p:spPr>
          <a:xfrm>
            <a:off x="6443980" y="2767965"/>
            <a:ext cx="2413000" cy="762000"/>
          </a:xfrm>
          <a:prstGeom prst="roundRect">
            <a:avLst>
              <a:gd name="adj" fmla="val 16666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6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0980" y="2958465"/>
            <a:ext cx="304800" cy="304800"/>
          </a:xfrm>
          <a:prstGeom prst="rect">
            <a:avLst/>
          </a:prstGeom>
        </p:spPr>
      </p:pic>
      <p:sp>
        <p:nvSpPr>
          <p:cNvPr id="167" name="AutoShape 22"/>
          <p:cNvSpPr/>
          <p:nvPr/>
        </p:nvSpPr>
        <p:spPr>
          <a:xfrm>
            <a:off x="6951980" y="2831465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审核与发布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合规审核与风险评估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8" name="AutoShape 23"/>
          <p:cNvSpPr/>
          <p:nvPr/>
        </p:nvSpPr>
        <p:spPr>
          <a:xfrm>
            <a:off x="9110980" y="2767965"/>
            <a:ext cx="2413000" cy="762000"/>
          </a:xfrm>
          <a:prstGeom prst="roundRect">
            <a:avLst>
              <a:gd name="adj" fmla="val 16666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9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37980" y="2958465"/>
            <a:ext cx="304800" cy="304800"/>
          </a:xfrm>
          <a:prstGeom prst="rect">
            <a:avLst/>
          </a:prstGeom>
        </p:spPr>
      </p:pic>
      <p:sp>
        <p:nvSpPr>
          <p:cNvPr id="170" name="AutoShape 25"/>
          <p:cNvSpPr/>
          <p:nvPr/>
        </p:nvSpPr>
        <p:spPr>
          <a:xfrm>
            <a:off x="9618980" y="2831465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挂载与调用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智能体按需挂载执行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1" name="AutoShape 26"/>
          <p:cNvSpPr/>
          <p:nvPr/>
        </p:nvSpPr>
        <p:spPr>
          <a:xfrm>
            <a:off x="6443980" y="3656965"/>
            <a:ext cx="2413000" cy="762000"/>
          </a:xfrm>
          <a:prstGeom prst="roundRect">
            <a:avLst>
              <a:gd name="adj" fmla="val 16666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5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0980" y="3847465"/>
            <a:ext cx="304800" cy="304800"/>
          </a:xfrm>
          <a:prstGeom prst="rect">
            <a:avLst/>
          </a:prstGeom>
        </p:spPr>
      </p:pic>
      <p:sp>
        <p:nvSpPr>
          <p:cNvPr id="176" name="AutoShape 28"/>
          <p:cNvSpPr/>
          <p:nvPr/>
        </p:nvSpPr>
        <p:spPr>
          <a:xfrm>
            <a:off x="6951980" y="3720465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监控与迭代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持续监控执行效果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7" name="AutoShape 29"/>
          <p:cNvSpPr/>
          <p:nvPr/>
        </p:nvSpPr>
        <p:spPr>
          <a:xfrm>
            <a:off x="9110980" y="3656965"/>
            <a:ext cx="2413000" cy="762000"/>
          </a:xfrm>
          <a:prstGeom prst="roundRect">
            <a:avLst>
              <a:gd name="adj" fmla="val 16666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8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37980" y="3847465"/>
            <a:ext cx="304800" cy="304800"/>
          </a:xfrm>
          <a:prstGeom prst="rect">
            <a:avLst/>
          </a:prstGeom>
        </p:spPr>
      </p:pic>
      <p:sp>
        <p:nvSpPr>
          <p:cNvPr id="179" name="AutoShape 31"/>
          <p:cNvSpPr/>
          <p:nvPr/>
        </p:nvSpPr>
        <p:spPr>
          <a:xfrm>
            <a:off x="9618980" y="3720465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灰度发布与回滚支持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0" name="AutoShape 32"/>
          <p:cNvSpPr/>
          <p:nvPr/>
        </p:nvSpPr>
        <p:spPr>
          <a:xfrm>
            <a:off x="6443980" y="4545965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1" name="Picture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70980" y="4736465"/>
            <a:ext cx="304800" cy="304800"/>
          </a:xfrm>
          <a:prstGeom prst="rect">
            <a:avLst/>
          </a:prstGeom>
        </p:spPr>
      </p:pic>
      <p:sp>
        <p:nvSpPr>
          <p:cNvPr id="182" name="AutoShape 34"/>
          <p:cNvSpPr/>
          <p:nvPr/>
        </p:nvSpPr>
        <p:spPr>
          <a:xfrm>
            <a:off x="6951980" y="4609465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退役管理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针对不再使用的Skills进行归档与清理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3" name="AutoShape 35"/>
          <p:cNvSpPr/>
          <p:nvPr/>
        </p:nvSpPr>
        <p:spPr>
          <a:xfrm>
            <a:off x="347980" y="5703570"/>
            <a:ext cx="11430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4" name="AutoShape 36"/>
          <p:cNvSpPr/>
          <p:nvPr/>
        </p:nvSpPr>
        <p:spPr>
          <a:xfrm>
            <a:off x="601980" y="583057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通过构建标准化的Skills管理体系，实现从“经验依赖”到“资产驱动”的转变，为业务智能体提供高质量、可复用的能力底座。</a:t>
            </a:r>
            <a:endParaRPr lang="en-US" sz="1100"/>
          </a:p>
        </p:txBody>
      </p:sp>
      <p:sp>
        <p:nvSpPr>
          <p:cNvPr id="185" name="AutoShape 6"/>
          <p:cNvSpPr/>
          <p:nvPr/>
        </p:nvSpPr>
        <p:spPr>
          <a:xfrm>
            <a:off x="347980" y="1243965"/>
            <a:ext cx="5588000" cy="2651760"/>
          </a:xfrm>
          <a:prstGeom prst="roundRect">
            <a:avLst>
              <a:gd name="adj" fmla="val 5316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6" name="Picture 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8480" y="1434465"/>
            <a:ext cx="304800" cy="304800"/>
          </a:xfrm>
          <a:prstGeom prst="rect">
            <a:avLst/>
          </a:prstGeom>
        </p:spPr>
      </p:pic>
      <p:sp>
        <p:nvSpPr>
          <p:cNvPr id="187" name="AutoShape 8"/>
          <p:cNvSpPr/>
          <p:nvPr/>
        </p:nvSpPr>
        <p:spPr>
          <a:xfrm>
            <a:off x="919480" y="1370965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经验资产化：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沉淀专家经验，避免人员流动导致流失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流程标准化：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固化非标流程，确保执行一致性与合规性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能力复用化：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多智能体挂载调用，大幅提升开发效率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风险可控化：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支持分级审批与灰度管理，保障业务安全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8" name="AutoShape 9"/>
          <p:cNvSpPr/>
          <p:nvPr/>
        </p:nvSpPr>
        <p:spPr>
          <a:xfrm>
            <a:off x="347980" y="4037965"/>
            <a:ext cx="5588000" cy="1524000"/>
          </a:xfrm>
          <a:prstGeom prst="roundRect">
            <a:avLst>
              <a:gd name="adj" fmla="val 7375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9" name="Picture 1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8480" y="4228465"/>
            <a:ext cx="304800" cy="304800"/>
          </a:xfrm>
          <a:prstGeom prst="rect">
            <a:avLst/>
          </a:prstGeom>
        </p:spPr>
      </p:pic>
      <p:sp>
        <p:nvSpPr>
          <p:cNvPr id="190" name="AutoShape 11"/>
          <p:cNvSpPr/>
          <p:nvPr/>
        </p:nvSpPr>
        <p:spPr>
          <a:xfrm>
            <a:off x="919480" y="4164965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核心管理功能</a:t>
            </a:r>
            <a:endParaRPr lang="en-US" sz="1100"/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Skills工厂：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低代码/无代码创建，自动解析SOP生成手册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版本控制、发布、灰度、回滚与退役管理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风控与审批：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基于风险等级的差异化审批与管控策略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挂载与监控：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多智能体挂载、权限控制及使用监控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70474" y="2843501"/>
            <a:ext cx="719998" cy="719998"/>
            <a:chOff x="621" y="2152"/>
            <a:chExt cx="1305" cy="1305"/>
          </a:xfrm>
        </p:grpSpPr>
        <p:sp>
          <p:nvSpPr>
            <p:cNvPr id="4" name="椭圆 3"/>
            <p:cNvSpPr/>
            <p:nvPr/>
          </p:nvSpPr>
          <p:spPr>
            <a:xfrm>
              <a:off x="621" y="2152"/>
              <a:ext cx="1305" cy="1305"/>
            </a:xfrm>
            <a:prstGeom prst="ellipse">
              <a:avLst/>
            </a:prstGeom>
            <a:gradFill flip="none" rotWithShape="1">
              <a:gsLst>
                <a:gs pos="15000">
                  <a:srgbClr val="1D78FA">
                    <a:lumMod val="40000"/>
                    <a:lumOff val="60000"/>
                  </a:srgbClr>
                </a:gs>
                <a:gs pos="74000">
                  <a:srgbClr val="1D78FA"/>
                </a:gs>
              </a:gsLst>
              <a:path path="circle">
                <a:fillToRect l="100000" b="100000"/>
              </a:path>
              <a:tileRect t="-100000" r="-10000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57200" dist="622300" dir="5400000" sx="72000" sy="72000" algn="t" rotWithShape="0">
                <a:srgbClr val="1D78FA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12" y="2453"/>
              <a:ext cx="1122" cy="704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业务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510349" y="2843501"/>
            <a:ext cx="719998" cy="719998"/>
            <a:chOff x="621" y="2152"/>
            <a:chExt cx="1305" cy="1305"/>
          </a:xfrm>
        </p:grpSpPr>
        <p:sp>
          <p:nvSpPr>
            <p:cNvPr id="7" name="椭圆 6"/>
            <p:cNvSpPr/>
            <p:nvPr/>
          </p:nvSpPr>
          <p:spPr>
            <a:xfrm>
              <a:off x="621" y="2152"/>
              <a:ext cx="1305" cy="1305"/>
            </a:xfrm>
            <a:prstGeom prst="ellipse">
              <a:avLst/>
            </a:prstGeom>
            <a:gradFill flip="none" rotWithShape="1">
              <a:gsLst>
                <a:gs pos="15000">
                  <a:srgbClr val="1D78FA">
                    <a:lumMod val="40000"/>
                    <a:lumOff val="60000"/>
                  </a:srgbClr>
                </a:gs>
                <a:gs pos="74000">
                  <a:srgbClr val="1D78FA"/>
                </a:gs>
              </a:gsLst>
              <a:path path="circle">
                <a:fillToRect l="100000" b="100000"/>
              </a:path>
              <a:tileRect t="-100000" r="-10000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57200" dist="622300" dir="5400000" sx="72000" sy="72000" algn="t" rotWithShape="0">
                <a:srgbClr val="1D78FA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12" y="2453"/>
              <a:ext cx="1122" cy="704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skills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050224" y="2843501"/>
            <a:ext cx="719998" cy="719998"/>
            <a:chOff x="621" y="2152"/>
            <a:chExt cx="1305" cy="1305"/>
          </a:xfrm>
        </p:grpSpPr>
        <p:sp>
          <p:nvSpPr>
            <p:cNvPr id="10" name="椭圆 9"/>
            <p:cNvSpPr/>
            <p:nvPr/>
          </p:nvSpPr>
          <p:spPr>
            <a:xfrm>
              <a:off x="621" y="2152"/>
              <a:ext cx="1305" cy="1305"/>
            </a:xfrm>
            <a:prstGeom prst="ellipse">
              <a:avLst/>
            </a:prstGeom>
            <a:gradFill flip="none" rotWithShape="1">
              <a:gsLst>
                <a:gs pos="15000">
                  <a:srgbClr val="1D78FA">
                    <a:lumMod val="40000"/>
                    <a:lumOff val="60000"/>
                  </a:srgbClr>
                </a:gs>
                <a:gs pos="74000">
                  <a:srgbClr val="1D78FA"/>
                </a:gs>
              </a:gsLst>
              <a:path path="circle">
                <a:fillToRect l="100000" b="100000"/>
              </a:path>
              <a:tileRect t="-100000" r="-10000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57200" dist="622300" dir="5400000" sx="72000" sy="72000" algn="t" rotWithShape="0">
                <a:srgbClr val="1D78FA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12" y="2453"/>
              <a:ext cx="1122" cy="704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Google Shape;3565;p74"/>
          <p:cNvGrpSpPr/>
          <p:nvPr/>
        </p:nvGrpSpPr>
        <p:grpSpPr>
          <a:xfrm>
            <a:off x="1905764" y="3061895"/>
            <a:ext cx="331470" cy="283210"/>
            <a:chOff x="4854075" y="2527625"/>
            <a:chExt cx="56000" cy="59050"/>
          </a:xfrm>
        </p:grpSpPr>
        <p:sp>
          <p:nvSpPr>
            <p:cNvPr id="13" name="Google Shape;3566;p74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Google Shape;3567;p74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" name="Google Shape;3565;p74"/>
          <p:cNvGrpSpPr/>
          <p:nvPr/>
        </p:nvGrpSpPr>
        <p:grpSpPr>
          <a:xfrm>
            <a:off x="3485644" y="3061895"/>
            <a:ext cx="331470" cy="283210"/>
            <a:chOff x="4854075" y="2527625"/>
            <a:chExt cx="56000" cy="59050"/>
          </a:xfrm>
        </p:grpSpPr>
        <p:sp>
          <p:nvSpPr>
            <p:cNvPr id="16" name="Google Shape;3566;p74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Google Shape;3567;p74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sz="1400" b="1" dirty="0">
                <a:gradFill>
                  <a:gsLst>
                    <a:gs pos="0">
                      <a:srgbClr val="19ABEB"/>
                    </a:gs>
                    <a:gs pos="50000">
                      <a:srgbClr val="1D78FA"/>
                    </a:gs>
                    <a:gs pos="100000">
                      <a:srgbClr val="3161E7"/>
                    </a:gs>
                  </a:gsLst>
                  <a:lin ang="2700000" scaled="1"/>
                </a:gra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841500" y="3381375"/>
            <a:ext cx="567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401060" y="3361690"/>
            <a:ext cx="567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挂接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智能体创作中心 | 智能体构建编排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31520" y="644525"/>
            <a:ext cx="106203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三种模式：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单任务智能体、多智能体蜂群、智能体团队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核心功能：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智能体模板、一键创建、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skills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挂接、多智能体编排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044825" y="5676655"/>
            <a:ext cx="44894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椭圆 79"/>
          <p:cNvSpPr/>
          <p:nvPr/>
        </p:nvSpPr>
        <p:spPr>
          <a:xfrm>
            <a:off x="2840182" y="5595782"/>
            <a:ext cx="161746" cy="16174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855"/>
            <a:endParaRPr lang="zh-CN" altLang="en-US" sz="435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3034030" y="3977395"/>
            <a:ext cx="44894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椭圆 81"/>
          <p:cNvSpPr/>
          <p:nvPr/>
        </p:nvSpPr>
        <p:spPr>
          <a:xfrm>
            <a:off x="2829387" y="3896522"/>
            <a:ext cx="161746" cy="16174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855"/>
            <a:endParaRPr lang="zh-CN" altLang="en-US" sz="435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6" name="直接连接符 85"/>
          <p:cNvCxnSpPr/>
          <p:nvPr/>
        </p:nvCxnSpPr>
        <p:spPr>
          <a:xfrm>
            <a:off x="3034665" y="2316196"/>
            <a:ext cx="44894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7" name="组合 86"/>
          <p:cNvGrpSpPr/>
          <p:nvPr/>
        </p:nvGrpSpPr>
        <p:grpSpPr>
          <a:xfrm>
            <a:off x="1349569" y="1560801"/>
            <a:ext cx="1444409" cy="1444409"/>
            <a:chOff x="621" y="2152"/>
            <a:chExt cx="2618" cy="2618"/>
          </a:xfrm>
        </p:grpSpPr>
        <p:sp>
          <p:nvSpPr>
            <p:cNvPr id="88" name="椭圆 87"/>
            <p:cNvSpPr/>
            <p:nvPr/>
          </p:nvSpPr>
          <p:spPr>
            <a:xfrm>
              <a:off x="621" y="2152"/>
              <a:ext cx="2618" cy="2618"/>
            </a:xfrm>
            <a:prstGeom prst="ellipse">
              <a:avLst/>
            </a:prstGeom>
            <a:gradFill flip="none" rotWithShape="1">
              <a:gsLst>
                <a:gs pos="15000">
                  <a:srgbClr val="1D78FA">
                    <a:lumMod val="40000"/>
                    <a:lumOff val="60000"/>
                  </a:srgbClr>
                </a:gs>
                <a:gs pos="74000">
                  <a:srgbClr val="1D78FA"/>
                </a:gs>
              </a:gsLst>
              <a:path path="circle">
                <a:fillToRect l="100000" b="100000"/>
              </a:path>
              <a:tileRect t="-100000" r="-10000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57200" dist="622300" dir="5400000" sx="72000" sy="72000" algn="t" rotWithShape="0">
                <a:srgbClr val="1D78FA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937" y="2956"/>
              <a:ext cx="1986" cy="1083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单任务智能体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0" name="椭圆 89"/>
          <p:cNvSpPr/>
          <p:nvPr/>
        </p:nvSpPr>
        <p:spPr>
          <a:xfrm>
            <a:off x="2830022" y="2236081"/>
            <a:ext cx="161746" cy="16174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855"/>
            <a:endParaRPr lang="zh-CN" altLang="en-US" sz="435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矩形: 圆角 53"/>
          <p:cNvSpPr/>
          <p:nvPr>
            <p:custDataLst>
              <p:tags r:id="rId1"/>
            </p:custDataLst>
          </p:nvPr>
        </p:nvSpPr>
        <p:spPr>
          <a:xfrm>
            <a:off x="3516630" y="1580866"/>
            <a:ext cx="8440420" cy="148145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lstStyle/>
          <a:p>
            <a:pPr indent="0" algn="l">
              <a:lnSpc>
                <a:spcPct val="140000"/>
              </a:lnSpc>
              <a:buFont typeface="Wingdings" panose="05000000000000000000" charset="0"/>
              <a:buNone/>
            </a:pPr>
            <a:endParaRPr lang="zh-CN" altLang="en-US" sz="1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方正兰亭黑简体" panose="02000000000000000000" charset="-122"/>
              <a:sym typeface="+mn-ea"/>
            </a:endParaRPr>
          </a:p>
        </p:txBody>
      </p:sp>
      <p:sp>
        <p:nvSpPr>
          <p:cNvPr id="94" name="流程图: 终止 93"/>
          <p:cNvSpPr/>
          <p:nvPr>
            <p:custDataLst>
              <p:tags r:id="rId2"/>
            </p:custDataLst>
          </p:nvPr>
        </p:nvSpPr>
        <p:spPr>
          <a:xfrm>
            <a:off x="3877945" y="1748506"/>
            <a:ext cx="2564765" cy="314960"/>
          </a:xfrm>
          <a:prstGeom prst="flowChartTerminator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3161E7"/>
                </a:solidFill>
                <a:latin typeface="微软雅黑" panose="020B0503020204020204" charset="-122"/>
                <a:ea typeface="微软雅黑" panose="020B0503020204020204" charset="-122"/>
              </a:rPr>
              <a:t>单任务智能体模式</a:t>
            </a:r>
            <a:endParaRPr lang="zh-CN" altLang="en-US" sz="1400" b="1" dirty="0">
              <a:solidFill>
                <a:srgbClr val="3161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3"/>
            </p:custDataLst>
          </p:nvPr>
        </p:nvSpPr>
        <p:spPr>
          <a:xfrm>
            <a:off x="3877945" y="2131695"/>
            <a:ext cx="3300095" cy="835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、专精于做某个任务，完全以提示词驱动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、一句话创建智能体，满足简单任务场景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、接入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作为工具，知识作为分析指引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1349569" y="3255400"/>
            <a:ext cx="1444409" cy="1443990"/>
            <a:chOff x="621" y="2152"/>
            <a:chExt cx="2618" cy="2618"/>
          </a:xfrm>
        </p:grpSpPr>
        <p:sp>
          <p:nvSpPr>
            <p:cNvPr id="97" name="椭圆 96"/>
            <p:cNvSpPr/>
            <p:nvPr/>
          </p:nvSpPr>
          <p:spPr>
            <a:xfrm>
              <a:off x="621" y="2152"/>
              <a:ext cx="2618" cy="2618"/>
            </a:xfrm>
            <a:prstGeom prst="ellipse">
              <a:avLst/>
            </a:prstGeom>
            <a:gradFill flip="none" rotWithShape="1">
              <a:gsLst>
                <a:gs pos="15000">
                  <a:srgbClr val="1D78FA">
                    <a:lumMod val="40000"/>
                    <a:lumOff val="60000"/>
                  </a:srgbClr>
                </a:gs>
                <a:gs pos="74000">
                  <a:srgbClr val="1D78FA"/>
                </a:gs>
              </a:gsLst>
              <a:path path="circle">
                <a:fillToRect l="100000" b="100000"/>
              </a:path>
              <a:tileRect t="-100000" r="-10000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57200" dist="622300" dir="5400000" sx="72000" sy="72000" algn="t" rotWithShape="0">
                <a:srgbClr val="1D78FA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937" y="2930"/>
              <a:ext cx="1986" cy="1083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多智能体蜂群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1349569" y="4954660"/>
            <a:ext cx="1444409" cy="1443990"/>
            <a:chOff x="621" y="2152"/>
            <a:chExt cx="2618" cy="2618"/>
          </a:xfrm>
        </p:grpSpPr>
        <p:sp>
          <p:nvSpPr>
            <p:cNvPr id="100" name="椭圆 99"/>
            <p:cNvSpPr/>
            <p:nvPr/>
          </p:nvSpPr>
          <p:spPr>
            <a:xfrm>
              <a:off x="621" y="2152"/>
              <a:ext cx="2618" cy="2618"/>
            </a:xfrm>
            <a:prstGeom prst="ellipse">
              <a:avLst/>
            </a:prstGeom>
            <a:gradFill flip="none" rotWithShape="1">
              <a:gsLst>
                <a:gs pos="15000">
                  <a:srgbClr val="1D78FA">
                    <a:lumMod val="40000"/>
                    <a:lumOff val="60000"/>
                  </a:srgbClr>
                </a:gs>
                <a:gs pos="74000">
                  <a:srgbClr val="1D78FA"/>
                </a:gs>
              </a:gsLst>
              <a:path path="circle">
                <a:fillToRect l="100000" b="100000"/>
              </a:path>
              <a:tileRect t="-100000" r="-10000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57200" dist="622300" dir="5400000" sx="72000" sy="72000" algn="t" rotWithShape="0">
                <a:srgbClr val="1D78FA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937" y="2956"/>
              <a:ext cx="1986" cy="1083"/>
            </a:xfrm>
            <a:prstGeom prst="rect">
              <a:avLst/>
            </a:prstGeom>
          </p:spPr>
          <p:txBody>
            <a:bodyPr vert="horz" wrap="square" anchor="ctr" anchorCtr="0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智能体团队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2" name="矩形 101"/>
          <p:cNvSpPr/>
          <p:nvPr/>
        </p:nvSpPr>
        <p:spPr>
          <a:xfrm>
            <a:off x="381635" y="2560671"/>
            <a:ext cx="494665" cy="3015615"/>
          </a:xfrm>
          <a:prstGeom prst="rect">
            <a:avLst/>
          </a:prstGeom>
        </p:spPr>
        <p:txBody>
          <a:bodyPr vert="eaVert" wrap="none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智能创作中心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左大括号 102"/>
          <p:cNvSpPr/>
          <p:nvPr/>
        </p:nvSpPr>
        <p:spPr>
          <a:xfrm>
            <a:off x="944245" y="2168241"/>
            <a:ext cx="254635" cy="3843020"/>
          </a:xfrm>
          <a:prstGeom prst="leftBrace">
            <a:avLst>
              <a:gd name="adj1" fmla="val 0"/>
              <a:gd name="adj2" fmla="val 49799"/>
            </a:avLst>
          </a:prstGeom>
          <a:ln w="28575"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3201035" y="2123156"/>
            <a:ext cx="626110" cy="378460"/>
            <a:chOff x="5041" y="3149"/>
            <a:chExt cx="986" cy="596"/>
          </a:xfrm>
        </p:grpSpPr>
        <p:sp>
          <p:nvSpPr>
            <p:cNvPr id="105" name="椭圆 104"/>
            <p:cNvSpPr/>
            <p:nvPr/>
          </p:nvSpPr>
          <p:spPr>
            <a:xfrm>
              <a:off x="5122" y="3149"/>
              <a:ext cx="842" cy="596"/>
            </a:xfrm>
            <a:prstGeom prst="ellipse">
              <a:avLst/>
            </a:prstGeom>
            <a:solidFill>
              <a:srgbClr val="00B0F0"/>
            </a:solidFill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5041" y="3208"/>
              <a:ext cx="98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pic>
        <p:nvPicPr>
          <p:cNvPr id="38" name="图片 37" descr="图形用户界面, 应用程序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1592580"/>
            <a:ext cx="4665345" cy="1438275"/>
          </a:xfrm>
          <a:prstGeom prst="rect">
            <a:avLst/>
          </a:prstGeom>
        </p:spPr>
      </p:pic>
      <p:sp>
        <p:nvSpPr>
          <p:cNvPr id="5" name="流程图: 终止 4"/>
          <p:cNvSpPr/>
          <p:nvPr>
            <p:custDataLst>
              <p:tags r:id="rId5"/>
            </p:custDataLst>
          </p:nvPr>
        </p:nvSpPr>
        <p:spPr>
          <a:xfrm>
            <a:off x="3877945" y="3374106"/>
            <a:ext cx="2564765" cy="314960"/>
          </a:xfrm>
          <a:prstGeom prst="flowChartTerminator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3161E7"/>
                </a:solidFill>
                <a:latin typeface="微软雅黑" panose="020B0503020204020204" charset="-122"/>
                <a:ea typeface="微软雅黑" panose="020B0503020204020204" charset="-122"/>
              </a:rPr>
              <a:t>多智能体蜂群模式</a:t>
            </a:r>
            <a:endParaRPr lang="zh-CN" altLang="en-US" sz="1400" b="1" dirty="0">
              <a:solidFill>
                <a:srgbClr val="3161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877945" y="3757295"/>
            <a:ext cx="3300095" cy="835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、多智能体连携处理，靠流程驱动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、适用于有明确分类、顺序的调度场景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、接入多个智能体与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服务，完成复杂推理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流程图: 终止 6"/>
          <p:cNvSpPr/>
          <p:nvPr>
            <p:custDataLst>
              <p:tags r:id="rId7"/>
            </p:custDataLst>
          </p:nvPr>
        </p:nvSpPr>
        <p:spPr>
          <a:xfrm>
            <a:off x="3877945" y="5117181"/>
            <a:ext cx="2564765" cy="314960"/>
          </a:xfrm>
          <a:prstGeom prst="flowChartTerminator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3161E7"/>
                </a:solidFill>
                <a:latin typeface="微软雅黑" panose="020B0503020204020204" charset="-122"/>
                <a:ea typeface="微软雅黑" panose="020B0503020204020204" charset="-122"/>
              </a:rPr>
              <a:t>智能体团队模型</a:t>
            </a:r>
            <a:endParaRPr lang="zh-CN" altLang="en-US" sz="1400" b="1" dirty="0">
              <a:solidFill>
                <a:srgbClr val="3161E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877945" y="5500370"/>
            <a:ext cx="3300095" cy="835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、依靠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强大的方案规划能力，以结果推动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、适用于复杂且需要进行深度探索的任务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、动态编排方案，灵活调取智能体服务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53"/>
          <p:cNvSpPr/>
          <p:nvPr>
            <p:custDataLst>
              <p:tags r:id="rId9"/>
            </p:custDataLst>
          </p:nvPr>
        </p:nvSpPr>
        <p:spPr>
          <a:xfrm>
            <a:off x="3516630" y="3272506"/>
            <a:ext cx="8440420" cy="148145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lstStyle/>
          <a:p>
            <a:pPr indent="0" algn="l">
              <a:lnSpc>
                <a:spcPct val="140000"/>
              </a:lnSpc>
              <a:buFont typeface="Wingdings" panose="05000000000000000000" charset="0"/>
              <a:buNone/>
            </a:pPr>
            <a:endParaRPr lang="zh-CN" altLang="en-US" sz="1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方正兰亭黑简体" panose="02000000000000000000" charset="-122"/>
              <a:sym typeface="+mn-ea"/>
            </a:endParaRPr>
          </a:p>
        </p:txBody>
      </p:sp>
      <p:sp>
        <p:nvSpPr>
          <p:cNvPr id="10" name="矩形: 圆角 53"/>
          <p:cNvSpPr/>
          <p:nvPr>
            <p:custDataLst>
              <p:tags r:id="rId10"/>
            </p:custDataLst>
          </p:nvPr>
        </p:nvSpPr>
        <p:spPr>
          <a:xfrm>
            <a:off x="3516630" y="4964146"/>
            <a:ext cx="8440420" cy="1481455"/>
          </a:xfrm>
          <a:prstGeom prst="rect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0"/>
          <a:lstStyle/>
          <a:p>
            <a:pPr indent="0" algn="l">
              <a:lnSpc>
                <a:spcPct val="140000"/>
              </a:lnSpc>
              <a:buFont typeface="Wingdings" panose="05000000000000000000" charset="0"/>
              <a:buNone/>
            </a:pPr>
            <a:endParaRPr lang="zh-CN" altLang="en-US" sz="1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方正兰亭黑简体" panose="02000000000000000000" charset="-122"/>
              <a:sym typeface="+mn-ea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3201035" y="3753836"/>
            <a:ext cx="626110" cy="378460"/>
            <a:chOff x="5041" y="3149"/>
            <a:chExt cx="986" cy="596"/>
          </a:xfrm>
        </p:grpSpPr>
        <p:sp>
          <p:nvSpPr>
            <p:cNvPr id="108" name="椭圆 107"/>
            <p:cNvSpPr/>
            <p:nvPr/>
          </p:nvSpPr>
          <p:spPr>
            <a:xfrm>
              <a:off x="5122" y="3149"/>
              <a:ext cx="842" cy="596"/>
            </a:xfrm>
            <a:prstGeom prst="ellipse">
              <a:avLst/>
            </a:prstGeom>
            <a:solidFill>
              <a:srgbClr val="00B0F0"/>
            </a:solidFill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041" y="3208"/>
              <a:ext cx="98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193415" y="5487386"/>
            <a:ext cx="626110" cy="378460"/>
            <a:chOff x="5041" y="3149"/>
            <a:chExt cx="986" cy="596"/>
          </a:xfrm>
        </p:grpSpPr>
        <p:sp>
          <p:nvSpPr>
            <p:cNvPr id="111" name="椭圆 110"/>
            <p:cNvSpPr/>
            <p:nvPr/>
          </p:nvSpPr>
          <p:spPr>
            <a:xfrm>
              <a:off x="5122" y="3149"/>
              <a:ext cx="842" cy="596"/>
            </a:xfrm>
            <a:prstGeom prst="ellipse">
              <a:avLst/>
            </a:prstGeom>
            <a:solidFill>
              <a:srgbClr val="00B0F0"/>
            </a:solidFill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5041" y="3208"/>
              <a:ext cx="98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6510" y="3315335"/>
            <a:ext cx="3733800" cy="14122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8040" y="5060950"/>
            <a:ext cx="4726940" cy="1337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通用智能体 | 智能体网关（A2A）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03200" y="644525"/>
            <a:ext cx="11824547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智能体网关：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聚合多场景、多专业的智能体能力，以自然语言交互为核心，实现业务需求与专业工具的精准匹配与高效调用，推动专业能力普惠化，加速业务响应速度，沉淀可复用的业务能力资产，为组织创造可持续的长期价值。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495925" y="1636395"/>
            <a:ext cx="6452870" cy="1630045"/>
          </a:xfrm>
          <a:prstGeom prst="roundRect">
            <a:avLst>
              <a:gd name="adj" fmla="val 610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t" anchorCtr="0"/>
          <a:lstStyle/>
          <a:p>
            <a:pPr algn="ctr"/>
            <a:endParaRPr lang="zh-CN" altLang="en-US" sz="1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496560" y="4962525"/>
            <a:ext cx="6452235" cy="1539875"/>
          </a:xfrm>
          <a:prstGeom prst="roundRect">
            <a:avLst>
              <a:gd name="adj" fmla="val 585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t" anchorCtr="0"/>
          <a:lstStyle/>
          <a:p>
            <a:pPr algn="ctr"/>
            <a:endParaRPr lang="zh-CN" altLang="en-US" sz="1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497195" y="3659505"/>
            <a:ext cx="6451600" cy="962660"/>
          </a:xfrm>
          <a:prstGeom prst="roundRect">
            <a:avLst>
              <a:gd name="adj" fmla="val 1058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t" anchorCtr="0"/>
          <a:lstStyle/>
          <a:p>
            <a:pPr algn="ctr"/>
            <a:endParaRPr lang="zh-CN" altLang="en-US" sz="1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152515" y="1754505"/>
            <a:ext cx="1195070" cy="2870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334375" y="1754505"/>
            <a:ext cx="1195070" cy="2870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综合分析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0241280" y="1754505"/>
            <a:ext cx="1195070" cy="2870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应用嵌入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9"/>
          <p:cNvSpPr/>
          <p:nvPr>
            <p:custDataLst>
              <p:tags r:id="rId1"/>
            </p:custDataLst>
          </p:nvPr>
        </p:nvSpPr>
        <p:spPr>
          <a:xfrm>
            <a:off x="5848985" y="4202430"/>
            <a:ext cx="122174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能力编排智能体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6" name="圆角矩形 149"/>
          <p:cNvSpPr/>
          <p:nvPr>
            <p:custDataLst>
              <p:tags r:id="rId2"/>
            </p:custDataLst>
          </p:nvPr>
        </p:nvSpPr>
        <p:spPr>
          <a:xfrm>
            <a:off x="7201990" y="4202113"/>
            <a:ext cx="122040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功能调用智能体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7" name="圆角矩形 149"/>
          <p:cNvSpPr/>
          <p:nvPr>
            <p:custDataLst>
              <p:tags r:id="rId3"/>
            </p:custDataLst>
          </p:nvPr>
        </p:nvSpPr>
        <p:spPr>
          <a:xfrm>
            <a:off x="8524060" y="4202113"/>
            <a:ext cx="122040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多智能体协同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847715" y="5088255"/>
            <a:ext cx="1107440" cy="1359535"/>
            <a:chOff x="11748" y="8166"/>
            <a:chExt cx="1268" cy="1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9" name="圆角矩形 18"/>
            <p:cNvSpPr/>
            <p:nvPr/>
          </p:nvSpPr>
          <p:spPr>
            <a:xfrm>
              <a:off x="11748" y="8166"/>
              <a:ext cx="1268" cy="1901"/>
            </a:xfrm>
            <a:prstGeom prst="roundRect">
              <a:avLst>
                <a:gd name="adj" fmla="val 7176"/>
              </a:avLst>
            </a:prstGeom>
            <a:grpFill/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优化</a:t>
              </a:r>
              <a:endParaRPr lang="zh-CN" altLang="en-US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11829" y="8638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1829" y="9102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功能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11829" y="9566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智能体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042785" y="5088255"/>
            <a:ext cx="1099968" cy="1358980"/>
            <a:chOff x="11748" y="8166"/>
            <a:chExt cx="1186" cy="1901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9" name="圆角矩形 28"/>
            <p:cNvSpPr/>
            <p:nvPr/>
          </p:nvSpPr>
          <p:spPr>
            <a:xfrm>
              <a:off x="11748" y="8166"/>
              <a:ext cx="1185" cy="1901"/>
            </a:xfrm>
            <a:prstGeom prst="roundRect">
              <a:avLst>
                <a:gd name="adj" fmla="val 7176"/>
              </a:avLst>
            </a:prstGeom>
            <a:grpFill/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投诉</a:t>
              </a:r>
              <a:endParaRPr lang="zh-CN" altLang="en-US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1829" y="8638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11829" y="9102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功能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11829" y="9566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智能体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233410" y="5088255"/>
            <a:ext cx="1058545" cy="1358265"/>
            <a:chOff x="11748" y="8166"/>
            <a:chExt cx="1268" cy="1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56" name="圆角矩形 55"/>
            <p:cNvSpPr/>
            <p:nvPr/>
          </p:nvSpPr>
          <p:spPr>
            <a:xfrm>
              <a:off x="11748" y="8166"/>
              <a:ext cx="1268" cy="1901"/>
            </a:xfrm>
            <a:prstGeom prst="roundRect">
              <a:avLst>
                <a:gd name="adj" fmla="val 7176"/>
              </a:avLst>
            </a:prstGeom>
            <a:grpFill/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规划</a:t>
              </a:r>
              <a:endParaRPr lang="zh-CN" altLang="en-US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11829" y="8638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11829" y="9102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功能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0" name="圆角矩形 79"/>
            <p:cNvSpPr/>
            <p:nvPr/>
          </p:nvSpPr>
          <p:spPr>
            <a:xfrm>
              <a:off x="11829" y="9566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智能体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9371330" y="5088255"/>
            <a:ext cx="1122045" cy="1358265"/>
            <a:chOff x="11748" y="8166"/>
            <a:chExt cx="1268" cy="1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86" name="圆角矩形 85"/>
            <p:cNvSpPr/>
            <p:nvPr/>
          </p:nvSpPr>
          <p:spPr>
            <a:xfrm>
              <a:off x="11748" y="8166"/>
              <a:ext cx="1268" cy="1901"/>
            </a:xfrm>
            <a:prstGeom prst="roundRect">
              <a:avLst>
                <a:gd name="adj" fmla="val 7176"/>
              </a:avLst>
            </a:prstGeom>
            <a:grpFill/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开站</a:t>
              </a:r>
              <a:endParaRPr lang="zh-CN" altLang="en-US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11829" y="8638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11829" y="9102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功能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" name="圆角矩形 88"/>
            <p:cNvSpPr/>
            <p:nvPr/>
          </p:nvSpPr>
          <p:spPr>
            <a:xfrm>
              <a:off x="11829" y="9566"/>
              <a:ext cx="1105" cy="365"/>
            </a:xfrm>
            <a:prstGeom prst="roundRect">
              <a:avLst/>
            </a:prstGeom>
            <a:grp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智能体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10593070" y="5088255"/>
            <a:ext cx="1221740" cy="1358265"/>
            <a:chOff x="11748" y="8166"/>
            <a:chExt cx="1268" cy="1900"/>
          </a:xfrm>
        </p:grpSpPr>
        <p:sp>
          <p:nvSpPr>
            <p:cNvPr id="91" name="圆角矩形 90"/>
            <p:cNvSpPr/>
            <p:nvPr/>
          </p:nvSpPr>
          <p:spPr>
            <a:xfrm>
              <a:off x="11748" y="8166"/>
              <a:ext cx="1268" cy="1901"/>
            </a:xfrm>
            <a:prstGeom prst="roundRect">
              <a:avLst>
                <a:gd name="adj" fmla="val 7176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维护</a:t>
              </a:r>
              <a:r>
                <a:rPr lang="en-US" altLang="zh-CN"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...</a:t>
              </a:r>
              <a:endParaRPr lang="en-US" altLang="zh-CN" sz="1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2" name="圆角矩形 91"/>
            <p:cNvSpPr/>
            <p:nvPr/>
          </p:nvSpPr>
          <p:spPr>
            <a:xfrm>
              <a:off x="11829" y="8638"/>
              <a:ext cx="1105" cy="365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4" name="圆角矩形 93"/>
            <p:cNvSpPr/>
            <p:nvPr/>
          </p:nvSpPr>
          <p:spPr>
            <a:xfrm>
              <a:off x="11829" y="9102"/>
              <a:ext cx="1105" cy="365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功能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11829" y="9566"/>
              <a:ext cx="1105" cy="365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智能体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7" name="圆角矩形 149"/>
          <p:cNvSpPr/>
          <p:nvPr>
            <p:custDataLst>
              <p:tags r:id="rId4"/>
            </p:custDataLst>
          </p:nvPr>
        </p:nvSpPr>
        <p:spPr>
          <a:xfrm>
            <a:off x="5848985" y="3836670"/>
            <a:ext cx="122174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意图分类智能体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98" name="圆角矩形 149"/>
          <p:cNvSpPr/>
          <p:nvPr>
            <p:custDataLst>
              <p:tags r:id="rId5"/>
            </p:custDataLst>
          </p:nvPr>
        </p:nvSpPr>
        <p:spPr>
          <a:xfrm>
            <a:off x="7202170" y="3836670"/>
            <a:ext cx="122174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意图识别智能体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99" name="圆角矩形 149"/>
          <p:cNvSpPr/>
          <p:nvPr>
            <p:custDataLst>
              <p:tags r:id="rId6"/>
            </p:custDataLst>
          </p:nvPr>
        </p:nvSpPr>
        <p:spPr>
          <a:xfrm>
            <a:off x="8522970" y="3836670"/>
            <a:ext cx="122174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动态规划智能体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7905" y="2099310"/>
            <a:ext cx="1862455" cy="1014730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7660" y="2099945"/>
            <a:ext cx="1865630" cy="101346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8325" y="2099310"/>
            <a:ext cx="2204085" cy="1014095"/>
          </a:xfrm>
          <a:prstGeom prst="rect">
            <a:avLst/>
          </a:prstGeom>
        </p:spPr>
      </p:pic>
      <p:sp>
        <p:nvSpPr>
          <p:cNvPr id="103" name="等腰三角形 24"/>
          <p:cNvSpPr/>
          <p:nvPr/>
        </p:nvSpPr>
        <p:spPr>
          <a:xfrm>
            <a:off x="8028940" y="3326765"/>
            <a:ext cx="2004060" cy="20447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5" name="等腰三角形 24"/>
          <p:cNvSpPr/>
          <p:nvPr/>
        </p:nvSpPr>
        <p:spPr>
          <a:xfrm>
            <a:off x="8028940" y="4725670"/>
            <a:ext cx="2004060" cy="14478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472440" y="1499235"/>
            <a:ext cx="30308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能力智能编排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72440" y="4709160"/>
            <a:ext cx="48107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系统功能智能调用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利用大模型识别用户业务意图，调用合适的系统功能展示，并进行分析反馈，提升用户业务分析效能。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472440" y="5661025"/>
            <a:ext cx="48101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业务综合分析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构建业务综合分析智能体，基于多能力、多平台、多智能体返回的结果，进行二次整合分析，提升数据、业务分析效率。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511810" y="1951355"/>
            <a:ext cx="4793615" cy="955675"/>
            <a:chOff x="7019" y="3639"/>
            <a:chExt cx="4193" cy="1079"/>
          </a:xfrm>
        </p:grpSpPr>
        <p:sp>
          <p:nvSpPr>
            <p:cNvPr id="111" name="矩形: 圆角 23"/>
            <p:cNvSpPr/>
            <p:nvPr/>
          </p:nvSpPr>
          <p:spPr>
            <a:xfrm>
              <a:off x="7019" y="3639"/>
              <a:ext cx="775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需求解析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矩形: 圆角 23"/>
            <p:cNvSpPr/>
            <p:nvPr/>
          </p:nvSpPr>
          <p:spPr>
            <a:xfrm>
              <a:off x="8151" y="3639"/>
              <a:ext cx="775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动态规划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矩形: 圆角 23"/>
            <p:cNvSpPr/>
            <p:nvPr/>
          </p:nvSpPr>
          <p:spPr>
            <a:xfrm>
              <a:off x="9283" y="3639"/>
              <a:ext cx="775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能力调用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矩形: 圆角 23"/>
            <p:cNvSpPr/>
            <p:nvPr/>
          </p:nvSpPr>
          <p:spPr>
            <a:xfrm>
              <a:off x="10415" y="3639"/>
              <a:ext cx="777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结果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整合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矩形: 圆角 23"/>
            <p:cNvSpPr/>
            <p:nvPr/>
          </p:nvSpPr>
          <p:spPr>
            <a:xfrm>
              <a:off x="7019" y="4360"/>
              <a:ext cx="4193" cy="35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能力管理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直角三角形 116"/>
            <p:cNvSpPr/>
            <p:nvPr/>
          </p:nvSpPr>
          <p:spPr>
            <a:xfrm rot="13440000">
              <a:off x="7878" y="3912"/>
              <a:ext cx="119" cy="119"/>
            </a:xfrm>
            <a:prstGeom prst="rtTriangle">
              <a:avLst/>
            </a:prstGeom>
            <a:gradFill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直角三角形 117"/>
            <p:cNvSpPr/>
            <p:nvPr/>
          </p:nvSpPr>
          <p:spPr>
            <a:xfrm rot="13440000">
              <a:off x="9035" y="3912"/>
              <a:ext cx="119" cy="119"/>
            </a:xfrm>
            <a:prstGeom prst="rtTriangle">
              <a:avLst/>
            </a:prstGeom>
            <a:gradFill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直角三角形 118"/>
            <p:cNvSpPr/>
            <p:nvPr/>
          </p:nvSpPr>
          <p:spPr>
            <a:xfrm rot="13440000">
              <a:off x="10143" y="3912"/>
              <a:ext cx="119" cy="119"/>
            </a:xfrm>
            <a:prstGeom prst="rtTriangle">
              <a:avLst/>
            </a:prstGeom>
            <a:gradFill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5" name="图片 124" descr="对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2765" y="1636395"/>
            <a:ext cx="161925" cy="184785"/>
          </a:xfrm>
          <a:prstGeom prst="rect">
            <a:avLst/>
          </a:prstGeom>
        </p:spPr>
      </p:pic>
      <p:pic>
        <p:nvPicPr>
          <p:cNvPr id="126" name="图片 125" descr="对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2765" y="4837430"/>
            <a:ext cx="161925" cy="184785"/>
          </a:xfrm>
          <a:prstGeom prst="rect">
            <a:avLst/>
          </a:prstGeom>
        </p:spPr>
      </p:pic>
      <p:pic>
        <p:nvPicPr>
          <p:cNvPr id="127" name="图片 126" descr="对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2765" y="5785485"/>
            <a:ext cx="161925" cy="184785"/>
          </a:xfrm>
          <a:prstGeom prst="rect">
            <a:avLst/>
          </a:prstGeom>
        </p:spPr>
      </p:pic>
      <p:sp>
        <p:nvSpPr>
          <p:cNvPr id="327" name="文本框 326"/>
          <p:cNvSpPr txBox="1"/>
          <p:nvPr/>
        </p:nvSpPr>
        <p:spPr>
          <a:xfrm>
            <a:off x="5542915" y="3904615"/>
            <a:ext cx="303530" cy="518795"/>
          </a:xfrm>
          <a:prstGeom prst="rect">
            <a:avLst/>
          </a:prstGeom>
          <a:noFill/>
        </p:spPr>
        <p:txBody>
          <a:bodyPr wrap="none" rtlCol="0" anchor="b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体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2" name="圆角矩形 149"/>
          <p:cNvSpPr/>
          <p:nvPr>
            <p:custDataLst>
              <p:tags r:id="rId12"/>
            </p:custDataLst>
          </p:nvPr>
        </p:nvSpPr>
        <p:spPr>
          <a:xfrm>
            <a:off x="10548620" y="3836670"/>
            <a:ext cx="122174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MCP </a:t>
            </a: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服务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33" name="圆角矩形 149"/>
          <p:cNvSpPr/>
          <p:nvPr>
            <p:custDataLst>
              <p:tags r:id="rId13"/>
            </p:custDataLst>
          </p:nvPr>
        </p:nvSpPr>
        <p:spPr>
          <a:xfrm>
            <a:off x="10548620" y="4202430"/>
            <a:ext cx="1221740" cy="25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知识库服务</a:t>
            </a:r>
            <a:endParaRPr lang="zh-CN" altLang="en-US" sz="10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10078085" y="3858895"/>
            <a:ext cx="303530" cy="648335"/>
          </a:xfrm>
          <a:prstGeom prst="rect">
            <a:avLst/>
          </a:prstGeom>
          <a:noFill/>
        </p:spPr>
        <p:txBody>
          <a:bodyPr wrap="none" rtlCol="0" anchor="b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务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5542915" y="5473065"/>
            <a:ext cx="303530" cy="696595"/>
          </a:xfrm>
          <a:prstGeom prst="rect">
            <a:avLst/>
          </a:prstGeom>
          <a:noFill/>
        </p:spPr>
        <p:txBody>
          <a:bodyPr wrap="none" rtlCol="0" anchor="b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外</a:t>
            </a:r>
            <a:endParaRPr lang="zh-CN" altLang="en-US" sz="1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部</a:t>
            </a:r>
            <a:endParaRPr lang="zh-CN" altLang="en-US" sz="1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</a:t>
            </a:r>
            <a:endParaRPr lang="zh-CN" altLang="en-US" sz="1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</a:t>
            </a:r>
            <a:endParaRPr lang="zh-CN" altLang="en-US" sz="1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1810" y="2999740"/>
            <a:ext cx="30314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多智能体协同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1175" y="3420110"/>
            <a:ext cx="4793615" cy="1176020"/>
            <a:chOff x="1240" y="8478"/>
            <a:chExt cx="4248" cy="1082"/>
          </a:xfrm>
        </p:grpSpPr>
        <p:sp>
          <p:nvSpPr>
            <p:cNvPr id="7" name="矩形: 圆角 23"/>
            <p:cNvSpPr/>
            <p:nvPr/>
          </p:nvSpPr>
          <p:spPr>
            <a:xfrm>
              <a:off x="1240" y="8478"/>
              <a:ext cx="775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意图分类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矩形: 圆角 23"/>
            <p:cNvSpPr/>
            <p:nvPr/>
          </p:nvSpPr>
          <p:spPr>
            <a:xfrm>
              <a:off x="2261" y="8478"/>
              <a:ext cx="775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智能编排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: 圆角 23"/>
            <p:cNvSpPr/>
            <p:nvPr/>
          </p:nvSpPr>
          <p:spPr>
            <a:xfrm>
              <a:off x="3282" y="8478"/>
              <a:ext cx="980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上下文工程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矩形: 圆角 23"/>
            <p:cNvSpPr/>
            <p:nvPr/>
          </p:nvSpPr>
          <p:spPr>
            <a:xfrm>
              <a:off x="4508" y="8478"/>
              <a:ext cx="980" cy="665"/>
            </a:xfrm>
            <a:prstGeom prst="roundRect">
              <a:avLst/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智能体调度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矩形: 圆角 23"/>
            <p:cNvSpPr/>
            <p:nvPr/>
          </p:nvSpPr>
          <p:spPr>
            <a:xfrm>
              <a:off x="1240" y="9202"/>
              <a:ext cx="4248" cy="35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智能体管理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4" name="图片 23" descr="对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2765" y="3124835"/>
            <a:ext cx="161925" cy="184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11200" y="50400"/>
            <a:ext cx="9759950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通用智能体 | 智能问数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70535" y="638175"/>
            <a:ext cx="10862945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核心优势：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黑体" panose="02010609060101010101" charset="-122"/>
              </a:rPr>
              <a:t>支持接口、库表等多形态全业务数据，支持多种查询方式融合联动，操作简单、取数高效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核心能力：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多表关联、自定义指标、自定义统计口径，卡片工厂、智能看板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矩形 26"/>
          <p:cNvSpPr/>
          <p:nvPr>
            <p:custDataLst>
              <p:tags r:id="rId1"/>
            </p:custDataLst>
          </p:nvPr>
        </p:nvSpPr>
        <p:spPr bwMode="auto">
          <a:xfrm>
            <a:off x="193040" y="1530350"/>
            <a:ext cx="3180080" cy="5033010"/>
          </a:xfrm>
          <a:prstGeom prst="roundRect">
            <a:avLst>
              <a:gd name="adj" fmla="val 2357"/>
            </a:avLst>
          </a:prstGeom>
          <a:solidFill>
            <a:schemeClr val="bg1"/>
          </a:solidFill>
          <a:ln>
            <a:solidFill>
              <a:srgbClr val="1184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82550" tIns="41275" rIns="82550" bIns="41275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1049338" y="1406843"/>
            <a:ext cx="1467485" cy="25717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业务痛点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2"/>
            </p:custDataLst>
          </p:nvPr>
        </p:nvSpPr>
        <p:spPr>
          <a:xfrm>
            <a:off x="238125" y="1664335"/>
            <a:ext cx="3037840" cy="915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u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传统数据分析慢：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需经过需求分析、模型设计、代码开发、数据计算、数据提取、报告撰写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六大环节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，全流程人力投入高、执行周期长。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422275" y="2646680"/>
            <a:ext cx="1318260" cy="3229610"/>
            <a:chOff x="889" y="4204"/>
            <a:chExt cx="2076" cy="5086"/>
          </a:xfrm>
        </p:grpSpPr>
        <p:sp>
          <p:nvSpPr>
            <p:cNvPr id="66" name="圆角矩形 70"/>
            <p:cNvSpPr/>
            <p:nvPr/>
          </p:nvSpPr>
          <p:spPr>
            <a:xfrm>
              <a:off x="918" y="4798"/>
              <a:ext cx="1882" cy="369"/>
            </a:xfrm>
            <a:prstGeom prst="roundRect">
              <a:avLst/>
            </a:prstGeom>
            <a:noFill/>
            <a:ln>
              <a:solidFill>
                <a:srgbClr val="30C0B4"/>
              </a:solidFill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数据需求分析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圆角矩形 70"/>
            <p:cNvSpPr/>
            <p:nvPr/>
          </p:nvSpPr>
          <p:spPr>
            <a:xfrm>
              <a:off x="889" y="5648"/>
              <a:ext cx="1882" cy="369"/>
            </a:xfrm>
            <a:prstGeom prst="roundRect">
              <a:avLst/>
            </a:prstGeom>
            <a:noFill/>
            <a:ln>
              <a:solidFill>
                <a:srgbClr val="30C0B4"/>
              </a:solidFill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数据模型设计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圆角矩形 70"/>
            <p:cNvSpPr/>
            <p:nvPr/>
          </p:nvSpPr>
          <p:spPr>
            <a:xfrm>
              <a:off x="889" y="8072"/>
              <a:ext cx="1882" cy="369"/>
            </a:xfrm>
            <a:prstGeom prst="roundRect">
              <a:avLst/>
            </a:prstGeom>
            <a:noFill/>
            <a:ln>
              <a:solidFill>
                <a:srgbClr val="30C0B4"/>
              </a:solidFill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数据汇总处理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圆角矩形 70"/>
            <p:cNvSpPr/>
            <p:nvPr/>
          </p:nvSpPr>
          <p:spPr>
            <a:xfrm>
              <a:off x="889" y="7285"/>
              <a:ext cx="1882" cy="369"/>
            </a:xfrm>
            <a:prstGeom prst="roundRect">
              <a:avLst/>
            </a:prstGeom>
            <a:noFill/>
            <a:ln>
              <a:solidFill>
                <a:srgbClr val="30C0B4"/>
              </a:solidFill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数据计算</a:t>
              </a:r>
              <a:endParaRPr kumimoji="1" lang="zh-CN" altLang="en-US" sz="1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endParaRPr>
            </a:p>
          </p:txBody>
        </p:sp>
        <p:sp>
          <p:nvSpPr>
            <p:cNvPr id="74" name="圆角矩形 70"/>
            <p:cNvSpPr/>
            <p:nvPr/>
          </p:nvSpPr>
          <p:spPr>
            <a:xfrm>
              <a:off x="889" y="8922"/>
              <a:ext cx="1882" cy="369"/>
            </a:xfrm>
            <a:prstGeom prst="roundRect">
              <a:avLst/>
            </a:prstGeom>
            <a:noFill/>
            <a:ln>
              <a:solidFill>
                <a:srgbClr val="30C0B4"/>
              </a:solidFill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数据报告撰写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圆角矩形 70"/>
            <p:cNvSpPr/>
            <p:nvPr/>
          </p:nvSpPr>
          <p:spPr>
            <a:xfrm>
              <a:off x="889" y="6456"/>
              <a:ext cx="1882" cy="369"/>
            </a:xfrm>
            <a:prstGeom prst="roundRect">
              <a:avLst/>
            </a:prstGeom>
            <a:noFill/>
            <a:ln>
              <a:solidFill>
                <a:srgbClr val="30C0B4"/>
              </a:solidFill>
            </a:ln>
          </p:spPr>
          <p:style>
            <a:lnRef idx="2">
              <a:srgbClr val="6096E6">
                <a:shade val="50000"/>
              </a:srgbClr>
            </a:lnRef>
            <a:fillRef idx="1">
              <a:srgbClr val="6096E6"/>
            </a:fillRef>
            <a:effectRef idx="0">
              <a:srgbClr val="6096E6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计算代码开发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箭头: 下 37"/>
            <p:cNvSpPr/>
            <p:nvPr/>
          </p:nvSpPr>
          <p:spPr>
            <a:xfrm>
              <a:off x="1492" y="5241"/>
              <a:ext cx="149" cy="318"/>
            </a:xfrm>
            <a:prstGeom prst="downArrow">
              <a:avLst/>
            </a:prstGeom>
            <a:ln>
              <a:noFill/>
            </a:ln>
          </p:spPr>
          <p:style>
            <a:lnRef idx="2">
              <a:srgbClr val="0070C0">
                <a:shade val="15000"/>
              </a:srgbClr>
            </a:lnRef>
            <a:fillRef idx="1">
              <a:srgbClr val="0070C0"/>
            </a:fillRef>
            <a:effectRef idx="0">
              <a:srgbClr val="0070C0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8" name="箭头: 下 38"/>
            <p:cNvSpPr/>
            <p:nvPr/>
          </p:nvSpPr>
          <p:spPr>
            <a:xfrm>
              <a:off x="1492" y="6091"/>
              <a:ext cx="149" cy="318"/>
            </a:xfrm>
            <a:prstGeom prst="downArrow">
              <a:avLst/>
            </a:prstGeom>
            <a:ln>
              <a:noFill/>
            </a:ln>
          </p:spPr>
          <p:style>
            <a:lnRef idx="2">
              <a:srgbClr val="0070C0">
                <a:shade val="15000"/>
              </a:srgbClr>
            </a:lnRef>
            <a:fillRef idx="1">
              <a:srgbClr val="0070C0"/>
            </a:fillRef>
            <a:effectRef idx="0">
              <a:srgbClr val="0070C0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9" name="箭头: 下 39"/>
            <p:cNvSpPr/>
            <p:nvPr/>
          </p:nvSpPr>
          <p:spPr>
            <a:xfrm>
              <a:off x="1492" y="6899"/>
              <a:ext cx="149" cy="318"/>
            </a:xfrm>
            <a:prstGeom prst="downArrow">
              <a:avLst/>
            </a:prstGeom>
            <a:ln>
              <a:noFill/>
            </a:ln>
          </p:spPr>
          <p:style>
            <a:lnRef idx="2">
              <a:srgbClr val="0070C0">
                <a:shade val="15000"/>
              </a:srgbClr>
            </a:lnRef>
            <a:fillRef idx="1">
              <a:srgbClr val="0070C0"/>
            </a:fillRef>
            <a:effectRef idx="0">
              <a:srgbClr val="0070C0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81" name="箭头: 下 40"/>
            <p:cNvSpPr/>
            <p:nvPr/>
          </p:nvSpPr>
          <p:spPr>
            <a:xfrm>
              <a:off x="1492" y="7728"/>
              <a:ext cx="149" cy="318"/>
            </a:xfrm>
            <a:prstGeom prst="downArrow">
              <a:avLst/>
            </a:prstGeom>
            <a:ln>
              <a:noFill/>
            </a:ln>
          </p:spPr>
          <p:style>
            <a:lnRef idx="2">
              <a:srgbClr val="0070C0">
                <a:shade val="15000"/>
              </a:srgbClr>
            </a:lnRef>
            <a:fillRef idx="1">
              <a:srgbClr val="0070C0"/>
            </a:fillRef>
            <a:effectRef idx="0">
              <a:srgbClr val="0070C0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82" name="箭头: 下 41"/>
            <p:cNvSpPr/>
            <p:nvPr/>
          </p:nvSpPr>
          <p:spPr>
            <a:xfrm>
              <a:off x="1492" y="8515"/>
              <a:ext cx="149" cy="318"/>
            </a:xfrm>
            <a:prstGeom prst="downArrow">
              <a:avLst/>
            </a:prstGeom>
            <a:ln>
              <a:noFill/>
            </a:ln>
          </p:spPr>
          <p:style>
            <a:lnRef idx="2">
              <a:srgbClr val="0070C0">
                <a:shade val="15000"/>
              </a:srgbClr>
            </a:lnRef>
            <a:fillRef idx="1">
              <a:srgbClr val="0070C0"/>
            </a:fillRef>
            <a:effectRef idx="0">
              <a:srgbClr val="0070C0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89" name="圆角矩形 88"/>
            <p:cNvSpPr/>
            <p:nvPr/>
          </p:nvSpPr>
          <p:spPr>
            <a:xfrm>
              <a:off x="918" y="4204"/>
              <a:ext cx="1882" cy="414"/>
            </a:xfrm>
            <a:prstGeom prst="roundRect">
              <a:avLst/>
            </a:prstGeom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传统业务过程</a:t>
              </a:r>
              <a:endPara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97" name="图形 9" descr="秒表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02" y="5174"/>
              <a:ext cx="453" cy="453"/>
            </a:xfrm>
            <a:prstGeom prst="rect">
              <a:avLst/>
            </a:prstGeom>
          </p:spPr>
        </p:pic>
        <p:sp>
          <p:nvSpPr>
            <p:cNvPr id="98" name="文本框 97"/>
            <p:cNvSpPr txBox="1"/>
            <p:nvPr/>
          </p:nvSpPr>
          <p:spPr>
            <a:xfrm>
              <a:off x="2043" y="5198"/>
              <a:ext cx="92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0.5</a:t>
              </a:r>
              <a:r>
                <a:rPr lang="zh-CN" altLang="en-US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</a:t>
              </a:r>
              <a:endPara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99" name="图形 9" descr="秒表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02" y="5973"/>
              <a:ext cx="453" cy="453"/>
            </a:xfrm>
            <a:prstGeom prst="rect">
              <a:avLst/>
            </a:prstGeom>
          </p:spPr>
        </p:pic>
        <p:sp>
          <p:nvSpPr>
            <p:cNvPr id="100" name="文本框 99"/>
            <p:cNvSpPr txBox="1"/>
            <p:nvPr/>
          </p:nvSpPr>
          <p:spPr>
            <a:xfrm>
              <a:off x="2043" y="5997"/>
              <a:ext cx="92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0.5</a:t>
              </a:r>
              <a:r>
                <a:rPr lang="zh-CN" altLang="en-US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</a:t>
              </a:r>
              <a:endPara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01" name="图形 9" descr="秒表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02" y="6821"/>
              <a:ext cx="453" cy="453"/>
            </a:xfrm>
            <a:prstGeom prst="rect">
              <a:avLst/>
            </a:prstGeom>
          </p:spPr>
        </p:pic>
        <p:sp>
          <p:nvSpPr>
            <p:cNvPr id="102" name="文本框 101"/>
            <p:cNvSpPr txBox="1"/>
            <p:nvPr/>
          </p:nvSpPr>
          <p:spPr>
            <a:xfrm>
              <a:off x="2043" y="6845"/>
              <a:ext cx="92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1.5</a:t>
              </a:r>
              <a:r>
                <a:rPr lang="zh-CN" altLang="en-US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</a:t>
              </a:r>
              <a:endPara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03" name="图形 9" descr="秒表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02" y="7616"/>
              <a:ext cx="453" cy="453"/>
            </a:xfrm>
            <a:prstGeom prst="rect">
              <a:avLst/>
            </a:prstGeom>
          </p:spPr>
        </p:pic>
        <p:sp>
          <p:nvSpPr>
            <p:cNvPr id="112" name="文本框 111"/>
            <p:cNvSpPr txBox="1"/>
            <p:nvPr/>
          </p:nvSpPr>
          <p:spPr>
            <a:xfrm>
              <a:off x="2043" y="7640"/>
              <a:ext cx="92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0.5</a:t>
              </a:r>
              <a:r>
                <a:rPr lang="zh-CN" altLang="en-US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</a:t>
              </a:r>
              <a:endPara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23" name="图形 9" descr="秒表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02" y="8476"/>
              <a:ext cx="453" cy="453"/>
            </a:xfrm>
            <a:prstGeom prst="rect">
              <a:avLst/>
            </a:prstGeom>
          </p:spPr>
        </p:pic>
        <p:sp>
          <p:nvSpPr>
            <p:cNvPr id="124" name="文本框 123"/>
            <p:cNvSpPr txBox="1"/>
            <p:nvPr/>
          </p:nvSpPr>
          <p:spPr>
            <a:xfrm>
              <a:off x="2043" y="8500"/>
              <a:ext cx="92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</a:t>
              </a:r>
              <a:endPara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25" name="任意多边形: 形状 16"/>
          <p:cNvSpPr/>
          <p:nvPr>
            <p:custDataLst>
              <p:tags r:id="rId5"/>
            </p:custDataLst>
          </p:nvPr>
        </p:nvSpPr>
        <p:spPr>
          <a:xfrm>
            <a:off x="741066" y="6036604"/>
            <a:ext cx="388620" cy="339725"/>
          </a:xfrm>
          <a:custGeom>
            <a:avLst/>
            <a:gdLst>
              <a:gd name="connsiteX0" fmla="*/ 284186 w 533400"/>
              <a:gd name="connsiteY0" fmla="*/ 409621 h 464135"/>
              <a:gd name="connsiteX1" fmla="*/ 286026 w 533400"/>
              <a:gd name="connsiteY1" fmla="*/ 411093 h 464135"/>
              <a:gd name="connsiteX2" fmla="*/ 287131 w 533400"/>
              <a:gd name="connsiteY2" fmla="*/ 422137 h 464135"/>
              <a:gd name="connsiteX3" fmla="*/ 285658 w 533400"/>
              <a:gd name="connsiteY3" fmla="*/ 423977 h 464135"/>
              <a:gd name="connsiteX4" fmla="*/ 283818 w 533400"/>
              <a:gd name="connsiteY4" fmla="*/ 422505 h 464135"/>
              <a:gd name="connsiteX5" fmla="*/ 282713 w 533400"/>
              <a:gd name="connsiteY5" fmla="*/ 411462 h 464135"/>
              <a:gd name="connsiteX6" fmla="*/ 284186 w 533400"/>
              <a:gd name="connsiteY6" fmla="*/ 409621 h 464135"/>
              <a:gd name="connsiteX7" fmla="*/ 247006 w 533400"/>
              <a:gd name="connsiteY7" fmla="*/ 409254 h 464135"/>
              <a:gd name="connsiteX8" fmla="*/ 248479 w 533400"/>
              <a:gd name="connsiteY8" fmla="*/ 411094 h 464135"/>
              <a:gd name="connsiteX9" fmla="*/ 247374 w 533400"/>
              <a:gd name="connsiteY9" fmla="*/ 422138 h 464135"/>
              <a:gd name="connsiteX10" fmla="*/ 245902 w 533400"/>
              <a:gd name="connsiteY10" fmla="*/ 423978 h 464135"/>
              <a:gd name="connsiteX11" fmla="*/ 244061 w 533400"/>
              <a:gd name="connsiteY11" fmla="*/ 421770 h 464135"/>
              <a:gd name="connsiteX12" fmla="*/ 245166 w 533400"/>
              <a:gd name="connsiteY12" fmla="*/ 410726 h 464135"/>
              <a:gd name="connsiteX13" fmla="*/ 247006 w 533400"/>
              <a:gd name="connsiteY13" fmla="*/ 409254 h 464135"/>
              <a:gd name="connsiteX14" fmla="*/ 302959 w 533400"/>
              <a:gd name="connsiteY14" fmla="*/ 405941 h 464135"/>
              <a:gd name="connsiteX15" fmla="*/ 305168 w 533400"/>
              <a:gd name="connsiteY15" fmla="*/ 407413 h 464135"/>
              <a:gd name="connsiteX16" fmla="*/ 307377 w 533400"/>
              <a:gd name="connsiteY16" fmla="*/ 418457 h 464135"/>
              <a:gd name="connsiteX17" fmla="*/ 305904 w 533400"/>
              <a:gd name="connsiteY17" fmla="*/ 420665 h 464135"/>
              <a:gd name="connsiteX18" fmla="*/ 305536 w 533400"/>
              <a:gd name="connsiteY18" fmla="*/ 420665 h 464135"/>
              <a:gd name="connsiteX19" fmla="*/ 303696 w 533400"/>
              <a:gd name="connsiteY19" fmla="*/ 419193 h 464135"/>
              <a:gd name="connsiteX20" fmla="*/ 301487 w 533400"/>
              <a:gd name="connsiteY20" fmla="*/ 408149 h 464135"/>
              <a:gd name="connsiteX21" fmla="*/ 302959 w 533400"/>
              <a:gd name="connsiteY21" fmla="*/ 405941 h 464135"/>
              <a:gd name="connsiteX22" fmla="*/ 228968 w 533400"/>
              <a:gd name="connsiteY22" fmla="*/ 405940 h 464135"/>
              <a:gd name="connsiteX23" fmla="*/ 230441 w 533400"/>
              <a:gd name="connsiteY23" fmla="*/ 408149 h 464135"/>
              <a:gd name="connsiteX24" fmla="*/ 228232 w 533400"/>
              <a:gd name="connsiteY24" fmla="*/ 419192 h 464135"/>
              <a:gd name="connsiteX25" fmla="*/ 226392 w 533400"/>
              <a:gd name="connsiteY25" fmla="*/ 420665 h 464135"/>
              <a:gd name="connsiteX26" fmla="*/ 226023 w 533400"/>
              <a:gd name="connsiteY26" fmla="*/ 420665 h 464135"/>
              <a:gd name="connsiteX27" fmla="*/ 224551 w 533400"/>
              <a:gd name="connsiteY27" fmla="*/ 418456 h 464135"/>
              <a:gd name="connsiteX28" fmla="*/ 226760 w 533400"/>
              <a:gd name="connsiteY28" fmla="*/ 407412 h 464135"/>
              <a:gd name="connsiteX29" fmla="*/ 228968 w 533400"/>
              <a:gd name="connsiteY29" fmla="*/ 405940 h 464135"/>
              <a:gd name="connsiteX30" fmla="*/ 320629 w 533400"/>
              <a:gd name="connsiteY30" fmla="*/ 401523 h 464135"/>
              <a:gd name="connsiteX31" fmla="*/ 322838 w 533400"/>
              <a:gd name="connsiteY31" fmla="*/ 402627 h 464135"/>
              <a:gd name="connsiteX32" fmla="*/ 326151 w 533400"/>
              <a:gd name="connsiteY32" fmla="*/ 413303 h 464135"/>
              <a:gd name="connsiteX33" fmla="*/ 325047 w 533400"/>
              <a:gd name="connsiteY33" fmla="*/ 415511 h 464135"/>
              <a:gd name="connsiteX34" fmla="*/ 324679 w 533400"/>
              <a:gd name="connsiteY34" fmla="*/ 415511 h 464135"/>
              <a:gd name="connsiteX35" fmla="*/ 322838 w 533400"/>
              <a:gd name="connsiteY35" fmla="*/ 414407 h 464135"/>
              <a:gd name="connsiteX36" fmla="*/ 319525 w 533400"/>
              <a:gd name="connsiteY36" fmla="*/ 403732 h 464135"/>
              <a:gd name="connsiteX37" fmla="*/ 320629 w 533400"/>
              <a:gd name="connsiteY37" fmla="*/ 401523 h 464135"/>
              <a:gd name="connsiteX38" fmla="*/ 210563 w 533400"/>
              <a:gd name="connsiteY38" fmla="*/ 401523 h 464135"/>
              <a:gd name="connsiteX39" fmla="*/ 211667 w 533400"/>
              <a:gd name="connsiteY39" fmla="*/ 403732 h 464135"/>
              <a:gd name="connsiteX40" fmla="*/ 208354 w 533400"/>
              <a:gd name="connsiteY40" fmla="*/ 414407 h 464135"/>
              <a:gd name="connsiteX41" fmla="*/ 206882 w 533400"/>
              <a:gd name="connsiteY41" fmla="*/ 415511 h 464135"/>
              <a:gd name="connsiteX42" fmla="*/ 206146 w 533400"/>
              <a:gd name="connsiteY42" fmla="*/ 415511 h 464135"/>
              <a:gd name="connsiteX43" fmla="*/ 205041 w 533400"/>
              <a:gd name="connsiteY43" fmla="*/ 413303 h 464135"/>
              <a:gd name="connsiteX44" fmla="*/ 208354 w 533400"/>
              <a:gd name="connsiteY44" fmla="*/ 402627 h 464135"/>
              <a:gd name="connsiteX45" fmla="*/ 210563 w 533400"/>
              <a:gd name="connsiteY45" fmla="*/ 401523 h 464135"/>
              <a:gd name="connsiteX46" fmla="*/ 265780 w 533400"/>
              <a:gd name="connsiteY46" fmla="*/ 396737 h 464135"/>
              <a:gd name="connsiteX47" fmla="*/ 269461 w 533400"/>
              <a:gd name="connsiteY47" fmla="*/ 400418 h 464135"/>
              <a:gd name="connsiteX48" fmla="*/ 269461 w 533400"/>
              <a:gd name="connsiteY48" fmla="*/ 411830 h 464135"/>
              <a:gd name="connsiteX49" fmla="*/ 269461 w 533400"/>
              <a:gd name="connsiteY49" fmla="*/ 422873 h 464135"/>
              <a:gd name="connsiteX50" fmla="*/ 269461 w 533400"/>
              <a:gd name="connsiteY50" fmla="*/ 422874 h 464135"/>
              <a:gd name="connsiteX51" fmla="*/ 265780 w 533400"/>
              <a:gd name="connsiteY51" fmla="*/ 426555 h 464135"/>
              <a:gd name="connsiteX52" fmla="*/ 262099 w 533400"/>
              <a:gd name="connsiteY52" fmla="*/ 422874 h 464135"/>
              <a:gd name="connsiteX53" fmla="*/ 262099 w 533400"/>
              <a:gd name="connsiteY53" fmla="*/ 422873 h 464135"/>
              <a:gd name="connsiteX54" fmla="*/ 262099 w 533400"/>
              <a:gd name="connsiteY54" fmla="*/ 411830 h 464135"/>
              <a:gd name="connsiteX55" fmla="*/ 262099 w 533400"/>
              <a:gd name="connsiteY55" fmla="*/ 400418 h 464135"/>
              <a:gd name="connsiteX56" fmla="*/ 265780 w 533400"/>
              <a:gd name="connsiteY56" fmla="*/ 396737 h 464135"/>
              <a:gd name="connsiteX57" fmla="*/ 338298 w 533400"/>
              <a:gd name="connsiteY57" fmla="*/ 394529 h 464135"/>
              <a:gd name="connsiteX58" fmla="*/ 340875 w 533400"/>
              <a:gd name="connsiteY58" fmla="*/ 395633 h 464135"/>
              <a:gd name="connsiteX59" fmla="*/ 345292 w 533400"/>
              <a:gd name="connsiteY59" fmla="*/ 405941 h 464135"/>
              <a:gd name="connsiteX60" fmla="*/ 344188 w 533400"/>
              <a:gd name="connsiteY60" fmla="*/ 408517 h 464135"/>
              <a:gd name="connsiteX61" fmla="*/ 343452 w 533400"/>
              <a:gd name="connsiteY61" fmla="*/ 408517 h 464135"/>
              <a:gd name="connsiteX62" fmla="*/ 341611 w 533400"/>
              <a:gd name="connsiteY62" fmla="*/ 407413 h 464135"/>
              <a:gd name="connsiteX63" fmla="*/ 337194 w 533400"/>
              <a:gd name="connsiteY63" fmla="*/ 397106 h 464135"/>
              <a:gd name="connsiteX64" fmla="*/ 338298 w 533400"/>
              <a:gd name="connsiteY64" fmla="*/ 394529 h 464135"/>
              <a:gd name="connsiteX65" fmla="*/ 193629 w 533400"/>
              <a:gd name="connsiteY65" fmla="*/ 394529 h 464135"/>
              <a:gd name="connsiteX66" fmla="*/ 194733 w 533400"/>
              <a:gd name="connsiteY66" fmla="*/ 397106 h 464135"/>
              <a:gd name="connsiteX67" fmla="*/ 190316 w 533400"/>
              <a:gd name="connsiteY67" fmla="*/ 407413 h 464135"/>
              <a:gd name="connsiteX68" fmla="*/ 188476 w 533400"/>
              <a:gd name="connsiteY68" fmla="*/ 408517 h 464135"/>
              <a:gd name="connsiteX69" fmla="*/ 187740 w 533400"/>
              <a:gd name="connsiteY69" fmla="*/ 408517 h 464135"/>
              <a:gd name="connsiteX70" fmla="*/ 186635 w 533400"/>
              <a:gd name="connsiteY70" fmla="*/ 405941 h 464135"/>
              <a:gd name="connsiteX71" fmla="*/ 191052 w 533400"/>
              <a:gd name="connsiteY71" fmla="*/ 395633 h 464135"/>
              <a:gd name="connsiteX72" fmla="*/ 193629 w 533400"/>
              <a:gd name="connsiteY72" fmla="*/ 394529 h 464135"/>
              <a:gd name="connsiteX73" fmla="*/ 370325 w 533400"/>
              <a:gd name="connsiteY73" fmla="*/ 376123 h 464135"/>
              <a:gd name="connsiteX74" fmla="*/ 372901 w 533400"/>
              <a:gd name="connsiteY74" fmla="*/ 376491 h 464135"/>
              <a:gd name="connsiteX75" fmla="*/ 379527 w 533400"/>
              <a:gd name="connsiteY75" fmla="*/ 385694 h 464135"/>
              <a:gd name="connsiteX76" fmla="*/ 379159 w 533400"/>
              <a:gd name="connsiteY76" fmla="*/ 388271 h 464135"/>
              <a:gd name="connsiteX77" fmla="*/ 378055 w 533400"/>
              <a:gd name="connsiteY77" fmla="*/ 388639 h 464135"/>
              <a:gd name="connsiteX78" fmla="*/ 376582 w 533400"/>
              <a:gd name="connsiteY78" fmla="*/ 387903 h 464135"/>
              <a:gd name="connsiteX79" fmla="*/ 369957 w 533400"/>
              <a:gd name="connsiteY79" fmla="*/ 378700 h 464135"/>
              <a:gd name="connsiteX80" fmla="*/ 370325 w 533400"/>
              <a:gd name="connsiteY80" fmla="*/ 376123 h 464135"/>
              <a:gd name="connsiteX81" fmla="*/ 161603 w 533400"/>
              <a:gd name="connsiteY81" fmla="*/ 375754 h 464135"/>
              <a:gd name="connsiteX82" fmla="*/ 161972 w 533400"/>
              <a:gd name="connsiteY82" fmla="*/ 378331 h 464135"/>
              <a:gd name="connsiteX83" fmla="*/ 155345 w 533400"/>
              <a:gd name="connsiteY83" fmla="*/ 387534 h 464135"/>
              <a:gd name="connsiteX84" fmla="*/ 153873 w 533400"/>
              <a:gd name="connsiteY84" fmla="*/ 388270 h 464135"/>
              <a:gd name="connsiteX85" fmla="*/ 152769 w 533400"/>
              <a:gd name="connsiteY85" fmla="*/ 387902 h 464135"/>
              <a:gd name="connsiteX86" fmla="*/ 152400 w 533400"/>
              <a:gd name="connsiteY86" fmla="*/ 385325 h 464135"/>
              <a:gd name="connsiteX87" fmla="*/ 159026 w 533400"/>
              <a:gd name="connsiteY87" fmla="*/ 376122 h 464135"/>
              <a:gd name="connsiteX88" fmla="*/ 161603 w 533400"/>
              <a:gd name="connsiteY88" fmla="*/ 375754 h 464135"/>
              <a:gd name="connsiteX89" fmla="*/ 348237 w 533400"/>
              <a:gd name="connsiteY89" fmla="*/ 375019 h 464135"/>
              <a:gd name="connsiteX90" fmla="*/ 353391 w 533400"/>
              <a:gd name="connsiteY90" fmla="*/ 376491 h 464135"/>
              <a:gd name="connsiteX91" fmla="*/ 364435 w 533400"/>
              <a:gd name="connsiteY91" fmla="*/ 395633 h 464135"/>
              <a:gd name="connsiteX92" fmla="*/ 362962 w 533400"/>
              <a:gd name="connsiteY92" fmla="*/ 400787 h 464135"/>
              <a:gd name="connsiteX93" fmla="*/ 361122 w 533400"/>
              <a:gd name="connsiteY93" fmla="*/ 401155 h 464135"/>
              <a:gd name="connsiteX94" fmla="*/ 357808 w 533400"/>
              <a:gd name="connsiteY94" fmla="*/ 399315 h 464135"/>
              <a:gd name="connsiteX95" fmla="*/ 346765 w 533400"/>
              <a:gd name="connsiteY95" fmla="*/ 380172 h 464135"/>
              <a:gd name="connsiteX96" fmla="*/ 348237 w 533400"/>
              <a:gd name="connsiteY96" fmla="*/ 375019 h 464135"/>
              <a:gd name="connsiteX97" fmla="*/ 183322 w 533400"/>
              <a:gd name="connsiteY97" fmla="*/ 375019 h 464135"/>
              <a:gd name="connsiteX98" fmla="*/ 184794 w 533400"/>
              <a:gd name="connsiteY98" fmla="*/ 380172 h 464135"/>
              <a:gd name="connsiteX99" fmla="*/ 173751 w 533400"/>
              <a:gd name="connsiteY99" fmla="*/ 399314 h 464135"/>
              <a:gd name="connsiteX100" fmla="*/ 170438 w 533400"/>
              <a:gd name="connsiteY100" fmla="*/ 401155 h 464135"/>
              <a:gd name="connsiteX101" fmla="*/ 168597 w 533400"/>
              <a:gd name="connsiteY101" fmla="*/ 400787 h 464135"/>
              <a:gd name="connsiteX102" fmla="*/ 167124 w 533400"/>
              <a:gd name="connsiteY102" fmla="*/ 395633 h 464135"/>
              <a:gd name="connsiteX103" fmla="*/ 178168 w 533400"/>
              <a:gd name="connsiteY103" fmla="*/ 376491 h 464135"/>
              <a:gd name="connsiteX104" fmla="*/ 183322 w 533400"/>
              <a:gd name="connsiteY104" fmla="*/ 375019 h 464135"/>
              <a:gd name="connsiteX105" fmla="*/ 144669 w 533400"/>
              <a:gd name="connsiteY105" fmla="*/ 364343 h 464135"/>
              <a:gd name="connsiteX106" fmla="*/ 147246 w 533400"/>
              <a:gd name="connsiteY106" fmla="*/ 364343 h 464135"/>
              <a:gd name="connsiteX107" fmla="*/ 147246 w 533400"/>
              <a:gd name="connsiteY107" fmla="*/ 366920 h 464135"/>
              <a:gd name="connsiteX108" fmla="*/ 139884 w 533400"/>
              <a:gd name="connsiteY108" fmla="*/ 375387 h 464135"/>
              <a:gd name="connsiteX109" fmla="*/ 138412 w 533400"/>
              <a:gd name="connsiteY109" fmla="*/ 375755 h 464135"/>
              <a:gd name="connsiteX110" fmla="*/ 137307 w 533400"/>
              <a:gd name="connsiteY110" fmla="*/ 375387 h 464135"/>
              <a:gd name="connsiteX111" fmla="*/ 137307 w 533400"/>
              <a:gd name="connsiteY111" fmla="*/ 372810 h 464135"/>
              <a:gd name="connsiteX112" fmla="*/ 384681 w 533400"/>
              <a:gd name="connsiteY112" fmla="*/ 363975 h 464135"/>
              <a:gd name="connsiteX113" fmla="*/ 387258 w 533400"/>
              <a:gd name="connsiteY113" fmla="*/ 363975 h 464135"/>
              <a:gd name="connsiteX114" fmla="*/ 394620 w 533400"/>
              <a:gd name="connsiteY114" fmla="*/ 372442 h 464135"/>
              <a:gd name="connsiteX115" fmla="*/ 394620 w 533400"/>
              <a:gd name="connsiteY115" fmla="*/ 375019 h 464135"/>
              <a:gd name="connsiteX116" fmla="*/ 393516 w 533400"/>
              <a:gd name="connsiteY116" fmla="*/ 375755 h 464135"/>
              <a:gd name="connsiteX117" fmla="*/ 392044 w 533400"/>
              <a:gd name="connsiteY117" fmla="*/ 375019 h 464135"/>
              <a:gd name="connsiteX118" fmla="*/ 384681 w 533400"/>
              <a:gd name="connsiteY118" fmla="*/ 366552 h 464135"/>
              <a:gd name="connsiteX119" fmla="*/ 384681 w 533400"/>
              <a:gd name="connsiteY119" fmla="*/ 363975 h 464135"/>
              <a:gd name="connsiteX120" fmla="*/ 397933 w 533400"/>
              <a:gd name="connsiteY120" fmla="*/ 351459 h 464135"/>
              <a:gd name="connsiteX121" fmla="*/ 400510 w 533400"/>
              <a:gd name="connsiteY121" fmla="*/ 351459 h 464135"/>
              <a:gd name="connsiteX122" fmla="*/ 408977 w 533400"/>
              <a:gd name="connsiteY122" fmla="*/ 358822 h 464135"/>
              <a:gd name="connsiteX123" fmla="*/ 408977 w 533400"/>
              <a:gd name="connsiteY123" fmla="*/ 361398 h 464135"/>
              <a:gd name="connsiteX124" fmla="*/ 407504 w 533400"/>
              <a:gd name="connsiteY124" fmla="*/ 361766 h 464135"/>
              <a:gd name="connsiteX125" fmla="*/ 406400 w 533400"/>
              <a:gd name="connsiteY125" fmla="*/ 361398 h 464135"/>
              <a:gd name="connsiteX126" fmla="*/ 397933 w 533400"/>
              <a:gd name="connsiteY126" fmla="*/ 354036 h 464135"/>
              <a:gd name="connsiteX127" fmla="*/ 397933 w 533400"/>
              <a:gd name="connsiteY127" fmla="*/ 351459 h 464135"/>
              <a:gd name="connsiteX128" fmla="*/ 131050 w 533400"/>
              <a:gd name="connsiteY128" fmla="*/ 351091 h 464135"/>
              <a:gd name="connsiteX129" fmla="*/ 133627 w 533400"/>
              <a:gd name="connsiteY129" fmla="*/ 351091 h 464135"/>
              <a:gd name="connsiteX130" fmla="*/ 133627 w 533400"/>
              <a:gd name="connsiteY130" fmla="*/ 353668 h 464135"/>
              <a:gd name="connsiteX131" fmla="*/ 125160 w 533400"/>
              <a:gd name="connsiteY131" fmla="*/ 361030 h 464135"/>
              <a:gd name="connsiteX132" fmla="*/ 124056 w 533400"/>
              <a:gd name="connsiteY132" fmla="*/ 361767 h 464135"/>
              <a:gd name="connsiteX133" fmla="*/ 122583 w 533400"/>
              <a:gd name="connsiteY133" fmla="*/ 361030 h 464135"/>
              <a:gd name="connsiteX134" fmla="*/ 122583 w 533400"/>
              <a:gd name="connsiteY134" fmla="*/ 358454 h 464135"/>
              <a:gd name="connsiteX135" fmla="*/ 411922 w 533400"/>
              <a:gd name="connsiteY135" fmla="*/ 336366 h 464135"/>
              <a:gd name="connsiteX136" fmla="*/ 421125 w 533400"/>
              <a:gd name="connsiteY136" fmla="*/ 342992 h 464135"/>
              <a:gd name="connsiteX137" fmla="*/ 421493 w 533400"/>
              <a:gd name="connsiteY137" fmla="*/ 345569 h 464135"/>
              <a:gd name="connsiteX138" fmla="*/ 420021 w 533400"/>
              <a:gd name="connsiteY138" fmla="*/ 346306 h 464135"/>
              <a:gd name="connsiteX139" fmla="*/ 418916 w 533400"/>
              <a:gd name="connsiteY139" fmla="*/ 345937 h 464135"/>
              <a:gd name="connsiteX140" fmla="*/ 409713 w 533400"/>
              <a:gd name="connsiteY140" fmla="*/ 339311 h 464135"/>
              <a:gd name="connsiteX141" fmla="*/ 409345 w 533400"/>
              <a:gd name="connsiteY141" fmla="*/ 336734 h 464135"/>
              <a:gd name="connsiteX142" fmla="*/ 411922 w 533400"/>
              <a:gd name="connsiteY142" fmla="*/ 336366 h 464135"/>
              <a:gd name="connsiteX143" fmla="*/ 119638 w 533400"/>
              <a:gd name="connsiteY143" fmla="*/ 336366 h 464135"/>
              <a:gd name="connsiteX144" fmla="*/ 122214 w 533400"/>
              <a:gd name="connsiteY144" fmla="*/ 336734 h 464135"/>
              <a:gd name="connsiteX145" fmla="*/ 121846 w 533400"/>
              <a:gd name="connsiteY145" fmla="*/ 339311 h 464135"/>
              <a:gd name="connsiteX146" fmla="*/ 112643 w 533400"/>
              <a:gd name="connsiteY146" fmla="*/ 345937 h 464135"/>
              <a:gd name="connsiteX147" fmla="*/ 111539 w 533400"/>
              <a:gd name="connsiteY147" fmla="*/ 346306 h 464135"/>
              <a:gd name="connsiteX148" fmla="*/ 110066 w 533400"/>
              <a:gd name="connsiteY148" fmla="*/ 345569 h 464135"/>
              <a:gd name="connsiteX149" fmla="*/ 110435 w 533400"/>
              <a:gd name="connsiteY149" fmla="*/ 342992 h 464135"/>
              <a:gd name="connsiteX150" fmla="*/ 413762 w 533400"/>
              <a:gd name="connsiteY150" fmla="*/ 313176 h 464135"/>
              <a:gd name="connsiteX151" fmla="*/ 432904 w 533400"/>
              <a:gd name="connsiteY151" fmla="*/ 324219 h 464135"/>
              <a:gd name="connsiteX152" fmla="*/ 434377 w 533400"/>
              <a:gd name="connsiteY152" fmla="*/ 329373 h 464135"/>
              <a:gd name="connsiteX153" fmla="*/ 431064 w 533400"/>
              <a:gd name="connsiteY153" fmla="*/ 331213 h 464135"/>
              <a:gd name="connsiteX154" fmla="*/ 429223 w 533400"/>
              <a:gd name="connsiteY154" fmla="*/ 330845 h 464135"/>
              <a:gd name="connsiteX155" fmla="*/ 410081 w 533400"/>
              <a:gd name="connsiteY155" fmla="*/ 319802 h 464135"/>
              <a:gd name="connsiteX156" fmla="*/ 408609 w 533400"/>
              <a:gd name="connsiteY156" fmla="*/ 314648 h 464135"/>
              <a:gd name="connsiteX157" fmla="*/ 413762 w 533400"/>
              <a:gd name="connsiteY157" fmla="*/ 313176 h 464135"/>
              <a:gd name="connsiteX158" fmla="*/ 118165 w 533400"/>
              <a:gd name="connsiteY158" fmla="*/ 313175 h 464135"/>
              <a:gd name="connsiteX159" fmla="*/ 123319 w 533400"/>
              <a:gd name="connsiteY159" fmla="*/ 314647 h 464135"/>
              <a:gd name="connsiteX160" fmla="*/ 121847 w 533400"/>
              <a:gd name="connsiteY160" fmla="*/ 319801 h 464135"/>
              <a:gd name="connsiteX161" fmla="*/ 102704 w 533400"/>
              <a:gd name="connsiteY161" fmla="*/ 330844 h 464135"/>
              <a:gd name="connsiteX162" fmla="*/ 100864 w 533400"/>
              <a:gd name="connsiteY162" fmla="*/ 331213 h 464135"/>
              <a:gd name="connsiteX163" fmla="*/ 97551 w 533400"/>
              <a:gd name="connsiteY163" fmla="*/ 329372 h 464135"/>
              <a:gd name="connsiteX164" fmla="*/ 99023 w 533400"/>
              <a:gd name="connsiteY164" fmla="*/ 324218 h 464135"/>
              <a:gd name="connsiteX165" fmla="*/ 430696 w 533400"/>
              <a:gd name="connsiteY165" fmla="*/ 303604 h 464135"/>
              <a:gd name="connsiteX166" fmla="*/ 441003 w 533400"/>
              <a:gd name="connsiteY166" fmla="*/ 308021 h 464135"/>
              <a:gd name="connsiteX167" fmla="*/ 442108 w 533400"/>
              <a:gd name="connsiteY167" fmla="*/ 310598 h 464135"/>
              <a:gd name="connsiteX168" fmla="*/ 440267 w 533400"/>
              <a:gd name="connsiteY168" fmla="*/ 311703 h 464135"/>
              <a:gd name="connsiteX169" fmla="*/ 439531 w 533400"/>
              <a:gd name="connsiteY169" fmla="*/ 311703 h 464135"/>
              <a:gd name="connsiteX170" fmla="*/ 429224 w 533400"/>
              <a:gd name="connsiteY170" fmla="*/ 307285 h 464135"/>
              <a:gd name="connsiteX171" fmla="*/ 428119 w 533400"/>
              <a:gd name="connsiteY171" fmla="*/ 304708 h 464135"/>
              <a:gd name="connsiteX172" fmla="*/ 430696 w 533400"/>
              <a:gd name="connsiteY172" fmla="*/ 303604 h 464135"/>
              <a:gd name="connsiteX173" fmla="*/ 101232 w 533400"/>
              <a:gd name="connsiteY173" fmla="*/ 303604 h 464135"/>
              <a:gd name="connsiteX174" fmla="*/ 103809 w 533400"/>
              <a:gd name="connsiteY174" fmla="*/ 304708 h 464135"/>
              <a:gd name="connsiteX175" fmla="*/ 102704 w 533400"/>
              <a:gd name="connsiteY175" fmla="*/ 307285 h 464135"/>
              <a:gd name="connsiteX176" fmla="*/ 92397 w 533400"/>
              <a:gd name="connsiteY176" fmla="*/ 311703 h 464135"/>
              <a:gd name="connsiteX177" fmla="*/ 91661 w 533400"/>
              <a:gd name="connsiteY177" fmla="*/ 311703 h 464135"/>
              <a:gd name="connsiteX178" fmla="*/ 89820 w 533400"/>
              <a:gd name="connsiteY178" fmla="*/ 310598 h 464135"/>
              <a:gd name="connsiteX179" fmla="*/ 90925 w 533400"/>
              <a:gd name="connsiteY179" fmla="*/ 308021 h 464135"/>
              <a:gd name="connsiteX180" fmla="*/ 436954 w 533400"/>
              <a:gd name="connsiteY180" fmla="*/ 286303 h 464135"/>
              <a:gd name="connsiteX181" fmla="*/ 447629 w 533400"/>
              <a:gd name="connsiteY181" fmla="*/ 289616 h 464135"/>
              <a:gd name="connsiteX182" fmla="*/ 448733 w 533400"/>
              <a:gd name="connsiteY182" fmla="*/ 291825 h 464135"/>
              <a:gd name="connsiteX183" fmla="*/ 447261 w 533400"/>
              <a:gd name="connsiteY183" fmla="*/ 292929 h 464135"/>
              <a:gd name="connsiteX184" fmla="*/ 446525 w 533400"/>
              <a:gd name="connsiteY184" fmla="*/ 292929 h 464135"/>
              <a:gd name="connsiteX185" fmla="*/ 435849 w 533400"/>
              <a:gd name="connsiteY185" fmla="*/ 289616 h 464135"/>
              <a:gd name="connsiteX186" fmla="*/ 434745 w 533400"/>
              <a:gd name="connsiteY186" fmla="*/ 287407 h 464135"/>
              <a:gd name="connsiteX187" fmla="*/ 436954 w 533400"/>
              <a:gd name="connsiteY187" fmla="*/ 286303 h 464135"/>
              <a:gd name="connsiteX188" fmla="*/ 94606 w 533400"/>
              <a:gd name="connsiteY188" fmla="*/ 286303 h 464135"/>
              <a:gd name="connsiteX189" fmla="*/ 96814 w 533400"/>
              <a:gd name="connsiteY189" fmla="*/ 287407 h 464135"/>
              <a:gd name="connsiteX190" fmla="*/ 95710 w 533400"/>
              <a:gd name="connsiteY190" fmla="*/ 289616 h 464135"/>
              <a:gd name="connsiteX191" fmla="*/ 85035 w 533400"/>
              <a:gd name="connsiteY191" fmla="*/ 292929 h 464135"/>
              <a:gd name="connsiteX192" fmla="*/ 84667 w 533400"/>
              <a:gd name="connsiteY192" fmla="*/ 292929 h 464135"/>
              <a:gd name="connsiteX193" fmla="*/ 82826 w 533400"/>
              <a:gd name="connsiteY193" fmla="*/ 291825 h 464135"/>
              <a:gd name="connsiteX194" fmla="*/ 83930 w 533400"/>
              <a:gd name="connsiteY194" fmla="*/ 289616 h 464135"/>
              <a:gd name="connsiteX195" fmla="*/ 441739 w 533400"/>
              <a:gd name="connsiteY195" fmla="*/ 267897 h 464135"/>
              <a:gd name="connsiteX196" fmla="*/ 452783 w 533400"/>
              <a:gd name="connsiteY196" fmla="*/ 270106 h 464135"/>
              <a:gd name="connsiteX197" fmla="*/ 454255 w 533400"/>
              <a:gd name="connsiteY197" fmla="*/ 272314 h 464135"/>
              <a:gd name="connsiteX198" fmla="*/ 452414 w 533400"/>
              <a:gd name="connsiteY198" fmla="*/ 273787 h 464135"/>
              <a:gd name="connsiteX199" fmla="*/ 452046 w 533400"/>
              <a:gd name="connsiteY199" fmla="*/ 273787 h 464135"/>
              <a:gd name="connsiteX200" fmla="*/ 441003 w 533400"/>
              <a:gd name="connsiteY200" fmla="*/ 271578 h 464135"/>
              <a:gd name="connsiteX201" fmla="*/ 439530 w 533400"/>
              <a:gd name="connsiteY201" fmla="*/ 269369 h 464135"/>
              <a:gd name="connsiteX202" fmla="*/ 441739 w 533400"/>
              <a:gd name="connsiteY202" fmla="*/ 267897 h 464135"/>
              <a:gd name="connsiteX203" fmla="*/ 90189 w 533400"/>
              <a:gd name="connsiteY203" fmla="*/ 267897 h 464135"/>
              <a:gd name="connsiteX204" fmla="*/ 92397 w 533400"/>
              <a:gd name="connsiteY204" fmla="*/ 269369 h 464135"/>
              <a:gd name="connsiteX205" fmla="*/ 90925 w 533400"/>
              <a:gd name="connsiteY205" fmla="*/ 271578 h 464135"/>
              <a:gd name="connsiteX206" fmla="*/ 79881 w 533400"/>
              <a:gd name="connsiteY206" fmla="*/ 273787 h 464135"/>
              <a:gd name="connsiteX207" fmla="*/ 79513 w 533400"/>
              <a:gd name="connsiteY207" fmla="*/ 273787 h 464135"/>
              <a:gd name="connsiteX208" fmla="*/ 77673 w 533400"/>
              <a:gd name="connsiteY208" fmla="*/ 272314 h 464135"/>
              <a:gd name="connsiteX209" fmla="*/ 79145 w 533400"/>
              <a:gd name="connsiteY209" fmla="*/ 270105 h 464135"/>
              <a:gd name="connsiteX210" fmla="*/ 86876 w 533400"/>
              <a:gd name="connsiteY210" fmla="*/ 249859 h 464135"/>
              <a:gd name="connsiteX211" fmla="*/ 88717 w 533400"/>
              <a:gd name="connsiteY211" fmla="*/ 251331 h 464135"/>
              <a:gd name="connsiteX212" fmla="*/ 87244 w 533400"/>
              <a:gd name="connsiteY212" fmla="*/ 253172 h 464135"/>
              <a:gd name="connsiteX213" fmla="*/ 76201 w 533400"/>
              <a:gd name="connsiteY213" fmla="*/ 254276 h 464135"/>
              <a:gd name="connsiteX214" fmla="*/ 74360 w 533400"/>
              <a:gd name="connsiteY214" fmla="*/ 252804 h 464135"/>
              <a:gd name="connsiteX215" fmla="*/ 75833 w 533400"/>
              <a:gd name="connsiteY215" fmla="*/ 250963 h 464135"/>
              <a:gd name="connsiteX216" fmla="*/ 454992 w 533400"/>
              <a:gd name="connsiteY216" fmla="*/ 210839 h 464135"/>
              <a:gd name="connsiteX217" fmla="*/ 456833 w 533400"/>
              <a:gd name="connsiteY217" fmla="*/ 212311 h 464135"/>
              <a:gd name="connsiteX218" fmla="*/ 455360 w 533400"/>
              <a:gd name="connsiteY218" fmla="*/ 214152 h 464135"/>
              <a:gd name="connsiteX219" fmla="*/ 444317 w 533400"/>
              <a:gd name="connsiteY219" fmla="*/ 215256 h 464135"/>
              <a:gd name="connsiteX220" fmla="*/ 442476 w 533400"/>
              <a:gd name="connsiteY220" fmla="*/ 213784 h 464135"/>
              <a:gd name="connsiteX221" fmla="*/ 443949 w 533400"/>
              <a:gd name="connsiteY221" fmla="*/ 211943 h 464135"/>
              <a:gd name="connsiteX222" fmla="*/ 335354 w 533400"/>
              <a:gd name="connsiteY222" fmla="*/ 195378 h 464135"/>
              <a:gd name="connsiteX223" fmla="*/ 347134 w 533400"/>
              <a:gd name="connsiteY223" fmla="*/ 195378 h 464135"/>
              <a:gd name="connsiteX224" fmla="*/ 350079 w 533400"/>
              <a:gd name="connsiteY224" fmla="*/ 198323 h 464135"/>
              <a:gd name="connsiteX225" fmla="*/ 350079 w 533400"/>
              <a:gd name="connsiteY225" fmla="*/ 219306 h 464135"/>
              <a:gd name="connsiteX226" fmla="*/ 354864 w 533400"/>
              <a:gd name="connsiteY226" fmla="*/ 221882 h 464135"/>
              <a:gd name="connsiteX227" fmla="*/ 368117 w 533400"/>
              <a:gd name="connsiteY227" fmla="*/ 217465 h 464135"/>
              <a:gd name="connsiteX228" fmla="*/ 386522 w 533400"/>
              <a:gd name="connsiteY228" fmla="*/ 241392 h 464135"/>
              <a:gd name="connsiteX229" fmla="*/ 386522 w 533400"/>
              <a:gd name="connsiteY229" fmla="*/ 274891 h 464135"/>
              <a:gd name="connsiteX230" fmla="*/ 383577 w 533400"/>
              <a:gd name="connsiteY230" fmla="*/ 277836 h 464135"/>
              <a:gd name="connsiteX231" fmla="*/ 371061 w 533400"/>
              <a:gd name="connsiteY231" fmla="*/ 277836 h 464135"/>
              <a:gd name="connsiteX232" fmla="*/ 368117 w 533400"/>
              <a:gd name="connsiteY232" fmla="*/ 274891 h 464135"/>
              <a:gd name="connsiteX233" fmla="*/ 368117 w 533400"/>
              <a:gd name="connsiteY233" fmla="*/ 244337 h 464135"/>
              <a:gd name="connsiteX234" fmla="*/ 361122 w 533400"/>
              <a:gd name="connsiteY234" fmla="*/ 233662 h 464135"/>
              <a:gd name="connsiteX235" fmla="*/ 351919 w 533400"/>
              <a:gd name="connsiteY235" fmla="*/ 238079 h 464135"/>
              <a:gd name="connsiteX236" fmla="*/ 350815 w 533400"/>
              <a:gd name="connsiteY236" fmla="*/ 240288 h 464135"/>
              <a:gd name="connsiteX237" fmla="*/ 350815 w 533400"/>
              <a:gd name="connsiteY237" fmla="*/ 275627 h 464135"/>
              <a:gd name="connsiteX238" fmla="*/ 347870 w 533400"/>
              <a:gd name="connsiteY238" fmla="*/ 278572 h 464135"/>
              <a:gd name="connsiteX239" fmla="*/ 335722 w 533400"/>
              <a:gd name="connsiteY239" fmla="*/ 278572 h 464135"/>
              <a:gd name="connsiteX240" fmla="*/ 332777 w 533400"/>
              <a:gd name="connsiteY240" fmla="*/ 275627 h 464135"/>
              <a:gd name="connsiteX241" fmla="*/ 332777 w 533400"/>
              <a:gd name="connsiteY241" fmla="*/ 198691 h 464135"/>
              <a:gd name="connsiteX242" fmla="*/ 335354 w 533400"/>
              <a:gd name="connsiteY242" fmla="*/ 195378 h 464135"/>
              <a:gd name="connsiteX243" fmla="*/ 279768 w 533400"/>
              <a:gd name="connsiteY243" fmla="*/ 192065 h 464135"/>
              <a:gd name="connsiteX244" fmla="*/ 270934 w 533400"/>
              <a:gd name="connsiteY244" fmla="*/ 210471 h 464135"/>
              <a:gd name="connsiteX245" fmla="*/ 270934 w 533400"/>
              <a:gd name="connsiteY245" fmla="*/ 210839 h 464135"/>
              <a:gd name="connsiteX246" fmla="*/ 261363 w 533400"/>
              <a:gd name="connsiteY246" fmla="*/ 227772 h 464135"/>
              <a:gd name="connsiteX247" fmla="*/ 263939 w 533400"/>
              <a:gd name="connsiteY247" fmla="*/ 232190 h 464135"/>
              <a:gd name="connsiteX248" fmla="*/ 276455 w 533400"/>
              <a:gd name="connsiteY248" fmla="*/ 232190 h 464135"/>
              <a:gd name="connsiteX249" fmla="*/ 276455 w 533400"/>
              <a:gd name="connsiteY249" fmla="*/ 231821 h 464135"/>
              <a:gd name="connsiteX250" fmla="*/ 279400 w 533400"/>
              <a:gd name="connsiteY250" fmla="*/ 228876 h 464135"/>
              <a:gd name="connsiteX251" fmla="*/ 279400 w 533400"/>
              <a:gd name="connsiteY251" fmla="*/ 215992 h 464135"/>
              <a:gd name="connsiteX252" fmla="*/ 280504 w 533400"/>
              <a:gd name="connsiteY252" fmla="*/ 192065 h 464135"/>
              <a:gd name="connsiteX253" fmla="*/ 452047 w 533400"/>
              <a:gd name="connsiteY253" fmla="*/ 190961 h 464135"/>
              <a:gd name="connsiteX254" fmla="*/ 454255 w 533400"/>
              <a:gd name="connsiteY254" fmla="*/ 192433 h 464135"/>
              <a:gd name="connsiteX255" fmla="*/ 452783 w 533400"/>
              <a:gd name="connsiteY255" fmla="*/ 194642 h 464135"/>
              <a:gd name="connsiteX256" fmla="*/ 441740 w 533400"/>
              <a:gd name="connsiteY256" fmla="*/ 196851 h 464135"/>
              <a:gd name="connsiteX257" fmla="*/ 441371 w 533400"/>
              <a:gd name="connsiteY257" fmla="*/ 196851 h 464135"/>
              <a:gd name="connsiteX258" fmla="*/ 439531 w 533400"/>
              <a:gd name="connsiteY258" fmla="*/ 195378 h 464135"/>
              <a:gd name="connsiteX259" fmla="*/ 441003 w 533400"/>
              <a:gd name="connsiteY259" fmla="*/ 193169 h 464135"/>
              <a:gd name="connsiteX260" fmla="*/ 486650 w 533400"/>
              <a:gd name="connsiteY260" fmla="*/ 174764 h 464135"/>
              <a:gd name="connsiteX261" fmla="*/ 533400 w 533400"/>
              <a:gd name="connsiteY261" fmla="*/ 255750 h 464135"/>
              <a:gd name="connsiteX262" fmla="*/ 508208 w 533400"/>
              <a:gd name="connsiteY262" fmla="*/ 247815 h 464135"/>
              <a:gd name="connsiteX263" fmla="*/ 495255 w 533400"/>
              <a:gd name="connsiteY263" fmla="*/ 311473 h 464135"/>
              <a:gd name="connsiteX264" fmla="*/ 454624 w 533400"/>
              <a:gd name="connsiteY264" fmla="*/ 380173 h 464135"/>
              <a:gd name="connsiteX265" fmla="*/ 322102 w 533400"/>
              <a:gd name="connsiteY265" fmla="*/ 459317 h 464135"/>
              <a:gd name="connsiteX266" fmla="*/ 172647 w 533400"/>
              <a:gd name="connsiteY266" fmla="*/ 440176 h 464135"/>
              <a:gd name="connsiteX267" fmla="*/ 111908 w 533400"/>
              <a:gd name="connsiteY267" fmla="*/ 396002 h 464135"/>
              <a:gd name="connsiteX268" fmla="*/ 69206 w 533400"/>
              <a:gd name="connsiteY268" fmla="*/ 335262 h 464135"/>
              <a:gd name="connsiteX269" fmla="*/ 70311 w 533400"/>
              <a:gd name="connsiteY269" fmla="*/ 331949 h 464135"/>
              <a:gd name="connsiteX270" fmla="*/ 73624 w 533400"/>
              <a:gd name="connsiteY270" fmla="*/ 333054 h 464135"/>
              <a:gd name="connsiteX271" fmla="*/ 118902 w 533400"/>
              <a:gd name="connsiteY271" fmla="*/ 388271 h 464135"/>
              <a:gd name="connsiteX272" fmla="*/ 178905 w 533400"/>
              <a:gd name="connsiteY272" fmla="*/ 425451 h 464135"/>
              <a:gd name="connsiteX273" fmla="*/ 315476 w 533400"/>
              <a:gd name="connsiteY273" fmla="*/ 432813 h 464135"/>
              <a:gd name="connsiteX274" fmla="*/ 424070 w 533400"/>
              <a:gd name="connsiteY274" fmla="*/ 356245 h 464135"/>
              <a:gd name="connsiteX275" fmla="*/ 453151 w 533400"/>
              <a:gd name="connsiteY275" fmla="*/ 297025 h 464135"/>
              <a:gd name="connsiteX276" fmla="*/ 459096 w 533400"/>
              <a:gd name="connsiteY276" fmla="*/ 249704 h 464135"/>
              <a:gd name="connsiteX277" fmla="*/ 455250 w 533400"/>
              <a:gd name="connsiteY277" fmla="*/ 250915 h 464135"/>
              <a:gd name="connsiteX278" fmla="*/ 455728 w 533400"/>
              <a:gd name="connsiteY278" fmla="*/ 250963 h 464135"/>
              <a:gd name="connsiteX279" fmla="*/ 457200 w 533400"/>
              <a:gd name="connsiteY279" fmla="*/ 252804 h 464135"/>
              <a:gd name="connsiteX280" fmla="*/ 455728 w 533400"/>
              <a:gd name="connsiteY280" fmla="*/ 254276 h 464135"/>
              <a:gd name="connsiteX281" fmla="*/ 447199 w 533400"/>
              <a:gd name="connsiteY281" fmla="*/ 253451 h 464135"/>
              <a:gd name="connsiteX282" fmla="*/ 439899 w 533400"/>
              <a:gd name="connsiteY282" fmla="*/ 255750 h 464135"/>
              <a:gd name="connsiteX283" fmla="*/ 451376 w 533400"/>
              <a:gd name="connsiteY283" fmla="*/ 235870 h 464135"/>
              <a:gd name="connsiteX284" fmla="*/ 434377 w 533400"/>
              <a:gd name="connsiteY284" fmla="*/ 235870 h 464135"/>
              <a:gd name="connsiteX285" fmla="*/ 430696 w 533400"/>
              <a:gd name="connsiteY285" fmla="*/ 232189 h 464135"/>
              <a:gd name="connsiteX286" fmla="*/ 434377 w 533400"/>
              <a:gd name="connsiteY286" fmla="*/ 228508 h 464135"/>
              <a:gd name="connsiteX287" fmla="*/ 455625 w 533400"/>
              <a:gd name="connsiteY287" fmla="*/ 228508 h 464135"/>
              <a:gd name="connsiteX288" fmla="*/ 446524 w 533400"/>
              <a:gd name="connsiteY288" fmla="*/ 172187 h 464135"/>
              <a:gd name="connsiteX289" fmla="*/ 448733 w 533400"/>
              <a:gd name="connsiteY289" fmla="*/ 173291 h 464135"/>
              <a:gd name="connsiteX290" fmla="*/ 447629 w 533400"/>
              <a:gd name="connsiteY290" fmla="*/ 175500 h 464135"/>
              <a:gd name="connsiteX291" fmla="*/ 436953 w 533400"/>
              <a:gd name="connsiteY291" fmla="*/ 178813 h 464135"/>
              <a:gd name="connsiteX292" fmla="*/ 436585 w 533400"/>
              <a:gd name="connsiteY292" fmla="*/ 178813 h 464135"/>
              <a:gd name="connsiteX293" fmla="*/ 434745 w 533400"/>
              <a:gd name="connsiteY293" fmla="*/ 177709 h 464135"/>
              <a:gd name="connsiteX294" fmla="*/ 435849 w 533400"/>
              <a:gd name="connsiteY294" fmla="*/ 175500 h 464135"/>
              <a:gd name="connsiteX295" fmla="*/ 84667 w 533400"/>
              <a:gd name="connsiteY295" fmla="*/ 172187 h 464135"/>
              <a:gd name="connsiteX296" fmla="*/ 95342 w 533400"/>
              <a:gd name="connsiteY296" fmla="*/ 175500 h 464135"/>
              <a:gd name="connsiteX297" fmla="*/ 96447 w 533400"/>
              <a:gd name="connsiteY297" fmla="*/ 177709 h 464135"/>
              <a:gd name="connsiteX298" fmla="*/ 94974 w 533400"/>
              <a:gd name="connsiteY298" fmla="*/ 178813 h 464135"/>
              <a:gd name="connsiteX299" fmla="*/ 94238 w 533400"/>
              <a:gd name="connsiteY299" fmla="*/ 178813 h 464135"/>
              <a:gd name="connsiteX300" fmla="*/ 83563 w 533400"/>
              <a:gd name="connsiteY300" fmla="*/ 175500 h 464135"/>
              <a:gd name="connsiteX301" fmla="*/ 82458 w 533400"/>
              <a:gd name="connsiteY301" fmla="*/ 173291 h 464135"/>
              <a:gd name="connsiteX302" fmla="*/ 84667 w 533400"/>
              <a:gd name="connsiteY302" fmla="*/ 172187 h 464135"/>
              <a:gd name="connsiteX303" fmla="*/ 274247 w 533400"/>
              <a:gd name="connsiteY303" fmla="*/ 170346 h 464135"/>
              <a:gd name="connsiteX304" fmla="*/ 300015 w 533400"/>
              <a:gd name="connsiteY304" fmla="*/ 170346 h 464135"/>
              <a:gd name="connsiteX305" fmla="*/ 302959 w 533400"/>
              <a:gd name="connsiteY305" fmla="*/ 173291 h 464135"/>
              <a:gd name="connsiteX306" fmla="*/ 302959 w 533400"/>
              <a:gd name="connsiteY306" fmla="*/ 228876 h 464135"/>
              <a:gd name="connsiteX307" fmla="*/ 305905 w 533400"/>
              <a:gd name="connsiteY307" fmla="*/ 231821 h 464135"/>
              <a:gd name="connsiteX308" fmla="*/ 311794 w 533400"/>
              <a:gd name="connsiteY308" fmla="*/ 231821 h 464135"/>
              <a:gd name="connsiteX309" fmla="*/ 314739 w 533400"/>
              <a:gd name="connsiteY309" fmla="*/ 234766 h 464135"/>
              <a:gd name="connsiteX310" fmla="*/ 314739 w 533400"/>
              <a:gd name="connsiteY310" fmla="*/ 248387 h 464135"/>
              <a:gd name="connsiteX311" fmla="*/ 311794 w 533400"/>
              <a:gd name="connsiteY311" fmla="*/ 251332 h 464135"/>
              <a:gd name="connsiteX312" fmla="*/ 305905 w 533400"/>
              <a:gd name="connsiteY312" fmla="*/ 251332 h 464135"/>
              <a:gd name="connsiteX313" fmla="*/ 302959 w 533400"/>
              <a:gd name="connsiteY313" fmla="*/ 254277 h 464135"/>
              <a:gd name="connsiteX314" fmla="*/ 302959 w 533400"/>
              <a:gd name="connsiteY314" fmla="*/ 275259 h 464135"/>
              <a:gd name="connsiteX315" fmla="*/ 300015 w 533400"/>
              <a:gd name="connsiteY315" fmla="*/ 278204 h 464135"/>
              <a:gd name="connsiteX316" fmla="*/ 283081 w 533400"/>
              <a:gd name="connsiteY316" fmla="*/ 278204 h 464135"/>
              <a:gd name="connsiteX317" fmla="*/ 280136 w 533400"/>
              <a:gd name="connsiteY317" fmla="*/ 275259 h 464135"/>
              <a:gd name="connsiteX318" fmla="*/ 280136 w 533400"/>
              <a:gd name="connsiteY318" fmla="*/ 254277 h 464135"/>
              <a:gd name="connsiteX319" fmla="*/ 277191 w 533400"/>
              <a:gd name="connsiteY319" fmla="*/ 251332 h 464135"/>
              <a:gd name="connsiteX320" fmla="*/ 237803 w 533400"/>
              <a:gd name="connsiteY320" fmla="*/ 251332 h 464135"/>
              <a:gd name="connsiteX321" fmla="*/ 234858 w 533400"/>
              <a:gd name="connsiteY321" fmla="*/ 248387 h 464135"/>
              <a:gd name="connsiteX322" fmla="*/ 234858 w 533400"/>
              <a:gd name="connsiteY322" fmla="*/ 234398 h 464135"/>
              <a:gd name="connsiteX323" fmla="*/ 235226 w 533400"/>
              <a:gd name="connsiteY323" fmla="*/ 232926 h 464135"/>
              <a:gd name="connsiteX324" fmla="*/ 271670 w 533400"/>
              <a:gd name="connsiteY324" fmla="*/ 171818 h 464135"/>
              <a:gd name="connsiteX325" fmla="*/ 274247 w 533400"/>
              <a:gd name="connsiteY325" fmla="*/ 170346 h 464135"/>
              <a:gd name="connsiteX326" fmla="*/ 188844 w 533400"/>
              <a:gd name="connsiteY326" fmla="*/ 168137 h 464135"/>
              <a:gd name="connsiteX327" fmla="*/ 224551 w 533400"/>
              <a:gd name="connsiteY327" fmla="*/ 202372 h 464135"/>
              <a:gd name="connsiteX328" fmla="*/ 196942 w 533400"/>
              <a:gd name="connsiteY328" fmla="*/ 253172 h 464135"/>
              <a:gd name="connsiteX329" fmla="*/ 199151 w 533400"/>
              <a:gd name="connsiteY329" fmla="*/ 258325 h 464135"/>
              <a:gd name="connsiteX330" fmla="*/ 209458 w 533400"/>
              <a:gd name="connsiteY330" fmla="*/ 258325 h 464135"/>
              <a:gd name="connsiteX331" fmla="*/ 226392 w 533400"/>
              <a:gd name="connsiteY331" fmla="*/ 258325 h 464135"/>
              <a:gd name="connsiteX332" fmla="*/ 229336 w 533400"/>
              <a:gd name="connsiteY332" fmla="*/ 261270 h 464135"/>
              <a:gd name="connsiteX333" fmla="*/ 229336 w 533400"/>
              <a:gd name="connsiteY333" fmla="*/ 275995 h 464135"/>
              <a:gd name="connsiteX334" fmla="*/ 226392 w 533400"/>
              <a:gd name="connsiteY334" fmla="*/ 278940 h 464135"/>
              <a:gd name="connsiteX335" fmla="*/ 157186 w 533400"/>
              <a:gd name="connsiteY335" fmla="*/ 278940 h 464135"/>
              <a:gd name="connsiteX336" fmla="*/ 154241 w 533400"/>
              <a:gd name="connsiteY336" fmla="*/ 275995 h 464135"/>
              <a:gd name="connsiteX337" fmla="*/ 154241 w 533400"/>
              <a:gd name="connsiteY337" fmla="*/ 264952 h 464135"/>
              <a:gd name="connsiteX338" fmla="*/ 153504 w 533400"/>
              <a:gd name="connsiteY338" fmla="*/ 264952 h 464135"/>
              <a:gd name="connsiteX339" fmla="*/ 154609 w 533400"/>
              <a:gd name="connsiteY339" fmla="*/ 262743 h 464135"/>
              <a:gd name="connsiteX340" fmla="*/ 199151 w 533400"/>
              <a:gd name="connsiteY340" fmla="*/ 203476 h 464135"/>
              <a:gd name="connsiteX341" fmla="*/ 185162 w 533400"/>
              <a:gd name="connsiteY341" fmla="*/ 188015 h 464135"/>
              <a:gd name="connsiteX342" fmla="*/ 169702 w 533400"/>
              <a:gd name="connsiteY342" fmla="*/ 198691 h 464135"/>
              <a:gd name="connsiteX343" fmla="*/ 166757 w 533400"/>
              <a:gd name="connsiteY343" fmla="*/ 201267 h 464135"/>
              <a:gd name="connsiteX344" fmla="*/ 151296 w 533400"/>
              <a:gd name="connsiteY344" fmla="*/ 201636 h 464135"/>
              <a:gd name="connsiteX345" fmla="*/ 148351 w 533400"/>
              <a:gd name="connsiteY345" fmla="*/ 198323 h 464135"/>
              <a:gd name="connsiteX346" fmla="*/ 188844 w 533400"/>
              <a:gd name="connsiteY346" fmla="*/ 168137 h 464135"/>
              <a:gd name="connsiteX347" fmla="*/ 439531 w 533400"/>
              <a:gd name="connsiteY347" fmla="*/ 153045 h 464135"/>
              <a:gd name="connsiteX348" fmla="*/ 442108 w 533400"/>
              <a:gd name="connsiteY348" fmla="*/ 154149 h 464135"/>
              <a:gd name="connsiteX349" fmla="*/ 441003 w 533400"/>
              <a:gd name="connsiteY349" fmla="*/ 156726 h 464135"/>
              <a:gd name="connsiteX350" fmla="*/ 430696 w 533400"/>
              <a:gd name="connsiteY350" fmla="*/ 161144 h 464135"/>
              <a:gd name="connsiteX351" fmla="*/ 429960 w 533400"/>
              <a:gd name="connsiteY351" fmla="*/ 161144 h 464135"/>
              <a:gd name="connsiteX352" fmla="*/ 428119 w 533400"/>
              <a:gd name="connsiteY352" fmla="*/ 160039 h 464135"/>
              <a:gd name="connsiteX353" fmla="*/ 429224 w 533400"/>
              <a:gd name="connsiteY353" fmla="*/ 157462 h 464135"/>
              <a:gd name="connsiteX354" fmla="*/ 92397 w 533400"/>
              <a:gd name="connsiteY354" fmla="*/ 153045 h 464135"/>
              <a:gd name="connsiteX355" fmla="*/ 102704 w 533400"/>
              <a:gd name="connsiteY355" fmla="*/ 157462 h 464135"/>
              <a:gd name="connsiteX356" fmla="*/ 103809 w 533400"/>
              <a:gd name="connsiteY356" fmla="*/ 160039 h 464135"/>
              <a:gd name="connsiteX357" fmla="*/ 101968 w 533400"/>
              <a:gd name="connsiteY357" fmla="*/ 161144 h 464135"/>
              <a:gd name="connsiteX358" fmla="*/ 101232 w 533400"/>
              <a:gd name="connsiteY358" fmla="*/ 161144 h 464135"/>
              <a:gd name="connsiteX359" fmla="*/ 90925 w 533400"/>
              <a:gd name="connsiteY359" fmla="*/ 156726 h 464135"/>
              <a:gd name="connsiteX360" fmla="*/ 89820 w 533400"/>
              <a:gd name="connsiteY360" fmla="*/ 154149 h 464135"/>
              <a:gd name="connsiteX361" fmla="*/ 92397 w 533400"/>
              <a:gd name="connsiteY361" fmla="*/ 153045 h 464135"/>
              <a:gd name="connsiteX362" fmla="*/ 429223 w 533400"/>
              <a:gd name="connsiteY362" fmla="*/ 133535 h 464135"/>
              <a:gd name="connsiteX363" fmla="*/ 434377 w 533400"/>
              <a:gd name="connsiteY363" fmla="*/ 135007 h 464135"/>
              <a:gd name="connsiteX364" fmla="*/ 432905 w 533400"/>
              <a:gd name="connsiteY364" fmla="*/ 140161 h 464135"/>
              <a:gd name="connsiteX365" fmla="*/ 413762 w 533400"/>
              <a:gd name="connsiteY365" fmla="*/ 151204 h 464135"/>
              <a:gd name="connsiteX366" fmla="*/ 411922 w 533400"/>
              <a:gd name="connsiteY366" fmla="*/ 151573 h 464135"/>
              <a:gd name="connsiteX367" fmla="*/ 408609 w 533400"/>
              <a:gd name="connsiteY367" fmla="*/ 149732 h 464135"/>
              <a:gd name="connsiteX368" fmla="*/ 410081 w 533400"/>
              <a:gd name="connsiteY368" fmla="*/ 144578 h 464135"/>
              <a:gd name="connsiteX369" fmla="*/ 102704 w 533400"/>
              <a:gd name="connsiteY369" fmla="*/ 133534 h 464135"/>
              <a:gd name="connsiteX370" fmla="*/ 121846 w 533400"/>
              <a:gd name="connsiteY370" fmla="*/ 144578 h 464135"/>
              <a:gd name="connsiteX371" fmla="*/ 123319 w 533400"/>
              <a:gd name="connsiteY371" fmla="*/ 149732 h 464135"/>
              <a:gd name="connsiteX372" fmla="*/ 120006 w 533400"/>
              <a:gd name="connsiteY372" fmla="*/ 151572 h 464135"/>
              <a:gd name="connsiteX373" fmla="*/ 118165 w 533400"/>
              <a:gd name="connsiteY373" fmla="*/ 151204 h 464135"/>
              <a:gd name="connsiteX374" fmla="*/ 99023 w 533400"/>
              <a:gd name="connsiteY374" fmla="*/ 140161 h 464135"/>
              <a:gd name="connsiteX375" fmla="*/ 97551 w 533400"/>
              <a:gd name="connsiteY375" fmla="*/ 135007 h 464135"/>
              <a:gd name="connsiteX376" fmla="*/ 102704 w 533400"/>
              <a:gd name="connsiteY376" fmla="*/ 133534 h 464135"/>
              <a:gd name="connsiteX377" fmla="*/ 419284 w 533400"/>
              <a:gd name="connsiteY377" fmla="*/ 118810 h 464135"/>
              <a:gd name="connsiteX378" fmla="*/ 421861 w 533400"/>
              <a:gd name="connsiteY378" fmla="*/ 119178 h 464135"/>
              <a:gd name="connsiteX379" fmla="*/ 421493 w 533400"/>
              <a:gd name="connsiteY379" fmla="*/ 121755 h 464135"/>
              <a:gd name="connsiteX380" fmla="*/ 412290 w 533400"/>
              <a:gd name="connsiteY380" fmla="*/ 128381 h 464135"/>
              <a:gd name="connsiteX381" fmla="*/ 411186 w 533400"/>
              <a:gd name="connsiteY381" fmla="*/ 128749 h 464135"/>
              <a:gd name="connsiteX382" fmla="*/ 409713 w 533400"/>
              <a:gd name="connsiteY382" fmla="*/ 128013 h 464135"/>
              <a:gd name="connsiteX383" fmla="*/ 410081 w 533400"/>
              <a:gd name="connsiteY383" fmla="*/ 125436 h 464135"/>
              <a:gd name="connsiteX384" fmla="*/ 112643 w 533400"/>
              <a:gd name="connsiteY384" fmla="*/ 118810 h 464135"/>
              <a:gd name="connsiteX385" fmla="*/ 121846 w 533400"/>
              <a:gd name="connsiteY385" fmla="*/ 125436 h 464135"/>
              <a:gd name="connsiteX386" fmla="*/ 122214 w 533400"/>
              <a:gd name="connsiteY386" fmla="*/ 128013 h 464135"/>
              <a:gd name="connsiteX387" fmla="*/ 120742 w 533400"/>
              <a:gd name="connsiteY387" fmla="*/ 128749 h 464135"/>
              <a:gd name="connsiteX388" fmla="*/ 119638 w 533400"/>
              <a:gd name="connsiteY388" fmla="*/ 128381 h 464135"/>
              <a:gd name="connsiteX389" fmla="*/ 110435 w 533400"/>
              <a:gd name="connsiteY389" fmla="*/ 121755 h 464135"/>
              <a:gd name="connsiteX390" fmla="*/ 110066 w 533400"/>
              <a:gd name="connsiteY390" fmla="*/ 119178 h 464135"/>
              <a:gd name="connsiteX391" fmla="*/ 112643 w 533400"/>
              <a:gd name="connsiteY391" fmla="*/ 118810 h 464135"/>
              <a:gd name="connsiteX392" fmla="*/ 122951 w 533400"/>
              <a:gd name="connsiteY392" fmla="*/ 103717 h 464135"/>
              <a:gd name="connsiteX393" fmla="*/ 125528 w 533400"/>
              <a:gd name="connsiteY393" fmla="*/ 103717 h 464135"/>
              <a:gd name="connsiteX394" fmla="*/ 133995 w 533400"/>
              <a:gd name="connsiteY394" fmla="*/ 111079 h 464135"/>
              <a:gd name="connsiteX395" fmla="*/ 133995 w 533400"/>
              <a:gd name="connsiteY395" fmla="*/ 113656 h 464135"/>
              <a:gd name="connsiteX396" fmla="*/ 132522 w 533400"/>
              <a:gd name="connsiteY396" fmla="*/ 114024 h 464135"/>
              <a:gd name="connsiteX397" fmla="*/ 131418 w 533400"/>
              <a:gd name="connsiteY397" fmla="*/ 113656 h 464135"/>
              <a:gd name="connsiteX398" fmla="*/ 122951 w 533400"/>
              <a:gd name="connsiteY398" fmla="*/ 106294 h 464135"/>
              <a:gd name="connsiteX399" fmla="*/ 122951 w 533400"/>
              <a:gd name="connsiteY399" fmla="*/ 103717 h 464135"/>
              <a:gd name="connsiteX400" fmla="*/ 406400 w 533400"/>
              <a:gd name="connsiteY400" fmla="*/ 103349 h 464135"/>
              <a:gd name="connsiteX401" fmla="*/ 408977 w 533400"/>
              <a:gd name="connsiteY401" fmla="*/ 103349 h 464135"/>
              <a:gd name="connsiteX402" fmla="*/ 408977 w 533400"/>
              <a:gd name="connsiteY402" fmla="*/ 105926 h 464135"/>
              <a:gd name="connsiteX403" fmla="*/ 400510 w 533400"/>
              <a:gd name="connsiteY403" fmla="*/ 113288 h 464135"/>
              <a:gd name="connsiteX404" fmla="*/ 399406 w 533400"/>
              <a:gd name="connsiteY404" fmla="*/ 114025 h 464135"/>
              <a:gd name="connsiteX405" fmla="*/ 397933 w 533400"/>
              <a:gd name="connsiteY405" fmla="*/ 113288 h 464135"/>
              <a:gd name="connsiteX406" fmla="*/ 397933 w 533400"/>
              <a:gd name="connsiteY406" fmla="*/ 110712 h 464135"/>
              <a:gd name="connsiteX407" fmla="*/ 392412 w 533400"/>
              <a:gd name="connsiteY407" fmla="*/ 89360 h 464135"/>
              <a:gd name="connsiteX408" fmla="*/ 394988 w 533400"/>
              <a:gd name="connsiteY408" fmla="*/ 89360 h 464135"/>
              <a:gd name="connsiteX409" fmla="*/ 394988 w 533400"/>
              <a:gd name="connsiteY409" fmla="*/ 91937 h 464135"/>
              <a:gd name="connsiteX410" fmla="*/ 387626 w 533400"/>
              <a:gd name="connsiteY410" fmla="*/ 100404 h 464135"/>
              <a:gd name="connsiteX411" fmla="*/ 386153 w 533400"/>
              <a:gd name="connsiteY411" fmla="*/ 100772 h 464135"/>
              <a:gd name="connsiteX412" fmla="*/ 385049 w 533400"/>
              <a:gd name="connsiteY412" fmla="*/ 100404 h 464135"/>
              <a:gd name="connsiteX413" fmla="*/ 385049 w 533400"/>
              <a:gd name="connsiteY413" fmla="*/ 97827 h 464135"/>
              <a:gd name="connsiteX414" fmla="*/ 136939 w 533400"/>
              <a:gd name="connsiteY414" fmla="*/ 88992 h 464135"/>
              <a:gd name="connsiteX415" fmla="*/ 139516 w 533400"/>
              <a:gd name="connsiteY415" fmla="*/ 88992 h 464135"/>
              <a:gd name="connsiteX416" fmla="*/ 146878 w 533400"/>
              <a:gd name="connsiteY416" fmla="*/ 97459 h 464135"/>
              <a:gd name="connsiteX417" fmla="*/ 146878 w 533400"/>
              <a:gd name="connsiteY417" fmla="*/ 100036 h 464135"/>
              <a:gd name="connsiteX418" fmla="*/ 145774 w 533400"/>
              <a:gd name="connsiteY418" fmla="*/ 100772 h 464135"/>
              <a:gd name="connsiteX419" fmla="*/ 144301 w 533400"/>
              <a:gd name="connsiteY419" fmla="*/ 100036 h 464135"/>
              <a:gd name="connsiteX420" fmla="*/ 136939 w 533400"/>
              <a:gd name="connsiteY420" fmla="*/ 91569 h 464135"/>
              <a:gd name="connsiteX421" fmla="*/ 136939 w 533400"/>
              <a:gd name="connsiteY421" fmla="*/ 88992 h 464135"/>
              <a:gd name="connsiteX422" fmla="*/ 379159 w 533400"/>
              <a:gd name="connsiteY422" fmla="*/ 76476 h 464135"/>
              <a:gd name="connsiteX423" fmla="*/ 379527 w 533400"/>
              <a:gd name="connsiteY423" fmla="*/ 79053 h 464135"/>
              <a:gd name="connsiteX424" fmla="*/ 372901 w 533400"/>
              <a:gd name="connsiteY424" fmla="*/ 88256 h 464135"/>
              <a:gd name="connsiteX425" fmla="*/ 371429 w 533400"/>
              <a:gd name="connsiteY425" fmla="*/ 88992 h 464135"/>
              <a:gd name="connsiteX426" fmla="*/ 370325 w 533400"/>
              <a:gd name="connsiteY426" fmla="*/ 88624 h 464135"/>
              <a:gd name="connsiteX427" fmla="*/ 369957 w 533400"/>
              <a:gd name="connsiteY427" fmla="*/ 86047 h 464135"/>
              <a:gd name="connsiteX428" fmla="*/ 376582 w 533400"/>
              <a:gd name="connsiteY428" fmla="*/ 76844 h 464135"/>
              <a:gd name="connsiteX429" fmla="*/ 379159 w 533400"/>
              <a:gd name="connsiteY429" fmla="*/ 76476 h 464135"/>
              <a:gd name="connsiteX430" fmla="*/ 152769 w 533400"/>
              <a:gd name="connsiteY430" fmla="*/ 76476 h 464135"/>
              <a:gd name="connsiteX431" fmla="*/ 155345 w 533400"/>
              <a:gd name="connsiteY431" fmla="*/ 76844 h 464135"/>
              <a:gd name="connsiteX432" fmla="*/ 161972 w 533400"/>
              <a:gd name="connsiteY432" fmla="*/ 86047 h 464135"/>
              <a:gd name="connsiteX433" fmla="*/ 161603 w 533400"/>
              <a:gd name="connsiteY433" fmla="*/ 88624 h 464135"/>
              <a:gd name="connsiteX434" fmla="*/ 160499 w 533400"/>
              <a:gd name="connsiteY434" fmla="*/ 88992 h 464135"/>
              <a:gd name="connsiteX435" fmla="*/ 159026 w 533400"/>
              <a:gd name="connsiteY435" fmla="*/ 88256 h 464135"/>
              <a:gd name="connsiteX436" fmla="*/ 152400 w 533400"/>
              <a:gd name="connsiteY436" fmla="*/ 79053 h 464135"/>
              <a:gd name="connsiteX437" fmla="*/ 152769 w 533400"/>
              <a:gd name="connsiteY437" fmla="*/ 76476 h 464135"/>
              <a:gd name="connsiteX438" fmla="*/ 362963 w 533400"/>
              <a:gd name="connsiteY438" fmla="*/ 63961 h 464135"/>
              <a:gd name="connsiteX439" fmla="*/ 364435 w 533400"/>
              <a:gd name="connsiteY439" fmla="*/ 69114 h 464135"/>
              <a:gd name="connsiteX440" fmla="*/ 353392 w 533400"/>
              <a:gd name="connsiteY440" fmla="*/ 88256 h 464135"/>
              <a:gd name="connsiteX441" fmla="*/ 350079 w 533400"/>
              <a:gd name="connsiteY441" fmla="*/ 90097 h 464135"/>
              <a:gd name="connsiteX442" fmla="*/ 348238 w 533400"/>
              <a:gd name="connsiteY442" fmla="*/ 89729 h 464135"/>
              <a:gd name="connsiteX443" fmla="*/ 346765 w 533400"/>
              <a:gd name="connsiteY443" fmla="*/ 84575 h 464135"/>
              <a:gd name="connsiteX444" fmla="*/ 357809 w 533400"/>
              <a:gd name="connsiteY444" fmla="*/ 65433 h 464135"/>
              <a:gd name="connsiteX445" fmla="*/ 362963 w 533400"/>
              <a:gd name="connsiteY445" fmla="*/ 63961 h 464135"/>
              <a:gd name="connsiteX446" fmla="*/ 168965 w 533400"/>
              <a:gd name="connsiteY446" fmla="*/ 63961 h 464135"/>
              <a:gd name="connsiteX447" fmla="*/ 174119 w 533400"/>
              <a:gd name="connsiteY447" fmla="*/ 65433 h 464135"/>
              <a:gd name="connsiteX448" fmla="*/ 185162 w 533400"/>
              <a:gd name="connsiteY448" fmla="*/ 84575 h 464135"/>
              <a:gd name="connsiteX449" fmla="*/ 183690 w 533400"/>
              <a:gd name="connsiteY449" fmla="*/ 89729 h 464135"/>
              <a:gd name="connsiteX450" fmla="*/ 181849 w 533400"/>
              <a:gd name="connsiteY450" fmla="*/ 90097 h 464135"/>
              <a:gd name="connsiteX451" fmla="*/ 178537 w 533400"/>
              <a:gd name="connsiteY451" fmla="*/ 88257 h 464135"/>
              <a:gd name="connsiteX452" fmla="*/ 167493 w 533400"/>
              <a:gd name="connsiteY452" fmla="*/ 69114 h 464135"/>
              <a:gd name="connsiteX453" fmla="*/ 168965 w 533400"/>
              <a:gd name="connsiteY453" fmla="*/ 63961 h 464135"/>
              <a:gd name="connsiteX454" fmla="*/ 344188 w 533400"/>
              <a:gd name="connsiteY454" fmla="*/ 56230 h 464135"/>
              <a:gd name="connsiteX455" fmla="*/ 345292 w 533400"/>
              <a:gd name="connsiteY455" fmla="*/ 58807 h 464135"/>
              <a:gd name="connsiteX456" fmla="*/ 340875 w 533400"/>
              <a:gd name="connsiteY456" fmla="*/ 69114 h 464135"/>
              <a:gd name="connsiteX457" fmla="*/ 339035 w 533400"/>
              <a:gd name="connsiteY457" fmla="*/ 70219 h 464135"/>
              <a:gd name="connsiteX458" fmla="*/ 338298 w 533400"/>
              <a:gd name="connsiteY458" fmla="*/ 70219 h 464135"/>
              <a:gd name="connsiteX459" fmla="*/ 337194 w 533400"/>
              <a:gd name="connsiteY459" fmla="*/ 67642 h 464135"/>
              <a:gd name="connsiteX460" fmla="*/ 341611 w 533400"/>
              <a:gd name="connsiteY460" fmla="*/ 57334 h 464135"/>
              <a:gd name="connsiteX461" fmla="*/ 344188 w 533400"/>
              <a:gd name="connsiteY461" fmla="*/ 56230 h 464135"/>
              <a:gd name="connsiteX462" fmla="*/ 187740 w 533400"/>
              <a:gd name="connsiteY462" fmla="*/ 56230 h 464135"/>
              <a:gd name="connsiteX463" fmla="*/ 190316 w 533400"/>
              <a:gd name="connsiteY463" fmla="*/ 57334 h 464135"/>
              <a:gd name="connsiteX464" fmla="*/ 194733 w 533400"/>
              <a:gd name="connsiteY464" fmla="*/ 67642 h 464135"/>
              <a:gd name="connsiteX465" fmla="*/ 193629 w 533400"/>
              <a:gd name="connsiteY465" fmla="*/ 70219 h 464135"/>
              <a:gd name="connsiteX466" fmla="*/ 192893 w 533400"/>
              <a:gd name="connsiteY466" fmla="*/ 70219 h 464135"/>
              <a:gd name="connsiteX467" fmla="*/ 191052 w 533400"/>
              <a:gd name="connsiteY467" fmla="*/ 69114 h 464135"/>
              <a:gd name="connsiteX468" fmla="*/ 186635 w 533400"/>
              <a:gd name="connsiteY468" fmla="*/ 58807 h 464135"/>
              <a:gd name="connsiteX469" fmla="*/ 187740 w 533400"/>
              <a:gd name="connsiteY469" fmla="*/ 56230 h 464135"/>
              <a:gd name="connsiteX470" fmla="*/ 206513 w 533400"/>
              <a:gd name="connsiteY470" fmla="*/ 49604 h 464135"/>
              <a:gd name="connsiteX471" fmla="*/ 208722 w 533400"/>
              <a:gd name="connsiteY471" fmla="*/ 50708 h 464135"/>
              <a:gd name="connsiteX472" fmla="*/ 212035 w 533400"/>
              <a:gd name="connsiteY472" fmla="*/ 61384 h 464135"/>
              <a:gd name="connsiteX473" fmla="*/ 210931 w 533400"/>
              <a:gd name="connsiteY473" fmla="*/ 63592 h 464135"/>
              <a:gd name="connsiteX474" fmla="*/ 210563 w 533400"/>
              <a:gd name="connsiteY474" fmla="*/ 63592 h 464135"/>
              <a:gd name="connsiteX475" fmla="*/ 208722 w 533400"/>
              <a:gd name="connsiteY475" fmla="*/ 62488 h 464135"/>
              <a:gd name="connsiteX476" fmla="*/ 205409 w 533400"/>
              <a:gd name="connsiteY476" fmla="*/ 51813 h 464135"/>
              <a:gd name="connsiteX477" fmla="*/ 206513 w 533400"/>
              <a:gd name="connsiteY477" fmla="*/ 49604 h 464135"/>
              <a:gd name="connsiteX478" fmla="*/ 325047 w 533400"/>
              <a:gd name="connsiteY478" fmla="*/ 49236 h 464135"/>
              <a:gd name="connsiteX479" fmla="*/ 326151 w 533400"/>
              <a:gd name="connsiteY479" fmla="*/ 51445 h 464135"/>
              <a:gd name="connsiteX480" fmla="*/ 322838 w 533400"/>
              <a:gd name="connsiteY480" fmla="*/ 62120 h 464135"/>
              <a:gd name="connsiteX481" fmla="*/ 321366 w 533400"/>
              <a:gd name="connsiteY481" fmla="*/ 63224 h 464135"/>
              <a:gd name="connsiteX482" fmla="*/ 320630 w 533400"/>
              <a:gd name="connsiteY482" fmla="*/ 63224 h 464135"/>
              <a:gd name="connsiteX483" fmla="*/ 319525 w 533400"/>
              <a:gd name="connsiteY483" fmla="*/ 61016 h 464135"/>
              <a:gd name="connsiteX484" fmla="*/ 322838 w 533400"/>
              <a:gd name="connsiteY484" fmla="*/ 50340 h 464135"/>
              <a:gd name="connsiteX485" fmla="*/ 325047 w 533400"/>
              <a:gd name="connsiteY485" fmla="*/ 49236 h 464135"/>
              <a:gd name="connsiteX486" fmla="*/ 305905 w 533400"/>
              <a:gd name="connsiteY486" fmla="*/ 43714 h 464135"/>
              <a:gd name="connsiteX487" fmla="*/ 307377 w 533400"/>
              <a:gd name="connsiteY487" fmla="*/ 45923 h 464135"/>
              <a:gd name="connsiteX488" fmla="*/ 305168 w 533400"/>
              <a:gd name="connsiteY488" fmla="*/ 56966 h 464135"/>
              <a:gd name="connsiteX489" fmla="*/ 303328 w 533400"/>
              <a:gd name="connsiteY489" fmla="*/ 58439 h 464135"/>
              <a:gd name="connsiteX490" fmla="*/ 302960 w 533400"/>
              <a:gd name="connsiteY490" fmla="*/ 58439 h 464135"/>
              <a:gd name="connsiteX491" fmla="*/ 301487 w 533400"/>
              <a:gd name="connsiteY491" fmla="*/ 56230 h 464135"/>
              <a:gd name="connsiteX492" fmla="*/ 303696 w 533400"/>
              <a:gd name="connsiteY492" fmla="*/ 45186 h 464135"/>
              <a:gd name="connsiteX493" fmla="*/ 305905 w 533400"/>
              <a:gd name="connsiteY493" fmla="*/ 43714 h 464135"/>
              <a:gd name="connsiteX494" fmla="*/ 226023 w 533400"/>
              <a:gd name="connsiteY494" fmla="*/ 43714 h 464135"/>
              <a:gd name="connsiteX495" fmla="*/ 228232 w 533400"/>
              <a:gd name="connsiteY495" fmla="*/ 45186 h 464135"/>
              <a:gd name="connsiteX496" fmla="*/ 230441 w 533400"/>
              <a:gd name="connsiteY496" fmla="*/ 56230 h 464135"/>
              <a:gd name="connsiteX497" fmla="*/ 228968 w 533400"/>
              <a:gd name="connsiteY497" fmla="*/ 58438 h 464135"/>
              <a:gd name="connsiteX498" fmla="*/ 228600 w 533400"/>
              <a:gd name="connsiteY498" fmla="*/ 58438 h 464135"/>
              <a:gd name="connsiteX499" fmla="*/ 226760 w 533400"/>
              <a:gd name="connsiteY499" fmla="*/ 56966 h 464135"/>
              <a:gd name="connsiteX500" fmla="*/ 224551 w 533400"/>
              <a:gd name="connsiteY500" fmla="*/ 45922 h 464135"/>
              <a:gd name="connsiteX501" fmla="*/ 226023 w 533400"/>
              <a:gd name="connsiteY501" fmla="*/ 43714 h 464135"/>
              <a:gd name="connsiteX502" fmla="*/ 245534 w 533400"/>
              <a:gd name="connsiteY502" fmla="*/ 41137 h 464135"/>
              <a:gd name="connsiteX503" fmla="*/ 247374 w 533400"/>
              <a:gd name="connsiteY503" fmla="*/ 42610 h 464135"/>
              <a:gd name="connsiteX504" fmla="*/ 248479 w 533400"/>
              <a:gd name="connsiteY504" fmla="*/ 53653 h 464135"/>
              <a:gd name="connsiteX505" fmla="*/ 247006 w 533400"/>
              <a:gd name="connsiteY505" fmla="*/ 55494 h 464135"/>
              <a:gd name="connsiteX506" fmla="*/ 245166 w 533400"/>
              <a:gd name="connsiteY506" fmla="*/ 54021 h 464135"/>
              <a:gd name="connsiteX507" fmla="*/ 244061 w 533400"/>
              <a:gd name="connsiteY507" fmla="*/ 42978 h 464135"/>
              <a:gd name="connsiteX508" fmla="*/ 245534 w 533400"/>
              <a:gd name="connsiteY508" fmla="*/ 41137 h 464135"/>
              <a:gd name="connsiteX509" fmla="*/ 285658 w 533400"/>
              <a:gd name="connsiteY509" fmla="*/ 40770 h 464135"/>
              <a:gd name="connsiteX510" fmla="*/ 287131 w 533400"/>
              <a:gd name="connsiteY510" fmla="*/ 42610 h 464135"/>
              <a:gd name="connsiteX511" fmla="*/ 286026 w 533400"/>
              <a:gd name="connsiteY511" fmla="*/ 53654 h 464135"/>
              <a:gd name="connsiteX512" fmla="*/ 284554 w 533400"/>
              <a:gd name="connsiteY512" fmla="*/ 55494 h 464135"/>
              <a:gd name="connsiteX513" fmla="*/ 282713 w 533400"/>
              <a:gd name="connsiteY513" fmla="*/ 53286 h 464135"/>
              <a:gd name="connsiteX514" fmla="*/ 283818 w 533400"/>
              <a:gd name="connsiteY514" fmla="*/ 42242 h 464135"/>
              <a:gd name="connsiteX515" fmla="*/ 285658 w 533400"/>
              <a:gd name="connsiteY515" fmla="*/ 40770 h 464135"/>
              <a:gd name="connsiteX516" fmla="*/ 265780 w 533400"/>
              <a:gd name="connsiteY516" fmla="*/ 37824 h 464135"/>
              <a:gd name="connsiteX517" fmla="*/ 269461 w 533400"/>
              <a:gd name="connsiteY517" fmla="*/ 41505 h 464135"/>
              <a:gd name="connsiteX518" fmla="*/ 269461 w 533400"/>
              <a:gd name="connsiteY518" fmla="*/ 41873 h 464135"/>
              <a:gd name="connsiteX519" fmla="*/ 269461 w 533400"/>
              <a:gd name="connsiteY519" fmla="*/ 52917 h 464135"/>
              <a:gd name="connsiteX520" fmla="*/ 269461 w 533400"/>
              <a:gd name="connsiteY520" fmla="*/ 63960 h 464135"/>
              <a:gd name="connsiteX521" fmla="*/ 265780 w 533400"/>
              <a:gd name="connsiteY521" fmla="*/ 67641 h 464135"/>
              <a:gd name="connsiteX522" fmla="*/ 262099 w 533400"/>
              <a:gd name="connsiteY522" fmla="*/ 63960 h 464135"/>
              <a:gd name="connsiteX523" fmla="*/ 262099 w 533400"/>
              <a:gd name="connsiteY523" fmla="*/ 52917 h 464135"/>
              <a:gd name="connsiteX524" fmla="*/ 262099 w 533400"/>
              <a:gd name="connsiteY524" fmla="*/ 41873 h 464135"/>
              <a:gd name="connsiteX525" fmla="*/ 262099 w 533400"/>
              <a:gd name="connsiteY525" fmla="*/ 41505 h 464135"/>
              <a:gd name="connsiteX526" fmla="*/ 265780 w 533400"/>
              <a:gd name="connsiteY526" fmla="*/ 37824 h 464135"/>
              <a:gd name="connsiteX527" fmla="*/ 247006 w 533400"/>
              <a:gd name="connsiteY527" fmla="*/ 276 h 464135"/>
              <a:gd name="connsiteX528" fmla="*/ 266148 w 533400"/>
              <a:gd name="connsiteY528" fmla="*/ 276 h 464135"/>
              <a:gd name="connsiteX529" fmla="*/ 285290 w 533400"/>
              <a:gd name="connsiteY529" fmla="*/ 1749 h 464135"/>
              <a:gd name="connsiteX530" fmla="*/ 358177 w 533400"/>
              <a:gd name="connsiteY530" fmla="*/ 23099 h 464135"/>
              <a:gd name="connsiteX531" fmla="*/ 419284 w 533400"/>
              <a:gd name="connsiteY531" fmla="*/ 66537 h 464135"/>
              <a:gd name="connsiteX532" fmla="*/ 462354 w 533400"/>
              <a:gd name="connsiteY532" fmla="*/ 126540 h 464135"/>
              <a:gd name="connsiteX533" fmla="*/ 460882 w 533400"/>
              <a:gd name="connsiteY533" fmla="*/ 130957 h 464135"/>
              <a:gd name="connsiteX534" fmla="*/ 456832 w 533400"/>
              <a:gd name="connsiteY534" fmla="*/ 129853 h 464135"/>
              <a:gd name="connsiteX535" fmla="*/ 410818 w 533400"/>
              <a:gd name="connsiteY535" fmla="*/ 75740 h 464135"/>
              <a:gd name="connsiteX536" fmla="*/ 350815 w 533400"/>
              <a:gd name="connsiteY536" fmla="*/ 40033 h 464135"/>
              <a:gd name="connsiteX537" fmla="*/ 283081 w 533400"/>
              <a:gd name="connsiteY537" fmla="*/ 26044 h 464135"/>
              <a:gd name="connsiteX538" fmla="*/ 265780 w 533400"/>
              <a:gd name="connsiteY538" fmla="*/ 26044 h 464135"/>
              <a:gd name="connsiteX539" fmla="*/ 248847 w 533400"/>
              <a:gd name="connsiteY539" fmla="*/ 27517 h 464135"/>
              <a:gd name="connsiteX540" fmla="*/ 215716 w 533400"/>
              <a:gd name="connsiteY540" fmla="*/ 34511 h 464135"/>
              <a:gd name="connsiteX541" fmla="*/ 108963 w 533400"/>
              <a:gd name="connsiteY541" fmla="*/ 111079 h 464135"/>
              <a:gd name="connsiteX542" fmla="*/ 80388 w 533400"/>
              <a:gd name="connsiteY542" fmla="*/ 169609 h 464135"/>
              <a:gd name="connsiteX543" fmla="*/ 77609 w 533400"/>
              <a:gd name="connsiteY543" fmla="*/ 192230 h 464135"/>
              <a:gd name="connsiteX544" fmla="*/ 79514 w 533400"/>
              <a:gd name="connsiteY544" fmla="*/ 190961 h 464135"/>
              <a:gd name="connsiteX545" fmla="*/ 90557 w 533400"/>
              <a:gd name="connsiteY545" fmla="*/ 193170 h 464135"/>
              <a:gd name="connsiteX546" fmla="*/ 92030 w 533400"/>
              <a:gd name="connsiteY546" fmla="*/ 195378 h 464135"/>
              <a:gd name="connsiteX547" fmla="*/ 90189 w 533400"/>
              <a:gd name="connsiteY547" fmla="*/ 196851 h 464135"/>
              <a:gd name="connsiteX548" fmla="*/ 89821 w 533400"/>
              <a:gd name="connsiteY548" fmla="*/ 196851 h 464135"/>
              <a:gd name="connsiteX549" fmla="*/ 78777 w 533400"/>
              <a:gd name="connsiteY549" fmla="*/ 194642 h 464135"/>
              <a:gd name="connsiteX550" fmla="*/ 77540 w 533400"/>
              <a:gd name="connsiteY550" fmla="*/ 192786 h 464135"/>
              <a:gd name="connsiteX551" fmla="*/ 75227 w 533400"/>
              <a:gd name="connsiteY551" fmla="*/ 211617 h 464135"/>
              <a:gd name="connsiteX552" fmla="*/ 76200 w 533400"/>
              <a:gd name="connsiteY552" fmla="*/ 210839 h 464135"/>
              <a:gd name="connsiteX553" fmla="*/ 87244 w 533400"/>
              <a:gd name="connsiteY553" fmla="*/ 211943 h 464135"/>
              <a:gd name="connsiteX554" fmla="*/ 88716 w 533400"/>
              <a:gd name="connsiteY554" fmla="*/ 213784 h 464135"/>
              <a:gd name="connsiteX555" fmla="*/ 87244 w 533400"/>
              <a:gd name="connsiteY555" fmla="*/ 215256 h 464135"/>
              <a:gd name="connsiteX556" fmla="*/ 75832 w 533400"/>
              <a:gd name="connsiteY556" fmla="*/ 214152 h 464135"/>
              <a:gd name="connsiteX557" fmla="*/ 75037 w 533400"/>
              <a:gd name="connsiteY557" fmla="*/ 213159 h 464135"/>
              <a:gd name="connsiteX558" fmla="*/ 74026 w 533400"/>
              <a:gd name="connsiteY558" fmla="*/ 221390 h 464135"/>
              <a:gd name="connsiteX559" fmla="*/ 93501 w 533400"/>
              <a:gd name="connsiteY559" fmla="*/ 215256 h 464135"/>
              <a:gd name="connsiteX560" fmla="*/ 85851 w 533400"/>
              <a:gd name="connsiteY560" fmla="*/ 228508 h 464135"/>
              <a:gd name="connsiteX561" fmla="*/ 97552 w 533400"/>
              <a:gd name="connsiteY561" fmla="*/ 228508 h 464135"/>
              <a:gd name="connsiteX562" fmla="*/ 101233 w 533400"/>
              <a:gd name="connsiteY562" fmla="*/ 232189 h 464135"/>
              <a:gd name="connsiteX563" fmla="*/ 97552 w 533400"/>
              <a:gd name="connsiteY563" fmla="*/ 235870 h 464135"/>
              <a:gd name="connsiteX564" fmla="*/ 81601 w 533400"/>
              <a:gd name="connsiteY564" fmla="*/ 235870 h 464135"/>
              <a:gd name="connsiteX565" fmla="*/ 46751 w 533400"/>
              <a:gd name="connsiteY565" fmla="*/ 296242 h 464135"/>
              <a:gd name="connsiteX566" fmla="*/ 0 w 533400"/>
              <a:gd name="connsiteY566" fmla="*/ 215256 h 464135"/>
              <a:gd name="connsiteX567" fmla="*/ 22676 w 533400"/>
              <a:gd name="connsiteY567" fmla="*/ 222398 h 464135"/>
              <a:gd name="connsiteX568" fmla="*/ 36628 w 533400"/>
              <a:gd name="connsiteY568" fmla="*/ 153642 h 464135"/>
              <a:gd name="connsiteX569" fmla="*/ 76936 w 533400"/>
              <a:gd name="connsiteY569" fmla="*/ 84943 h 464135"/>
              <a:gd name="connsiteX570" fmla="*/ 208722 w 533400"/>
              <a:gd name="connsiteY570" fmla="*/ 5062 h 464135"/>
              <a:gd name="connsiteX571" fmla="*/ 247006 w 533400"/>
              <a:gd name="connsiteY571" fmla="*/ 276 h 46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</a:cxnLst>
            <a:rect l="l" t="t" r="r" b="b"/>
            <a:pathLst>
              <a:path w="533400" h="464135">
                <a:moveTo>
                  <a:pt x="284186" y="409621"/>
                </a:moveTo>
                <a:cubicBezTo>
                  <a:pt x="285290" y="409621"/>
                  <a:pt x="286026" y="410357"/>
                  <a:pt x="286026" y="411093"/>
                </a:cubicBezTo>
                <a:lnTo>
                  <a:pt x="287131" y="422137"/>
                </a:lnTo>
                <a:cubicBezTo>
                  <a:pt x="287867" y="422873"/>
                  <a:pt x="287131" y="423609"/>
                  <a:pt x="285658" y="423977"/>
                </a:cubicBezTo>
                <a:cubicBezTo>
                  <a:pt x="284554" y="423977"/>
                  <a:pt x="283818" y="423241"/>
                  <a:pt x="283818" y="422505"/>
                </a:cubicBezTo>
                <a:lnTo>
                  <a:pt x="282713" y="411462"/>
                </a:lnTo>
                <a:cubicBezTo>
                  <a:pt x="282713" y="410357"/>
                  <a:pt x="283450" y="409621"/>
                  <a:pt x="284186" y="409621"/>
                </a:cubicBezTo>
                <a:close/>
                <a:moveTo>
                  <a:pt x="247006" y="409254"/>
                </a:moveTo>
                <a:cubicBezTo>
                  <a:pt x="248110" y="409254"/>
                  <a:pt x="248847" y="410358"/>
                  <a:pt x="248479" y="411094"/>
                </a:cubicBezTo>
                <a:lnTo>
                  <a:pt x="247374" y="422138"/>
                </a:lnTo>
                <a:cubicBezTo>
                  <a:pt x="247742" y="423242"/>
                  <a:pt x="247006" y="423978"/>
                  <a:pt x="245902" y="423978"/>
                </a:cubicBezTo>
                <a:cubicBezTo>
                  <a:pt x="244798" y="423978"/>
                  <a:pt x="244061" y="422874"/>
                  <a:pt x="244061" y="421770"/>
                </a:cubicBezTo>
                <a:lnTo>
                  <a:pt x="245166" y="410726"/>
                </a:lnTo>
                <a:cubicBezTo>
                  <a:pt x="245166" y="409622"/>
                  <a:pt x="246270" y="408886"/>
                  <a:pt x="247006" y="409254"/>
                </a:cubicBezTo>
                <a:close/>
                <a:moveTo>
                  <a:pt x="302959" y="405941"/>
                </a:moveTo>
                <a:cubicBezTo>
                  <a:pt x="304064" y="405573"/>
                  <a:pt x="304800" y="406309"/>
                  <a:pt x="305168" y="407413"/>
                </a:cubicBezTo>
                <a:lnTo>
                  <a:pt x="307377" y="418457"/>
                </a:lnTo>
                <a:cubicBezTo>
                  <a:pt x="307745" y="419561"/>
                  <a:pt x="307008" y="420297"/>
                  <a:pt x="305904" y="420665"/>
                </a:cubicBezTo>
                <a:cubicBezTo>
                  <a:pt x="305904" y="420665"/>
                  <a:pt x="305536" y="420665"/>
                  <a:pt x="305536" y="420665"/>
                </a:cubicBezTo>
                <a:cubicBezTo>
                  <a:pt x="304800" y="420665"/>
                  <a:pt x="304064" y="419929"/>
                  <a:pt x="303696" y="419193"/>
                </a:cubicBezTo>
                <a:lnTo>
                  <a:pt x="301487" y="408149"/>
                </a:lnTo>
                <a:cubicBezTo>
                  <a:pt x="301119" y="407045"/>
                  <a:pt x="301855" y="406309"/>
                  <a:pt x="302959" y="405941"/>
                </a:cubicBezTo>
                <a:close/>
                <a:moveTo>
                  <a:pt x="228968" y="405940"/>
                </a:moveTo>
                <a:cubicBezTo>
                  <a:pt x="230073" y="406308"/>
                  <a:pt x="230441" y="407044"/>
                  <a:pt x="230441" y="408149"/>
                </a:cubicBezTo>
                <a:lnTo>
                  <a:pt x="228232" y="419192"/>
                </a:lnTo>
                <a:cubicBezTo>
                  <a:pt x="227864" y="420296"/>
                  <a:pt x="227128" y="420665"/>
                  <a:pt x="226392" y="420665"/>
                </a:cubicBezTo>
                <a:cubicBezTo>
                  <a:pt x="226392" y="420665"/>
                  <a:pt x="226023" y="420665"/>
                  <a:pt x="226023" y="420665"/>
                </a:cubicBezTo>
                <a:cubicBezTo>
                  <a:pt x="224919" y="420296"/>
                  <a:pt x="224551" y="419560"/>
                  <a:pt x="224551" y="418456"/>
                </a:cubicBezTo>
                <a:lnTo>
                  <a:pt x="226760" y="407412"/>
                </a:lnTo>
                <a:cubicBezTo>
                  <a:pt x="227128" y="406308"/>
                  <a:pt x="227864" y="405940"/>
                  <a:pt x="228968" y="405940"/>
                </a:cubicBezTo>
                <a:close/>
                <a:moveTo>
                  <a:pt x="320629" y="401523"/>
                </a:moveTo>
                <a:cubicBezTo>
                  <a:pt x="321733" y="401155"/>
                  <a:pt x="322470" y="401891"/>
                  <a:pt x="322838" y="402627"/>
                </a:cubicBezTo>
                <a:lnTo>
                  <a:pt x="326151" y="413303"/>
                </a:lnTo>
                <a:cubicBezTo>
                  <a:pt x="326519" y="414407"/>
                  <a:pt x="325783" y="415143"/>
                  <a:pt x="325047" y="415511"/>
                </a:cubicBezTo>
                <a:cubicBezTo>
                  <a:pt x="325047" y="415511"/>
                  <a:pt x="325047" y="415511"/>
                  <a:pt x="324679" y="415511"/>
                </a:cubicBezTo>
                <a:cubicBezTo>
                  <a:pt x="323943" y="415511"/>
                  <a:pt x="323206" y="415143"/>
                  <a:pt x="322838" y="414407"/>
                </a:cubicBezTo>
                <a:lnTo>
                  <a:pt x="319525" y="403732"/>
                </a:lnTo>
                <a:cubicBezTo>
                  <a:pt x="319157" y="402627"/>
                  <a:pt x="319893" y="401891"/>
                  <a:pt x="320629" y="401523"/>
                </a:cubicBezTo>
                <a:close/>
                <a:moveTo>
                  <a:pt x="210563" y="401523"/>
                </a:moveTo>
                <a:cubicBezTo>
                  <a:pt x="211667" y="401891"/>
                  <a:pt x="212035" y="402995"/>
                  <a:pt x="211667" y="403732"/>
                </a:cubicBezTo>
                <a:lnTo>
                  <a:pt x="208354" y="414407"/>
                </a:lnTo>
                <a:cubicBezTo>
                  <a:pt x="208354" y="415143"/>
                  <a:pt x="207618" y="415511"/>
                  <a:pt x="206882" y="415511"/>
                </a:cubicBezTo>
                <a:cubicBezTo>
                  <a:pt x="206514" y="415511"/>
                  <a:pt x="206514" y="415511"/>
                  <a:pt x="206146" y="415511"/>
                </a:cubicBezTo>
                <a:cubicBezTo>
                  <a:pt x="205041" y="415143"/>
                  <a:pt x="204673" y="414039"/>
                  <a:pt x="205041" y="413303"/>
                </a:cubicBezTo>
                <a:lnTo>
                  <a:pt x="208354" y="402627"/>
                </a:lnTo>
                <a:cubicBezTo>
                  <a:pt x="208722" y="401523"/>
                  <a:pt x="209827" y="401155"/>
                  <a:pt x="210563" y="401523"/>
                </a:cubicBezTo>
                <a:close/>
                <a:moveTo>
                  <a:pt x="265780" y="396737"/>
                </a:moveTo>
                <a:cubicBezTo>
                  <a:pt x="267989" y="396737"/>
                  <a:pt x="269461" y="398209"/>
                  <a:pt x="269461" y="400418"/>
                </a:cubicBezTo>
                <a:lnTo>
                  <a:pt x="269461" y="411830"/>
                </a:lnTo>
                <a:lnTo>
                  <a:pt x="269461" y="422873"/>
                </a:lnTo>
                <a:lnTo>
                  <a:pt x="269461" y="422874"/>
                </a:lnTo>
                <a:cubicBezTo>
                  <a:pt x="269461" y="425082"/>
                  <a:pt x="267989" y="426555"/>
                  <a:pt x="265780" y="426555"/>
                </a:cubicBezTo>
                <a:cubicBezTo>
                  <a:pt x="263572" y="426555"/>
                  <a:pt x="262099" y="425082"/>
                  <a:pt x="262099" y="422874"/>
                </a:cubicBezTo>
                <a:lnTo>
                  <a:pt x="262099" y="422873"/>
                </a:lnTo>
                <a:lnTo>
                  <a:pt x="262099" y="411830"/>
                </a:lnTo>
                <a:lnTo>
                  <a:pt x="262099" y="400418"/>
                </a:lnTo>
                <a:cubicBezTo>
                  <a:pt x="262099" y="398209"/>
                  <a:pt x="263572" y="396737"/>
                  <a:pt x="265780" y="396737"/>
                </a:cubicBezTo>
                <a:close/>
                <a:moveTo>
                  <a:pt x="338298" y="394529"/>
                </a:moveTo>
                <a:cubicBezTo>
                  <a:pt x="339035" y="394161"/>
                  <a:pt x="340139" y="394529"/>
                  <a:pt x="340875" y="395633"/>
                </a:cubicBezTo>
                <a:lnTo>
                  <a:pt x="345292" y="405941"/>
                </a:lnTo>
                <a:cubicBezTo>
                  <a:pt x="345660" y="407045"/>
                  <a:pt x="345292" y="407781"/>
                  <a:pt x="344188" y="408517"/>
                </a:cubicBezTo>
                <a:cubicBezTo>
                  <a:pt x="343820" y="408517"/>
                  <a:pt x="343820" y="408517"/>
                  <a:pt x="343452" y="408517"/>
                </a:cubicBezTo>
                <a:cubicBezTo>
                  <a:pt x="342716" y="408517"/>
                  <a:pt x="341979" y="408149"/>
                  <a:pt x="341611" y="407413"/>
                </a:cubicBezTo>
                <a:lnTo>
                  <a:pt x="337194" y="397106"/>
                </a:lnTo>
                <a:cubicBezTo>
                  <a:pt x="336826" y="396002"/>
                  <a:pt x="337194" y="395265"/>
                  <a:pt x="338298" y="394529"/>
                </a:cubicBezTo>
                <a:close/>
                <a:moveTo>
                  <a:pt x="193629" y="394529"/>
                </a:moveTo>
                <a:cubicBezTo>
                  <a:pt x="194733" y="394897"/>
                  <a:pt x="195102" y="396002"/>
                  <a:pt x="194733" y="397106"/>
                </a:cubicBezTo>
                <a:lnTo>
                  <a:pt x="190316" y="407413"/>
                </a:lnTo>
                <a:cubicBezTo>
                  <a:pt x="189580" y="408149"/>
                  <a:pt x="188844" y="408517"/>
                  <a:pt x="188476" y="408517"/>
                </a:cubicBezTo>
                <a:cubicBezTo>
                  <a:pt x="188108" y="408517"/>
                  <a:pt x="188108" y="408517"/>
                  <a:pt x="187740" y="408517"/>
                </a:cubicBezTo>
                <a:cubicBezTo>
                  <a:pt x="186635" y="408149"/>
                  <a:pt x="186267" y="407045"/>
                  <a:pt x="186635" y="405941"/>
                </a:cubicBezTo>
                <a:lnTo>
                  <a:pt x="191052" y="395633"/>
                </a:lnTo>
                <a:cubicBezTo>
                  <a:pt x="191421" y="394529"/>
                  <a:pt x="192525" y="394161"/>
                  <a:pt x="193629" y="394529"/>
                </a:cubicBezTo>
                <a:close/>
                <a:moveTo>
                  <a:pt x="370325" y="376123"/>
                </a:moveTo>
                <a:cubicBezTo>
                  <a:pt x="371061" y="375387"/>
                  <a:pt x="372165" y="375755"/>
                  <a:pt x="372901" y="376491"/>
                </a:cubicBezTo>
                <a:lnTo>
                  <a:pt x="379527" y="385694"/>
                </a:lnTo>
                <a:cubicBezTo>
                  <a:pt x="380264" y="386431"/>
                  <a:pt x="379895" y="387535"/>
                  <a:pt x="379159" y="388271"/>
                </a:cubicBezTo>
                <a:cubicBezTo>
                  <a:pt x="378791" y="388271"/>
                  <a:pt x="378423" y="388639"/>
                  <a:pt x="378055" y="388639"/>
                </a:cubicBezTo>
                <a:cubicBezTo>
                  <a:pt x="377319" y="388639"/>
                  <a:pt x="376950" y="388271"/>
                  <a:pt x="376582" y="387903"/>
                </a:cubicBezTo>
                <a:lnTo>
                  <a:pt x="369957" y="378700"/>
                </a:lnTo>
                <a:cubicBezTo>
                  <a:pt x="369220" y="377964"/>
                  <a:pt x="369588" y="376860"/>
                  <a:pt x="370325" y="376123"/>
                </a:cubicBezTo>
                <a:close/>
                <a:moveTo>
                  <a:pt x="161603" y="375754"/>
                </a:moveTo>
                <a:cubicBezTo>
                  <a:pt x="162340" y="376491"/>
                  <a:pt x="162708" y="377595"/>
                  <a:pt x="161972" y="378331"/>
                </a:cubicBezTo>
                <a:lnTo>
                  <a:pt x="155345" y="387534"/>
                </a:lnTo>
                <a:cubicBezTo>
                  <a:pt x="154977" y="388270"/>
                  <a:pt x="154241" y="388270"/>
                  <a:pt x="153873" y="388270"/>
                </a:cubicBezTo>
                <a:cubicBezTo>
                  <a:pt x="153505" y="388270"/>
                  <a:pt x="153137" y="388270"/>
                  <a:pt x="152769" y="387902"/>
                </a:cubicBezTo>
                <a:cubicBezTo>
                  <a:pt x="152032" y="387166"/>
                  <a:pt x="151664" y="386062"/>
                  <a:pt x="152400" y="385325"/>
                </a:cubicBezTo>
                <a:lnTo>
                  <a:pt x="159026" y="376122"/>
                </a:lnTo>
                <a:cubicBezTo>
                  <a:pt x="159763" y="375386"/>
                  <a:pt x="160867" y="375018"/>
                  <a:pt x="161603" y="375754"/>
                </a:cubicBezTo>
                <a:close/>
                <a:moveTo>
                  <a:pt x="348237" y="375019"/>
                </a:moveTo>
                <a:cubicBezTo>
                  <a:pt x="350078" y="373915"/>
                  <a:pt x="352287" y="374651"/>
                  <a:pt x="353391" y="376491"/>
                </a:cubicBezTo>
                <a:lnTo>
                  <a:pt x="364435" y="395633"/>
                </a:lnTo>
                <a:cubicBezTo>
                  <a:pt x="365539" y="397474"/>
                  <a:pt x="364803" y="399683"/>
                  <a:pt x="362962" y="400787"/>
                </a:cubicBezTo>
                <a:cubicBezTo>
                  <a:pt x="362594" y="401155"/>
                  <a:pt x="361858" y="401155"/>
                  <a:pt x="361122" y="401155"/>
                </a:cubicBezTo>
                <a:cubicBezTo>
                  <a:pt x="360017" y="401155"/>
                  <a:pt x="358544" y="400419"/>
                  <a:pt x="357808" y="399315"/>
                </a:cubicBezTo>
                <a:lnTo>
                  <a:pt x="346765" y="380172"/>
                </a:lnTo>
                <a:cubicBezTo>
                  <a:pt x="345660" y="378332"/>
                  <a:pt x="346397" y="376123"/>
                  <a:pt x="348237" y="375019"/>
                </a:cubicBezTo>
                <a:close/>
                <a:moveTo>
                  <a:pt x="183322" y="375019"/>
                </a:moveTo>
                <a:cubicBezTo>
                  <a:pt x="185162" y="376123"/>
                  <a:pt x="185530" y="378332"/>
                  <a:pt x="184794" y="380172"/>
                </a:cubicBezTo>
                <a:lnTo>
                  <a:pt x="173751" y="399314"/>
                </a:lnTo>
                <a:cubicBezTo>
                  <a:pt x="173015" y="400419"/>
                  <a:pt x="171910" y="401155"/>
                  <a:pt x="170438" y="401155"/>
                </a:cubicBezTo>
                <a:cubicBezTo>
                  <a:pt x="169701" y="401155"/>
                  <a:pt x="169333" y="401155"/>
                  <a:pt x="168597" y="400787"/>
                </a:cubicBezTo>
                <a:cubicBezTo>
                  <a:pt x="166756" y="399682"/>
                  <a:pt x="166388" y="397474"/>
                  <a:pt x="167124" y="395633"/>
                </a:cubicBezTo>
                <a:lnTo>
                  <a:pt x="178168" y="376491"/>
                </a:lnTo>
                <a:cubicBezTo>
                  <a:pt x="179272" y="374650"/>
                  <a:pt x="181481" y="374282"/>
                  <a:pt x="183322" y="375019"/>
                </a:cubicBezTo>
                <a:close/>
                <a:moveTo>
                  <a:pt x="144669" y="364343"/>
                </a:moveTo>
                <a:cubicBezTo>
                  <a:pt x="145406" y="363607"/>
                  <a:pt x="146510" y="363607"/>
                  <a:pt x="147246" y="364343"/>
                </a:cubicBezTo>
                <a:cubicBezTo>
                  <a:pt x="147982" y="365079"/>
                  <a:pt x="147982" y="366184"/>
                  <a:pt x="147246" y="366920"/>
                </a:cubicBezTo>
                <a:lnTo>
                  <a:pt x="139884" y="375387"/>
                </a:lnTo>
                <a:cubicBezTo>
                  <a:pt x="139148" y="375755"/>
                  <a:pt x="138780" y="375755"/>
                  <a:pt x="138412" y="375755"/>
                </a:cubicBezTo>
                <a:cubicBezTo>
                  <a:pt x="138044" y="375755"/>
                  <a:pt x="137675" y="375755"/>
                  <a:pt x="137307" y="375387"/>
                </a:cubicBezTo>
                <a:cubicBezTo>
                  <a:pt x="136571" y="374650"/>
                  <a:pt x="136571" y="373546"/>
                  <a:pt x="137307" y="372810"/>
                </a:cubicBezTo>
                <a:close/>
                <a:moveTo>
                  <a:pt x="384681" y="363975"/>
                </a:moveTo>
                <a:cubicBezTo>
                  <a:pt x="385417" y="363239"/>
                  <a:pt x="386522" y="363239"/>
                  <a:pt x="387258" y="363975"/>
                </a:cubicBezTo>
                <a:lnTo>
                  <a:pt x="394620" y="372442"/>
                </a:lnTo>
                <a:cubicBezTo>
                  <a:pt x="395356" y="373178"/>
                  <a:pt x="395356" y="374282"/>
                  <a:pt x="394620" y="375019"/>
                </a:cubicBezTo>
                <a:cubicBezTo>
                  <a:pt x="394252" y="375755"/>
                  <a:pt x="393884" y="375755"/>
                  <a:pt x="393516" y="375755"/>
                </a:cubicBezTo>
                <a:cubicBezTo>
                  <a:pt x="393148" y="375755"/>
                  <a:pt x="392412" y="375387"/>
                  <a:pt x="392044" y="375019"/>
                </a:cubicBezTo>
                <a:lnTo>
                  <a:pt x="384681" y="366552"/>
                </a:lnTo>
                <a:cubicBezTo>
                  <a:pt x="383945" y="365816"/>
                  <a:pt x="383945" y="364711"/>
                  <a:pt x="384681" y="363975"/>
                </a:cubicBezTo>
                <a:close/>
                <a:moveTo>
                  <a:pt x="397933" y="351459"/>
                </a:moveTo>
                <a:cubicBezTo>
                  <a:pt x="398669" y="350723"/>
                  <a:pt x="399774" y="350723"/>
                  <a:pt x="400510" y="351459"/>
                </a:cubicBezTo>
                <a:lnTo>
                  <a:pt x="408977" y="358822"/>
                </a:lnTo>
                <a:cubicBezTo>
                  <a:pt x="409713" y="359558"/>
                  <a:pt x="409713" y="360662"/>
                  <a:pt x="408977" y="361398"/>
                </a:cubicBezTo>
                <a:cubicBezTo>
                  <a:pt x="408609" y="361398"/>
                  <a:pt x="408240" y="361766"/>
                  <a:pt x="407504" y="361766"/>
                </a:cubicBezTo>
                <a:cubicBezTo>
                  <a:pt x="407136" y="361766"/>
                  <a:pt x="406768" y="361766"/>
                  <a:pt x="406400" y="361398"/>
                </a:cubicBezTo>
                <a:lnTo>
                  <a:pt x="397933" y="354036"/>
                </a:lnTo>
                <a:cubicBezTo>
                  <a:pt x="397197" y="353300"/>
                  <a:pt x="397197" y="352195"/>
                  <a:pt x="397933" y="351459"/>
                </a:cubicBezTo>
                <a:close/>
                <a:moveTo>
                  <a:pt x="131050" y="351091"/>
                </a:moveTo>
                <a:cubicBezTo>
                  <a:pt x="131786" y="350355"/>
                  <a:pt x="132890" y="350355"/>
                  <a:pt x="133627" y="351091"/>
                </a:cubicBezTo>
                <a:cubicBezTo>
                  <a:pt x="134363" y="351827"/>
                  <a:pt x="134363" y="352932"/>
                  <a:pt x="133627" y="353668"/>
                </a:cubicBezTo>
                <a:lnTo>
                  <a:pt x="125160" y="361030"/>
                </a:lnTo>
                <a:cubicBezTo>
                  <a:pt x="125160" y="361767"/>
                  <a:pt x="124792" y="361767"/>
                  <a:pt x="124056" y="361767"/>
                </a:cubicBezTo>
                <a:cubicBezTo>
                  <a:pt x="123688" y="361767"/>
                  <a:pt x="122951" y="361398"/>
                  <a:pt x="122583" y="361030"/>
                </a:cubicBezTo>
                <a:cubicBezTo>
                  <a:pt x="121847" y="360294"/>
                  <a:pt x="121847" y="359190"/>
                  <a:pt x="122583" y="358454"/>
                </a:cubicBezTo>
                <a:close/>
                <a:moveTo>
                  <a:pt x="411922" y="336366"/>
                </a:moveTo>
                <a:lnTo>
                  <a:pt x="421125" y="342992"/>
                </a:lnTo>
                <a:cubicBezTo>
                  <a:pt x="421861" y="343729"/>
                  <a:pt x="422229" y="344833"/>
                  <a:pt x="421493" y="345569"/>
                </a:cubicBezTo>
                <a:cubicBezTo>
                  <a:pt x="421493" y="345937"/>
                  <a:pt x="420757" y="346306"/>
                  <a:pt x="420021" y="346306"/>
                </a:cubicBezTo>
                <a:cubicBezTo>
                  <a:pt x="419653" y="346306"/>
                  <a:pt x="419284" y="346306"/>
                  <a:pt x="418916" y="345937"/>
                </a:cubicBezTo>
                <a:lnTo>
                  <a:pt x="409713" y="339311"/>
                </a:lnTo>
                <a:cubicBezTo>
                  <a:pt x="408977" y="338575"/>
                  <a:pt x="408609" y="337471"/>
                  <a:pt x="409345" y="336734"/>
                </a:cubicBezTo>
                <a:cubicBezTo>
                  <a:pt x="410081" y="335998"/>
                  <a:pt x="411186" y="335630"/>
                  <a:pt x="411922" y="336366"/>
                </a:cubicBezTo>
                <a:close/>
                <a:moveTo>
                  <a:pt x="119638" y="336366"/>
                </a:moveTo>
                <a:cubicBezTo>
                  <a:pt x="120374" y="335630"/>
                  <a:pt x="121478" y="335998"/>
                  <a:pt x="122214" y="336734"/>
                </a:cubicBezTo>
                <a:cubicBezTo>
                  <a:pt x="122950" y="337471"/>
                  <a:pt x="122582" y="338575"/>
                  <a:pt x="121846" y="339311"/>
                </a:cubicBezTo>
                <a:lnTo>
                  <a:pt x="112643" y="345937"/>
                </a:lnTo>
                <a:cubicBezTo>
                  <a:pt x="112275" y="346306"/>
                  <a:pt x="111907" y="346306"/>
                  <a:pt x="111539" y="346306"/>
                </a:cubicBezTo>
                <a:cubicBezTo>
                  <a:pt x="110803" y="346306"/>
                  <a:pt x="110435" y="345937"/>
                  <a:pt x="110066" y="345569"/>
                </a:cubicBezTo>
                <a:cubicBezTo>
                  <a:pt x="109330" y="344833"/>
                  <a:pt x="109698" y="343729"/>
                  <a:pt x="110435" y="342992"/>
                </a:cubicBezTo>
                <a:close/>
                <a:moveTo>
                  <a:pt x="413762" y="313176"/>
                </a:moveTo>
                <a:lnTo>
                  <a:pt x="432904" y="324219"/>
                </a:lnTo>
                <a:cubicBezTo>
                  <a:pt x="434745" y="325323"/>
                  <a:pt x="435113" y="327532"/>
                  <a:pt x="434377" y="329373"/>
                </a:cubicBezTo>
                <a:cubicBezTo>
                  <a:pt x="433640" y="330477"/>
                  <a:pt x="432536" y="331213"/>
                  <a:pt x="431064" y="331213"/>
                </a:cubicBezTo>
                <a:cubicBezTo>
                  <a:pt x="430327" y="331213"/>
                  <a:pt x="429959" y="331213"/>
                  <a:pt x="429223" y="330845"/>
                </a:cubicBezTo>
                <a:lnTo>
                  <a:pt x="410081" y="319802"/>
                </a:lnTo>
                <a:cubicBezTo>
                  <a:pt x="408240" y="318697"/>
                  <a:pt x="407872" y="316489"/>
                  <a:pt x="408609" y="314648"/>
                </a:cubicBezTo>
                <a:cubicBezTo>
                  <a:pt x="409713" y="312807"/>
                  <a:pt x="411921" y="312439"/>
                  <a:pt x="413762" y="313176"/>
                </a:cubicBezTo>
                <a:close/>
                <a:moveTo>
                  <a:pt x="118165" y="313175"/>
                </a:moveTo>
                <a:cubicBezTo>
                  <a:pt x="120006" y="312070"/>
                  <a:pt x="122215" y="312807"/>
                  <a:pt x="123319" y="314647"/>
                </a:cubicBezTo>
                <a:cubicBezTo>
                  <a:pt x="124423" y="316488"/>
                  <a:pt x="123687" y="318697"/>
                  <a:pt x="121847" y="319801"/>
                </a:cubicBezTo>
                <a:lnTo>
                  <a:pt x="102704" y="330844"/>
                </a:lnTo>
                <a:cubicBezTo>
                  <a:pt x="101968" y="331213"/>
                  <a:pt x="101232" y="331213"/>
                  <a:pt x="100864" y="331213"/>
                </a:cubicBezTo>
                <a:cubicBezTo>
                  <a:pt x="99760" y="331213"/>
                  <a:pt x="98287" y="330476"/>
                  <a:pt x="97551" y="329372"/>
                </a:cubicBezTo>
                <a:cubicBezTo>
                  <a:pt x="96447" y="327531"/>
                  <a:pt x="97183" y="325323"/>
                  <a:pt x="99023" y="324218"/>
                </a:cubicBezTo>
                <a:close/>
                <a:moveTo>
                  <a:pt x="430696" y="303604"/>
                </a:moveTo>
                <a:lnTo>
                  <a:pt x="441003" y="308021"/>
                </a:lnTo>
                <a:cubicBezTo>
                  <a:pt x="442108" y="308390"/>
                  <a:pt x="442476" y="309494"/>
                  <a:pt x="442108" y="310598"/>
                </a:cubicBezTo>
                <a:cubicBezTo>
                  <a:pt x="441371" y="311335"/>
                  <a:pt x="441003" y="311703"/>
                  <a:pt x="440267" y="311703"/>
                </a:cubicBezTo>
                <a:cubicBezTo>
                  <a:pt x="439899" y="311703"/>
                  <a:pt x="439899" y="311703"/>
                  <a:pt x="439531" y="311703"/>
                </a:cubicBezTo>
                <a:lnTo>
                  <a:pt x="429224" y="307285"/>
                </a:lnTo>
                <a:cubicBezTo>
                  <a:pt x="428119" y="306917"/>
                  <a:pt x="427751" y="305813"/>
                  <a:pt x="428119" y="304708"/>
                </a:cubicBezTo>
                <a:cubicBezTo>
                  <a:pt x="428487" y="303604"/>
                  <a:pt x="429592" y="303236"/>
                  <a:pt x="430696" y="303604"/>
                </a:cubicBezTo>
                <a:close/>
                <a:moveTo>
                  <a:pt x="101232" y="303604"/>
                </a:moveTo>
                <a:cubicBezTo>
                  <a:pt x="101968" y="303236"/>
                  <a:pt x="103073" y="303604"/>
                  <a:pt x="103809" y="304708"/>
                </a:cubicBezTo>
                <a:cubicBezTo>
                  <a:pt x="104545" y="305813"/>
                  <a:pt x="103809" y="306549"/>
                  <a:pt x="102704" y="307285"/>
                </a:cubicBezTo>
                <a:lnTo>
                  <a:pt x="92397" y="311703"/>
                </a:lnTo>
                <a:cubicBezTo>
                  <a:pt x="92029" y="311703"/>
                  <a:pt x="92029" y="311703"/>
                  <a:pt x="91661" y="311703"/>
                </a:cubicBezTo>
                <a:cubicBezTo>
                  <a:pt x="90925" y="311703"/>
                  <a:pt x="90188" y="311335"/>
                  <a:pt x="89820" y="310598"/>
                </a:cubicBezTo>
                <a:cubicBezTo>
                  <a:pt x="89452" y="309494"/>
                  <a:pt x="89820" y="308758"/>
                  <a:pt x="90925" y="308021"/>
                </a:cubicBezTo>
                <a:close/>
                <a:moveTo>
                  <a:pt x="436954" y="286303"/>
                </a:moveTo>
                <a:lnTo>
                  <a:pt x="447629" y="289616"/>
                </a:lnTo>
                <a:cubicBezTo>
                  <a:pt x="448733" y="289984"/>
                  <a:pt x="449102" y="291089"/>
                  <a:pt x="448733" y="291825"/>
                </a:cubicBezTo>
                <a:cubicBezTo>
                  <a:pt x="448733" y="292561"/>
                  <a:pt x="447997" y="292929"/>
                  <a:pt x="447261" y="292929"/>
                </a:cubicBezTo>
                <a:cubicBezTo>
                  <a:pt x="446893" y="292929"/>
                  <a:pt x="446893" y="292929"/>
                  <a:pt x="446525" y="292929"/>
                </a:cubicBezTo>
                <a:lnTo>
                  <a:pt x="435849" y="289616"/>
                </a:lnTo>
                <a:cubicBezTo>
                  <a:pt x="434745" y="289248"/>
                  <a:pt x="434377" y="288144"/>
                  <a:pt x="434745" y="287407"/>
                </a:cubicBezTo>
                <a:cubicBezTo>
                  <a:pt x="435113" y="286303"/>
                  <a:pt x="436218" y="285935"/>
                  <a:pt x="436954" y="286303"/>
                </a:cubicBezTo>
                <a:close/>
                <a:moveTo>
                  <a:pt x="94606" y="286303"/>
                </a:moveTo>
                <a:cubicBezTo>
                  <a:pt x="95710" y="285935"/>
                  <a:pt x="96446" y="286671"/>
                  <a:pt x="96814" y="287407"/>
                </a:cubicBezTo>
                <a:cubicBezTo>
                  <a:pt x="97182" y="288143"/>
                  <a:pt x="96446" y="289248"/>
                  <a:pt x="95710" y="289616"/>
                </a:cubicBezTo>
                <a:lnTo>
                  <a:pt x="85035" y="292929"/>
                </a:lnTo>
                <a:cubicBezTo>
                  <a:pt x="85035" y="292929"/>
                  <a:pt x="84667" y="292929"/>
                  <a:pt x="84667" y="292929"/>
                </a:cubicBezTo>
                <a:cubicBezTo>
                  <a:pt x="83930" y="292929"/>
                  <a:pt x="83194" y="292561"/>
                  <a:pt x="82826" y="291825"/>
                </a:cubicBezTo>
                <a:cubicBezTo>
                  <a:pt x="82458" y="290720"/>
                  <a:pt x="83194" y="289984"/>
                  <a:pt x="83930" y="289616"/>
                </a:cubicBezTo>
                <a:close/>
                <a:moveTo>
                  <a:pt x="441739" y="267897"/>
                </a:moveTo>
                <a:lnTo>
                  <a:pt x="452783" y="270106"/>
                </a:lnTo>
                <a:cubicBezTo>
                  <a:pt x="453887" y="270474"/>
                  <a:pt x="454255" y="271210"/>
                  <a:pt x="454255" y="272314"/>
                </a:cubicBezTo>
                <a:cubicBezTo>
                  <a:pt x="453887" y="273051"/>
                  <a:pt x="453151" y="273787"/>
                  <a:pt x="452414" y="273787"/>
                </a:cubicBezTo>
                <a:cubicBezTo>
                  <a:pt x="452414" y="273787"/>
                  <a:pt x="452046" y="273787"/>
                  <a:pt x="452046" y="273787"/>
                </a:cubicBezTo>
                <a:lnTo>
                  <a:pt x="441003" y="271578"/>
                </a:lnTo>
                <a:cubicBezTo>
                  <a:pt x="439898" y="271210"/>
                  <a:pt x="439530" y="270474"/>
                  <a:pt x="439530" y="269369"/>
                </a:cubicBezTo>
                <a:cubicBezTo>
                  <a:pt x="439898" y="268265"/>
                  <a:pt x="440635" y="267897"/>
                  <a:pt x="441739" y="267897"/>
                </a:cubicBezTo>
                <a:close/>
                <a:moveTo>
                  <a:pt x="90189" y="267897"/>
                </a:moveTo>
                <a:cubicBezTo>
                  <a:pt x="91293" y="267529"/>
                  <a:pt x="92029" y="268265"/>
                  <a:pt x="92397" y="269369"/>
                </a:cubicBezTo>
                <a:cubicBezTo>
                  <a:pt x="92765" y="270474"/>
                  <a:pt x="92029" y="271210"/>
                  <a:pt x="90925" y="271578"/>
                </a:cubicBezTo>
                <a:lnTo>
                  <a:pt x="79881" y="273787"/>
                </a:lnTo>
                <a:cubicBezTo>
                  <a:pt x="79513" y="273787"/>
                  <a:pt x="79513" y="273787"/>
                  <a:pt x="79513" y="273787"/>
                </a:cubicBezTo>
                <a:cubicBezTo>
                  <a:pt x="78777" y="273787"/>
                  <a:pt x="78041" y="273050"/>
                  <a:pt x="77673" y="272314"/>
                </a:cubicBezTo>
                <a:cubicBezTo>
                  <a:pt x="77305" y="271210"/>
                  <a:pt x="78041" y="270474"/>
                  <a:pt x="79145" y="270105"/>
                </a:cubicBezTo>
                <a:close/>
                <a:moveTo>
                  <a:pt x="86876" y="249859"/>
                </a:moveTo>
                <a:cubicBezTo>
                  <a:pt x="87980" y="249859"/>
                  <a:pt x="88717" y="250595"/>
                  <a:pt x="88717" y="251331"/>
                </a:cubicBezTo>
                <a:cubicBezTo>
                  <a:pt x="88717" y="252436"/>
                  <a:pt x="87980" y="253172"/>
                  <a:pt x="87244" y="253172"/>
                </a:cubicBezTo>
                <a:lnTo>
                  <a:pt x="76201" y="254276"/>
                </a:lnTo>
                <a:cubicBezTo>
                  <a:pt x="75096" y="254276"/>
                  <a:pt x="74360" y="253540"/>
                  <a:pt x="74360" y="252804"/>
                </a:cubicBezTo>
                <a:cubicBezTo>
                  <a:pt x="74360" y="251700"/>
                  <a:pt x="75096" y="250963"/>
                  <a:pt x="75833" y="250963"/>
                </a:cubicBezTo>
                <a:close/>
                <a:moveTo>
                  <a:pt x="454992" y="210839"/>
                </a:moveTo>
                <a:cubicBezTo>
                  <a:pt x="456096" y="210839"/>
                  <a:pt x="456833" y="211575"/>
                  <a:pt x="456833" y="212311"/>
                </a:cubicBezTo>
                <a:cubicBezTo>
                  <a:pt x="456833" y="213416"/>
                  <a:pt x="456096" y="214152"/>
                  <a:pt x="455360" y="214152"/>
                </a:cubicBezTo>
                <a:lnTo>
                  <a:pt x="444317" y="215256"/>
                </a:lnTo>
                <a:cubicBezTo>
                  <a:pt x="443212" y="215256"/>
                  <a:pt x="442476" y="214520"/>
                  <a:pt x="442476" y="213784"/>
                </a:cubicBezTo>
                <a:cubicBezTo>
                  <a:pt x="442476" y="212680"/>
                  <a:pt x="443212" y="211943"/>
                  <a:pt x="443949" y="211943"/>
                </a:cubicBezTo>
                <a:close/>
                <a:moveTo>
                  <a:pt x="335354" y="195378"/>
                </a:moveTo>
                <a:lnTo>
                  <a:pt x="347134" y="195378"/>
                </a:lnTo>
                <a:cubicBezTo>
                  <a:pt x="348974" y="195378"/>
                  <a:pt x="350079" y="196850"/>
                  <a:pt x="350079" y="198323"/>
                </a:cubicBezTo>
                <a:lnTo>
                  <a:pt x="350079" y="219306"/>
                </a:lnTo>
                <a:cubicBezTo>
                  <a:pt x="350079" y="221882"/>
                  <a:pt x="352656" y="223355"/>
                  <a:pt x="354864" y="221882"/>
                </a:cubicBezTo>
                <a:cubicBezTo>
                  <a:pt x="358545" y="219306"/>
                  <a:pt x="362963" y="217465"/>
                  <a:pt x="368117" y="217465"/>
                </a:cubicBezTo>
                <a:cubicBezTo>
                  <a:pt x="381001" y="217465"/>
                  <a:pt x="386522" y="226668"/>
                  <a:pt x="386522" y="241392"/>
                </a:cubicBezTo>
                <a:lnTo>
                  <a:pt x="386522" y="274891"/>
                </a:lnTo>
                <a:cubicBezTo>
                  <a:pt x="386522" y="276732"/>
                  <a:pt x="385050" y="277836"/>
                  <a:pt x="383577" y="277836"/>
                </a:cubicBezTo>
                <a:lnTo>
                  <a:pt x="371061" y="277836"/>
                </a:lnTo>
                <a:cubicBezTo>
                  <a:pt x="369221" y="277836"/>
                  <a:pt x="368117" y="276364"/>
                  <a:pt x="368117" y="274891"/>
                </a:cubicBezTo>
                <a:lnTo>
                  <a:pt x="368117" y="244337"/>
                </a:lnTo>
                <a:cubicBezTo>
                  <a:pt x="368117" y="236239"/>
                  <a:pt x="365908" y="233662"/>
                  <a:pt x="361122" y="233662"/>
                </a:cubicBezTo>
                <a:cubicBezTo>
                  <a:pt x="357441" y="233662"/>
                  <a:pt x="354864" y="235134"/>
                  <a:pt x="351919" y="238079"/>
                </a:cubicBezTo>
                <a:cubicBezTo>
                  <a:pt x="351183" y="238816"/>
                  <a:pt x="350815" y="239552"/>
                  <a:pt x="350815" y="240288"/>
                </a:cubicBezTo>
                <a:lnTo>
                  <a:pt x="350815" y="275627"/>
                </a:lnTo>
                <a:cubicBezTo>
                  <a:pt x="350815" y="277468"/>
                  <a:pt x="349342" y="278572"/>
                  <a:pt x="347870" y="278572"/>
                </a:cubicBezTo>
                <a:lnTo>
                  <a:pt x="335722" y="278572"/>
                </a:lnTo>
                <a:cubicBezTo>
                  <a:pt x="333882" y="278572"/>
                  <a:pt x="332777" y="277100"/>
                  <a:pt x="332777" y="275627"/>
                </a:cubicBezTo>
                <a:lnTo>
                  <a:pt x="332777" y="198691"/>
                </a:lnTo>
                <a:cubicBezTo>
                  <a:pt x="332409" y="196850"/>
                  <a:pt x="333882" y="195378"/>
                  <a:pt x="335354" y="195378"/>
                </a:cubicBezTo>
                <a:close/>
                <a:moveTo>
                  <a:pt x="279768" y="192065"/>
                </a:moveTo>
                <a:cubicBezTo>
                  <a:pt x="276823" y="198323"/>
                  <a:pt x="274247" y="204581"/>
                  <a:pt x="270934" y="210471"/>
                </a:cubicBezTo>
                <a:cubicBezTo>
                  <a:pt x="270934" y="210471"/>
                  <a:pt x="270934" y="210471"/>
                  <a:pt x="270934" y="210839"/>
                </a:cubicBezTo>
                <a:lnTo>
                  <a:pt x="261363" y="227772"/>
                </a:lnTo>
                <a:cubicBezTo>
                  <a:pt x="260258" y="229981"/>
                  <a:pt x="261731" y="232190"/>
                  <a:pt x="263939" y="232190"/>
                </a:cubicBezTo>
                <a:lnTo>
                  <a:pt x="276455" y="232190"/>
                </a:lnTo>
                <a:lnTo>
                  <a:pt x="276455" y="231821"/>
                </a:lnTo>
                <a:cubicBezTo>
                  <a:pt x="278296" y="231821"/>
                  <a:pt x="279400" y="230349"/>
                  <a:pt x="279400" y="228876"/>
                </a:cubicBezTo>
                <a:lnTo>
                  <a:pt x="279400" y="215992"/>
                </a:lnTo>
                <a:cubicBezTo>
                  <a:pt x="279400" y="208998"/>
                  <a:pt x="280136" y="198691"/>
                  <a:pt x="280504" y="192065"/>
                </a:cubicBezTo>
                <a:close/>
                <a:moveTo>
                  <a:pt x="452047" y="190961"/>
                </a:moveTo>
                <a:cubicBezTo>
                  <a:pt x="453151" y="190593"/>
                  <a:pt x="453887" y="191329"/>
                  <a:pt x="454255" y="192433"/>
                </a:cubicBezTo>
                <a:cubicBezTo>
                  <a:pt x="454624" y="193538"/>
                  <a:pt x="453887" y="194274"/>
                  <a:pt x="452783" y="194642"/>
                </a:cubicBezTo>
                <a:lnTo>
                  <a:pt x="441740" y="196851"/>
                </a:lnTo>
                <a:cubicBezTo>
                  <a:pt x="441740" y="196851"/>
                  <a:pt x="441740" y="196851"/>
                  <a:pt x="441371" y="196851"/>
                </a:cubicBezTo>
                <a:cubicBezTo>
                  <a:pt x="440635" y="196851"/>
                  <a:pt x="439899" y="196114"/>
                  <a:pt x="439531" y="195378"/>
                </a:cubicBezTo>
                <a:cubicBezTo>
                  <a:pt x="439163" y="194274"/>
                  <a:pt x="439899" y="193538"/>
                  <a:pt x="441003" y="193169"/>
                </a:cubicBezTo>
                <a:close/>
                <a:moveTo>
                  <a:pt x="486650" y="174764"/>
                </a:moveTo>
                <a:lnTo>
                  <a:pt x="533400" y="255750"/>
                </a:lnTo>
                <a:lnTo>
                  <a:pt x="508208" y="247815"/>
                </a:lnTo>
                <a:lnTo>
                  <a:pt x="495255" y="311473"/>
                </a:lnTo>
                <a:cubicBezTo>
                  <a:pt x="485638" y="336551"/>
                  <a:pt x="471925" y="359927"/>
                  <a:pt x="454624" y="380173"/>
                </a:cubicBezTo>
                <a:cubicBezTo>
                  <a:pt x="420757" y="420665"/>
                  <a:pt x="372902" y="449010"/>
                  <a:pt x="322102" y="459317"/>
                </a:cubicBezTo>
                <a:cubicBezTo>
                  <a:pt x="271302" y="469993"/>
                  <a:pt x="217925" y="462630"/>
                  <a:pt x="172647" y="440176"/>
                </a:cubicBezTo>
                <a:cubicBezTo>
                  <a:pt x="150192" y="428764"/>
                  <a:pt x="129577" y="414039"/>
                  <a:pt x="111908" y="396002"/>
                </a:cubicBezTo>
                <a:cubicBezTo>
                  <a:pt x="94606" y="377964"/>
                  <a:pt x="80250" y="357349"/>
                  <a:pt x="69206" y="335262"/>
                </a:cubicBezTo>
                <a:cubicBezTo>
                  <a:pt x="68470" y="334158"/>
                  <a:pt x="69206" y="332686"/>
                  <a:pt x="70311" y="331949"/>
                </a:cubicBezTo>
                <a:cubicBezTo>
                  <a:pt x="71415" y="331213"/>
                  <a:pt x="72887" y="331949"/>
                  <a:pt x="73624" y="333054"/>
                </a:cubicBezTo>
                <a:cubicBezTo>
                  <a:pt x="85771" y="354036"/>
                  <a:pt x="101233" y="372810"/>
                  <a:pt x="118902" y="388271"/>
                </a:cubicBezTo>
                <a:cubicBezTo>
                  <a:pt x="136940" y="403732"/>
                  <a:pt x="157186" y="416248"/>
                  <a:pt x="178905" y="425451"/>
                </a:cubicBezTo>
                <a:cubicBezTo>
                  <a:pt x="222342" y="443120"/>
                  <a:pt x="271302" y="445329"/>
                  <a:pt x="315476" y="432813"/>
                </a:cubicBezTo>
                <a:cubicBezTo>
                  <a:pt x="359650" y="420297"/>
                  <a:pt x="398302" y="392688"/>
                  <a:pt x="424070" y="356245"/>
                </a:cubicBezTo>
                <a:cubicBezTo>
                  <a:pt x="437138" y="338208"/>
                  <a:pt x="446893" y="318053"/>
                  <a:pt x="453151" y="297025"/>
                </a:cubicBezTo>
                <a:lnTo>
                  <a:pt x="459096" y="249704"/>
                </a:lnTo>
                <a:lnTo>
                  <a:pt x="455250" y="250915"/>
                </a:lnTo>
                <a:lnTo>
                  <a:pt x="455728" y="250963"/>
                </a:lnTo>
                <a:cubicBezTo>
                  <a:pt x="456832" y="250963"/>
                  <a:pt x="457568" y="252067"/>
                  <a:pt x="457200" y="252804"/>
                </a:cubicBezTo>
                <a:cubicBezTo>
                  <a:pt x="457200" y="253540"/>
                  <a:pt x="456464" y="254276"/>
                  <a:pt x="455728" y="254276"/>
                </a:cubicBezTo>
                <a:lnTo>
                  <a:pt x="447199" y="253451"/>
                </a:lnTo>
                <a:lnTo>
                  <a:pt x="439899" y="255750"/>
                </a:lnTo>
                <a:lnTo>
                  <a:pt x="451376" y="235870"/>
                </a:lnTo>
                <a:lnTo>
                  <a:pt x="434377" y="235870"/>
                </a:lnTo>
                <a:cubicBezTo>
                  <a:pt x="432168" y="235870"/>
                  <a:pt x="430696" y="234398"/>
                  <a:pt x="430696" y="232189"/>
                </a:cubicBezTo>
                <a:cubicBezTo>
                  <a:pt x="430696" y="229980"/>
                  <a:pt x="432168" y="228508"/>
                  <a:pt x="434377" y="228508"/>
                </a:cubicBezTo>
                <a:lnTo>
                  <a:pt x="455625" y="228508"/>
                </a:lnTo>
                <a:close/>
                <a:moveTo>
                  <a:pt x="446524" y="172187"/>
                </a:moveTo>
                <a:cubicBezTo>
                  <a:pt x="447629" y="171819"/>
                  <a:pt x="448365" y="172555"/>
                  <a:pt x="448733" y="173291"/>
                </a:cubicBezTo>
                <a:cubicBezTo>
                  <a:pt x="449102" y="174396"/>
                  <a:pt x="448365" y="175132"/>
                  <a:pt x="447629" y="175500"/>
                </a:cubicBezTo>
                <a:lnTo>
                  <a:pt x="436953" y="178813"/>
                </a:lnTo>
                <a:cubicBezTo>
                  <a:pt x="436953" y="178813"/>
                  <a:pt x="436953" y="178813"/>
                  <a:pt x="436585" y="178813"/>
                </a:cubicBezTo>
                <a:cubicBezTo>
                  <a:pt x="435849" y="178813"/>
                  <a:pt x="435113" y="178445"/>
                  <a:pt x="434745" y="177709"/>
                </a:cubicBezTo>
                <a:cubicBezTo>
                  <a:pt x="434377" y="176604"/>
                  <a:pt x="435113" y="175868"/>
                  <a:pt x="435849" y="175500"/>
                </a:cubicBezTo>
                <a:close/>
                <a:moveTo>
                  <a:pt x="84667" y="172187"/>
                </a:moveTo>
                <a:lnTo>
                  <a:pt x="95342" y="175500"/>
                </a:lnTo>
                <a:cubicBezTo>
                  <a:pt x="96447" y="175868"/>
                  <a:pt x="96815" y="176972"/>
                  <a:pt x="96447" y="177709"/>
                </a:cubicBezTo>
                <a:cubicBezTo>
                  <a:pt x="96815" y="178077"/>
                  <a:pt x="96079" y="178813"/>
                  <a:pt x="94974" y="178813"/>
                </a:cubicBezTo>
                <a:cubicBezTo>
                  <a:pt x="94606" y="178813"/>
                  <a:pt x="94606" y="178813"/>
                  <a:pt x="94238" y="178813"/>
                </a:cubicBezTo>
                <a:lnTo>
                  <a:pt x="83563" y="175500"/>
                </a:lnTo>
                <a:cubicBezTo>
                  <a:pt x="82458" y="175132"/>
                  <a:pt x="82090" y="174027"/>
                  <a:pt x="82458" y="173291"/>
                </a:cubicBezTo>
                <a:cubicBezTo>
                  <a:pt x="82826" y="172555"/>
                  <a:pt x="83931" y="171819"/>
                  <a:pt x="84667" y="172187"/>
                </a:cubicBezTo>
                <a:close/>
                <a:moveTo>
                  <a:pt x="274247" y="170346"/>
                </a:moveTo>
                <a:lnTo>
                  <a:pt x="300015" y="170346"/>
                </a:lnTo>
                <a:cubicBezTo>
                  <a:pt x="301855" y="170346"/>
                  <a:pt x="302959" y="171818"/>
                  <a:pt x="302959" y="173291"/>
                </a:cubicBezTo>
                <a:lnTo>
                  <a:pt x="302959" y="228876"/>
                </a:lnTo>
                <a:cubicBezTo>
                  <a:pt x="302959" y="230717"/>
                  <a:pt x="304432" y="231821"/>
                  <a:pt x="305905" y="231821"/>
                </a:cubicBezTo>
                <a:lnTo>
                  <a:pt x="311794" y="231821"/>
                </a:lnTo>
                <a:cubicBezTo>
                  <a:pt x="313635" y="231821"/>
                  <a:pt x="314739" y="233294"/>
                  <a:pt x="314739" y="234766"/>
                </a:cubicBezTo>
                <a:lnTo>
                  <a:pt x="314739" y="248387"/>
                </a:lnTo>
                <a:cubicBezTo>
                  <a:pt x="314739" y="250227"/>
                  <a:pt x="313267" y="251332"/>
                  <a:pt x="311794" y="251332"/>
                </a:cubicBezTo>
                <a:lnTo>
                  <a:pt x="305905" y="251332"/>
                </a:lnTo>
                <a:cubicBezTo>
                  <a:pt x="304064" y="251332"/>
                  <a:pt x="302959" y="252804"/>
                  <a:pt x="302959" y="254277"/>
                </a:cubicBezTo>
                <a:lnTo>
                  <a:pt x="302959" y="275259"/>
                </a:lnTo>
                <a:cubicBezTo>
                  <a:pt x="302959" y="277100"/>
                  <a:pt x="301487" y="278204"/>
                  <a:pt x="300015" y="278204"/>
                </a:cubicBezTo>
                <a:lnTo>
                  <a:pt x="283081" y="278204"/>
                </a:lnTo>
                <a:cubicBezTo>
                  <a:pt x="281241" y="278204"/>
                  <a:pt x="280136" y="276731"/>
                  <a:pt x="280136" y="275259"/>
                </a:cubicBezTo>
                <a:lnTo>
                  <a:pt x="280136" y="254277"/>
                </a:lnTo>
                <a:cubicBezTo>
                  <a:pt x="280136" y="252436"/>
                  <a:pt x="278664" y="251332"/>
                  <a:pt x="277191" y="251332"/>
                </a:cubicBezTo>
                <a:lnTo>
                  <a:pt x="237803" y="251332"/>
                </a:lnTo>
                <a:cubicBezTo>
                  <a:pt x="235963" y="251332"/>
                  <a:pt x="234858" y="249859"/>
                  <a:pt x="234858" y="248387"/>
                </a:cubicBezTo>
                <a:lnTo>
                  <a:pt x="234858" y="234398"/>
                </a:lnTo>
                <a:cubicBezTo>
                  <a:pt x="234858" y="234030"/>
                  <a:pt x="234858" y="233294"/>
                  <a:pt x="235226" y="232926"/>
                </a:cubicBezTo>
                <a:lnTo>
                  <a:pt x="271670" y="171818"/>
                </a:lnTo>
                <a:cubicBezTo>
                  <a:pt x="272038" y="170714"/>
                  <a:pt x="273142" y="170346"/>
                  <a:pt x="274247" y="170346"/>
                </a:cubicBezTo>
                <a:close/>
                <a:moveTo>
                  <a:pt x="188844" y="168137"/>
                </a:moveTo>
                <a:cubicBezTo>
                  <a:pt x="209826" y="168137"/>
                  <a:pt x="224551" y="181389"/>
                  <a:pt x="224551" y="202372"/>
                </a:cubicBezTo>
                <a:cubicBezTo>
                  <a:pt x="224551" y="218937"/>
                  <a:pt x="211667" y="237343"/>
                  <a:pt x="196942" y="253172"/>
                </a:cubicBezTo>
                <a:cubicBezTo>
                  <a:pt x="195102" y="255012"/>
                  <a:pt x="196574" y="258325"/>
                  <a:pt x="199151" y="258325"/>
                </a:cubicBezTo>
                <a:cubicBezTo>
                  <a:pt x="202832" y="258325"/>
                  <a:pt x="206513" y="258325"/>
                  <a:pt x="209458" y="258325"/>
                </a:cubicBezTo>
                <a:lnTo>
                  <a:pt x="226392" y="258325"/>
                </a:lnTo>
                <a:cubicBezTo>
                  <a:pt x="228232" y="258325"/>
                  <a:pt x="229336" y="259798"/>
                  <a:pt x="229336" y="261270"/>
                </a:cubicBezTo>
                <a:lnTo>
                  <a:pt x="229336" y="275995"/>
                </a:lnTo>
                <a:cubicBezTo>
                  <a:pt x="229336" y="277836"/>
                  <a:pt x="227864" y="278940"/>
                  <a:pt x="226392" y="278940"/>
                </a:cubicBezTo>
                <a:lnTo>
                  <a:pt x="157186" y="278940"/>
                </a:lnTo>
                <a:cubicBezTo>
                  <a:pt x="155345" y="278940"/>
                  <a:pt x="154241" y="277467"/>
                  <a:pt x="154241" y="275995"/>
                </a:cubicBezTo>
                <a:lnTo>
                  <a:pt x="154241" y="264952"/>
                </a:lnTo>
                <a:lnTo>
                  <a:pt x="153504" y="264952"/>
                </a:lnTo>
                <a:cubicBezTo>
                  <a:pt x="153504" y="264215"/>
                  <a:pt x="153872" y="263111"/>
                  <a:pt x="154609" y="262743"/>
                </a:cubicBezTo>
                <a:cubicBezTo>
                  <a:pt x="181113" y="238447"/>
                  <a:pt x="199151" y="218937"/>
                  <a:pt x="199151" y="203476"/>
                </a:cubicBezTo>
                <a:cubicBezTo>
                  <a:pt x="199151" y="193537"/>
                  <a:pt x="193629" y="188015"/>
                  <a:pt x="185162" y="188015"/>
                </a:cubicBezTo>
                <a:cubicBezTo>
                  <a:pt x="175959" y="188015"/>
                  <a:pt x="171174" y="193905"/>
                  <a:pt x="169702" y="198691"/>
                </a:cubicBezTo>
                <a:cubicBezTo>
                  <a:pt x="169334" y="200163"/>
                  <a:pt x="168229" y="200899"/>
                  <a:pt x="166757" y="201267"/>
                </a:cubicBezTo>
                <a:lnTo>
                  <a:pt x="151296" y="201636"/>
                </a:lnTo>
                <a:cubicBezTo>
                  <a:pt x="149455" y="201636"/>
                  <a:pt x="147983" y="200163"/>
                  <a:pt x="148351" y="198323"/>
                </a:cubicBezTo>
                <a:cubicBezTo>
                  <a:pt x="150191" y="178444"/>
                  <a:pt x="167125" y="168137"/>
                  <a:pt x="188844" y="168137"/>
                </a:cubicBezTo>
                <a:close/>
                <a:moveTo>
                  <a:pt x="439531" y="153045"/>
                </a:moveTo>
                <a:cubicBezTo>
                  <a:pt x="440267" y="152677"/>
                  <a:pt x="441371" y="153045"/>
                  <a:pt x="442108" y="154149"/>
                </a:cubicBezTo>
                <a:cubicBezTo>
                  <a:pt x="442476" y="155254"/>
                  <a:pt x="442108" y="155990"/>
                  <a:pt x="441003" y="156726"/>
                </a:cubicBezTo>
                <a:lnTo>
                  <a:pt x="430696" y="161144"/>
                </a:lnTo>
                <a:cubicBezTo>
                  <a:pt x="430328" y="161144"/>
                  <a:pt x="430328" y="161144"/>
                  <a:pt x="429960" y="161144"/>
                </a:cubicBezTo>
                <a:cubicBezTo>
                  <a:pt x="429224" y="161144"/>
                  <a:pt x="428487" y="160775"/>
                  <a:pt x="428119" y="160039"/>
                </a:cubicBezTo>
                <a:cubicBezTo>
                  <a:pt x="427751" y="158935"/>
                  <a:pt x="428119" y="158199"/>
                  <a:pt x="429224" y="157462"/>
                </a:cubicBezTo>
                <a:close/>
                <a:moveTo>
                  <a:pt x="92397" y="153045"/>
                </a:moveTo>
                <a:lnTo>
                  <a:pt x="102704" y="157462"/>
                </a:lnTo>
                <a:cubicBezTo>
                  <a:pt x="103809" y="157831"/>
                  <a:pt x="104177" y="158935"/>
                  <a:pt x="103809" y="160039"/>
                </a:cubicBezTo>
                <a:cubicBezTo>
                  <a:pt x="103073" y="160775"/>
                  <a:pt x="102704" y="161144"/>
                  <a:pt x="101968" y="161144"/>
                </a:cubicBezTo>
                <a:cubicBezTo>
                  <a:pt x="101600" y="161144"/>
                  <a:pt x="101600" y="161144"/>
                  <a:pt x="101232" y="161144"/>
                </a:cubicBezTo>
                <a:lnTo>
                  <a:pt x="90925" y="156726"/>
                </a:lnTo>
                <a:cubicBezTo>
                  <a:pt x="89820" y="156358"/>
                  <a:pt x="89452" y="155254"/>
                  <a:pt x="89820" y="154149"/>
                </a:cubicBezTo>
                <a:cubicBezTo>
                  <a:pt x="90188" y="153045"/>
                  <a:pt x="91293" y="152677"/>
                  <a:pt x="92397" y="153045"/>
                </a:cubicBezTo>
                <a:close/>
                <a:moveTo>
                  <a:pt x="429223" y="133535"/>
                </a:moveTo>
                <a:cubicBezTo>
                  <a:pt x="431064" y="132431"/>
                  <a:pt x="433273" y="133167"/>
                  <a:pt x="434377" y="135007"/>
                </a:cubicBezTo>
                <a:cubicBezTo>
                  <a:pt x="435481" y="136848"/>
                  <a:pt x="434745" y="139057"/>
                  <a:pt x="432905" y="140161"/>
                </a:cubicBezTo>
                <a:lnTo>
                  <a:pt x="413762" y="151204"/>
                </a:lnTo>
                <a:cubicBezTo>
                  <a:pt x="413026" y="151573"/>
                  <a:pt x="412290" y="151573"/>
                  <a:pt x="411922" y="151573"/>
                </a:cubicBezTo>
                <a:cubicBezTo>
                  <a:pt x="410818" y="151573"/>
                  <a:pt x="409345" y="150836"/>
                  <a:pt x="408609" y="149732"/>
                </a:cubicBezTo>
                <a:cubicBezTo>
                  <a:pt x="407505" y="147891"/>
                  <a:pt x="408241" y="145683"/>
                  <a:pt x="410081" y="144578"/>
                </a:cubicBezTo>
                <a:close/>
                <a:moveTo>
                  <a:pt x="102704" y="133534"/>
                </a:moveTo>
                <a:lnTo>
                  <a:pt x="121846" y="144578"/>
                </a:lnTo>
                <a:cubicBezTo>
                  <a:pt x="123687" y="145682"/>
                  <a:pt x="124055" y="147891"/>
                  <a:pt x="123319" y="149732"/>
                </a:cubicBezTo>
                <a:cubicBezTo>
                  <a:pt x="122582" y="151204"/>
                  <a:pt x="121478" y="151572"/>
                  <a:pt x="120006" y="151572"/>
                </a:cubicBezTo>
                <a:cubicBezTo>
                  <a:pt x="119269" y="151572"/>
                  <a:pt x="118901" y="151572"/>
                  <a:pt x="118165" y="151204"/>
                </a:cubicBezTo>
                <a:lnTo>
                  <a:pt x="99023" y="140161"/>
                </a:lnTo>
                <a:cubicBezTo>
                  <a:pt x="97182" y="139056"/>
                  <a:pt x="96814" y="136848"/>
                  <a:pt x="97551" y="135007"/>
                </a:cubicBezTo>
                <a:cubicBezTo>
                  <a:pt x="98287" y="133166"/>
                  <a:pt x="100863" y="132798"/>
                  <a:pt x="102704" y="133534"/>
                </a:cubicBezTo>
                <a:close/>
                <a:moveTo>
                  <a:pt x="419284" y="118810"/>
                </a:moveTo>
                <a:cubicBezTo>
                  <a:pt x="420021" y="118074"/>
                  <a:pt x="421125" y="118442"/>
                  <a:pt x="421861" y="119178"/>
                </a:cubicBezTo>
                <a:cubicBezTo>
                  <a:pt x="422597" y="119915"/>
                  <a:pt x="422229" y="121019"/>
                  <a:pt x="421493" y="121755"/>
                </a:cubicBezTo>
                <a:lnTo>
                  <a:pt x="412290" y="128381"/>
                </a:lnTo>
                <a:cubicBezTo>
                  <a:pt x="411922" y="128381"/>
                  <a:pt x="411554" y="128749"/>
                  <a:pt x="411186" y="128749"/>
                </a:cubicBezTo>
                <a:cubicBezTo>
                  <a:pt x="410450" y="128749"/>
                  <a:pt x="410081" y="128381"/>
                  <a:pt x="409713" y="128013"/>
                </a:cubicBezTo>
                <a:cubicBezTo>
                  <a:pt x="408977" y="127277"/>
                  <a:pt x="409345" y="126173"/>
                  <a:pt x="410081" y="125436"/>
                </a:cubicBezTo>
                <a:close/>
                <a:moveTo>
                  <a:pt x="112643" y="118810"/>
                </a:moveTo>
                <a:lnTo>
                  <a:pt x="121846" y="125436"/>
                </a:lnTo>
                <a:cubicBezTo>
                  <a:pt x="122582" y="126173"/>
                  <a:pt x="122950" y="127277"/>
                  <a:pt x="122214" y="128013"/>
                </a:cubicBezTo>
                <a:cubicBezTo>
                  <a:pt x="121846" y="128381"/>
                  <a:pt x="121110" y="128749"/>
                  <a:pt x="120742" y="128749"/>
                </a:cubicBezTo>
                <a:cubicBezTo>
                  <a:pt x="120374" y="128749"/>
                  <a:pt x="120006" y="128749"/>
                  <a:pt x="119638" y="128381"/>
                </a:cubicBezTo>
                <a:lnTo>
                  <a:pt x="110435" y="121755"/>
                </a:lnTo>
                <a:cubicBezTo>
                  <a:pt x="109698" y="121019"/>
                  <a:pt x="109330" y="119915"/>
                  <a:pt x="110066" y="119178"/>
                </a:cubicBezTo>
                <a:cubicBezTo>
                  <a:pt x="110803" y="118442"/>
                  <a:pt x="111907" y="118074"/>
                  <a:pt x="112643" y="118810"/>
                </a:cubicBezTo>
                <a:close/>
                <a:moveTo>
                  <a:pt x="122951" y="103717"/>
                </a:moveTo>
                <a:cubicBezTo>
                  <a:pt x="123688" y="102981"/>
                  <a:pt x="124792" y="102981"/>
                  <a:pt x="125528" y="103717"/>
                </a:cubicBezTo>
                <a:lnTo>
                  <a:pt x="133995" y="111079"/>
                </a:lnTo>
                <a:cubicBezTo>
                  <a:pt x="134731" y="111816"/>
                  <a:pt x="134731" y="112920"/>
                  <a:pt x="133995" y="113656"/>
                </a:cubicBezTo>
                <a:cubicBezTo>
                  <a:pt x="133626" y="113656"/>
                  <a:pt x="132890" y="114024"/>
                  <a:pt x="132522" y="114024"/>
                </a:cubicBezTo>
                <a:cubicBezTo>
                  <a:pt x="132154" y="114024"/>
                  <a:pt x="131786" y="114024"/>
                  <a:pt x="131418" y="113656"/>
                </a:cubicBezTo>
                <a:lnTo>
                  <a:pt x="122951" y="106294"/>
                </a:lnTo>
                <a:cubicBezTo>
                  <a:pt x="122215" y="105558"/>
                  <a:pt x="122215" y="104453"/>
                  <a:pt x="122951" y="103717"/>
                </a:cubicBezTo>
                <a:close/>
                <a:moveTo>
                  <a:pt x="406400" y="103349"/>
                </a:moveTo>
                <a:cubicBezTo>
                  <a:pt x="407136" y="102613"/>
                  <a:pt x="408240" y="102613"/>
                  <a:pt x="408977" y="103349"/>
                </a:cubicBezTo>
                <a:cubicBezTo>
                  <a:pt x="409713" y="104085"/>
                  <a:pt x="409713" y="105190"/>
                  <a:pt x="408977" y="105926"/>
                </a:cubicBezTo>
                <a:lnTo>
                  <a:pt x="400510" y="113288"/>
                </a:lnTo>
                <a:cubicBezTo>
                  <a:pt x="400142" y="114025"/>
                  <a:pt x="399774" y="114025"/>
                  <a:pt x="399406" y="114025"/>
                </a:cubicBezTo>
                <a:cubicBezTo>
                  <a:pt x="399037" y="114025"/>
                  <a:pt x="398301" y="113656"/>
                  <a:pt x="397933" y="113288"/>
                </a:cubicBezTo>
                <a:cubicBezTo>
                  <a:pt x="397197" y="112552"/>
                  <a:pt x="397197" y="111448"/>
                  <a:pt x="397933" y="110712"/>
                </a:cubicBezTo>
                <a:close/>
                <a:moveTo>
                  <a:pt x="392412" y="89360"/>
                </a:moveTo>
                <a:cubicBezTo>
                  <a:pt x="393148" y="88624"/>
                  <a:pt x="394252" y="88624"/>
                  <a:pt x="394988" y="89360"/>
                </a:cubicBezTo>
                <a:cubicBezTo>
                  <a:pt x="395725" y="90096"/>
                  <a:pt x="395725" y="91201"/>
                  <a:pt x="394988" y="91937"/>
                </a:cubicBezTo>
                <a:lnTo>
                  <a:pt x="387626" y="100404"/>
                </a:lnTo>
                <a:cubicBezTo>
                  <a:pt x="386890" y="100404"/>
                  <a:pt x="386522" y="100772"/>
                  <a:pt x="386153" y="100772"/>
                </a:cubicBezTo>
                <a:cubicBezTo>
                  <a:pt x="385785" y="100772"/>
                  <a:pt x="385417" y="100772"/>
                  <a:pt x="385049" y="100404"/>
                </a:cubicBezTo>
                <a:cubicBezTo>
                  <a:pt x="384313" y="99667"/>
                  <a:pt x="384313" y="98563"/>
                  <a:pt x="385049" y="97827"/>
                </a:cubicBezTo>
                <a:close/>
                <a:moveTo>
                  <a:pt x="136939" y="88992"/>
                </a:moveTo>
                <a:cubicBezTo>
                  <a:pt x="137675" y="88256"/>
                  <a:pt x="138780" y="88256"/>
                  <a:pt x="139516" y="88992"/>
                </a:cubicBezTo>
                <a:lnTo>
                  <a:pt x="146878" y="97459"/>
                </a:lnTo>
                <a:cubicBezTo>
                  <a:pt x="147614" y="98195"/>
                  <a:pt x="147614" y="99299"/>
                  <a:pt x="146878" y="100036"/>
                </a:cubicBezTo>
                <a:cubicBezTo>
                  <a:pt x="146510" y="100404"/>
                  <a:pt x="146142" y="100772"/>
                  <a:pt x="145774" y="100772"/>
                </a:cubicBezTo>
                <a:cubicBezTo>
                  <a:pt x="145406" y="100772"/>
                  <a:pt x="144669" y="100404"/>
                  <a:pt x="144301" y="100036"/>
                </a:cubicBezTo>
                <a:lnTo>
                  <a:pt x="136939" y="91569"/>
                </a:lnTo>
                <a:cubicBezTo>
                  <a:pt x="136203" y="90833"/>
                  <a:pt x="136203" y="89728"/>
                  <a:pt x="136939" y="88992"/>
                </a:cubicBezTo>
                <a:close/>
                <a:moveTo>
                  <a:pt x="379159" y="76476"/>
                </a:moveTo>
                <a:cubicBezTo>
                  <a:pt x="379895" y="77213"/>
                  <a:pt x="380264" y="78317"/>
                  <a:pt x="379527" y="79053"/>
                </a:cubicBezTo>
                <a:lnTo>
                  <a:pt x="372901" y="88256"/>
                </a:lnTo>
                <a:cubicBezTo>
                  <a:pt x="372533" y="88624"/>
                  <a:pt x="372165" y="88992"/>
                  <a:pt x="371429" y="88992"/>
                </a:cubicBezTo>
                <a:cubicBezTo>
                  <a:pt x="371061" y="88992"/>
                  <a:pt x="370693" y="88992"/>
                  <a:pt x="370325" y="88624"/>
                </a:cubicBezTo>
                <a:cubicBezTo>
                  <a:pt x="369588" y="87888"/>
                  <a:pt x="369220" y="86784"/>
                  <a:pt x="369957" y="86047"/>
                </a:cubicBezTo>
                <a:lnTo>
                  <a:pt x="376582" y="76844"/>
                </a:lnTo>
                <a:cubicBezTo>
                  <a:pt x="377319" y="76108"/>
                  <a:pt x="378423" y="75740"/>
                  <a:pt x="379159" y="76476"/>
                </a:cubicBezTo>
                <a:close/>
                <a:moveTo>
                  <a:pt x="152769" y="76476"/>
                </a:moveTo>
                <a:cubicBezTo>
                  <a:pt x="153505" y="75740"/>
                  <a:pt x="154609" y="76108"/>
                  <a:pt x="155345" y="76844"/>
                </a:cubicBezTo>
                <a:lnTo>
                  <a:pt x="161972" y="86047"/>
                </a:lnTo>
                <a:cubicBezTo>
                  <a:pt x="162708" y="86784"/>
                  <a:pt x="162340" y="87888"/>
                  <a:pt x="161603" y="88624"/>
                </a:cubicBezTo>
                <a:cubicBezTo>
                  <a:pt x="161235" y="88624"/>
                  <a:pt x="160867" y="88992"/>
                  <a:pt x="160499" y="88992"/>
                </a:cubicBezTo>
                <a:cubicBezTo>
                  <a:pt x="159763" y="88992"/>
                  <a:pt x="159394" y="88624"/>
                  <a:pt x="159026" y="88256"/>
                </a:cubicBezTo>
                <a:lnTo>
                  <a:pt x="152400" y="79053"/>
                </a:lnTo>
                <a:cubicBezTo>
                  <a:pt x="151664" y="78317"/>
                  <a:pt x="152032" y="77213"/>
                  <a:pt x="152769" y="76476"/>
                </a:cubicBezTo>
                <a:close/>
                <a:moveTo>
                  <a:pt x="362963" y="63961"/>
                </a:moveTo>
                <a:cubicBezTo>
                  <a:pt x="364803" y="65065"/>
                  <a:pt x="365171" y="67274"/>
                  <a:pt x="364435" y="69114"/>
                </a:cubicBezTo>
                <a:lnTo>
                  <a:pt x="353392" y="88256"/>
                </a:lnTo>
                <a:cubicBezTo>
                  <a:pt x="352655" y="89361"/>
                  <a:pt x="351183" y="90097"/>
                  <a:pt x="350079" y="90097"/>
                </a:cubicBezTo>
                <a:cubicBezTo>
                  <a:pt x="349342" y="90097"/>
                  <a:pt x="348974" y="90097"/>
                  <a:pt x="348238" y="89729"/>
                </a:cubicBezTo>
                <a:cubicBezTo>
                  <a:pt x="346397" y="88624"/>
                  <a:pt x="346029" y="86416"/>
                  <a:pt x="346765" y="84575"/>
                </a:cubicBezTo>
                <a:lnTo>
                  <a:pt x="357809" y="65433"/>
                </a:lnTo>
                <a:cubicBezTo>
                  <a:pt x="358913" y="63592"/>
                  <a:pt x="361122" y="63224"/>
                  <a:pt x="362963" y="63961"/>
                </a:cubicBezTo>
                <a:close/>
                <a:moveTo>
                  <a:pt x="168965" y="63961"/>
                </a:moveTo>
                <a:cubicBezTo>
                  <a:pt x="170806" y="62857"/>
                  <a:pt x="173015" y="63593"/>
                  <a:pt x="174119" y="65433"/>
                </a:cubicBezTo>
                <a:lnTo>
                  <a:pt x="185162" y="84575"/>
                </a:lnTo>
                <a:cubicBezTo>
                  <a:pt x="186267" y="86416"/>
                  <a:pt x="185530" y="88625"/>
                  <a:pt x="183690" y="89729"/>
                </a:cubicBezTo>
                <a:cubicBezTo>
                  <a:pt x="182954" y="90097"/>
                  <a:pt x="182218" y="90097"/>
                  <a:pt x="181849" y="90097"/>
                </a:cubicBezTo>
                <a:cubicBezTo>
                  <a:pt x="180745" y="90097"/>
                  <a:pt x="179273" y="89361"/>
                  <a:pt x="178537" y="88257"/>
                </a:cubicBezTo>
                <a:lnTo>
                  <a:pt x="167493" y="69114"/>
                </a:lnTo>
                <a:cubicBezTo>
                  <a:pt x="166389" y="67274"/>
                  <a:pt x="167125" y="65065"/>
                  <a:pt x="168965" y="63961"/>
                </a:cubicBezTo>
                <a:close/>
                <a:moveTo>
                  <a:pt x="344188" y="56230"/>
                </a:moveTo>
                <a:cubicBezTo>
                  <a:pt x="345292" y="56598"/>
                  <a:pt x="345660" y="57702"/>
                  <a:pt x="345292" y="58807"/>
                </a:cubicBezTo>
                <a:lnTo>
                  <a:pt x="340875" y="69114"/>
                </a:lnTo>
                <a:cubicBezTo>
                  <a:pt x="340139" y="69850"/>
                  <a:pt x="339771" y="70219"/>
                  <a:pt x="339035" y="70219"/>
                </a:cubicBezTo>
                <a:cubicBezTo>
                  <a:pt x="338667" y="70219"/>
                  <a:pt x="338667" y="70219"/>
                  <a:pt x="338298" y="70219"/>
                </a:cubicBezTo>
                <a:cubicBezTo>
                  <a:pt x="337194" y="69850"/>
                  <a:pt x="336826" y="68746"/>
                  <a:pt x="337194" y="67642"/>
                </a:cubicBezTo>
                <a:lnTo>
                  <a:pt x="341611" y="57334"/>
                </a:lnTo>
                <a:cubicBezTo>
                  <a:pt x="341979" y="56230"/>
                  <a:pt x="343084" y="55862"/>
                  <a:pt x="344188" y="56230"/>
                </a:cubicBezTo>
                <a:close/>
                <a:moveTo>
                  <a:pt x="187740" y="56230"/>
                </a:moveTo>
                <a:cubicBezTo>
                  <a:pt x="188476" y="55862"/>
                  <a:pt x="189580" y="56230"/>
                  <a:pt x="190316" y="57334"/>
                </a:cubicBezTo>
                <a:lnTo>
                  <a:pt x="194733" y="67642"/>
                </a:lnTo>
                <a:cubicBezTo>
                  <a:pt x="195102" y="68746"/>
                  <a:pt x="194733" y="69482"/>
                  <a:pt x="193629" y="70219"/>
                </a:cubicBezTo>
                <a:cubicBezTo>
                  <a:pt x="193261" y="70219"/>
                  <a:pt x="193261" y="70219"/>
                  <a:pt x="192893" y="70219"/>
                </a:cubicBezTo>
                <a:cubicBezTo>
                  <a:pt x="192157" y="70219"/>
                  <a:pt x="191421" y="69850"/>
                  <a:pt x="191052" y="69114"/>
                </a:cubicBezTo>
                <a:lnTo>
                  <a:pt x="186635" y="58807"/>
                </a:lnTo>
                <a:cubicBezTo>
                  <a:pt x="186267" y="57702"/>
                  <a:pt x="186635" y="56966"/>
                  <a:pt x="187740" y="56230"/>
                </a:cubicBezTo>
                <a:close/>
                <a:moveTo>
                  <a:pt x="206513" y="49604"/>
                </a:moveTo>
                <a:cubicBezTo>
                  <a:pt x="207617" y="49236"/>
                  <a:pt x="208354" y="49972"/>
                  <a:pt x="208722" y="50708"/>
                </a:cubicBezTo>
                <a:lnTo>
                  <a:pt x="212035" y="61384"/>
                </a:lnTo>
                <a:cubicBezTo>
                  <a:pt x="212403" y="62488"/>
                  <a:pt x="211667" y="63224"/>
                  <a:pt x="210931" y="63592"/>
                </a:cubicBezTo>
                <a:cubicBezTo>
                  <a:pt x="210931" y="63224"/>
                  <a:pt x="210563" y="63592"/>
                  <a:pt x="210563" y="63592"/>
                </a:cubicBezTo>
                <a:cubicBezTo>
                  <a:pt x="209827" y="63592"/>
                  <a:pt x="209090" y="63224"/>
                  <a:pt x="208722" y="62488"/>
                </a:cubicBezTo>
                <a:lnTo>
                  <a:pt x="205409" y="51813"/>
                </a:lnTo>
                <a:cubicBezTo>
                  <a:pt x="205041" y="50708"/>
                  <a:pt x="205777" y="49972"/>
                  <a:pt x="206513" y="49604"/>
                </a:cubicBezTo>
                <a:close/>
                <a:moveTo>
                  <a:pt x="325047" y="49236"/>
                </a:moveTo>
                <a:cubicBezTo>
                  <a:pt x="326151" y="49604"/>
                  <a:pt x="326519" y="50708"/>
                  <a:pt x="326151" y="51445"/>
                </a:cubicBezTo>
                <a:lnTo>
                  <a:pt x="322838" y="62120"/>
                </a:lnTo>
                <a:cubicBezTo>
                  <a:pt x="322838" y="62856"/>
                  <a:pt x="322102" y="63224"/>
                  <a:pt x="321366" y="63224"/>
                </a:cubicBezTo>
                <a:cubicBezTo>
                  <a:pt x="320998" y="63224"/>
                  <a:pt x="320998" y="63224"/>
                  <a:pt x="320630" y="63224"/>
                </a:cubicBezTo>
                <a:cubicBezTo>
                  <a:pt x="319525" y="62856"/>
                  <a:pt x="319157" y="61752"/>
                  <a:pt x="319525" y="61016"/>
                </a:cubicBezTo>
                <a:lnTo>
                  <a:pt x="322838" y="50340"/>
                </a:lnTo>
                <a:cubicBezTo>
                  <a:pt x="323206" y="49236"/>
                  <a:pt x="324311" y="48868"/>
                  <a:pt x="325047" y="49236"/>
                </a:cubicBezTo>
                <a:close/>
                <a:moveTo>
                  <a:pt x="305905" y="43714"/>
                </a:moveTo>
                <a:cubicBezTo>
                  <a:pt x="307009" y="44082"/>
                  <a:pt x="307377" y="44818"/>
                  <a:pt x="307377" y="45923"/>
                </a:cubicBezTo>
                <a:lnTo>
                  <a:pt x="305168" y="56966"/>
                </a:lnTo>
                <a:cubicBezTo>
                  <a:pt x="304800" y="58070"/>
                  <a:pt x="304064" y="58439"/>
                  <a:pt x="303328" y="58439"/>
                </a:cubicBezTo>
                <a:cubicBezTo>
                  <a:pt x="303328" y="58439"/>
                  <a:pt x="302960" y="58439"/>
                  <a:pt x="302960" y="58439"/>
                </a:cubicBezTo>
                <a:cubicBezTo>
                  <a:pt x="301855" y="58070"/>
                  <a:pt x="301487" y="57334"/>
                  <a:pt x="301487" y="56230"/>
                </a:cubicBezTo>
                <a:lnTo>
                  <a:pt x="303696" y="45186"/>
                </a:lnTo>
                <a:cubicBezTo>
                  <a:pt x="304064" y="44082"/>
                  <a:pt x="304800" y="43714"/>
                  <a:pt x="305905" y="43714"/>
                </a:cubicBezTo>
                <a:close/>
                <a:moveTo>
                  <a:pt x="226023" y="43714"/>
                </a:moveTo>
                <a:cubicBezTo>
                  <a:pt x="227128" y="43346"/>
                  <a:pt x="227864" y="44082"/>
                  <a:pt x="228232" y="45186"/>
                </a:cubicBezTo>
                <a:lnTo>
                  <a:pt x="230441" y="56230"/>
                </a:lnTo>
                <a:cubicBezTo>
                  <a:pt x="230809" y="57334"/>
                  <a:pt x="230073" y="58070"/>
                  <a:pt x="228968" y="58438"/>
                </a:cubicBezTo>
                <a:cubicBezTo>
                  <a:pt x="228968" y="58438"/>
                  <a:pt x="228600" y="58438"/>
                  <a:pt x="228600" y="58438"/>
                </a:cubicBezTo>
                <a:cubicBezTo>
                  <a:pt x="227864" y="58438"/>
                  <a:pt x="227128" y="57702"/>
                  <a:pt x="226760" y="56966"/>
                </a:cubicBezTo>
                <a:lnTo>
                  <a:pt x="224551" y="45922"/>
                </a:lnTo>
                <a:cubicBezTo>
                  <a:pt x="224182" y="44818"/>
                  <a:pt x="224919" y="44082"/>
                  <a:pt x="226023" y="43714"/>
                </a:cubicBezTo>
                <a:close/>
                <a:moveTo>
                  <a:pt x="245534" y="41137"/>
                </a:moveTo>
                <a:cubicBezTo>
                  <a:pt x="246638" y="41137"/>
                  <a:pt x="247374" y="41873"/>
                  <a:pt x="247374" y="42610"/>
                </a:cubicBezTo>
                <a:lnTo>
                  <a:pt x="248479" y="53653"/>
                </a:lnTo>
                <a:cubicBezTo>
                  <a:pt x="249215" y="54757"/>
                  <a:pt x="248479" y="55494"/>
                  <a:pt x="247006" y="55494"/>
                </a:cubicBezTo>
                <a:cubicBezTo>
                  <a:pt x="245902" y="55494"/>
                  <a:pt x="245166" y="54757"/>
                  <a:pt x="245166" y="54021"/>
                </a:cubicBezTo>
                <a:lnTo>
                  <a:pt x="244061" y="42978"/>
                </a:lnTo>
                <a:cubicBezTo>
                  <a:pt x="244061" y="41873"/>
                  <a:pt x="244798" y="41137"/>
                  <a:pt x="245534" y="41137"/>
                </a:cubicBezTo>
                <a:close/>
                <a:moveTo>
                  <a:pt x="285658" y="40770"/>
                </a:moveTo>
                <a:cubicBezTo>
                  <a:pt x="286762" y="40770"/>
                  <a:pt x="287499" y="41874"/>
                  <a:pt x="287131" y="42610"/>
                </a:cubicBezTo>
                <a:lnTo>
                  <a:pt x="286026" y="53654"/>
                </a:lnTo>
                <a:cubicBezTo>
                  <a:pt x="286394" y="54758"/>
                  <a:pt x="285658" y="55494"/>
                  <a:pt x="284554" y="55494"/>
                </a:cubicBezTo>
                <a:cubicBezTo>
                  <a:pt x="283450" y="55494"/>
                  <a:pt x="282713" y="54390"/>
                  <a:pt x="282713" y="53286"/>
                </a:cubicBezTo>
                <a:lnTo>
                  <a:pt x="283818" y="42242"/>
                </a:lnTo>
                <a:cubicBezTo>
                  <a:pt x="283818" y="41138"/>
                  <a:pt x="284922" y="40402"/>
                  <a:pt x="285658" y="40770"/>
                </a:cubicBezTo>
                <a:close/>
                <a:moveTo>
                  <a:pt x="265780" y="37824"/>
                </a:moveTo>
                <a:cubicBezTo>
                  <a:pt x="267989" y="37824"/>
                  <a:pt x="269461" y="39296"/>
                  <a:pt x="269461" y="41505"/>
                </a:cubicBezTo>
                <a:lnTo>
                  <a:pt x="269461" y="41873"/>
                </a:lnTo>
                <a:lnTo>
                  <a:pt x="269461" y="52917"/>
                </a:lnTo>
                <a:lnTo>
                  <a:pt x="269461" y="63960"/>
                </a:lnTo>
                <a:cubicBezTo>
                  <a:pt x="269461" y="65801"/>
                  <a:pt x="267989" y="67641"/>
                  <a:pt x="265780" y="67641"/>
                </a:cubicBezTo>
                <a:cubicBezTo>
                  <a:pt x="263572" y="67641"/>
                  <a:pt x="262099" y="66169"/>
                  <a:pt x="262099" y="63960"/>
                </a:cubicBezTo>
                <a:lnTo>
                  <a:pt x="262099" y="52917"/>
                </a:lnTo>
                <a:lnTo>
                  <a:pt x="262099" y="41873"/>
                </a:lnTo>
                <a:lnTo>
                  <a:pt x="262099" y="41505"/>
                </a:lnTo>
                <a:cubicBezTo>
                  <a:pt x="262099" y="39296"/>
                  <a:pt x="263572" y="37824"/>
                  <a:pt x="265780" y="37824"/>
                </a:cubicBezTo>
                <a:close/>
                <a:moveTo>
                  <a:pt x="247006" y="276"/>
                </a:moveTo>
                <a:cubicBezTo>
                  <a:pt x="253264" y="-92"/>
                  <a:pt x="259890" y="-92"/>
                  <a:pt x="266148" y="276"/>
                </a:cubicBezTo>
                <a:cubicBezTo>
                  <a:pt x="272406" y="644"/>
                  <a:pt x="279032" y="1012"/>
                  <a:pt x="285290" y="1749"/>
                </a:cubicBezTo>
                <a:cubicBezTo>
                  <a:pt x="310690" y="4693"/>
                  <a:pt x="335354" y="12056"/>
                  <a:pt x="358177" y="23099"/>
                </a:cubicBezTo>
                <a:cubicBezTo>
                  <a:pt x="381001" y="34143"/>
                  <a:pt x="401615" y="48867"/>
                  <a:pt x="419284" y="66537"/>
                </a:cubicBezTo>
                <a:cubicBezTo>
                  <a:pt x="436954" y="84206"/>
                  <a:pt x="451311" y="104453"/>
                  <a:pt x="462354" y="126540"/>
                </a:cubicBezTo>
                <a:cubicBezTo>
                  <a:pt x="463090" y="128012"/>
                  <a:pt x="462354" y="129853"/>
                  <a:pt x="460882" y="130957"/>
                </a:cubicBezTo>
                <a:cubicBezTo>
                  <a:pt x="459409" y="131693"/>
                  <a:pt x="457568" y="131325"/>
                  <a:pt x="456832" y="129853"/>
                </a:cubicBezTo>
                <a:cubicBezTo>
                  <a:pt x="444316" y="109238"/>
                  <a:pt x="428856" y="91201"/>
                  <a:pt x="410818" y="75740"/>
                </a:cubicBezTo>
                <a:cubicBezTo>
                  <a:pt x="392780" y="60647"/>
                  <a:pt x="372534" y="48499"/>
                  <a:pt x="350815" y="40033"/>
                </a:cubicBezTo>
                <a:cubicBezTo>
                  <a:pt x="329096" y="31566"/>
                  <a:pt x="306273" y="27149"/>
                  <a:pt x="283081" y="26044"/>
                </a:cubicBezTo>
                <a:cubicBezTo>
                  <a:pt x="277192" y="25676"/>
                  <a:pt x="271670" y="26044"/>
                  <a:pt x="265780" y="26044"/>
                </a:cubicBezTo>
                <a:cubicBezTo>
                  <a:pt x="259890" y="26412"/>
                  <a:pt x="254369" y="26780"/>
                  <a:pt x="248847" y="27517"/>
                </a:cubicBezTo>
                <a:cubicBezTo>
                  <a:pt x="237435" y="28989"/>
                  <a:pt x="226392" y="31198"/>
                  <a:pt x="215716" y="34511"/>
                </a:cubicBezTo>
                <a:cubicBezTo>
                  <a:pt x="172279" y="47395"/>
                  <a:pt x="134363" y="75004"/>
                  <a:pt x="108963" y="111079"/>
                </a:cubicBezTo>
                <a:cubicBezTo>
                  <a:pt x="96079" y="128932"/>
                  <a:pt x="86508" y="148811"/>
                  <a:pt x="80388" y="169609"/>
                </a:cubicBezTo>
                <a:lnTo>
                  <a:pt x="77609" y="192230"/>
                </a:lnTo>
                <a:lnTo>
                  <a:pt x="79514" y="190961"/>
                </a:lnTo>
                <a:lnTo>
                  <a:pt x="90557" y="193170"/>
                </a:lnTo>
                <a:cubicBezTo>
                  <a:pt x="91661" y="193538"/>
                  <a:pt x="92030" y="194274"/>
                  <a:pt x="92030" y="195378"/>
                </a:cubicBezTo>
                <a:cubicBezTo>
                  <a:pt x="92030" y="196115"/>
                  <a:pt x="91293" y="196851"/>
                  <a:pt x="90189" y="196851"/>
                </a:cubicBezTo>
                <a:cubicBezTo>
                  <a:pt x="90189" y="196851"/>
                  <a:pt x="89821" y="196851"/>
                  <a:pt x="89821" y="196851"/>
                </a:cubicBezTo>
                <a:lnTo>
                  <a:pt x="78777" y="194642"/>
                </a:lnTo>
                <a:lnTo>
                  <a:pt x="77540" y="192786"/>
                </a:lnTo>
                <a:lnTo>
                  <a:pt x="75227" y="211617"/>
                </a:lnTo>
                <a:lnTo>
                  <a:pt x="76200" y="210839"/>
                </a:lnTo>
                <a:lnTo>
                  <a:pt x="87244" y="211943"/>
                </a:lnTo>
                <a:cubicBezTo>
                  <a:pt x="88348" y="211943"/>
                  <a:pt x="89084" y="213047"/>
                  <a:pt x="88716" y="213784"/>
                </a:cubicBezTo>
                <a:cubicBezTo>
                  <a:pt x="89084" y="214520"/>
                  <a:pt x="88348" y="215256"/>
                  <a:pt x="87244" y="215256"/>
                </a:cubicBezTo>
                <a:lnTo>
                  <a:pt x="75832" y="214152"/>
                </a:lnTo>
                <a:lnTo>
                  <a:pt x="75037" y="213159"/>
                </a:lnTo>
                <a:lnTo>
                  <a:pt x="74026" y="221390"/>
                </a:lnTo>
                <a:lnTo>
                  <a:pt x="93501" y="215256"/>
                </a:lnTo>
                <a:lnTo>
                  <a:pt x="85851" y="228508"/>
                </a:lnTo>
                <a:lnTo>
                  <a:pt x="97552" y="228508"/>
                </a:lnTo>
                <a:cubicBezTo>
                  <a:pt x="99760" y="228508"/>
                  <a:pt x="101233" y="229980"/>
                  <a:pt x="101233" y="232189"/>
                </a:cubicBezTo>
                <a:cubicBezTo>
                  <a:pt x="101233" y="234398"/>
                  <a:pt x="99392" y="235870"/>
                  <a:pt x="97552" y="235870"/>
                </a:cubicBezTo>
                <a:lnTo>
                  <a:pt x="81601" y="235870"/>
                </a:lnTo>
                <a:lnTo>
                  <a:pt x="46751" y="296242"/>
                </a:lnTo>
                <a:lnTo>
                  <a:pt x="0" y="215256"/>
                </a:lnTo>
                <a:lnTo>
                  <a:pt x="22676" y="222398"/>
                </a:lnTo>
                <a:lnTo>
                  <a:pt x="36628" y="153642"/>
                </a:lnTo>
                <a:cubicBezTo>
                  <a:pt x="46199" y="128565"/>
                  <a:pt x="59819" y="105189"/>
                  <a:pt x="76936" y="84943"/>
                </a:cubicBezTo>
                <a:cubicBezTo>
                  <a:pt x="110803" y="44082"/>
                  <a:pt x="158290" y="15737"/>
                  <a:pt x="208722" y="5062"/>
                </a:cubicBezTo>
                <a:cubicBezTo>
                  <a:pt x="221238" y="2485"/>
                  <a:pt x="234122" y="644"/>
                  <a:pt x="247006" y="276"/>
                </a:cubicBezTo>
                <a:close/>
              </a:path>
            </a:pathLst>
          </a:custGeom>
          <a:solidFill>
            <a:srgbClr val="4B8BFF"/>
          </a:solidFill>
          <a:ln w="368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/>
          <p:cNvSpPr txBox="1"/>
          <p:nvPr>
            <p:custDataLst>
              <p:tags r:id="rId6"/>
            </p:custDataLst>
          </p:nvPr>
        </p:nvSpPr>
        <p:spPr>
          <a:xfrm>
            <a:off x="1133295" y="6007216"/>
            <a:ext cx="844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处理耗时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endParaRPr lang="zh-CN" altLang="en-US" sz="11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2071592" y="6034997"/>
            <a:ext cx="310515" cy="349885"/>
            <a:chOff x="3918" y="8207"/>
            <a:chExt cx="435" cy="490"/>
          </a:xfrm>
        </p:grpSpPr>
        <p:grpSp>
          <p:nvGrpSpPr>
            <p:cNvPr id="128" name="组合 127"/>
            <p:cNvGrpSpPr/>
            <p:nvPr/>
          </p:nvGrpSpPr>
          <p:grpSpPr>
            <a:xfrm>
              <a:off x="3918" y="8207"/>
              <a:ext cx="189" cy="490"/>
              <a:chOff x="16911" y="575"/>
              <a:chExt cx="246" cy="637"/>
            </a:xfrm>
            <a:solidFill>
              <a:srgbClr val="4B8BFF"/>
            </a:solidFill>
          </p:grpSpPr>
          <p:sp>
            <p:nvSpPr>
              <p:cNvPr id="129" name="Oval 12"/>
              <p:cNvSpPr>
                <a:spLocks noChangeArrowheads="1"/>
              </p:cNvSpPr>
              <p:nvPr/>
            </p:nvSpPr>
            <p:spPr bwMode="auto">
              <a:xfrm>
                <a:off x="16981" y="575"/>
                <a:ext cx="107" cy="1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0" name="Line 13"/>
              <p:cNvSpPr>
                <a:spLocks noChangeShapeType="1"/>
              </p:cNvSpPr>
              <p:nvPr/>
            </p:nvSpPr>
            <p:spPr bwMode="auto">
              <a:xfrm>
                <a:off x="17036" y="62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1" name="Line 14"/>
              <p:cNvSpPr>
                <a:spLocks noChangeShapeType="1"/>
              </p:cNvSpPr>
              <p:nvPr/>
            </p:nvSpPr>
            <p:spPr bwMode="auto">
              <a:xfrm>
                <a:off x="17036" y="62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4" name="Freeform 15"/>
              <p:cNvSpPr/>
              <p:nvPr/>
            </p:nvSpPr>
            <p:spPr bwMode="auto">
              <a:xfrm>
                <a:off x="16911" y="690"/>
                <a:ext cx="247" cy="522"/>
              </a:xfrm>
              <a:custGeom>
                <a:avLst/>
                <a:gdLst>
                  <a:gd name="T0" fmla="*/ 51 w 70"/>
                  <a:gd name="T1" fmla="*/ 0 h 147"/>
                  <a:gd name="T2" fmla="*/ 35 w 70"/>
                  <a:gd name="T3" fmla="*/ 0 h 147"/>
                  <a:gd name="T4" fmla="*/ 19 w 70"/>
                  <a:gd name="T5" fmla="*/ 0 h 147"/>
                  <a:gd name="T6" fmla="*/ 0 w 70"/>
                  <a:gd name="T7" fmla="*/ 19 h 147"/>
                  <a:gd name="T8" fmla="*/ 0 w 70"/>
                  <a:gd name="T9" fmla="*/ 64 h 147"/>
                  <a:gd name="T10" fmla="*/ 12 w 70"/>
                  <a:gd name="T11" fmla="*/ 64 h 147"/>
                  <a:gd name="T12" fmla="*/ 13 w 70"/>
                  <a:gd name="T13" fmla="*/ 23 h 147"/>
                  <a:gd name="T14" fmla="*/ 16 w 70"/>
                  <a:gd name="T15" fmla="*/ 23 h 147"/>
                  <a:gd name="T16" fmla="*/ 16 w 70"/>
                  <a:gd name="T17" fmla="*/ 136 h 147"/>
                  <a:gd name="T18" fmla="*/ 32 w 70"/>
                  <a:gd name="T19" fmla="*/ 136 h 147"/>
                  <a:gd name="T20" fmla="*/ 33 w 70"/>
                  <a:gd name="T21" fmla="*/ 70 h 147"/>
                  <a:gd name="T22" fmla="*/ 37 w 70"/>
                  <a:gd name="T23" fmla="*/ 70 h 147"/>
                  <a:gd name="T24" fmla="*/ 38 w 70"/>
                  <a:gd name="T25" fmla="*/ 136 h 147"/>
                  <a:gd name="T26" fmla="*/ 54 w 70"/>
                  <a:gd name="T27" fmla="*/ 136 h 147"/>
                  <a:gd name="T28" fmla="*/ 54 w 70"/>
                  <a:gd name="T29" fmla="*/ 23 h 147"/>
                  <a:gd name="T30" fmla="*/ 57 w 70"/>
                  <a:gd name="T31" fmla="*/ 23 h 147"/>
                  <a:gd name="T32" fmla="*/ 58 w 70"/>
                  <a:gd name="T33" fmla="*/ 64 h 147"/>
                  <a:gd name="T34" fmla="*/ 70 w 70"/>
                  <a:gd name="T35" fmla="*/ 64 h 147"/>
                  <a:gd name="T36" fmla="*/ 70 w 70"/>
                  <a:gd name="T37" fmla="*/ 19 h 147"/>
                  <a:gd name="T38" fmla="*/ 51 w 70"/>
                  <a:gd name="T39" fmla="*/ 0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" h="147">
                    <a:moveTo>
                      <a:pt x="51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5" y="0"/>
                      <a:pt x="0" y="4"/>
                      <a:pt x="0" y="19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3"/>
                      <a:pt x="12" y="73"/>
                      <a:pt x="12" y="64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136"/>
                      <a:pt x="16" y="136"/>
                      <a:pt x="16" y="136"/>
                    </a:cubicBezTo>
                    <a:cubicBezTo>
                      <a:pt x="16" y="147"/>
                      <a:pt x="32" y="147"/>
                      <a:pt x="32" y="136"/>
                    </a:cubicBezTo>
                    <a:cubicBezTo>
                      <a:pt x="33" y="70"/>
                      <a:pt x="33" y="70"/>
                      <a:pt x="33" y="70"/>
                    </a:cubicBezTo>
                    <a:cubicBezTo>
                      <a:pt x="37" y="70"/>
                      <a:pt x="37" y="70"/>
                      <a:pt x="37" y="70"/>
                    </a:cubicBezTo>
                    <a:cubicBezTo>
                      <a:pt x="38" y="136"/>
                      <a:pt x="38" y="136"/>
                      <a:pt x="38" y="136"/>
                    </a:cubicBezTo>
                    <a:cubicBezTo>
                      <a:pt x="38" y="147"/>
                      <a:pt x="54" y="147"/>
                      <a:pt x="54" y="136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8" y="64"/>
                      <a:pt x="58" y="64"/>
                      <a:pt x="58" y="64"/>
                    </a:cubicBezTo>
                    <a:cubicBezTo>
                      <a:pt x="58" y="73"/>
                      <a:pt x="70" y="73"/>
                      <a:pt x="70" y="6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4"/>
                      <a:pt x="65" y="0"/>
                      <a:pt x="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4165" y="8207"/>
              <a:ext cx="189" cy="490"/>
              <a:chOff x="16911" y="575"/>
              <a:chExt cx="246" cy="637"/>
            </a:xfrm>
            <a:solidFill>
              <a:srgbClr val="4B8BFF"/>
            </a:solidFill>
          </p:grpSpPr>
          <p:sp>
            <p:nvSpPr>
              <p:cNvPr id="137" name="Oval 12"/>
              <p:cNvSpPr>
                <a:spLocks noChangeArrowheads="1"/>
              </p:cNvSpPr>
              <p:nvPr/>
            </p:nvSpPr>
            <p:spPr bwMode="auto">
              <a:xfrm>
                <a:off x="16981" y="575"/>
                <a:ext cx="107" cy="1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8" name="Line 13"/>
              <p:cNvSpPr>
                <a:spLocks noChangeShapeType="1"/>
              </p:cNvSpPr>
              <p:nvPr/>
            </p:nvSpPr>
            <p:spPr bwMode="auto">
              <a:xfrm>
                <a:off x="17036" y="62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9" name="Line 14"/>
              <p:cNvSpPr>
                <a:spLocks noChangeShapeType="1"/>
              </p:cNvSpPr>
              <p:nvPr/>
            </p:nvSpPr>
            <p:spPr bwMode="auto">
              <a:xfrm>
                <a:off x="17036" y="62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1" name="Freeform 15"/>
              <p:cNvSpPr/>
              <p:nvPr/>
            </p:nvSpPr>
            <p:spPr bwMode="auto">
              <a:xfrm>
                <a:off x="16911" y="690"/>
                <a:ext cx="247" cy="522"/>
              </a:xfrm>
              <a:custGeom>
                <a:avLst/>
                <a:gdLst>
                  <a:gd name="T0" fmla="*/ 51 w 70"/>
                  <a:gd name="T1" fmla="*/ 0 h 147"/>
                  <a:gd name="T2" fmla="*/ 35 w 70"/>
                  <a:gd name="T3" fmla="*/ 0 h 147"/>
                  <a:gd name="T4" fmla="*/ 19 w 70"/>
                  <a:gd name="T5" fmla="*/ 0 h 147"/>
                  <a:gd name="T6" fmla="*/ 0 w 70"/>
                  <a:gd name="T7" fmla="*/ 19 h 147"/>
                  <a:gd name="T8" fmla="*/ 0 w 70"/>
                  <a:gd name="T9" fmla="*/ 64 h 147"/>
                  <a:gd name="T10" fmla="*/ 12 w 70"/>
                  <a:gd name="T11" fmla="*/ 64 h 147"/>
                  <a:gd name="T12" fmla="*/ 13 w 70"/>
                  <a:gd name="T13" fmla="*/ 23 h 147"/>
                  <a:gd name="T14" fmla="*/ 16 w 70"/>
                  <a:gd name="T15" fmla="*/ 23 h 147"/>
                  <a:gd name="T16" fmla="*/ 16 w 70"/>
                  <a:gd name="T17" fmla="*/ 136 h 147"/>
                  <a:gd name="T18" fmla="*/ 32 w 70"/>
                  <a:gd name="T19" fmla="*/ 136 h 147"/>
                  <a:gd name="T20" fmla="*/ 33 w 70"/>
                  <a:gd name="T21" fmla="*/ 70 h 147"/>
                  <a:gd name="T22" fmla="*/ 37 w 70"/>
                  <a:gd name="T23" fmla="*/ 70 h 147"/>
                  <a:gd name="T24" fmla="*/ 38 w 70"/>
                  <a:gd name="T25" fmla="*/ 136 h 147"/>
                  <a:gd name="T26" fmla="*/ 54 w 70"/>
                  <a:gd name="T27" fmla="*/ 136 h 147"/>
                  <a:gd name="T28" fmla="*/ 54 w 70"/>
                  <a:gd name="T29" fmla="*/ 23 h 147"/>
                  <a:gd name="T30" fmla="*/ 57 w 70"/>
                  <a:gd name="T31" fmla="*/ 23 h 147"/>
                  <a:gd name="T32" fmla="*/ 58 w 70"/>
                  <a:gd name="T33" fmla="*/ 64 h 147"/>
                  <a:gd name="T34" fmla="*/ 70 w 70"/>
                  <a:gd name="T35" fmla="*/ 64 h 147"/>
                  <a:gd name="T36" fmla="*/ 70 w 70"/>
                  <a:gd name="T37" fmla="*/ 19 h 147"/>
                  <a:gd name="T38" fmla="*/ 51 w 70"/>
                  <a:gd name="T39" fmla="*/ 0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" h="147">
                    <a:moveTo>
                      <a:pt x="51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5" y="0"/>
                      <a:pt x="0" y="4"/>
                      <a:pt x="0" y="19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3"/>
                      <a:pt x="12" y="73"/>
                      <a:pt x="12" y="64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136"/>
                      <a:pt x="16" y="136"/>
                      <a:pt x="16" y="136"/>
                    </a:cubicBezTo>
                    <a:cubicBezTo>
                      <a:pt x="16" y="147"/>
                      <a:pt x="32" y="147"/>
                      <a:pt x="32" y="136"/>
                    </a:cubicBezTo>
                    <a:cubicBezTo>
                      <a:pt x="33" y="70"/>
                      <a:pt x="33" y="70"/>
                      <a:pt x="33" y="70"/>
                    </a:cubicBezTo>
                    <a:cubicBezTo>
                      <a:pt x="37" y="70"/>
                      <a:pt x="37" y="70"/>
                      <a:pt x="37" y="70"/>
                    </a:cubicBezTo>
                    <a:cubicBezTo>
                      <a:pt x="38" y="136"/>
                      <a:pt x="38" y="136"/>
                      <a:pt x="38" y="136"/>
                    </a:cubicBezTo>
                    <a:cubicBezTo>
                      <a:pt x="38" y="147"/>
                      <a:pt x="54" y="147"/>
                      <a:pt x="54" y="136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8" y="64"/>
                      <a:pt x="58" y="64"/>
                      <a:pt x="58" y="64"/>
                    </a:cubicBezTo>
                    <a:cubicBezTo>
                      <a:pt x="58" y="73"/>
                      <a:pt x="70" y="73"/>
                      <a:pt x="70" y="6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4"/>
                      <a:pt x="65" y="0"/>
                      <a:pt x="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defTabSz="68516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solidFill>
                    <a:schemeClr val="bg1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43" name="文本框 142"/>
          <p:cNvSpPr txBox="1"/>
          <p:nvPr>
            <p:custDataLst>
              <p:tags r:id="rId7"/>
            </p:custDataLst>
          </p:nvPr>
        </p:nvSpPr>
        <p:spPr>
          <a:xfrm>
            <a:off x="2369259" y="5983858"/>
            <a:ext cx="794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人力成本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人天</a:t>
            </a:r>
            <a:endParaRPr lang="zh-CN" altLang="en-US" sz="11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文本框 146" descr="7b0a202020202262756c6c6574223a20227b5c2263617465676f727949645c223a5c225c222c5c2274656d706c61746549645c223a32303233313133347d220a7d0a"/>
          <p:cNvSpPr txBox="1"/>
          <p:nvPr/>
        </p:nvSpPr>
        <p:spPr>
          <a:xfrm>
            <a:off x="1868805" y="3025775"/>
            <a:ext cx="14071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需求澄清费时费力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7b0a202020202262756c6c6574223a20227b5c2263617465676f727949645c223a5c225c222c5c2274656d706c61746549645c223a32303233313133347d220a7d0a"/>
          <p:cNvSpPr txBox="1"/>
          <p:nvPr/>
        </p:nvSpPr>
        <p:spPr>
          <a:xfrm>
            <a:off x="1868805" y="3564255"/>
            <a:ext cx="14376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设计耗时，一致性差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7b0a202020202262756c6c6574223a20227b5c2263617465676f727949645c223a5c225c222c5c2274656d706c61746549645c223a32303233313133347d220a7d0a"/>
          <p:cNvSpPr txBox="1"/>
          <p:nvPr/>
        </p:nvSpPr>
        <p:spPr>
          <a:xfrm>
            <a:off x="1868805" y="4072890"/>
            <a:ext cx="15043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开发周期长，易出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</a:rPr>
              <a:t>BUG</a:t>
            </a:r>
            <a:endParaRPr lang="en-US" altLang="zh-CN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7b0a202020202262756c6c6574223a20227b5c2263617465676f727949645c223a5c225c222c5c2274656d706c61746549645c223a32303233313133347d220a7d0a"/>
          <p:cNvSpPr txBox="1"/>
          <p:nvPr/>
        </p:nvSpPr>
        <p:spPr>
          <a:xfrm>
            <a:off x="1868805" y="5097145"/>
            <a:ext cx="12477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数据汇总处理繁琐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7b0a202020202262756c6c6574223a20227b5c2263617465676f727949645c223a5c225c222c5c2274656d706c61746549645c223a32303233313133347d220a7d0a"/>
          <p:cNvSpPr txBox="1"/>
          <p:nvPr/>
        </p:nvSpPr>
        <p:spPr>
          <a:xfrm>
            <a:off x="1868805" y="5639435"/>
            <a:ext cx="10439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报告撰写耗时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2" name="图片 151" descr="错误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395" y="3068955"/>
            <a:ext cx="161925" cy="161925"/>
          </a:xfrm>
          <a:prstGeom prst="rect">
            <a:avLst/>
          </a:prstGeom>
        </p:spPr>
      </p:pic>
      <p:pic>
        <p:nvPicPr>
          <p:cNvPr id="153" name="图片 152" descr="错误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395" y="3608070"/>
            <a:ext cx="161925" cy="161925"/>
          </a:xfrm>
          <a:prstGeom prst="rect">
            <a:avLst/>
          </a:prstGeom>
        </p:spPr>
      </p:pic>
      <p:pic>
        <p:nvPicPr>
          <p:cNvPr id="154" name="图片 153" descr="错误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395" y="4112895"/>
            <a:ext cx="161925" cy="161925"/>
          </a:xfrm>
          <a:prstGeom prst="rect">
            <a:avLst/>
          </a:prstGeom>
        </p:spPr>
      </p:pic>
      <p:pic>
        <p:nvPicPr>
          <p:cNvPr id="155" name="图片 154" descr="错误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395" y="5139690"/>
            <a:ext cx="161925" cy="161925"/>
          </a:xfrm>
          <a:prstGeom prst="rect">
            <a:avLst/>
          </a:prstGeom>
        </p:spPr>
      </p:pic>
      <p:pic>
        <p:nvPicPr>
          <p:cNvPr id="156" name="图片 155" descr="错误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395" y="5681345"/>
            <a:ext cx="161925" cy="161925"/>
          </a:xfrm>
          <a:prstGeom prst="rect">
            <a:avLst/>
          </a:prstGeom>
        </p:spPr>
      </p:pic>
      <p:sp>
        <p:nvSpPr>
          <p:cNvPr id="157" name="矩形 26"/>
          <p:cNvSpPr/>
          <p:nvPr>
            <p:custDataLst>
              <p:tags r:id="rId10"/>
            </p:custDataLst>
          </p:nvPr>
        </p:nvSpPr>
        <p:spPr bwMode="auto">
          <a:xfrm>
            <a:off x="3475990" y="1530350"/>
            <a:ext cx="8533130" cy="5033010"/>
          </a:xfrm>
          <a:prstGeom prst="roundRect">
            <a:avLst>
              <a:gd name="adj" fmla="val 2357"/>
            </a:avLst>
          </a:prstGeom>
          <a:solidFill>
            <a:schemeClr val="bg1"/>
          </a:solidFill>
          <a:ln>
            <a:solidFill>
              <a:srgbClr val="1184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82550" tIns="41275" rIns="82550" bIns="41275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6849110" y="1406843"/>
            <a:ext cx="1786890" cy="25717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3612515" y="5180965"/>
            <a:ext cx="5546725" cy="1321435"/>
          </a:xfrm>
          <a:prstGeom prst="roundRect">
            <a:avLst>
              <a:gd name="adj" fmla="val 47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81" name="圆角矩形 280"/>
          <p:cNvSpPr/>
          <p:nvPr/>
        </p:nvSpPr>
        <p:spPr>
          <a:xfrm>
            <a:off x="5831840" y="5255895"/>
            <a:ext cx="3245485" cy="1183640"/>
          </a:xfrm>
          <a:prstGeom prst="roundRect">
            <a:avLst>
              <a:gd name="adj" fmla="val 6575"/>
            </a:avLst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9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库表</a:t>
            </a:r>
            <a:endParaRPr lang="zh-CN" altLang="en-US" sz="9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4814570" y="5255895"/>
            <a:ext cx="950595" cy="1183640"/>
          </a:xfrm>
          <a:prstGeom prst="roundRect">
            <a:avLst>
              <a:gd name="adj" fmla="val 6575"/>
            </a:avLst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9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OMC</a:t>
            </a:r>
            <a:endParaRPr lang="en-US" altLang="zh-CN" sz="9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4884420" y="5651500"/>
            <a:ext cx="767080" cy="32194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OMC</a:t>
            </a:r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参数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圆角矩形 283"/>
          <p:cNvSpPr/>
          <p:nvPr/>
        </p:nvSpPr>
        <p:spPr>
          <a:xfrm>
            <a:off x="4885055" y="6049010"/>
            <a:ext cx="767080" cy="3219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私有数据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3612515" y="5568315"/>
            <a:ext cx="2997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数据源</a:t>
            </a:r>
            <a:endParaRPr lang="zh-CN" altLang="en-US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圆角矩形 291"/>
          <p:cNvSpPr/>
          <p:nvPr/>
        </p:nvSpPr>
        <p:spPr>
          <a:xfrm>
            <a:off x="6407150" y="5678170"/>
            <a:ext cx="466090" cy="3219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MR</a:t>
            </a:r>
            <a:endParaRPr lang="en-US" altLang="zh-CN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3" name="圆角矩形 292"/>
          <p:cNvSpPr/>
          <p:nvPr/>
        </p:nvSpPr>
        <p:spPr>
          <a:xfrm>
            <a:off x="6407150" y="6056630"/>
            <a:ext cx="466090" cy="3219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MDT</a:t>
            </a:r>
            <a:endParaRPr lang="en-US" altLang="zh-CN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4" name="圆角矩形 293"/>
          <p:cNvSpPr/>
          <p:nvPr/>
        </p:nvSpPr>
        <p:spPr>
          <a:xfrm>
            <a:off x="6902450" y="5678170"/>
            <a:ext cx="461645" cy="3219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OTT</a:t>
            </a:r>
            <a:endParaRPr lang="en-US" altLang="zh-CN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5" name="圆角矩形 294"/>
          <p:cNvSpPr/>
          <p:nvPr/>
        </p:nvSpPr>
        <p:spPr>
          <a:xfrm>
            <a:off x="8519795" y="5675630"/>
            <a:ext cx="504190" cy="32194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自主导入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5900420" y="5675630"/>
            <a:ext cx="474345" cy="3219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告警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5900420" y="6056630"/>
            <a:ext cx="474345" cy="3219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2" name="圆角矩形 301"/>
          <p:cNvSpPr/>
          <p:nvPr/>
        </p:nvSpPr>
        <p:spPr>
          <a:xfrm>
            <a:off x="7945755" y="5678170"/>
            <a:ext cx="504190" cy="3219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开站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3" name="圆角矩形 302"/>
          <p:cNvSpPr/>
          <p:nvPr/>
        </p:nvSpPr>
        <p:spPr>
          <a:xfrm>
            <a:off x="7945755" y="6054725"/>
            <a:ext cx="504190" cy="3219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</a:t>
            </a:r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</a:t>
            </a:r>
            <a:endParaRPr lang="en-US" altLang="zh-CN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6137275" y="5444490"/>
            <a:ext cx="962025" cy="213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8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数据公共层</a:t>
            </a:r>
            <a:endParaRPr lang="zh-CN" altLang="en-US" sz="8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7618730" y="5444490"/>
            <a:ext cx="709930" cy="213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8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应用层</a:t>
            </a:r>
            <a:endParaRPr lang="zh-CN" altLang="en-US" sz="8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6" name="圆角矩形 305"/>
          <p:cNvSpPr/>
          <p:nvPr/>
        </p:nvSpPr>
        <p:spPr>
          <a:xfrm>
            <a:off x="3953510" y="5256530"/>
            <a:ext cx="796290" cy="1183005"/>
          </a:xfrm>
          <a:prstGeom prst="roundRect">
            <a:avLst>
              <a:gd name="adj" fmla="val 6575"/>
            </a:avLst>
          </a:prstGeo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9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外部接口</a:t>
            </a:r>
            <a:endParaRPr lang="zh-CN" altLang="en-US" sz="9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圆角矩形 306"/>
          <p:cNvSpPr/>
          <p:nvPr/>
        </p:nvSpPr>
        <p:spPr>
          <a:xfrm>
            <a:off x="4010660" y="5651500"/>
            <a:ext cx="666115" cy="3219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OMC</a:t>
            </a:r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私有数据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08" name="直接箭头连接符 307"/>
          <p:cNvCxnSpPr>
            <a:stCxn id="284" idx="1"/>
            <a:endCxn id="307" idx="3"/>
          </p:cNvCxnSpPr>
          <p:nvPr/>
        </p:nvCxnSpPr>
        <p:spPr>
          <a:xfrm flipH="1" flipV="1">
            <a:off x="4676775" y="5812790"/>
            <a:ext cx="208280" cy="397510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9" name="圆角矩形 308"/>
          <p:cNvSpPr/>
          <p:nvPr/>
        </p:nvSpPr>
        <p:spPr>
          <a:xfrm>
            <a:off x="6902450" y="6054725"/>
            <a:ext cx="461645" cy="3219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en-US" altLang="zh-CN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0" name="圆角矩形 309"/>
          <p:cNvSpPr/>
          <p:nvPr/>
        </p:nvSpPr>
        <p:spPr>
          <a:xfrm>
            <a:off x="7416165" y="5678170"/>
            <a:ext cx="504190" cy="3219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规划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7" name="圆角矩形 316"/>
          <p:cNvSpPr/>
          <p:nvPr/>
        </p:nvSpPr>
        <p:spPr>
          <a:xfrm>
            <a:off x="4010660" y="6055995"/>
            <a:ext cx="666115" cy="321945"/>
          </a:xfrm>
          <a:prstGeom prst="round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lang="en-US" altLang="zh-CN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圆角矩形 323"/>
          <p:cNvSpPr/>
          <p:nvPr/>
        </p:nvSpPr>
        <p:spPr>
          <a:xfrm>
            <a:off x="7416165" y="6054725"/>
            <a:ext cx="504190" cy="3219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投诉</a:t>
            </a:r>
            <a:endParaRPr lang="zh-CN" altLang="en-US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5" name="圆角矩形 324"/>
          <p:cNvSpPr/>
          <p:nvPr/>
        </p:nvSpPr>
        <p:spPr>
          <a:xfrm>
            <a:off x="8519795" y="6056630"/>
            <a:ext cx="504190" cy="32194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en-US" altLang="zh-CN" sz="80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8505190" y="5444490"/>
            <a:ext cx="548005" cy="213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8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自定义</a:t>
            </a:r>
            <a:endParaRPr lang="zh-CN" altLang="en-US" sz="8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4" name="文本框 333"/>
          <p:cNvSpPr txBox="1"/>
          <p:nvPr>
            <p:custDataLst>
              <p:tags r:id="rId11"/>
            </p:custDataLst>
          </p:nvPr>
        </p:nvSpPr>
        <p:spPr>
          <a:xfrm>
            <a:off x="9336405" y="2441575"/>
            <a:ext cx="2672715" cy="545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自定义查询：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支持自定义指标、维度、过滤条件，支持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多表关联、二次汇聚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自然语言查询：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自然语言交互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，支持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多表关联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智能卡片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生成、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智能看板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生成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模板查询：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支持设置定时计算模板，常态化报表，支持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定时计算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推送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地理化查询：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altLang="zh-CN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GIS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化查询对象选择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，支持查询结果</a:t>
            </a:r>
            <a:r>
              <a:rPr lang="en-US" altLang="zh-CN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GIS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呈现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低码查询：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支持编写</a:t>
            </a:r>
            <a:r>
              <a:rPr lang="en-US" altLang="zh-CN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sql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，支持通过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拖拉拽快速配置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数据卡片、业务看板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5" name="文本框 334"/>
          <p:cNvSpPr txBox="1"/>
          <p:nvPr>
            <p:custDataLst>
              <p:tags r:id="rId12"/>
            </p:custDataLst>
          </p:nvPr>
        </p:nvSpPr>
        <p:spPr>
          <a:xfrm>
            <a:off x="9336405" y="4914265"/>
            <a:ext cx="2672080" cy="915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外部接口：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支持外部系统数据（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OMC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参数、私有数据等）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数据公共层：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工参、参数、告警、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MR\MDT\OTT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、性能等数据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应用层：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规划、开站、投诉、优化、室分等业务工单、表单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自定义：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支持用户自主导入数据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9918700" y="2131695"/>
            <a:ext cx="169100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多问数方式融合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9944735" y="4700905"/>
            <a:ext cx="1460500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全类型数据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8" name="图片 337" descr="圆柱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73260" y="2127250"/>
            <a:ext cx="344170" cy="344170"/>
          </a:xfrm>
          <a:prstGeom prst="rect">
            <a:avLst/>
          </a:prstGeom>
        </p:spPr>
      </p:pic>
      <p:pic>
        <p:nvPicPr>
          <p:cNvPr id="339" name="图片 338" descr="传递箭头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22790" y="4712653"/>
            <a:ext cx="294640" cy="294640"/>
          </a:xfrm>
          <a:prstGeom prst="rect">
            <a:avLst/>
          </a:prstGeom>
        </p:spPr>
      </p:pic>
      <p:sp>
        <p:nvSpPr>
          <p:cNvPr id="340" name="文本框 339"/>
          <p:cNvSpPr txBox="1"/>
          <p:nvPr/>
        </p:nvSpPr>
        <p:spPr>
          <a:xfrm>
            <a:off x="3568700" y="1618615"/>
            <a:ext cx="8378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fontAlgn="auto">
              <a:lnSpc>
                <a:spcPct val="120000"/>
              </a:lnSpc>
              <a:buFont typeface="Wingdings" panose="05000000000000000000" charset="0"/>
              <a:buChar char="u"/>
            </a:pP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构建集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自定义查询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自然语言查询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模板查询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地理化查询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低码查询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等功能于一体的通用问数平台，支持</a:t>
            </a:r>
            <a:r>
              <a:rPr kumimoji="1" lang="en-US" altLang="zh-CN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OMC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参数及私有数据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业务数据（如工单）、网络统计指标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等全量数据，降低用数门槛，加速数据价值释放。</a:t>
            </a:r>
            <a:endParaRPr kumimoji="1" lang="zh-CN" alt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3598545" y="2093595"/>
            <a:ext cx="5624195" cy="2992755"/>
            <a:chOff x="5840" y="3396"/>
            <a:chExt cx="8862" cy="4512"/>
          </a:xfrm>
        </p:grpSpPr>
        <p:grpSp>
          <p:nvGrpSpPr>
            <p:cNvPr id="341" name="组合 340"/>
            <p:cNvGrpSpPr/>
            <p:nvPr/>
          </p:nvGrpSpPr>
          <p:grpSpPr>
            <a:xfrm>
              <a:off x="5897" y="3450"/>
              <a:ext cx="8736" cy="4418"/>
              <a:chOff x="575" y="2532"/>
              <a:chExt cx="13075" cy="6810"/>
            </a:xfrm>
          </p:grpSpPr>
          <p:pic>
            <p:nvPicPr>
              <p:cNvPr id="342" name="图片 341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5" y="2532"/>
                <a:ext cx="13075" cy="6810"/>
              </a:xfrm>
              <a:prstGeom prst="rect">
                <a:avLst/>
              </a:prstGeom>
            </p:spPr>
          </p:pic>
          <p:sp>
            <p:nvSpPr>
              <p:cNvPr id="343" name="圆角矩形 342"/>
              <p:cNvSpPr/>
              <p:nvPr/>
            </p:nvSpPr>
            <p:spPr>
              <a:xfrm>
                <a:off x="5998" y="2638"/>
                <a:ext cx="2021" cy="558"/>
              </a:xfrm>
              <a:prstGeom prst="roundRect">
                <a:avLst/>
              </a:prstGeom>
              <a:gradFill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自定义查询</a:t>
                </a:r>
                <a:endParaRPr lang="zh-CN" altLang="en-US" sz="9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344" name="圆角矩形 343"/>
              <p:cNvSpPr/>
              <p:nvPr/>
            </p:nvSpPr>
            <p:spPr>
              <a:xfrm>
                <a:off x="861" y="6441"/>
                <a:ext cx="2115" cy="558"/>
              </a:xfrm>
              <a:prstGeom prst="roundRect">
                <a:avLst/>
              </a:prstGeom>
              <a:gradFill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自然语言查询</a:t>
                </a:r>
                <a:endParaRPr lang="zh-CN" altLang="en-US" sz="9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345" name="圆角矩形 344"/>
              <p:cNvSpPr/>
              <p:nvPr/>
            </p:nvSpPr>
            <p:spPr>
              <a:xfrm>
                <a:off x="9395" y="7098"/>
                <a:ext cx="1905" cy="558"/>
              </a:xfrm>
              <a:prstGeom prst="roundRect">
                <a:avLst/>
              </a:prstGeom>
              <a:gradFill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地理化查询</a:t>
                </a:r>
                <a:endParaRPr lang="zh-CN" altLang="en-US" sz="9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346" name="圆角矩形 345"/>
              <p:cNvSpPr/>
              <p:nvPr/>
            </p:nvSpPr>
            <p:spPr>
              <a:xfrm>
                <a:off x="7891" y="6316"/>
                <a:ext cx="632" cy="363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/>
              </a:p>
            </p:txBody>
          </p:sp>
          <p:cxnSp>
            <p:nvCxnSpPr>
              <p:cNvPr id="347" name="肘形连接符 346"/>
              <p:cNvCxnSpPr>
                <a:stCxn id="346" idx="2"/>
                <a:endCxn id="345" idx="1"/>
              </p:cNvCxnSpPr>
              <p:nvPr/>
            </p:nvCxnSpPr>
            <p:spPr>
              <a:xfrm rot="5400000" flipV="1">
                <a:off x="8452" y="6433"/>
                <a:ext cx="698" cy="1188"/>
              </a:xfrm>
              <a:prstGeom prst="bentConnector2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8" name="圆角矩形 347"/>
              <p:cNvSpPr/>
              <p:nvPr/>
            </p:nvSpPr>
            <p:spPr>
              <a:xfrm>
                <a:off x="11912" y="2979"/>
                <a:ext cx="1334" cy="363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/>
              </a:p>
            </p:txBody>
          </p:sp>
          <p:sp>
            <p:nvSpPr>
              <p:cNvPr id="349" name="圆角矩形 348"/>
              <p:cNvSpPr/>
              <p:nvPr/>
            </p:nvSpPr>
            <p:spPr>
              <a:xfrm>
                <a:off x="11740" y="3587"/>
                <a:ext cx="1678" cy="558"/>
              </a:xfrm>
              <a:prstGeom prst="roundRect">
                <a:avLst/>
              </a:prstGeom>
              <a:gradFill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模板查询</a:t>
                </a:r>
                <a:endParaRPr lang="zh-CN" altLang="en-US" sz="9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350" name="直接连接符 349"/>
              <p:cNvCxnSpPr>
                <a:stCxn id="348" idx="2"/>
                <a:endCxn id="349" idx="0"/>
              </p:cNvCxnSpPr>
              <p:nvPr/>
            </p:nvCxnSpPr>
            <p:spPr>
              <a:xfrm>
                <a:off x="12579" y="3342"/>
                <a:ext cx="0" cy="24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51" name="圆角矩形 350"/>
            <p:cNvSpPr/>
            <p:nvPr/>
          </p:nvSpPr>
          <p:spPr>
            <a:xfrm>
              <a:off x="5840" y="3396"/>
              <a:ext cx="8863" cy="4512"/>
            </a:xfrm>
            <a:prstGeom prst="roundRect">
              <a:avLst>
                <a:gd name="adj" fmla="val 1267"/>
              </a:avLst>
            </a:prstGeom>
            <a:noFill/>
            <a:ln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11200" y="50400"/>
            <a:ext cx="9759950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algn="l" defTabSz="914400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无线专业智能体 | 总体框架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6786" y="3084935"/>
            <a:ext cx="11134090" cy="963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81"/>
          <p:cNvSpPr/>
          <p:nvPr/>
        </p:nvSpPr>
        <p:spPr>
          <a:xfrm>
            <a:off x="541231" y="1828905"/>
            <a:ext cx="11130280" cy="1188085"/>
          </a:xfrm>
          <a:prstGeom prst="roundRect">
            <a:avLst>
              <a:gd name="adj" fmla="val 2493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dash"/>
            <a:headEnd type="none" w="med" len="med"/>
            <a:tailEnd type="none" w="med" len="med"/>
          </a:ln>
          <a:effectLst/>
        </p:spPr>
        <p:txBody>
          <a:bodyPr wrap="none" lIns="15306" tIns="7652" rIns="15306" bIns="7652" anchor="ctr" anchorCtr="1"/>
          <a:lstStyle/>
          <a:p>
            <a:pPr defTabSz="685800" eaLnBrk="1" hangingPunct="1">
              <a:spcAft>
                <a:spcPts val="0"/>
              </a:spcAft>
              <a:buSzPct val="60000"/>
            </a:pPr>
            <a:endParaRPr lang="zh-CN" altLang="en-US" sz="1055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961" y="2054965"/>
            <a:ext cx="3638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等腰三角形 24"/>
          <p:cNvSpPr/>
          <p:nvPr/>
        </p:nvSpPr>
        <p:spPr>
          <a:xfrm>
            <a:off x="5205306" y="2969365"/>
            <a:ext cx="2004060" cy="14478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750" y="777875"/>
            <a:ext cx="11533505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20000"/>
              </a:lnSpc>
              <a:buClr>
                <a:srgbClr val="C0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构筑无线智能体蜂群，实现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智能问答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智能问数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智能分析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智能驾驶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，赋能无线网络运营提效。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285750" indent="-285750" algn="l" fontAlgn="auto">
              <a:lnSpc>
                <a:spcPct val="120000"/>
              </a:lnSpc>
              <a:buClr>
                <a:srgbClr val="C0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应用省份：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8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省移动（浙江、广西、贵州、陕西、甘肃、新疆、内蒙、重庆）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285750" indent="-285750" algn="l" fontAlgn="auto">
              <a:lnSpc>
                <a:spcPct val="120000"/>
              </a:lnSpc>
              <a:buClr>
                <a:srgbClr val="C00000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应用成效：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智能问数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12000+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次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月、参数提单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8000+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次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月，占比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44%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（浙江）</a:t>
            </a:r>
            <a:endParaRPr lang="zh-CN" altLang="en-US" sz="1600" b="1" dirty="0">
              <a:solidFill>
                <a:schemeClr val="tx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27006" y="1940665"/>
            <a:ext cx="1861820" cy="953770"/>
            <a:chOff x="2061" y="2706"/>
            <a:chExt cx="2932" cy="1502"/>
          </a:xfrm>
        </p:grpSpPr>
        <p:sp>
          <p:nvSpPr>
            <p:cNvPr id="21" name="文本框 20"/>
            <p:cNvSpPr txBox="1"/>
            <p:nvPr/>
          </p:nvSpPr>
          <p:spPr>
            <a:xfrm>
              <a:off x="2061" y="2855"/>
              <a:ext cx="616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智能问答</a:t>
              </a:r>
              <a:endPara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圆角矩形 149"/>
            <p:cNvSpPr/>
            <p:nvPr>
              <p:custDataLst>
                <p:tags r:id="rId1"/>
              </p:custDataLst>
            </p:nvPr>
          </p:nvSpPr>
          <p:spPr>
            <a:xfrm>
              <a:off x="2569" y="2706"/>
              <a:ext cx="1172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行业知识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24" name="圆角矩形 149"/>
            <p:cNvSpPr/>
            <p:nvPr>
              <p:custDataLst>
                <p:tags r:id="rId2"/>
              </p:custDataLst>
            </p:nvPr>
          </p:nvSpPr>
          <p:spPr>
            <a:xfrm>
              <a:off x="2569" y="3236"/>
              <a:ext cx="1172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业务规范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圆角矩形 149"/>
            <p:cNvSpPr/>
            <p:nvPr>
              <p:custDataLst>
                <p:tags r:id="rId3"/>
              </p:custDataLst>
            </p:nvPr>
          </p:nvSpPr>
          <p:spPr>
            <a:xfrm>
              <a:off x="2570" y="3800"/>
              <a:ext cx="1172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业务流程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27" name="圆角矩形 149"/>
            <p:cNvSpPr/>
            <p:nvPr>
              <p:custDataLst>
                <p:tags r:id="rId4"/>
              </p:custDataLst>
            </p:nvPr>
          </p:nvSpPr>
          <p:spPr>
            <a:xfrm>
              <a:off x="3821" y="2706"/>
              <a:ext cx="1172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算法规则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28" name="圆角矩形 149"/>
            <p:cNvSpPr/>
            <p:nvPr>
              <p:custDataLst>
                <p:tags r:id="rId5"/>
              </p:custDataLst>
            </p:nvPr>
          </p:nvSpPr>
          <p:spPr>
            <a:xfrm>
              <a:off x="3812" y="3237"/>
              <a:ext cx="1172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优化案例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257" name="圆角矩形 149"/>
            <p:cNvSpPr/>
            <p:nvPr>
              <p:custDataLst>
                <p:tags r:id="rId6"/>
              </p:custDataLst>
            </p:nvPr>
          </p:nvSpPr>
          <p:spPr>
            <a:xfrm>
              <a:off x="3821" y="3800"/>
              <a:ext cx="1172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……</a:t>
              </a:r>
              <a:endParaRPr lang="en-US" altLang="zh-CN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63121" y="1871450"/>
            <a:ext cx="2672715" cy="1083945"/>
            <a:chOff x="5110" y="2597"/>
            <a:chExt cx="4209" cy="1707"/>
          </a:xfrm>
        </p:grpSpPr>
        <p:sp>
          <p:nvSpPr>
            <p:cNvPr id="332" name="文本框 331"/>
            <p:cNvSpPr txBox="1"/>
            <p:nvPr/>
          </p:nvSpPr>
          <p:spPr>
            <a:xfrm>
              <a:off x="5110" y="2855"/>
              <a:ext cx="616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智能问数</a:t>
              </a:r>
              <a:endPara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3" name="圆角矩形 149"/>
            <p:cNvSpPr/>
            <p:nvPr>
              <p:custDataLst>
                <p:tags r:id="rId7"/>
              </p:custDataLst>
            </p:nvPr>
          </p:nvSpPr>
          <p:spPr>
            <a:xfrm>
              <a:off x="5611" y="2706"/>
              <a:ext cx="1173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数据检索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7" name="圆角矩形 149"/>
            <p:cNvSpPr/>
            <p:nvPr>
              <p:custDataLst>
                <p:tags r:id="rId8"/>
              </p:custDataLst>
            </p:nvPr>
          </p:nvSpPr>
          <p:spPr>
            <a:xfrm>
              <a:off x="5611" y="3236"/>
              <a:ext cx="1173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多维统计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9" name="圆角矩形 149"/>
            <p:cNvSpPr/>
            <p:nvPr>
              <p:custDataLst>
                <p:tags r:id="rId9"/>
              </p:custDataLst>
            </p:nvPr>
          </p:nvSpPr>
          <p:spPr>
            <a:xfrm>
              <a:off x="6872" y="3236"/>
              <a:ext cx="1174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智能报告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33" y="2597"/>
              <a:ext cx="1186" cy="1707"/>
            </a:xfrm>
            <a:prstGeom prst="rect">
              <a:avLst/>
            </a:prstGeom>
          </p:spPr>
        </p:pic>
        <p:sp>
          <p:nvSpPr>
            <p:cNvPr id="12" name="圆角矩形 149"/>
            <p:cNvSpPr/>
            <p:nvPr>
              <p:custDataLst>
                <p:tags r:id="rId11"/>
              </p:custDataLst>
            </p:nvPr>
          </p:nvSpPr>
          <p:spPr>
            <a:xfrm>
              <a:off x="6874" y="2706"/>
              <a:ext cx="1173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排名分析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圆角矩形 149"/>
            <p:cNvSpPr/>
            <p:nvPr>
              <p:custDataLst>
                <p:tags r:id="rId12"/>
              </p:custDataLst>
            </p:nvPr>
          </p:nvSpPr>
          <p:spPr>
            <a:xfrm>
              <a:off x="5611" y="3800"/>
              <a:ext cx="1173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对比分析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圆角矩形 149"/>
            <p:cNvSpPr/>
            <p:nvPr>
              <p:custDataLst>
                <p:tags r:id="rId13"/>
              </p:custDataLst>
            </p:nvPr>
          </p:nvSpPr>
          <p:spPr>
            <a:xfrm>
              <a:off x="6874" y="3800"/>
              <a:ext cx="1174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……</a:t>
              </a:r>
              <a:endParaRPr lang="en-US" altLang="zh-CN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679016" y="1935585"/>
            <a:ext cx="2822575" cy="975360"/>
            <a:chOff x="9373" y="2698"/>
            <a:chExt cx="4445" cy="1536"/>
          </a:xfrm>
        </p:grpSpPr>
        <p:sp>
          <p:nvSpPr>
            <p:cNvPr id="16" name="文本框 15"/>
            <p:cNvSpPr txBox="1"/>
            <p:nvPr/>
          </p:nvSpPr>
          <p:spPr>
            <a:xfrm>
              <a:off x="9373" y="2837"/>
              <a:ext cx="616" cy="1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智能分析</a:t>
              </a:r>
              <a:endPara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170" y="2698"/>
              <a:ext cx="2648" cy="1536"/>
            </a:xfrm>
            <a:prstGeom prst="rect">
              <a:avLst/>
            </a:prstGeom>
          </p:spPr>
        </p:pic>
        <p:sp>
          <p:nvSpPr>
            <p:cNvPr id="18" name="圆角矩形 149"/>
            <p:cNvSpPr/>
            <p:nvPr>
              <p:custDataLst>
                <p:tags r:id="rId15"/>
              </p:custDataLst>
            </p:nvPr>
          </p:nvSpPr>
          <p:spPr>
            <a:xfrm>
              <a:off x="9845" y="3236"/>
              <a:ext cx="1254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智能分析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9" name="圆角矩形 149"/>
            <p:cNvSpPr/>
            <p:nvPr>
              <p:custDataLst>
                <p:tags r:id="rId16"/>
              </p:custDataLst>
            </p:nvPr>
          </p:nvSpPr>
          <p:spPr>
            <a:xfrm>
              <a:off x="9847" y="2706"/>
              <a:ext cx="1252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智能洞察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圆角矩形 149"/>
            <p:cNvSpPr/>
            <p:nvPr>
              <p:custDataLst>
                <p:tags r:id="rId17"/>
              </p:custDataLst>
            </p:nvPr>
          </p:nvSpPr>
          <p:spPr>
            <a:xfrm>
              <a:off x="9847" y="3800"/>
              <a:ext cx="1253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智能方案</a:t>
              </a:r>
              <a:r>
                <a:rPr lang="en-US" altLang="zh-CN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...</a:t>
              </a:r>
              <a:endParaRPr lang="en-US" altLang="zh-CN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638751" y="1898120"/>
            <a:ext cx="2907030" cy="1044575"/>
            <a:chOff x="13565" y="2639"/>
            <a:chExt cx="4578" cy="1645"/>
          </a:xfrm>
        </p:grpSpPr>
        <p:sp>
          <p:nvSpPr>
            <p:cNvPr id="29" name="文本框 28"/>
            <p:cNvSpPr txBox="1"/>
            <p:nvPr/>
          </p:nvSpPr>
          <p:spPr>
            <a:xfrm>
              <a:off x="13565" y="2886"/>
              <a:ext cx="616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智能驾驶</a:t>
              </a:r>
              <a:endParaRPr lang="zh-CN" altLang="en-US" sz="1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5369" y="2639"/>
              <a:ext cx="2774" cy="1645"/>
            </a:xfrm>
            <a:prstGeom prst="rect">
              <a:avLst/>
            </a:prstGeom>
          </p:spPr>
        </p:pic>
        <p:sp>
          <p:nvSpPr>
            <p:cNvPr id="31" name="圆角矩形 149"/>
            <p:cNvSpPr/>
            <p:nvPr>
              <p:custDataLst>
                <p:tags r:id="rId19"/>
              </p:custDataLst>
            </p:nvPr>
          </p:nvSpPr>
          <p:spPr>
            <a:xfrm>
              <a:off x="14046" y="3236"/>
              <a:ext cx="1246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智能执行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32" name="圆角矩形 149"/>
            <p:cNvSpPr/>
            <p:nvPr>
              <p:custDataLst>
                <p:tags r:id="rId20"/>
              </p:custDataLst>
            </p:nvPr>
          </p:nvSpPr>
          <p:spPr>
            <a:xfrm>
              <a:off x="14048" y="2706"/>
              <a:ext cx="1243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智能驱动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33" name="圆角矩形 149"/>
            <p:cNvSpPr/>
            <p:nvPr>
              <p:custDataLst>
                <p:tags r:id="rId21"/>
              </p:custDataLst>
            </p:nvPr>
          </p:nvSpPr>
          <p:spPr>
            <a:xfrm>
              <a:off x="14048" y="3800"/>
              <a:ext cx="1243" cy="408"/>
            </a:xfrm>
            <a:prstGeom prst="roundRect">
              <a:avLst/>
            </a:prstGeom>
            <a:solidFill>
              <a:srgbClr val="0070C0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智能评估</a:t>
              </a:r>
              <a:r>
                <a:rPr lang="en-US" altLang="zh-CN" sz="1000" b="1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宋体" panose="02010600030101010101" pitchFamily="2" charset="-122"/>
                </a:rPr>
                <a:t>...</a:t>
              </a:r>
              <a:endParaRPr lang="en-US" altLang="zh-CN" sz="10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34" name="圆角矩形 162"/>
          <p:cNvSpPr/>
          <p:nvPr/>
        </p:nvSpPr>
        <p:spPr>
          <a:xfrm>
            <a:off x="6005406" y="5413480"/>
            <a:ext cx="5665470" cy="1169035"/>
          </a:xfrm>
          <a:prstGeom prst="roundRect">
            <a:avLst>
              <a:gd name="adj" fmla="val 2493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prstDash val="dash"/>
            <a:headEnd type="none" w="med" len="med"/>
            <a:tailEnd type="none" w="med" len="med"/>
          </a:ln>
          <a:effectLst/>
        </p:spPr>
        <p:txBody>
          <a:bodyPr wrap="none" lIns="15306" tIns="7652" rIns="15306" bIns="7652" anchor="ctr" anchorCtr="1"/>
          <a:lstStyle/>
          <a:p>
            <a:pPr defTabSz="685800" eaLnBrk="1" hangingPunct="1">
              <a:spcAft>
                <a:spcPts val="0"/>
              </a:spcAft>
              <a:buSzPct val="60000"/>
            </a:pPr>
            <a:endParaRPr lang="zh-CN" altLang="en-US" sz="1055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Calibri" panose="020F0502020204030204"/>
            </a:endParaRPr>
          </a:p>
        </p:txBody>
      </p:sp>
      <p:sp>
        <p:nvSpPr>
          <p:cNvPr id="353" name="圆角矩形 162"/>
          <p:cNvSpPr/>
          <p:nvPr/>
        </p:nvSpPr>
        <p:spPr>
          <a:xfrm>
            <a:off x="539961" y="5414115"/>
            <a:ext cx="2689860" cy="1167765"/>
          </a:xfrm>
          <a:prstGeom prst="roundRect">
            <a:avLst>
              <a:gd name="adj" fmla="val 2493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prstDash val="dash"/>
            <a:headEnd type="none" w="med" len="med"/>
            <a:tailEnd type="none" w="med" len="med"/>
          </a:ln>
          <a:effectLst/>
        </p:spPr>
        <p:txBody>
          <a:bodyPr wrap="none" lIns="15306" tIns="7652" rIns="15306" bIns="7652" anchor="ctr" anchorCtr="1"/>
          <a:lstStyle/>
          <a:p>
            <a:pPr defTabSz="685800" eaLnBrk="1" hangingPunct="1">
              <a:spcAft>
                <a:spcPts val="0"/>
              </a:spcAft>
              <a:buSzPct val="60000"/>
            </a:pPr>
            <a:endParaRPr lang="zh-CN" altLang="en-US" sz="1055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Calibri" panose="020F0502020204030204"/>
            </a:endParaRPr>
          </a:p>
        </p:txBody>
      </p:sp>
      <p:sp>
        <p:nvSpPr>
          <p:cNvPr id="354" name="圆角矩形 84"/>
          <p:cNvSpPr/>
          <p:nvPr/>
        </p:nvSpPr>
        <p:spPr>
          <a:xfrm>
            <a:off x="1755986" y="6292320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MR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5" name="圆角矩形 108"/>
          <p:cNvSpPr/>
          <p:nvPr/>
        </p:nvSpPr>
        <p:spPr>
          <a:xfrm>
            <a:off x="2487506" y="5490315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MDT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6" name="圆角矩形 109"/>
          <p:cNvSpPr/>
          <p:nvPr/>
        </p:nvSpPr>
        <p:spPr>
          <a:xfrm>
            <a:off x="1015576" y="6292320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7" name="圆角矩形 110"/>
          <p:cNvSpPr/>
          <p:nvPr/>
        </p:nvSpPr>
        <p:spPr>
          <a:xfrm>
            <a:off x="1755986" y="5757650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性能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8" name="圆角矩形 111"/>
          <p:cNvSpPr/>
          <p:nvPr/>
        </p:nvSpPr>
        <p:spPr>
          <a:xfrm>
            <a:off x="1755986" y="5490315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告警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9" name="圆角矩形 112"/>
          <p:cNvSpPr/>
          <p:nvPr/>
        </p:nvSpPr>
        <p:spPr>
          <a:xfrm>
            <a:off x="1755986" y="6023715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感知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0" name="圆角矩形 113"/>
          <p:cNvSpPr/>
          <p:nvPr/>
        </p:nvSpPr>
        <p:spPr>
          <a:xfrm>
            <a:off x="1015576" y="6023715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工参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1" name="圆角矩形 123"/>
          <p:cNvSpPr/>
          <p:nvPr/>
        </p:nvSpPr>
        <p:spPr>
          <a:xfrm>
            <a:off x="2487506" y="5757650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OTT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2" name="圆角矩形 125"/>
          <p:cNvSpPr/>
          <p:nvPr/>
        </p:nvSpPr>
        <p:spPr>
          <a:xfrm>
            <a:off x="1015576" y="5490315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地图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3" name="圆角矩形 129"/>
          <p:cNvSpPr/>
          <p:nvPr>
            <p:custDataLst>
              <p:tags r:id="rId22"/>
            </p:custDataLst>
          </p:nvPr>
        </p:nvSpPr>
        <p:spPr>
          <a:xfrm>
            <a:off x="6453081" y="5490315"/>
            <a:ext cx="111569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覆盖问题</a:t>
            </a:r>
            <a:r>
              <a:rPr lang="zh-CN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识别</a:t>
            </a:r>
            <a:endParaRPr lang="zh-CN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64" name="圆角矩形 131"/>
          <p:cNvSpPr/>
          <p:nvPr>
            <p:custDataLst>
              <p:tags r:id="rId23"/>
            </p:custDataLst>
          </p:nvPr>
        </p:nvSpPr>
        <p:spPr>
          <a:xfrm>
            <a:off x="6453081" y="5757650"/>
            <a:ext cx="111569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容量问题</a:t>
            </a:r>
            <a:r>
              <a:rPr lang="zh-CN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识别</a:t>
            </a:r>
            <a:endParaRPr lang="zh-CN" sz="800" b="1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65" name="圆角矩形 132"/>
          <p:cNvSpPr/>
          <p:nvPr>
            <p:custDataLst>
              <p:tags r:id="rId24"/>
            </p:custDataLst>
          </p:nvPr>
        </p:nvSpPr>
        <p:spPr>
          <a:xfrm>
            <a:off x="6453081" y="6023715"/>
            <a:ext cx="111569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感知差问题</a:t>
            </a:r>
            <a:r>
              <a:rPr lang="zh-CN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识别</a:t>
            </a:r>
            <a:endParaRPr lang="zh-CN" sz="800" b="1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66" name="圆角矩形 134"/>
          <p:cNvSpPr/>
          <p:nvPr>
            <p:custDataLst>
              <p:tags r:id="rId25"/>
            </p:custDataLst>
          </p:nvPr>
        </p:nvSpPr>
        <p:spPr>
          <a:xfrm>
            <a:off x="6453081" y="6292320"/>
            <a:ext cx="111569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干扰问题识别</a:t>
            </a:r>
            <a:r>
              <a:rPr lang="en-US" altLang="zh-CN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7" name="圆角矩形 142"/>
          <p:cNvSpPr/>
          <p:nvPr>
            <p:custDataLst>
              <p:tags r:id="rId26"/>
            </p:custDataLst>
          </p:nvPr>
        </p:nvSpPr>
        <p:spPr>
          <a:xfrm>
            <a:off x="7739591" y="5757650"/>
            <a:ext cx="108013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故障问题分析</a:t>
            </a:r>
            <a:endParaRPr lang="zh-CN" altLang="en-US" sz="800" b="1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68" name="圆角矩形 143"/>
          <p:cNvSpPr/>
          <p:nvPr>
            <p:custDataLst>
              <p:tags r:id="rId27"/>
            </p:custDataLst>
          </p:nvPr>
        </p:nvSpPr>
        <p:spPr>
          <a:xfrm>
            <a:off x="7739591" y="6023715"/>
            <a:ext cx="108013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覆盖问题分析</a:t>
            </a:r>
            <a:endParaRPr lang="zh-CN" altLang="en-US" sz="800" b="1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69" name="圆角矩形 144"/>
          <p:cNvSpPr/>
          <p:nvPr>
            <p:custDataLst>
              <p:tags r:id="rId28"/>
            </p:custDataLst>
          </p:nvPr>
        </p:nvSpPr>
        <p:spPr>
          <a:xfrm>
            <a:off x="8979746" y="5490315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容量扩减容方案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70" name="圆角矩形 145"/>
          <p:cNvSpPr/>
          <p:nvPr>
            <p:custDataLst>
              <p:tags r:id="rId29"/>
            </p:custDataLst>
          </p:nvPr>
        </p:nvSpPr>
        <p:spPr>
          <a:xfrm>
            <a:off x="8979746" y="5757650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覆盖寻优方案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71" name="圆角矩形 146"/>
          <p:cNvSpPr/>
          <p:nvPr>
            <p:custDataLst>
              <p:tags r:id="rId30"/>
            </p:custDataLst>
          </p:nvPr>
        </p:nvSpPr>
        <p:spPr>
          <a:xfrm>
            <a:off x="8979746" y="6023715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干扰规避方案</a:t>
            </a:r>
            <a:r>
              <a:rPr lang="en-US" altLang="zh-CN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2" name="圆角矩形 147"/>
          <p:cNvSpPr/>
          <p:nvPr>
            <p:custDataLst>
              <p:tags r:id="rId31"/>
            </p:custDataLst>
          </p:nvPr>
        </p:nvSpPr>
        <p:spPr>
          <a:xfrm>
            <a:off x="10333566" y="5490315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参数自动执行</a:t>
            </a:r>
            <a:endParaRPr lang="zh-CN" altLang="en-US" sz="800" b="1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73" name="圆角矩形 148"/>
          <p:cNvSpPr/>
          <p:nvPr>
            <p:custDataLst>
              <p:tags r:id="rId32"/>
            </p:custDataLst>
          </p:nvPr>
        </p:nvSpPr>
        <p:spPr>
          <a:xfrm>
            <a:off x="10333566" y="5757650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人工上站调整</a:t>
            </a:r>
            <a:r>
              <a:rPr lang="en-US" altLang="zh-CN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4" name="圆角矩形 149"/>
          <p:cNvSpPr/>
          <p:nvPr>
            <p:custDataLst>
              <p:tags r:id="rId33"/>
            </p:custDataLst>
          </p:nvPr>
        </p:nvSpPr>
        <p:spPr>
          <a:xfrm>
            <a:off x="10333566" y="6023715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优化影响后评估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555836" y="5507460"/>
            <a:ext cx="3987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中心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圆角矩形 143"/>
          <p:cNvSpPr/>
          <p:nvPr>
            <p:custDataLst>
              <p:tags r:id="rId34"/>
            </p:custDataLst>
          </p:nvPr>
        </p:nvSpPr>
        <p:spPr>
          <a:xfrm>
            <a:off x="7739591" y="6292320"/>
            <a:ext cx="108013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干扰问题分析</a:t>
            </a:r>
            <a:r>
              <a:rPr lang="en-US" altLang="zh-CN" sz="800" b="1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7" name="圆角矩形 149"/>
          <p:cNvSpPr/>
          <p:nvPr>
            <p:custDataLst>
              <p:tags r:id="rId35"/>
            </p:custDataLst>
          </p:nvPr>
        </p:nvSpPr>
        <p:spPr>
          <a:xfrm>
            <a:off x="10333566" y="6292320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优化效果后评估</a:t>
            </a:r>
            <a:r>
              <a:rPr lang="en-US" altLang="zh-CN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8" name="圆角矩形 142"/>
          <p:cNvSpPr/>
          <p:nvPr>
            <p:custDataLst>
              <p:tags r:id="rId36"/>
            </p:custDataLst>
          </p:nvPr>
        </p:nvSpPr>
        <p:spPr>
          <a:xfrm>
            <a:off x="7739591" y="5490315"/>
            <a:ext cx="108013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问题聚类分析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79" name="文本框 378"/>
          <p:cNvSpPr txBox="1"/>
          <p:nvPr/>
        </p:nvSpPr>
        <p:spPr>
          <a:xfrm>
            <a:off x="6005406" y="5530320"/>
            <a:ext cx="3587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能力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中心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圆角矩形 162"/>
          <p:cNvSpPr/>
          <p:nvPr/>
        </p:nvSpPr>
        <p:spPr>
          <a:xfrm>
            <a:off x="3533986" y="5413480"/>
            <a:ext cx="2139315" cy="1168400"/>
          </a:xfrm>
          <a:prstGeom prst="roundRect">
            <a:avLst>
              <a:gd name="adj" fmla="val 2493"/>
            </a:avLst>
          </a:prstGeom>
          <a:solidFill>
            <a:sysClr val="window" lastClr="FFFFFF">
              <a:lumMod val="85000"/>
              <a:alpha val="65000"/>
            </a:sysClr>
          </a:soli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prstDash val="dash"/>
            <a:headEnd type="none" w="med" len="med"/>
            <a:tailEnd type="none" w="med" len="med"/>
          </a:ln>
          <a:effectLst/>
        </p:spPr>
        <p:txBody>
          <a:bodyPr wrap="none" lIns="15306" tIns="7652" rIns="15306" bIns="7652" anchor="ctr" anchorCtr="1"/>
          <a:lstStyle/>
          <a:p>
            <a:pPr defTabSz="685800" eaLnBrk="1" hangingPunct="1">
              <a:spcAft>
                <a:spcPts val="0"/>
              </a:spcAft>
              <a:buSzPct val="60000"/>
            </a:pPr>
            <a:endParaRPr lang="zh-CN" altLang="en-US" sz="1055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Calibri" panose="020F0502020204030204"/>
            </a:endParaRPr>
          </a:p>
        </p:txBody>
      </p:sp>
      <p:sp>
        <p:nvSpPr>
          <p:cNvPr id="381" name="圆角矩形 84"/>
          <p:cNvSpPr/>
          <p:nvPr/>
        </p:nvSpPr>
        <p:spPr>
          <a:xfrm>
            <a:off x="3944196" y="5490315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手册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2" name="圆角矩形 84"/>
          <p:cNvSpPr/>
          <p:nvPr/>
        </p:nvSpPr>
        <p:spPr>
          <a:xfrm>
            <a:off x="3944196" y="6023715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3" name="圆角矩形 84"/>
          <p:cNvSpPr/>
          <p:nvPr/>
        </p:nvSpPr>
        <p:spPr>
          <a:xfrm>
            <a:off x="3944196" y="5757650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规范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4" name="文本框 383"/>
          <p:cNvSpPr txBox="1"/>
          <p:nvPr/>
        </p:nvSpPr>
        <p:spPr>
          <a:xfrm>
            <a:off x="3533986" y="5623665"/>
            <a:ext cx="4102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圆角矩形 84"/>
          <p:cNvSpPr/>
          <p:nvPr/>
        </p:nvSpPr>
        <p:spPr>
          <a:xfrm>
            <a:off x="4798906" y="5490315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能力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6" name="圆角矩形 84"/>
          <p:cNvSpPr/>
          <p:nvPr/>
        </p:nvSpPr>
        <p:spPr>
          <a:xfrm>
            <a:off x="4798906" y="6023715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指标定义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7" name="圆角矩形 84"/>
          <p:cNvSpPr/>
          <p:nvPr/>
        </p:nvSpPr>
        <p:spPr>
          <a:xfrm>
            <a:off x="4798906" y="5757650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8" name="圆角矩形 112"/>
          <p:cNvSpPr/>
          <p:nvPr/>
        </p:nvSpPr>
        <p:spPr>
          <a:xfrm>
            <a:off x="1015576" y="5757650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9" name="圆角矩形 125"/>
          <p:cNvSpPr/>
          <p:nvPr/>
        </p:nvSpPr>
        <p:spPr>
          <a:xfrm>
            <a:off x="2487506" y="6023715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0" name="圆角矩形 146"/>
          <p:cNvSpPr/>
          <p:nvPr>
            <p:custDataLst>
              <p:tags r:id="rId37"/>
            </p:custDataLst>
          </p:nvPr>
        </p:nvSpPr>
        <p:spPr>
          <a:xfrm>
            <a:off x="8979746" y="6292320"/>
            <a:ext cx="118808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性能优化方案</a:t>
            </a:r>
            <a:r>
              <a:rPr lang="en-US" altLang="zh-CN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1" name="圆角矩形 84"/>
          <p:cNvSpPr/>
          <p:nvPr/>
        </p:nvSpPr>
        <p:spPr>
          <a:xfrm>
            <a:off x="3944196" y="6292320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2" name="圆角矩形 84"/>
          <p:cNvSpPr/>
          <p:nvPr/>
        </p:nvSpPr>
        <p:spPr>
          <a:xfrm>
            <a:off x="4798906" y="6292320"/>
            <a:ext cx="720090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3" name="圆角矩形 125"/>
          <p:cNvSpPr/>
          <p:nvPr/>
        </p:nvSpPr>
        <p:spPr>
          <a:xfrm>
            <a:off x="2487506" y="6292320"/>
            <a:ext cx="575945" cy="216000"/>
          </a:xfrm>
          <a:prstGeom prst="round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ysClr val="windowText" lastClr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zh-CN" altLang="en-US" sz="800" b="1" dirty="0">
              <a:solidFill>
                <a:sysClr val="windowText" lastClr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4" name="等腰三角形 24"/>
          <p:cNvSpPr/>
          <p:nvPr/>
        </p:nvSpPr>
        <p:spPr>
          <a:xfrm rot="5400000">
            <a:off x="2878031" y="5892270"/>
            <a:ext cx="1037590" cy="14478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95" name="等腰三角形 24"/>
          <p:cNvSpPr/>
          <p:nvPr/>
        </p:nvSpPr>
        <p:spPr>
          <a:xfrm rot="16200000">
            <a:off x="5254836" y="5922750"/>
            <a:ext cx="1160145" cy="14478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96" name="等腰三角形 24"/>
          <p:cNvSpPr/>
          <p:nvPr/>
        </p:nvSpPr>
        <p:spPr>
          <a:xfrm>
            <a:off x="789516" y="5258540"/>
            <a:ext cx="2004060" cy="14478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97" name="等腰三角形 24"/>
          <p:cNvSpPr/>
          <p:nvPr/>
        </p:nvSpPr>
        <p:spPr>
          <a:xfrm>
            <a:off x="3601296" y="5249650"/>
            <a:ext cx="2004060" cy="14478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98" name="等腰三角形 24"/>
          <p:cNvSpPr/>
          <p:nvPr/>
        </p:nvSpPr>
        <p:spPr>
          <a:xfrm>
            <a:off x="8116146" y="5249650"/>
            <a:ext cx="2004060" cy="14478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399" name="矩形 398"/>
          <p:cNvSpPr/>
          <p:nvPr/>
        </p:nvSpPr>
        <p:spPr>
          <a:xfrm>
            <a:off x="536151" y="4090775"/>
            <a:ext cx="11134725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/>
          <p:cNvSpPr txBox="1"/>
          <p:nvPr/>
        </p:nvSpPr>
        <p:spPr>
          <a:xfrm>
            <a:off x="536151" y="3096365"/>
            <a:ext cx="36703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能力网关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文本框 400"/>
          <p:cNvSpPr txBox="1"/>
          <p:nvPr/>
        </p:nvSpPr>
        <p:spPr>
          <a:xfrm>
            <a:off x="532341" y="4306675"/>
            <a:ext cx="364490" cy="7435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2" name="组合 401"/>
          <p:cNvGrpSpPr/>
          <p:nvPr/>
        </p:nvGrpSpPr>
        <p:grpSpPr>
          <a:xfrm>
            <a:off x="1024466" y="4112365"/>
            <a:ext cx="801370" cy="1101725"/>
            <a:chOff x="1707" y="6378"/>
            <a:chExt cx="1262" cy="1735"/>
          </a:xfrm>
        </p:grpSpPr>
        <p:sp>
          <p:nvSpPr>
            <p:cNvPr id="403" name="圆角矩形 179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4" name="文本框 403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智能问答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05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专业知识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06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业务规范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07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业务案例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08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1883621" y="4113000"/>
            <a:ext cx="802005" cy="1102360"/>
            <a:chOff x="1707" y="6378"/>
            <a:chExt cx="1263" cy="1736"/>
          </a:xfrm>
        </p:grpSpPr>
        <p:sp>
          <p:nvSpPr>
            <p:cNvPr id="410" name="圆角矩形 62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1" name="文本框 410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智能问数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2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指标查询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13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多维统计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14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对比分析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15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16" name="组合 415"/>
          <p:cNvGrpSpPr/>
          <p:nvPr/>
        </p:nvGrpSpPr>
        <p:grpSpPr>
          <a:xfrm>
            <a:off x="2743411" y="4113000"/>
            <a:ext cx="802005" cy="1102360"/>
            <a:chOff x="1707" y="6378"/>
            <a:chExt cx="1263" cy="1736"/>
          </a:xfrm>
        </p:grpSpPr>
        <p:sp>
          <p:nvSpPr>
            <p:cNvPr id="417" name="圆角矩形 72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8" name="文本框 417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工参助手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9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工参查询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0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工参提单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1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工单查询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2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23" name="组合 422"/>
          <p:cNvGrpSpPr/>
          <p:nvPr/>
        </p:nvGrpSpPr>
        <p:grpSpPr>
          <a:xfrm>
            <a:off x="3603201" y="4113000"/>
            <a:ext cx="802005" cy="1102360"/>
            <a:chOff x="1707" y="6378"/>
            <a:chExt cx="1263" cy="1736"/>
          </a:xfrm>
        </p:grpSpPr>
        <p:sp>
          <p:nvSpPr>
            <p:cNvPr id="424" name="圆角矩形 85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5" name="文本框 424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26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参数查询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7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参数提单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8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工单查询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9" name="矩形: 圆角 428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30" name="组合 429"/>
          <p:cNvGrpSpPr/>
          <p:nvPr/>
        </p:nvGrpSpPr>
        <p:grpSpPr>
          <a:xfrm>
            <a:off x="4462991" y="4113000"/>
            <a:ext cx="802005" cy="1102360"/>
            <a:chOff x="1707" y="6378"/>
            <a:chExt cx="1263" cy="1736"/>
          </a:xfrm>
        </p:grpSpPr>
        <p:sp>
          <p:nvSpPr>
            <p:cNvPr id="431" name="圆角矩形 117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2" name="文本框 431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投诉助手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3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前移支撑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34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生产支撑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35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黑点管理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36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37" name="组合 436"/>
          <p:cNvGrpSpPr/>
          <p:nvPr/>
        </p:nvGrpSpPr>
        <p:grpSpPr>
          <a:xfrm>
            <a:off x="5322781" y="4113000"/>
            <a:ext cx="802005" cy="1102360"/>
            <a:chOff x="1707" y="6378"/>
            <a:chExt cx="1263" cy="1736"/>
          </a:xfrm>
        </p:grpSpPr>
        <p:sp>
          <p:nvSpPr>
            <p:cNvPr id="438" name="圆角矩形 133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9" name="文本框 438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覆盖助手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0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覆盖查询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41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问题洞察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42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问题分析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43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44" name="组合 443"/>
          <p:cNvGrpSpPr/>
          <p:nvPr/>
        </p:nvGrpSpPr>
        <p:grpSpPr>
          <a:xfrm>
            <a:off x="6182571" y="4113000"/>
            <a:ext cx="802005" cy="1102360"/>
            <a:chOff x="1707" y="6378"/>
            <a:chExt cx="1263" cy="1736"/>
          </a:xfrm>
        </p:grpSpPr>
        <p:sp>
          <p:nvSpPr>
            <p:cNvPr id="445" name="圆角矩形 159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6" name="文本框 445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干扰助手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7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指标查询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48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类型分析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49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干扰定位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50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51" name="组合 450"/>
          <p:cNvGrpSpPr/>
          <p:nvPr/>
        </p:nvGrpSpPr>
        <p:grpSpPr>
          <a:xfrm>
            <a:off x="7042361" y="4113000"/>
            <a:ext cx="802005" cy="1102360"/>
            <a:chOff x="1707" y="6378"/>
            <a:chExt cx="1263" cy="1736"/>
          </a:xfrm>
        </p:grpSpPr>
        <p:sp>
          <p:nvSpPr>
            <p:cNvPr id="452" name="圆角矩形 169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3" name="文本框 452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质差助手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54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问题洞察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55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根因分析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56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方案建议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57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58" name="组合 457"/>
          <p:cNvGrpSpPr/>
          <p:nvPr/>
        </p:nvGrpSpPr>
        <p:grpSpPr>
          <a:xfrm>
            <a:off x="7902151" y="4113000"/>
            <a:ext cx="802005" cy="1102360"/>
            <a:chOff x="1707" y="6378"/>
            <a:chExt cx="1263" cy="1736"/>
          </a:xfrm>
        </p:grpSpPr>
        <p:sp>
          <p:nvSpPr>
            <p:cNvPr id="459" name="圆角矩形 196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0" name="文本框 459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规划助手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61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需求管理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62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选址选型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63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规划评估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64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65" name="组合 464"/>
          <p:cNvGrpSpPr/>
          <p:nvPr/>
        </p:nvGrpSpPr>
        <p:grpSpPr>
          <a:xfrm>
            <a:off x="8761941" y="4112365"/>
            <a:ext cx="802005" cy="1102360"/>
            <a:chOff x="1707" y="6378"/>
            <a:chExt cx="1263" cy="1736"/>
          </a:xfrm>
        </p:grpSpPr>
        <p:sp>
          <p:nvSpPr>
            <p:cNvPr id="466" name="圆角矩形 214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7" name="文本框 466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开站助手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68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工艺验收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69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自动入网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70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单站验收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71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72" name="组合 471"/>
          <p:cNvGrpSpPr/>
          <p:nvPr/>
        </p:nvGrpSpPr>
        <p:grpSpPr>
          <a:xfrm>
            <a:off x="9621731" y="4113000"/>
            <a:ext cx="802005" cy="1102360"/>
            <a:chOff x="1707" y="6378"/>
            <a:chExt cx="1263" cy="1736"/>
          </a:xfrm>
        </p:grpSpPr>
        <p:sp>
          <p:nvSpPr>
            <p:cNvPr id="473" name="圆角矩形 221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4" name="文本框 473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保障助手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75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智能播报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76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网络探查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77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智能调度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78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479" name="组合 478"/>
          <p:cNvGrpSpPr/>
          <p:nvPr/>
        </p:nvGrpSpPr>
        <p:grpSpPr>
          <a:xfrm>
            <a:off x="10481521" y="4112365"/>
            <a:ext cx="802005" cy="1102360"/>
            <a:chOff x="1707" y="6378"/>
            <a:chExt cx="1263" cy="1736"/>
          </a:xfrm>
        </p:grpSpPr>
        <p:sp>
          <p:nvSpPr>
            <p:cNvPr id="480" name="圆角矩形 228"/>
            <p:cNvSpPr/>
            <p:nvPr/>
          </p:nvSpPr>
          <p:spPr>
            <a:xfrm>
              <a:off x="1707" y="6413"/>
              <a:ext cx="1263" cy="1701"/>
            </a:xfrm>
            <a:prstGeom prst="roundRect">
              <a:avLst>
                <a:gd name="adj" fmla="val 863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1" name="文本框 480"/>
            <p:cNvSpPr txBox="1"/>
            <p:nvPr/>
          </p:nvSpPr>
          <p:spPr>
            <a:xfrm>
              <a:off x="1707" y="6378"/>
              <a:ext cx="126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助手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82" name="矩形: 圆角 113"/>
            <p:cNvSpPr/>
            <p:nvPr/>
          </p:nvSpPr>
          <p:spPr bwMode="gray">
            <a:xfrm>
              <a:off x="1913" y="6740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83" name="矩形: 圆角 113"/>
            <p:cNvSpPr/>
            <p:nvPr/>
          </p:nvSpPr>
          <p:spPr bwMode="gray">
            <a:xfrm>
              <a:off x="1913" y="7073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84" name="矩形: 圆角 113"/>
            <p:cNvSpPr/>
            <p:nvPr/>
          </p:nvSpPr>
          <p:spPr bwMode="gray">
            <a:xfrm>
              <a:off x="1913" y="7406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85" name="矩形: 圆角 113"/>
            <p:cNvSpPr/>
            <p:nvPr/>
          </p:nvSpPr>
          <p:spPr bwMode="gray">
            <a:xfrm>
              <a:off x="1913" y="7739"/>
              <a:ext cx="850" cy="283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anchor="ctr"/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487" name="圆角矩形 40"/>
          <p:cNvSpPr/>
          <p:nvPr/>
        </p:nvSpPr>
        <p:spPr>
          <a:xfrm>
            <a:off x="4615391" y="3140815"/>
            <a:ext cx="2827655" cy="847090"/>
          </a:xfrm>
          <a:prstGeom prst="roundRect">
            <a:avLst>
              <a:gd name="adj" fmla="val 9492"/>
            </a:avLst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圆角矩形 44"/>
          <p:cNvSpPr/>
          <p:nvPr/>
        </p:nvSpPr>
        <p:spPr bwMode="gray">
          <a:xfrm>
            <a:off x="6481021" y="3676755"/>
            <a:ext cx="850265" cy="241300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MCP适配器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89" name="圆角矩形 47"/>
          <p:cNvSpPr/>
          <p:nvPr/>
        </p:nvSpPr>
        <p:spPr bwMode="gray">
          <a:xfrm>
            <a:off x="4704926" y="3387830"/>
            <a:ext cx="811530" cy="24193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能力注册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91" name="圆角矩形 52"/>
          <p:cNvSpPr/>
          <p:nvPr/>
        </p:nvSpPr>
        <p:spPr>
          <a:xfrm>
            <a:off x="1027006" y="3144625"/>
            <a:ext cx="3096895" cy="843280"/>
          </a:xfrm>
          <a:prstGeom prst="roundRect">
            <a:avLst>
              <a:gd name="adj" fmla="val 10204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1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矩形: 圆角 113"/>
          <p:cNvSpPr/>
          <p:nvPr/>
        </p:nvSpPr>
        <p:spPr bwMode="gray">
          <a:xfrm>
            <a:off x="1098761" y="3389735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智能规划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3" name="矩形: 圆角 113"/>
          <p:cNvSpPr/>
          <p:nvPr/>
        </p:nvSpPr>
        <p:spPr bwMode="gray">
          <a:xfrm>
            <a:off x="2610061" y="3389735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长短记忆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4" name="矩形: 圆角 113"/>
          <p:cNvSpPr/>
          <p:nvPr/>
        </p:nvSpPr>
        <p:spPr bwMode="gray">
          <a:xfrm>
            <a:off x="1098761" y="3678343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多智能体协同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5" name="矩形: 圆角 113"/>
          <p:cNvSpPr/>
          <p:nvPr/>
        </p:nvSpPr>
        <p:spPr bwMode="gray">
          <a:xfrm>
            <a:off x="1853776" y="3389735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工具协同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6" name="矩形: 圆角 113"/>
          <p:cNvSpPr/>
          <p:nvPr/>
        </p:nvSpPr>
        <p:spPr bwMode="gray">
          <a:xfrm>
            <a:off x="1853776" y="3678343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上下文工程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7" name="矩形: 圆角 113"/>
          <p:cNvSpPr/>
          <p:nvPr/>
        </p:nvSpPr>
        <p:spPr bwMode="gray">
          <a:xfrm>
            <a:off x="3352376" y="3678343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A2A</a:t>
            </a: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协议层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8" name="矩形: 圆角 113"/>
          <p:cNvSpPr/>
          <p:nvPr/>
        </p:nvSpPr>
        <p:spPr bwMode="gray">
          <a:xfrm>
            <a:off x="3352376" y="3389735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MCP</a:t>
            </a: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协议层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9" name="圆角矩形 174"/>
          <p:cNvSpPr/>
          <p:nvPr/>
        </p:nvSpPr>
        <p:spPr bwMode="gray">
          <a:xfrm>
            <a:off x="4704926" y="3676438"/>
            <a:ext cx="811530" cy="24193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服务管理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00" name="圆角矩形 175"/>
          <p:cNvSpPr/>
          <p:nvPr/>
        </p:nvSpPr>
        <p:spPr bwMode="gray">
          <a:xfrm>
            <a:off x="5587576" y="3387830"/>
            <a:ext cx="811530" cy="24193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租户管理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01" name="文本框 500"/>
          <p:cNvSpPr txBox="1"/>
          <p:nvPr/>
        </p:nvSpPr>
        <p:spPr>
          <a:xfrm>
            <a:off x="5466291" y="3136265"/>
            <a:ext cx="1125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能力管理（</a:t>
            </a:r>
            <a:r>
              <a:rPr lang="en-US" alt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MCP</a:t>
            </a:r>
            <a:r>
              <a: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1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6" name="圆角矩形 234"/>
          <p:cNvSpPr/>
          <p:nvPr/>
        </p:nvSpPr>
        <p:spPr bwMode="gray">
          <a:xfrm>
            <a:off x="5587576" y="3676438"/>
            <a:ext cx="811530" cy="24193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运营管理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07" name="圆角矩形 235"/>
          <p:cNvSpPr/>
          <p:nvPr/>
        </p:nvSpPr>
        <p:spPr bwMode="gray">
          <a:xfrm>
            <a:off x="6481021" y="3387830"/>
            <a:ext cx="811530" cy="24193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工具编排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09" name="文本框 508"/>
          <p:cNvSpPr txBox="1"/>
          <p:nvPr/>
        </p:nvSpPr>
        <p:spPr>
          <a:xfrm>
            <a:off x="1920451" y="3148435"/>
            <a:ext cx="13100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能力智能编排</a:t>
            </a:r>
            <a:endParaRPr lang="zh-CN" altLang="en-US" sz="1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0" name="矩形: 圆角 113"/>
          <p:cNvSpPr/>
          <p:nvPr/>
        </p:nvSpPr>
        <p:spPr bwMode="gray">
          <a:xfrm>
            <a:off x="2610061" y="3678343"/>
            <a:ext cx="701040" cy="238125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lIns="0" tIns="35991" rIns="0" bIns="35991" anchor="ctr"/>
          <a:lstStyle/>
          <a:p>
            <a:pPr algn="ctr"/>
            <a:r>
              <a: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权限管理</a:t>
            </a:r>
            <a:endParaRPr lang="zh-CN" altLang="en-US" sz="8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7936230" y="3140710"/>
            <a:ext cx="3214370" cy="847090"/>
            <a:chOff x="12498" y="4946"/>
            <a:chExt cx="5062" cy="1334"/>
          </a:xfrm>
        </p:grpSpPr>
        <p:sp>
          <p:nvSpPr>
            <p:cNvPr id="486" name="圆角矩形 39"/>
            <p:cNvSpPr/>
            <p:nvPr/>
          </p:nvSpPr>
          <p:spPr>
            <a:xfrm>
              <a:off x="12498" y="4946"/>
              <a:ext cx="5062" cy="1334"/>
            </a:xfrm>
            <a:prstGeom prst="roundRect">
              <a:avLst>
                <a:gd name="adj" fmla="val 9492"/>
              </a:avLst>
            </a:prstGeom>
            <a:solidFill>
              <a:srgbClr val="0084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0" name="圆角矩形 48"/>
            <p:cNvSpPr/>
            <p:nvPr/>
          </p:nvSpPr>
          <p:spPr bwMode="gray">
            <a:xfrm>
              <a:off x="12669" y="5335"/>
              <a:ext cx="1504" cy="381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智能体注册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502" name="文本框 501"/>
            <p:cNvSpPr txBox="1"/>
            <p:nvPr/>
          </p:nvSpPr>
          <p:spPr>
            <a:xfrm>
              <a:off x="14035" y="4946"/>
              <a:ext cx="198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智能体管理（</a:t>
              </a:r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A2A</a:t>
              </a:r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3" name="圆角矩形 178"/>
            <p:cNvSpPr/>
            <p:nvPr/>
          </p:nvSpPr>
          <p:spPr bwMode="gray">
            <a:xfrm>
              <a:off x="12669" y="5790"/>
              <a:ext cx="1504" cy="381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状态监控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504" name="圆角矩形 191"/>
            <p:cNvSpPr/>
            <p:nvPr/>
          </p:nvSpPr>
          <p:spPr bwMode="gray">
            <a:xfrm>
              <a:off x="14274" y="5335"/>
              <a:ext cx="1504" cy="381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权限管理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505" name="圆角矩形 208"/>
            <p:cNvSpPr/>
            <p:nvPr/>
          </p:nvSpPr>
          <p:spPr bwMode="gray">
            <a:xfrm>
              <a:off x="14274" y="5790"/>
              <a:ext cx="1504" cy="381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运营管理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508" name="圆角矩形 236"/>
            <p:cNvSpPr/>
            <p:nvPr/>
          </p:nvSpPr>
          <p:spPr bwMode="gray">
            <a:xfrm>
              <a:off x="15878" y="5335"/>
              <a:ext cx="1504" cy="381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智能体编排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511" name="圆角矩形 239"/>
            <p:cNvSpPr/>
            <p:nvPr/>
          </p:nvSpPr>
          <p:spPr bwMode="gray">
            <a:xfrm>
              <a:off x="15878" y="5790"/>
              <a:ext cx="1504" cy="381"/>
            </a:xfrm>
            <a:prstGeom prst="roundRect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75000"/>
                    </a:schemeClr>
                  </a:solidFill>
                </a14:hiddenFill>
              </a:ext>
            </a:extLst>
          </p:spPr>
          <p:txBody>
            <a:bodyPr lIns="0" tIns="35991" rIns="0" bIns="35991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……</a:t>
              </a:r>
              <a:endParaRPr lang="en-US" altLang="zh-CN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无线专业智能体 | 参数调整</a:t>
            </a:r>
            <a:endParaRPr lang="zh-CN" altLang="en-US" dirty="0">
              <a:cs typeface="+mn-cs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508635" y="644525"/>
            <a:ext cx="920115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业务场景：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一线优化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OMC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参数查询、参数修改提单、参数白名单提单等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应用范围：</a:t>
            </a:r>
            <a:r>
              <a:rPr kumimoji="1"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省移动（浙江、广西、贵州、黑龙江、甘肃）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329940" y="1746885"/>
            <a:ext cx="5525135" cy="4609465"/>
          </a:xfrm>
          <a:prstGeom prst="roundRect">
            <a:avLst>
              <a:gd name="adj" fmla="val 157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188268" y="1561465"/>
            <a:ext cx="1808480" cy="3638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解决方案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60045" y="1746885"/>
            <a:ext cx="2769870" cy="4609465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840740" y="1561465"/>
            <a:ext cx="1808480" cy="3638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背景与痛点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0363" y="2026920"/>
            <a:ext cx="2769235" cy="779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254000" algn="just" defTabSz="913130" fontAlgn="ctr">
              <a:lnSpc>
                <a:spcPct val="120000"/>
              </a:lnSpc>
              <a:spcBef>
                <a:spcPct val="0"/>
              </a:spcBef>
              <a:buFont typeface="Wingdings" panose="05000000000000000000" charset="0"/>
              <a:buNone/>
              <a:defRPr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参数配置是网络稳定运行的重中之重，直接决定网络性能基线；而参数调优作为无线网优体系的核心优化手段，覆盖参数核查、优化方案制定及最终调优执行全流程，人力成本占比高。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062085" y="1746885"/>
            <a:ext cx="2769870" cy="4609465"/>
          </a:xfrm>
          <a:prstGeom prst="roundRect">
            <a:avLst>
              <a:gd name="adj" fmla="val 3140"/>
            </a:avLst>
          </a:prstGeom>
          <a:noFill/>
          <a:ln w="0">
            <a:gradFill>
              <a:gsLst>
                <a:gs pos="50000">
                  <a:srgbClr val="1F5FBF"/>
                </a:gs>
                <a:gs pos="0">
                  <a:srgbClr val="1486CB"/>
                </a:gs>
                <a:gs pos="100000">
                  <a:srgbClr val="2A34B2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9542780" y="1561465"/>
            <a:ext cx="1808480" cy="3638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应用成效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62403" y="1929765"/>
            <a:ext cx="2769235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just" defTabSz="913130" fontAlgn="ctr">
              <a:lnSpc>
                <a:spcPct val="13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实现参数查询、方案制定和参数修改的参数优化智能化流程，</a:t>
            </a: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提升网络优化方案的查询、决策、制定、修改效率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411970" y="3451225"/>
            <a:ext cx="2070100" cy="684530"/>
            <a:chOff x="14742" y="5519"/>
            <a:chExt cx="3260" cy="1078"/>
          </a:xfrm>
        </p:grpSpPr>
        <p:grpSp>
          <p:nvGrpSpPr>
            <p:cNvPr id="52" name="组合 51"/>
            <p:cNvGrpSpPr/>
            <p:nvPr/>
          </p:nvGrpSpPr>
          <p:grpSpPr>
            <a:xfrm>
              <a:off x="16750" y="5533"/>
              <a:ext cx="1252" cy="1065"/>
              <a:chOff x="16750" y="6037"/>
              <a:chExt cx="1252" cy="1065"/>
            </a:xfrm>
          </p:grpSpPr>
          <p:cxnSp>
            <p:nvCxnSpPr>
              <p:cNvPr id="41" name="直接连接符 40"/>
              <p:cNvCxnSpPr/>
              <p:nvPr/>
            </p:nvCxnSpPr>
            <p:spPr>
              <a:xfrm>
                <a:off x="16844" y="6474"/>
                <a:ext cx="1065" cy="0"/>
              </a:xfrm>
              <a:prstGeom prst="line">
                <a:avLst/>
              </a:prstGeom>
              <a:ln w="12700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/>
              <p:cNvSpPr txBox="1"/>
              <p:nvPr/>
            </p:nvSpPr>
            <p:spPr>
              <a:xfrm>
                <a:off x="16750" y="6474"/>
                <a:ext cx="125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1">
                    <a:latin typeface="微软雅黑" panose="020B0503020204020204" charset="-122"/>
                    <a:ea typeface="微软雅黑" panose="020B0503020204020204" charset="-122"/>
                  </a:rPr>
                  <a:t>智能体</a:t>
                </a:r>
                <a:endParaRPr lang="zh-CN" altLang="en-US" sz="1000" b="1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000" b="1">
                    <a:latin typeface="微软雅黑" panose="020B0503020204020204" charset="-122"/>
                    <a:ea typeface="微软雅黑" panose="020B0503020204020204" charset="-122"/>
                  </a:rPr>
                  <a:t>提单占比</a:t>
                </a:r>
                <a:endParaRPr lang="zh-CN" altLang="en-US" sz="10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6785" y="6037"/>
                <a:ext cx="118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spc="150">
                    <a:solidFill>
                      <a:srgbClr val="C00000"/>
                    </a:solidFill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44%</a:t>
                </a:r>
                <a:endParaRPr lang="en-US" sz="1200" b="1" spc="150">
                  <a:solidFill>
                    <a:srgbClr val="C00000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4742" y="5519"/>
              <a:ext cx="1616" cy="1072"/>
              <a:chOff x="14742" y="6023"/>
              <a:chExt cx="1616" cy="1072"/>
            </a:xfrm>
          </p:grpSpPr>
          <p:cxnSp>
            <p:nvCxnSpPr>
              <p:cNvPr id="45" name="直接连接符 44"/>
              <p:cNvCxnSpPr/>
              <p:nvPr/>
            </p:nvCxnSpPr>
            <p:spPr>
              <a:xfrm>
                <a:off x="15018" y="6467"/>
                <a:ext cx="1065" cy="0"/>
              </a:xfrm>
              <a:prstGeom prst="line">
                <a:avLst/>
              </a:prstGeom>
              <a:ln w="12700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/>
              <p:cNvSpPr txBox="1"/>
              <p:nvPr/>
            </p:nvSpPr>
            <p:spPr>
              <a:xfrm>
                <a:off x="14742" y="6467"/>
                <a:ext cx="161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智能体</a:t>
                </a:r>
                <a:r>
                  <a:rPr lang="zh-CN" altLang="en-US" sz="1000" b="1">
                    <a:latin typeface="微软雅黑" panose="020B0503020204020204" charset="-122"/>
                    <a:ea typeface="微软雅黑" panose="020B0503020204020204" charset="-122"/>
                  </a:rPr>
                  <a:t>月均</a:t>
                </a:r>
                <a:endParaRPr lang="zh-CN" altLang="en-US" sz="1000" b="1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000" b="1">
                    <a:latin typeface="微软雅黑" panose="020B0503020204020204" charset="-122"/>
                    <a:ea typeface="微软雅黑" panose="020B0503020204020204" charset="-122"/>
                  </a:rPr>
                  <a:t>提交工单量</a:t>
                </a:r>
                <a:endParaRPr lang="zh-CN" altLang="en-US" sz="10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4891" y="6023"/>
                <a:ext cx="131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spc="150">
                    <a:solidFill>
                      <a:srgbClr val="C00000"/>
                    </a:solidFill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8000</a:t>
                </a:r>
                <a:r>
                  <a:rPr lang="zh-CN" altLang="en-US" sz="1200" b="1" spc="150">
                    <a:solidFill>
                      <a:srgbClr val="C00000"/>
                    </a:solidFill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单</a:t>
                </a:r>
                <a:endParaRPr lang="zh-CN" altLang="en-US" sz="1200" b="1" spc="150">
                  <a:solidFill>
                    <a:srgbClr val="C00000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9325928" y="4267835"/>
            <a:ext cx="2242185" cy="2002790"/>
            <a:chOff x="14633" y="6801"/>
            <a:chExt cx="3531" cy="3154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33" y="6801"/>
              <a:ext cx="1573" cy="3154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90" y="6801"/>
              <a:ext cx="1574" cy="3147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>
            <a:off x="3494405" y="2990850"/>
            <a:ext cx="5221605" cy="3255645"/>
            <a:chOff x="5503" y="4710"/>
            <a:chExt cx="8223" cy="5127"/>
          </a:xfrm>
        </p:grpSpPr>
        <p:sp>
          <p:nvSpPr>
            <p:cNvPr id="357" name="矩形 356"/>
            <p:cNvSpPr/>
            <p:nvPr/>
          </p:nvSpPr>
          <p:spPr>
            <a:xfrm>
              <a:off x="5503" y="4729"/>
              <a:ext cx="4039" cy="5108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solidFill>
                <a:schemeClr val="bg2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9" name="矩形 328"/>
            <p:cNvSpPr/>
            <p:nvPr/>
          </p:nvSpPr>
          <p:spPr>
            <a:xfrm>
              <a:off x="11803" y="4729"/>
              <a:ext cx="1923" cy="5107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solidFill>
                <a:schemeClr val="bg2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7" name="矩形 296"/>
            <p:cNvSpPr/>
            <p:nvPr/>
          </p:nvSpPr>
          <p:spPr>
            <a:xfrm>
              <a:off x="11928" y="6674"/>
              <a:ext cx="1679" cy="2898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8" name="矩形 297"/>
            <p:cNvSpPr/>
            <p:nvPr/>
          </p:nvSpPr>
          <p:spPr>
            <a:xfrm>
              <a:off x="9724" y="4727"/>
              <a:ext cx="1878" cy="5109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solidFill>
                <a:schemeClr val="bg2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9" name="文本框 298"/>
            <p:cNvSpPr txBox="1"/>
            <p:nvPr/>
          </p:nvSpPr>
          <p:spPr>
            <a:xfrm>
              <a:off x="12305" y="6789"/>
              <a:ext cx="806" cy="424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能力管理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0" name="文本框 299"/>
            <p:cNvSpPr txBox="1"/>
            <p:nvPr/>
          </p:nvSpPr>
          <p:spPr>
            <a:xfrm>
              <a:off x="6729" y="6596"/>
              <a:ext cx="155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参数工单服务</a:t>
              </a:r>
              <a:endParaRPr lang="zh-CN" altLang="en-US" sz="1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10305" y="4710"/>
              <a:ext cx="714" cy="472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AI</a:t>
              </a:r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大模型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4" name="圆角矩形 303"/>
            <p:cNvSpPr/>
            <p:nvPr/>
          </p:nvSpPr>
          <p:spPr>
            <a:xfrm>
              <a:off x="11997" y="7360"/>
              <a:ext cx="737" cy="794"/>
            </a:xfrm>
            <a:prstGeom prst="roundRect">
              <a:avLst/>
            </a:prstGeom>
            <a:solidFill>
              <a:srgbClr val="118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参数查询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5" name="圆角矩形 304"/>
            <p:cNvSpPr/>
            <p:nvPr/>
          </p:nvSpPr>
          <p:spPr>
            <a:xfrm>
              <a:off x="12785" y="7360"/>
              <a:ext cx="737" cy="794"/>
            </a:xfrm>
            <a:prstGeom prst="roundRect">
              <a:avLst/>
            </a:prstGeom>
            <a:solidFill>
              <a:srgbClr val="118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工单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组装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7" name="流程图: 可选过程 306"/>
            <p:cNvSpPr/>
            <p:nvPr/>
          </p:nvSpPr>
          <p:spPr>
            <a:xfrm>
              <a:off x="10019" y="5370"/>
              <a:ext cx="1351" cy="1067"/>
            </a:xfrm>
            <a:prstGeom prst="flowChartAlternate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8" name="圆角矩形 307"/>
            <p:cNvSpPr/>
            <p:nvPr/>
          </p:nvSpPr>
          <p:spPr>
            <a:xfrm>
              <a:off x="10171" y="5182"/>
              <a:ext cx="1048" cy="3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意图理解</a:t>
              </a:r>
              <a:endPara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9" name="文本框 308"/>
            <p:cNvSpPr txBox="1"/>
            <p:nvPr/>
          </p:nvSpPr>
          <p:spPr>
            <a:xfrm>
              <a:off x="10154" y="5532"/>
              <a:ext cx="1082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>
                  <a:latin typeface="微软雅黑" panose="020B0503020204020204" charset="-122"/>
                  <a:ea typeface="微软雅黑" panose="020B0503020204020204" charset="-122"/>
                </a:rPr>
                <a:t>用户问题</a:t>
              </a:r>
              <a:endParaRPr lang="zh-CN" altLang="en-US" sz="7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0" name="圆角矩形 309"/>
            <p:cNvSpPr/>
            <p:nvPr/>
          </p:nvSpPr>
          <p:spPr>
            <a:xfrm>
              <a:off x="10085" y="5818"/>
              <a:ext cx="1219" cy="54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5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查询</a:t>
              </a:r>
              <a:r>
                <a:rPr lang="en-US" altLang="zh-CN" sz="5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460-00-10111652-131</a:t>
              </a:r>
              <a:r>
                <a:rPr lang="zh-CN" altLang="en-US" sz="5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的最小接入电平</a:t>
              </a:r>
              <a:endParaRPr lang="zh-CN" altLang="en-US" sz="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1" name="流程图: 可选过程 310"/>
            <p:cNvSpPr/>
            <p:nvPr/>
          </p:nvSpPr>
          <p:spPr>
            <a:xfrm>
              <a:off x="10019" y="6793"/>
              <a:ext cx="1351" cy="1176"/>
            </a:xfrm>
            <a:prstGeom prst="flowChartAlternate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2" name="圆角矩形 311"/>
            <p:cNvSpPr/>
            <p:nvPr/>
          </p:nvSpPr>
          <p:spPr>
            <a:xfrm>
              <a:off x="10171" y="6607"/>
              <a:ext cx="1047" cy="3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能力调用</a:t>
              </a:r>
              <a:endPara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3" name="文本框 312"/>
            <p:cNvSpPr txBox="1"/>
            <p:nvPr/>
          </p:nvSpPr>
          <p:spPr>
            <a:xfrm>
              <a:off x="10185" y="6968"/>
              <a:ext cx="1019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接口识别</a:t>
              </a:r>
              <a:endPara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4" name="圆角矩形 313"/>
            <p:cNvSpPr/>
            <p:nvPr/>
          </p:nvSpPr>
          <p:spPr>
            <a:xfrm>
              <a:off x="10085" y="7270"/>
              <a:ext cx="1219" cy="56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7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提取问题类型，选择调用接口</a:t>
              </a:r>
              <a:endPara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5" name="流程图: 可选过程 314"/>
            <p:cNvSpPr/>
            <p:nvPr/>
          </p:nvSpPr>
          <p:spPr>
            <a:xfrm>
              <a:off x="10019" y="8232"/>
              <a:ext cx="1351" cy="1494"/>
            </a:xfrm>
            <a:prstGeom prst="flowChartAlternateProcess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6" name="圆角矩形 315"/>
            <p:cNvSpPr/>
            <p:nvPr/>
          </p:nvSpPr>
          <p:spPr>
            <a:xfrm>
              <a:off x="10170" y="8093"/>
              <a:ext cx="1048" cy="3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应答引擎</a:t>
              </a:r>
              <a:endParaRPr lang="zh-CN" altLang="en-US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10171" y="8441"/>
              <a:ext cx="1047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回复生成</a:t>
              </a:r>
              <a:endPara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8" name="圆角矩形 317"/>
            <p:cNvSpPr/>
            <p:nvPr/>
          </p:nvSpPr>
          <p:spPr>
            <a:xfrm>
              <a:off x="10079" y="8734"/>
              <a:ext cx="1230" cy="96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9" name="矩形 318"/>
            <p:cNvSpPr/>
            <p:nvPr/>
          </p:nvSpPr>
          <p:spPr>
            <a:xfrm>
              <a:off x="6905" y="5157"/>
              <a:ext cx="2454" cy="1363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0" name="文本框 319"/>
            <p:cNvSpPr txBox="1"/>
            <p:nvPr/>
          </p:nvSpPr>
          <p:spPr>
            <a:xfrm>
              <a:off x="7447" y="5131"/>
              <a:ext cx="124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模型调用</a:t>
              </a:r>
              <a:endParaRPr lang="zh-CN" altLang="en-US" sz="1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2" name="圆角矩形 321"/>
            <p:cNvSpPr/>
            <p:nvPr/>
          </p:nvSpPr>
          <p:spPr>
            <a:xfrm>
              <a:off x="8151" y="5540"/>
              <a:ext cx="976" cy="667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en-US" altLang="zh-CN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大模型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调用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3" name="圆角矩形 322"/>
            <p:cNvSpPr/>
            <p:nvPr/>
          </p:nvSpPr>
          <p:spPr>
            <a:xfrm>
              <a:off x="7170" y="5540"/>
              <a:ext cx="804" cy="668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用户输入解析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25" name="图片 324" descr="箭头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466" y="5648"/>
              <a:ext cx="292" cy="341"/>
            </a:xfrm>
            <a:prstGeom prst="rect">
              <a:avLst/>
            </a:prstGeom>
          </p:spPr>
        </p:pic>
        <p:sp>
          <p:nvSpPr>
            <p:cNvPr id="326" name="矩形 325"/>
            <p:cNvSpPr/>
            <p:nvPr/>
          </p:nvSpPr>
          <p:spPr>
            <a:xfrm>
              <a:off x="11928" y="4989"/>
              <a:ext cx="1680" cy="1378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7" name="文本框 326"/>
            <p:cNvSpPr txBox="1"/>
            <p:nvPr/>
          </p:nvSpPr>
          <p:spPr>
            <a:xfrm>
              <a:off x="12199" y="5121"/>
              <a:ext cx="1125" cy="314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10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意图识别</a:t>
              </a:r>
              <a:endParaRPr lang="zh-CN" altLang="en-US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8" name="文本框 327"/>
            <p:cNvSpPr txBox="1"/>
            <p:nvPr/>
          </p:nvSpPr>
          <p:spPr>
            <a:xfrm>
              <a:off x="9317" y="6974"/>
              <a:ext cx="65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</a:rPr>
                <a:t>查询</a:t>
              </a:r>
              <a:endParaRPr lang="zh-CN" altLang="en-US" sz="9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30" name="图片 329" descr="箭头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1548" y="5569"/>
              <a:ext cx="292" cy="341"/>
            </a:xfrm>
            <a:prstGeom prst="rect">
              <a:avLst/>
            </a:prstGeom>
          </p:spPr>
        </p:pic>
        <p:pic>
          <p:nvPicPr>
            <p:cNvPr id="331" name="图片 330" descr="箭头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 rot="10800000">
              <a:off x="11561" y="7066"/>
              <a:ext cx="277" cy="296"/>
            </a:xfrm>
            <a:prstGeom prst="rect">
              <a:avLst/>
            </a:prstGeom>
          </p:spPr>
        </p:pic>
        <p:sp>
          <p:nvSpPr>
            <p:cNvPr id="332" name="矩形 331"/>
            <p:cNvSpPr/>
            <p:nvPr/>
          </p:nvSpPr>
          <p:spPr>
            <a:xfrm>
              <a:off x="5762" y="6649"/>
              <a:ext cx="3597" cy="814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44" name="图片 3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61" y="7227"/>
              <a:ext cx="281" cy="300"/>
            </a:xfrm>
            <a:prstGeom prst="rect">
              <a:avLst/>
            </a:prstGeom>
          </p:spPr>
        </p:pic>
        <p:pic>
          <p:nvPicPr>
            <p:cNvPr id="345" name="图片 3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61" y="5778"/>
              <a:ext cx="281" cy="300"/>
            </a:xfrm>
            <a:prstGeom prst="rect">
              <a:avLst/>
            </a:prstGeom>
          </p:spPr>
        </p:pic>
        <p:sp>
          <p:nvSpPr>
            <p:cNvPr id="346" name="圆角矩形 345"/>
            <p:cNvSpPr/>
            <p:nvPr/>
          </p:nvSpPr>
          <p:spPr>
            <a:xfrm>
              <a:off x="11997" y="8347"/>
              <a:ext cx="737" cy="794"/>
            </a:xfrm>
            <a:prstGeom prst="roundRect">
              <a:avLst/>
            </a:prstGeom>
            <a:solidFill>
              <a:srgbClr val="118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模板适配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7" name="圆角矩形 346"/>
            <p:cNvSpPr/>
            <p:nvPr/>
          </p:nvSpPr>
          <p:spPr>
            <a:xfrm>
              <a:off x="12785" y="8347"/>
              <a:ext cx="737" cy="794"/>
            </a:xfrm>
            <a:prstGeom prst="roundRect">
              <a:avLst/>
            </a:prstGeom>
            <a:solidFill>
              <a:srgbClr val="118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接口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调用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0" name="圆角矩形 349"/>
            <p:cNvSpPr/>
            <p:nvPr/>
          </p:nvSpPr>
          <p:spPr>
            <a:xfrm>
              <a:off x="7839" y="8881"/>
              <a:ext cx="1344" cy="705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en-US" altLang="zh-CN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omc</a:t>
              </a: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查询命令下发能力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1" name="圆角矩形 350"/>
            <p:cNvSpPr/>
            <p:nvPr/>
          </p:nvSpPr>
          <p:spPr>
            <a:xfrm>
              <a:off x="5889" y="8881"/>
              <a:ext cx="1457" cy="705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工单流程处理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2" name="圆角矩形 351"/>
            <p:cNvSpPr/>
            <p:nvPr/>
          </p:nvSpPr>
          <p:spPr>
            <a:xfrm>
              <a:off x="5923" y="6946"/>
              <a:ext cx="964" cy="456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参数工单提交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3" name="圆角矩形 352"/>
            <p:cNvSpPr/>
            <p:nvPr/>
          </p:nvSpPr>
          <p:spPr>
            <a:xfrm>
              <a:off x="7047" y="6946"/>
              <a:ext cx="964" cy="456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白名单提交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4" name="圆角矩形 353"/>
            <p:cNvSpPr/>
            <p:nvPr/>
          </p:nvSpPr>
          <p:spPr>
            <a:xfrm>
              <a:off x="8219" y="6956"/>
              <a:ext cx="964" cy="456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工单状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态查询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5" name="圆角矩形 354"/>
            <p:cNvSpPr/>
            <p:nvPr/>
          </p:nvSpPr>
          <p:spPr>
            <a:xfrm>
              <a:off x="8205" y="7904"/>
              <a:ext cx="964" cy="456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告警实时查询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58" name="图片 3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24" y="8790"/>
              <a:ext cx="1140" cy="856"/>
            </a:xfrm>
            <a:prstGeom prst="rect">
              <a:avLst/>
            </a:prstGeom>
          </p:spPr>
        </p:pic>
        <p:sp>
          <p:nvSpPr>
            <p:cNvPr id="359" name="矩形 358"/>
            <p:cNvSpPr/>
            <p:nvPr/>
          </p:nvSpPr>
          <p:spPr>
            <a:xfrm>
              <a:off x="5762" y="7595"/>
              <a:ext cx="3597" cy="814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lstStyle/>
            <a:p>
              <a:pPr indent="0" algn="ctr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endPara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0" name="圆角矩形 359"/>
            <p:cNvSpPr/>
            <p:nvPr/>
          </p:nvSpPr>
          <p:spPr>
            <a:xfrm>
              <a:off x="5917" y="7891"/>
              <a:ext cx="964" cy="456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参数实时查询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1" name="圆角矩形 360"/>
            <p:cNvSpPr/>
            <p:nvPr/>
          </p:nvSpPr>
          <p:spPr>
            <a:xfrm>
              <a:off x="7060" y="7892"/>
              <a:ext cx="964" cy="456"/>
            </a:xfrm>
            <a:prstGeom prst="roundRect">
              <a:avLst>
                <a:gd name="adj" fmla="val 0"/>
              </a:avLst>
            </a:prstGeom>
            <a:solidFill>
              <a:srgbClr val="1182C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indent="0" algn="ctr" fontAlgn="auto">
                <a:lnSpc>
                  <a:spcPct val="100000"/>
                </a:lnSpc>
                <a:buClr>
                  <a:srgbClr val="0000FF"/>
                </a:buClr>
                <a:buFont typeface="Wingdings" panose="05000000000000000000" pitchFamily="2" charset="2"/>
                <a:buNone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邻区实时查询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2" name="文本框 361"/>
            <p:cNvSpPr txBox="1"/>
            <p:nvPr/>
          </p:nvSpPr>
          <p:spPr>
            <a:xfrm>
              <a:off x="6681" y="7553"/>
              <a:ext cx="160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参数查询服务</a:t>
              </a:r>
              <a:endParaRPr lang="zh-CN" altLang="en-US" sz="1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63" name="图片 3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6" y="5732"/>
              <a:ext cx="281" cy="300"/>
            </a:xfrm>
            <a:prstGeom prst="rect">
              <a:avLst/>
            </a:prstGeom>
          </p:spPr>
        </p:pic>
        <p:sp>
          <p:nvSpPr>
            <p:cNvPr id="26" name="圆角矩形 25"/>
            <p:cNvSpPr/>
            <p:nvPr/>
          </p:nvSpPr>
          <p:spPr>
            <a:xfrm>
              <a:off x="11997" y="5461"/>
              <a:ext cx="737" cy="794"/>
            </a:xfrm>
            <a:prstGeom prst="roundRect">
              <a:avLst/>
            </a:prstGeom>
            <a:solidFill>
              <a:srgbClr val="118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网元识别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12785" y="5461"/>
              <a:ext cx="737" cy="794"/>
            </a:xfrm>
            <a:prstGeom prst="roundRect">
              <a:avLst/>
            </a:prstGeom>
            <a:solidFill>
              <a:srgbClr val="118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>
                  <a:srgbClr val="0000FF"/>
                </a:buClr>
                <a:buSzTx/>
                <a:buFont typeface="Wingdings" panose="05000000000000000000" pitchFamily="2" charset="2"/>
              </a:pPr>
              <a:r>
                <a:rPr lang="zh-CN" alt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参数识别</a:t>
              </a:r>
              <a:endPara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8371" y="8508"/>
              <a:ext cx="281" cy="300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6476" y="8508"/>
              <a:ext cx="281" cy="300"/>
            </a:xfrm>
            <a:prstGeom prst="rect">
              <a:avLst/>
            </a:prstGeom>
          </p:spPr>
        </p:pic>
        <p:pic>
          <p:nvPicPr>
            <p:cNvPr id="53" name="图片 52" descr="APP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5636" y="5579"/>
              <a:ext cx="319" cy="458"/>
            </a:xfrm>
            <a:prstGeom prst="rect">
              <a:avLst/>
            </a:prstGeom>
          </p:spPr>
        </p:pic>
        <p:pic>
          <p:nvPicPr>
            <p:cNvPr id="54" name="图片 53" descr="web (1)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6166" y="5168"/>
              <a:ext cx="394" cy="480"/>
            </a:xfrm>
            <a:prstGeom prst="rect">
              <a:avLst/>
            </a:prstGeom>
          </p:spPr>
        </p:pic>
        <p:pic>
          <p:nvPicPr>
            <p:cNvPr id="55" name="图片 54" descr="手机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6170" y="5921"/>
              <a:ext cx="385" cy="554"/>
            </a:xfrm>
            <a:prstGeom prst="rect">
              <a:avLst/>
            </a:prstGeom>
          </p:spPr>
        </p:pic>
        <p:cxnSp>
          <p:nvCxnSpPr>
            <p:cNvPr id="56" name="肘形连接符 55"/>
            <p:cNvCxnSpPr>
              <a:stCxn id="54" idx="3"/>
            </p:cNvCxnSpPr>
            <p:nvPr/>
          </p:nvCxnSpPr>
          <p:spPr>
            <a:xfrm>
              <a:off x="6561" y="5408"/>
              <a:ext cx="308" cy="449"/>
            </a:xfrm>
            <a:prstGeom prst="bentConnector3">
              <a:avLst>
                <a:gd name="adj1" fmla="val 50000"/>
              </a:avLst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肘形连接符 56"/>
            <p:cNvCxnSpPr>
              <a:stCxn id="55" idx="3"/>
            </p:cNvCxnSpPr>
            <p:nvPr/>
          </p:nvCxnSpPr>
          <p:spPr>
            <a:xfrm flipV="1">
              <a:off x="6555" y="5851"/>
              <a:ext cx="310" cy="348"/>
            </a:xfrm>
            <a:prstGeom prst="bentConnector3">
              <a:avLst>
                <a:gd name="adj1" fmla="val 50067"/>
              </a:avLst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53" idx="3"/>
              <a:endCxn id="54" idx="1"/>
            </p:cNvCxnSpPr>
            <p:nvPr/>
          </p:nvCxnSpPr>
          <p:spPr>
            <a:xfrm flipV="1">
              <a:off x="5955" y="5408"/>
              <a:ext cx="211" cy="4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stCxn id="53" idx="3"/>
              <a:endCxn id="55" idx="1"/>
            </p:cNvCxnSpPr>
            <p:nvPr/>
          </p:nvCxnSpPr>
          <p:spPr>
            <a:xfrm>
              <a:off x="5955" y="5809"/>
              <a:ext cx="216" cy="3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99" y="7320"/>
              <a:ext cx="281" cy="300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9317" y="7553"/>
              <a:ext cx="65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</a:rPr>
                <a:t>执行</a:t>
              </a:r>
              <a:endParaRPr lang="zh-CN" altLang="en-US" sz="9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44195" y="3263900"/>
            <a:ext cx="2401570" cy="843280"/>
            <a:chOff x="857" y="5140"/>
            <a:chExt cx="3782" cy="1328"/>
          </a:xfrm>
        </p:grpSpPr>
        <p:sp>
          <p:nvSpPr>
            <p:cNvPr id="21" name="文本框 20"/>
            <p:cNvSpPr txBox="1"/>
            <p:nvPr/>
          </p:nvSpPr>
          <p:spPr>
            <a:xfrm>
              <a:off x="857" y="5597"/>
              <a:ext cx="3782" cy="87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参数配置数据需从网管</a:t>
              </a: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OMC</a:t>
              </a: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用命令获取，一线人员无法实时获取现网参数配置，影响优化方案制定。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022" y="5140"/>
              <a:ext cx="2541" cy="434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参数查询繁琐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44195" y="4290060"/>
            <a:ext cx="2401570" cy="843915"/>
            <a:chOff x="857" y="6756"/>
            <a:chExt cx="3782" cy="1329"/>
          </a:xfrm>
        </p:grpSpPr>
        <p:sp>
          <p:nvSpPr>
            <p:cNvPr id="24" name="文本框 23"/>
            <p:cNvSpPr txBox="1"/>
            <p:nvPr/>
          </p:nvSpPr>
          <p:spPr>
            <a:xfrm>
              <a:off x="857" y="7214"/>
              <a:ext cx="3782" cy="87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年度工单修改数量可达几十万，人工提单工作量大，耗费大量人力资源，且效率低。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022" y="6756"/>
              <a:ext cx="2541" cy="434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工单量大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44195" y="5347970"/>
            <a:ext cx="2401570" cy="681355"/>
            <a:chOff x="857" y="8422"/>
            <a:chExt cx="3782" cy="1073"/>
          </a:xfrm>
        </p:grpSpPr>
        <p:sp>
          <p:nvSpPr>
            <p:cNvPr id="25" name="文本框 24"/>
            <p:cNvSpPr txBox="1"/>
            <p:nvPr/>
          </p:nvSpPr>
          <p:spPr>
            <a:xfrm>
              <a:off x="857" y="8867"/>
              <a:ext cx="3782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人工提单需填写大量的参数基础信息，存在数据风险，影响网络运行。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022" y="8422"/>
              <a:ext cx="2541" cy="434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数据准确性差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589655" y="2069465"/>
            <a:ext cx="1921510" cy="287020"/>
            <a:chOff x="5653" y="3255"/>
            <a:chExt cx="3026" cy="452"/>
          </a:xfrm>
        </p:grpSpPr>
        <p:pic>
          <p:nvPicPr>
            <p:cNvPr id="4" name="图片 3" descr="人工智能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3" y="3255"/>
              <a:ext cx="452" cy="452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6139" y="3264"/>
              <a:ext cx="2541" cy="434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参数智能查询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94405" y="2349500"/>
            <a:ext cx="24485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4/5G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华为、中兴、爱立信、大唐、诺基亚等多厂家网管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OMC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参数智能实时查询服务。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250305" y="2069465"/>
            <a:ext cx="1906270" cy="287020"/>
            <a:chOff x="9843" y="3263"/>
            <a:chExt cx="3002" cy="452"/>
          </a:xfrm>
        </p:grpSpPr>
        <p:pic>
          <p:nvPicPr>
            <p:cNvPr id="8" name="图片 7" descr="人工智能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43" y="3263"/>
              <a:ext cx="452" cy="452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0305" y="3272"/>
              <a:ext cx="2541" cy="434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参数智能提单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174740" y="2349500"/>
            <a:ext cx="25412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支持普通参数修改、增删修改、邻区参数、邻区配置等多个模板的参数修改工单以及参数白名单智能提单。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: 圆角 23"/>
          <p:cNvSpPr/>
          <p:nvPr/>
        </p:nvSpPr>
        <p:spPr>
          <a:xfrm>
            <a:off x="9264968" y="2706370"/>
            <a:ext cx="2364105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实时的参数智能查询能力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矩形: 圆角 23"/>
          <p:cNvSpPr/>
          <p:nvPr/>
        </p:nvSpPr>
        <p:spPr>
          <a:xfrm>
            <a:off x="9264968" y="3084830"/>
            <a:ext cx="2364105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便捷的工单智能填充能力</a:t>
            </a:r>
            <a:endParaRPr lang="zh-CN" altLang="en-US" sz="12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002" y="97200"/>
            <a:ext cx="7886700" cy="4537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cs typeface="+mn-cs"/>
                <a:sym typeface="+mn-ea"/>
              </a:rPr>
              <a:t>无线专业智能体 | 覆盖分析</a:t>
            </a:r>
            <a:endParaRPr lang="zh-CN" altLang="en-US" dirty="0">
              <a:cs typeface="+mn-cs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15010" y="644525"/>
            <a:ext cx="10193655" cy="681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业务场景：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多维覆盖指标查询，多维覆盖问题智能洞察、分析与方案寻优、一键优化，数字孪生看数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应用范围：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省移动（新疆、贵州、广西）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055" y="4422775"/>
            <a:ext cx="4345940" cy="204279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772093" y="2116932"/>
            <a:ext cx="40786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覆盖问题类型多，定义复杂，难以长期记忆，往往需要找人询问、查资料。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4254183" y="1511935"/>
            <a:ext cx="1114425" cy="302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应用现状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8141970" y="1511935"/>
            <a:ext cx="960120" cy="302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痛点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7737793" y="2214722"/>
            <a:ext cx="1903730" cy="264795"/>
            <a:chOff x="12952" y="3598"/>
            <a:chExt cx="2998" cy="417"/>
          </a:xfrm>
        </p:grpSpPr>
        <p:sp>
          <p:nvSpPr>
            <p:cNvPr id="28" name="圆角矩形 27"/>
            <p:cNvSpPr/>
            <p:nvPr/>
          </p:nvSpPr>
          <p:spPr>
            <a:xfrm>
              <a:off x="12952" y="3598"/>
              <a:ext cx="1350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记忆难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14387" y="3598"/>
              <a:ext cx="1563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知识检索难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3" name="iconfont-11910-5473256"/>
          <p:cNvSpPr/>
          <p:nvPr/>
        </p:nvSpPr>
        <p:spPr>
          <a:xfrm rot="5400000">
            <a:off x="4773295" y="1578610"/>
            <a:ext cx="76200" cy="686435"/>
          </a:xfrm>
          <a:custGeom>
            <a:avLst/>
            <a:gdLst>
              <a:gd name="T0" fmla="*/ 121 w 5896"/>
              <a:gd name="T1" fmla="*/ 559 h 10872"/>
              <a:gd name="T2" fmla="*/ 560 w 5896"/>
              <a:gd name="T3" fmla="*/ 559 h 10872"/>
              <a:gd name="T4" fmla="*/ 560 w 5896"/>
              <a:gd name="T5" fmla="*/ 121 h 10872"/>
              <a:gd name="T6" fmla="*/ 121 w 5896"/>
              <a:gd name="T7" fmla="*/ 121 h 10872"/>
              <a:gd name="T8" fmla="*/ 121 w 5896"/>
              <a:gd name="T9" fmla="*/ 559 h 10872"/>
              <a:gd name="T10" fmla="*/ 173 w 5896"/>
              <a:gd name="T11" fmla="*/ 10310 h 10872"/>
              <a:gd name="T12" fmla="*/ 614 w 5896"/>
              <a:gd name="T13" fmla="*/ 10752 h 10872"/>
              <a:gd name="T14" fmla="*/ 5896 w 5896"/>
              <a:gd name="T15" fmla="*/ 5470 h 10872"/>
              <a:gd name="T16" fmla="*/ 549 w 5896"/>
              <a:gd name="T17" fmla="*/ 125 h 10872"/>
              <a:gd name="T18" fmla="*/ 167 w 5896"/>
              <a:gd name="T19" fmla="*/ 508 h 10872"/>
              <a:gd name="T20" fmla="*/ 167 w 5896"/>
              <a:gd name="T21" fmla="*/ 605 h 10872"/>
              <a:gd name="T22" fmla="*/ 5023 w 5896"/>
              <a:gd name="T23" fmla="*/ 5460 h 10872"/>
              <a:gd name="T24" fmla="*/ 173 w 5896"/>
              <a:gd name="T25" fmla="*/ 10310 h 10872"/>
              <a:gd name="T26" fmla="*/ 175 w 5896"/>
              <a:gd name="T27" fmla="*/ 10751 h 10872"/>
              <a:gd name="T28" fmla="*/ 613 w 5896"/>
              <a:gd name="T29" fmla="*/ 10751 h 10872"/>
              <a:gd name="T30" fmla="*/ 613 w 5896"/>
              <a:gd name="T31" fmla="*/ 10313 h 10872"/>
              <a:gd name="T32" fmla="*/ 175 w 5896"/>
              <a:gd name="T33" fmla="*/ 10313 h 10872"/>
              <a:gd name="T34" fmla="*/ 175 w 5896"/>
              <a:gd name="T35" fmla="*/ 10751 h 10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896" h="10872">
                <a:moveTo>
                  <a:pt x="121" y="559"/>
                </a:moveTo>
                <a:cubicBezTo>
                  <a:pt x="242" y="680"/>
                  <a:pt x="439" y="680"/>
                  <a:pt x="560" y="559"/>
                </a:cubicBezTo>
                <a:cubicBezTo>
                  <a:pt x="681" y="438"/>
                  <a:pt x="681" y="242"/>
                  <a:pt x="560" y="121"/>
                </a:cubicBezTo>
                <a:cubicBezTo>
                  <a:pt x="439" y="0"/>
                  <a:pt x="242" y="0"/>
                  <a:pt x="121" y="121"/>
                </a:cubicBezTo>
                <a:cubicBezTo>
                  <a:pt x="0" y="242"/>
                  <a:pt x="0" y="438"/>
                  <a:pt x="121" y="559"/>
                </a:cubicBezTo>
                <a:close/>
                <a:moveTo>
                  <a:pt x="173" y="10310"/>
                </a:moveTo>
                <a:lnTo>
                  <a:pt x="614" y="10752"/>
                </a:lnTo>
                <a:lnTo>
                  <a:pt x="5896" y="5470"/>
                </a:lnTo>
                <a:lnTo>
                  <a:pt x="549" y="125"/>
                </a:lnTo>
                <a:lnTo>
                  <a:pt x="167" y="508"/>
                </a:lnTo>
                <a:lnTo>
                  <a:pt x="167" y="605"/>
                </a:lnTo>
                <a:lnTo>
                  <a:pt x="5023" y="5460"/>
                </a:lnTo>
                <a:lnTo>
                  <a:pt x="173" y="10310"/>
                </a:lnTo>
                <a:close/>
                <a:moveTo>
                  <a:pt x="175" y="10751"/>
                </a:moveTo>
                <a:cubicBezTo>
                  <a:pt x="296" y="10872"/>
                  <a:pt x="492" y="10872"/>
                  <a:pt x="613" y="10751"/>
                </a:cubicBezTo>
                <a:cubicBezTo>
                  <a:pt x="734" y="10630"/>
                  <a:pt x="734" y="10434"/>
                  <a:pt x="613" y="10313"/>
                </a:cubicBezTo>
                <a:cubicBezTo>
                  <a:pt x="492" y="10192"/>
                  <a:pt x="296" y="10192"/>
                  <a:pt x="175" y="10313"/>
                </a:cubicBezTo>
                <a:cubicBezTo>
                  <a:pt x="54" y="10434"/>
                  <a:pt x="54" y="10630"/>
                  <a:pt x="175" y="10751"/>
                </a:cubicBezTo>
                <a:close/>
              </a:path>
            </a:pathLst>
          </a:custGeom>
          <a:solidFill>
            <a:srgbClr val="4F81BD"/>
          </a:solidFill>
          <a:ln w="28575" cap="flat" cmpd="sng" algn="ctr">
            <a:solidFill>
              <a:srgbClr val="9BD5DB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4" name="iconfont-11910-5473256"/>
          <p:cNvSpPr/>
          <p:nvPr/>
        </p:nvSpPr>
        <p:spPr>
          <a:xfrm rot="5400000">
            <a:off x="8583930" y="1578610"/>
            <a:ext cx="76200" cy="686435"/>
          </a:xfrm>
          <a:custGeom>
            <a:avLst/>
            <a:gdLst>
              <a:gd name="T0" fmla="*/ 121 w 5896"/>
              <a:gd name="T1" fmla="*/ 559 h 10872"/>
              <a:gd name="T2" fmla="*/ 560 w 5896"/>
              <a:gd name="T3" fmla="*/ 559 h 10872"/>
              <a:gd name="T4" fmla="*/ 560 w 5896"/>
              <a:gd name="T5" fmla="*/ 121 h 10872"/>
              <a:gd name="T6" fmla="*/ 121 w 5896"/>
              <a:gd name="T7" fmla="*/ 121 h 10872"/>
              <a:gd name="T8" fmla="*/ 121 w 5896"/>
              <a:gd name="T9" fmla="*/ 559 h 10872"/>
              <a:gd name="T10" fmla="*/ 173 w 5896"/>
              <a:gd name="T11" fmla="*/ 10310 h 10872"/>
              <a:gd name="T12" fmla="*/ 614 w 5896"/>
              <a:gd name="T13" fmla="*/ 10752 h 10872"/>
              <a:gd name="T14" fmla="*/ 5896 w 5896"/>
              <a:gd name="T15" fmla="*/ 5470 h 10872"/>
              <a:gd name="T16" fmla="*/ 549 w 5896"/>
              <a:gd name="T17" fmla="*/ 125 h 10872"/>
              <a:gd name="T18" fmla="*/ 167 w 5896"/>
              <a:gd name="T19" fmla="*/ 508 h 10872"/>
              <a:gd name="T20" fmla="*/ 167 w 5896"/>
              <a:gd name="T21" fmla="*/ 605 h 10872"/>
              <a:gd name="T22" fmla="*/ 5023 w 5896"/>
              <a:gd name="T23" fmla="*/ 5460 h 10872"/>
              <a:gd name="T24" fmla="*/ 173 w 5896"/>
              <a:gd name="T25" fmla="*/ 10310 h 10872"/>
              <a:gd name="T26" fmla="*/ 175 w 5896"/>
              <a:gd name="T27" fmla="*/ 10751 h 10872"/>
              <a:gd name="T28" fmla="*/ 613 w 5896"/>
              <a:gd name="T29" fmla="*/ 10751 h 10872"/>
              <a:gd name="T30" fmla="*/ 613 w 5896"/>
              <a:gd name="T31" fmla="*/ 10313 h 10872"/>
              <a:gd name="T32" fmla="*/ 175 w 5896"/>
              <a:gd name="T33" fmla="*/ 10313 h 10872"/>
              <a:gd name="T34" fmla="*/ 175 w 5896"/>
              <a:gd name="T35" fmla="*/ 10751 h 10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896" h="10872">
                <a:moveTo>
                  <a:pt x="121" y="559"/>
                </a:moveTo>
                <a:cubicBezTo>
                  <a:pt x="242" y="680"/>
                  <a:pt x="439" y="680"/>
                  <a:pt x="560" y="559"/>
                </a:cubicBezTo>
                <a:cubicBezTo>
                  <a:pt x="681" y="438"/>
                  <a:pt x="681" y="242"/>
                  <a:pt x="560" y="121"/>
                </a:cubicBezTo>
                <a:cubicBezTo>
                  <a:pt x="439" y="0"/>
                  <a:pt x="242" y="0"/>
                  <a:pt x="121" y="121"/>
                </a:cubicBezTo>
                <a:cubicBezTo>
                  <a:pt x="0" y="242"/>
                  <a:pt x="0" y="438"/>
                  <a:pt x="121" y="559"/>
                </a:cubicBezTo>
                <a:close/>
                <a:moveTo>
                  <a:pt x="173" y="10310"/>
                </a:moveTo>
                <a:lnTo>
                  <a:pt x="614" y="10752"/>
                </a:lnTo>
                <a:lnTo>
                  <a:pt x="5896" y="5470"/>
                </a:lnTo>
                <a:lnTo>
                  <a:pt x="549" y="125"/>
                </a:lnTo>
                <a:lnTo>
                  <a:pt x="167" y="508"/>
                </a:lnTo>
                <a:lnTo>
                  <a:pt x="167" y="605"/>
                </a:lnTo>
                <a:lnTo>
                  <a:pt x="5023" y="5460"/>
                </a:lnTo>
                <a:lnTo>
                  <a:pt x="173" y="10310"/>
                </a:lnTo>
                <a:close/>
                <a:moveTo>
                  <a:pt x="175" y="10751"/>
                </a:moveTo>
                <a:cubicBezTo>
                  <a:pt x="296" y="10872"/>
                  <a:pt x="492" y="10872"/>
                  <a:pt x="613" y="10751"/>
                </a:cubicBezTo>
                <a:cubicBezTo>
                  <a:pt x="734" y="10630"/>
                  <a:pt x="734" y="10434"/>
                  <a:pt x="613" y="10313"/>
                </a:cubicBezTo>
                <a:cubicBezTo>
                  <a:pt x="492" y="10192"/>
                  <a:pt x="296" y="10192"/>
                  <a:pt x="175" y="10313"/>
                </a:cubicBezTo>
                <a:cubicBezTo>
                  <a:pt x="54" y="10434"/>
                  <a:pt x="54" y="10630"/>
                  <a:pt x="175" y="10751"/>
                </a:cubicBezTo>
                <a:close/>
              </a:path>
            </a:pathLst>
          </a:custGeom>
          <a:solidFill>
            <a:srgbClr val="4F81BD"/>
          </a:solidFill>
          <a:ln w="28575" cap="flat" cmpd="sng" algn="ctr">
            <a:solidFill>
              <a:srgbClr val="9BD5DB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5" name="圆角矩形 149"/>
          <p:cNvSpPr/>
          <p:nvPr>
            <p:custDataLst>
              <p:tags r:id="rId4"/>
            </p:custDataLst>
          </p:nvPr>
        </p:nvSpPr>
        <p:spPr>
          <a:xfrm>
            <a:off x="662623" y="3301048"/>
            <a:ext cx="1214120" cy="346075"/>
          </a:xfrm>
          <a:prstGeom prst="roundRect">
            <a:avLst/>
          </a:prstGeom>
          <a:solidFill>
            <a:srgbClr val="0070C0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数据分析</a:t>
            </a:r>
            <a:endParaRPr lang="zh-CN" altLang="en-US" sz="14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圆角矩形 149"/>
          <p:cNvSpPr/>
          <p:nvPr>
            <p:custDataLst>
              <p:tags r:id="rId5"/>
            </p:custDataLst>
          </p:nvPr>
        </p:nvSpPr>
        <p:spPr>
          <a:xfrm>
            <a:off x="662623" y="2734628"/>
            <a:ext cx="1214120" cy="346075"/>
          </a:xfrm>
          <a:prstGeom prst="roundRect">
            <a:avLst/>
          </a:prstGeom>
          <a:solidFill>
            <a:srgbClr val="0070C0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业务需求</a:t>
            </a:r>
            <a:endParaRPr lang="zh-CN" altLang="en-US" sz="14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4" name="圆角矩形 149"/>
          <p:cNvSpPr/>
          <p:nvPr>
            <p:custDataLst>
              <p:tags r:id="rId6"/>
            </p:custDataLst>
          </p:nvPr>
        </p:nvSpPr>
        <p:spPr>
          <a:xfrm>
            <a:off x="662623" y="3889058"/>
            <a:ext cx="1214120" cy="346075"/>
          </a:xfrm>
          <a:prstGeom prst="roundRect">
            <a:avLst/>
          </a:prstGeom>
          <a:solidFill>
            <a:srgbClr val="0070C0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问题处理</a:t>
            </a:r>
            <a:endParaRPr lang="zh-CN" altLang="en-US" sz="14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圆角矩形 149"/>
          <p:cNvSpPr/>
          <p:nvPr>
            <p:custDataLst>
              <p:tags r:id="rId7"/>
            </p:custDataLst>
          </p:nvPr>
        </p:nvSpPr>
        <p:spPr>
          <a:xfrm>
            <a:off x="662623" y="2174082"/>
            <a:ext cx="1214120" cy="346075"/>
          </a:xfrm>
          <a:prstGeom prst="roundRect">
            <a:avLst/>
          </a:prstGeom>
          <a:solidFill>
            <a:srgbClr val="0070C0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业务认知</a:t>
            </a:r>
            <a:endParaRPr lang="zh-CN" altLang="en-US" sz="14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72093" y="3831908"/>
            <a:ext cx="40786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现场处理难以查询整体网络覆盖情况，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端呈现需定制化开发，成本高、灵活性差。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72093" y="2677478"/>
            <a:ext cx="40786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数据统计维度与业务查看视角多变，难以利用多维度数据能力组合实现，定制开发周期长，业务开展效率低。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72093" y="3243898"/>
            <a:ext cx="40786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覆盖分小区、栅格、区域、道路等多维度分析，难以综合分析（如网格视角），定制化开发费时费力。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737793" y="3929698"/>
            <a:ext cx="1768475" cy="264795"/>
            <a:chOff x="12952" y="3598"/>
            <a:chExt cx="2785" cy="417"/>
          </a:xfrm>
        </p:grpSpPr>
        <p:sp>
          <p:nvSpPr>
            <p:cNvPr id="12" name="圆角矩形 11"/>
            <p:cNvSpPr/>
            <p:nvPr/>
          </p:nvSpPr>
          <p:spPr>
            <a:xfrm>
              <a:off x="12952" y="3598"/>
              <a:ext cx="1350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效率低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4387" y="3598"/>
              <a:ext cx="1350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成本高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737793" y="2775268"/>
            <a:ext cx="1768475" cy="264795"/>
            <a:chOff x="12952" y="3598"/>
            <a:chExt cx="2785" cy="417"/>
          </a:xfrm>
        </p:grpSpPr>
        <p:sp>
          <p:nvSpPr>
            <p:cNvPr id="15" name="圆角矩形 14"/>
            <p:cNvSpPr/>
            <p:nvPr/>
          </p:nvSpPr>
          <p:spPr>
            <a:xfrm>
              <a:off x="12952" y="3598"/>
              <a:ext cx="1350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灵活性差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4387" y="3598"/>
              <a:ext cx="1350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成本高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737793" y="3341688"/>
            <a:ext cx="1768475" cy="264795"/>
            <a:chOff x="12952" y="3598"/>
            <a:chExt cx="2785" cy="417"/>
          </a:xfrm>
        </p:grpSpPr>
        <p:sp>
          <p:nvSpPr>
            <p:cNvPr id="20" name="圆角矩形 19"/>
            <p:cNvSpPr/>
            <p:nvPr/>
          </p:nvSpPr>
          <p:spPr>
            <a:xfrm>
              <a:off x="12952" y="3598"/>
              <a:ext cx="1350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分析繁琐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4387" y="3598"/>
              <a:ext cx="1350" cy="4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成本高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3" name="五边形 37"/>
          <p:cNvSpPr/>
          <p:nvPr>
            <p:custDataLst>
              <p:tags r:id="rId8"/>
            </p:custDataLst>
          </p:nvPr>
        </p:nvSpPr>
        <p:spPr>
          <a:xfrm>
            <a:off x="2273030" y="1771997"/>
            <a:ext cx="262664" cy="2184904"/>
          </a:xfrm>
          <a:prstGeom prst="homePlate">
            <a:avLst>
              <a:gd name="adj" fmla="val 70842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1F7EC0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1000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五边形 37"/>
          <p:cNvSpPr/>
          <p:nvPr>
            <p:custDataLst>
              <p:tags r:id="rId9"/>
            </p:custDataLst>
          </p:nvPr>
        </p:nvSpPr>
        <p:spPr>
          <a:xfrm>
            <a:off x="7118715" y="1834227"/>
            <a:ext cx="262664" cy="2184904"/>
          </a:xfrm>
          <a:prstGeom prst="homePlate">
            <a:avLst>
              <a:gd name="adj" fmla="val 70842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1F7EC0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1000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五边形 37"/>
          <p:cNvSpPr/>
          <p:nvPr>
            <p:custDataLst>
              <p:tags r:id="rId10"/>
            </p:custDataLst>
          </p:nvPr>
        </p:nvSpPr>
        <p:spPr>
          <a:xfrm>
            <a:off x="10014950" y="1834227"/>
            <a:ext cx="262664" cy="2184904"/>
          </a:xfrm>
          <a:prstGeom prst="homePlate">
            <a:avLst>
              <a:gd name="adj" fmla="val 70842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1F7EC0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1000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10506075" y="1511935"/>
            <a:ext cx="1133475" cy="302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解决方案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5" name="iconfont-11910-5473256"/>
          <p:cNvSpPr/>
          <p:nvPr/>
        </p:nvSpPr>
        <p:spPr>
          <a:xfrm rot="5400000">
            <a:off x="11049000" y="1578610"/>
            <a:ext cx="76200" cy="686435"/>
          </a:xfrm>
          <a:custGeom>
            <a:avLst/>
            <a:gdLst>
              <a:gd name="T0" fmla="*/ 121 w 5896"/>
              <a:gd name="T1" fmla="*/ 559 h 10872"/>
              <a:gd name="T2" fmla="*/ 560 w 5896"/>
              <a:gd name="T3" fmla="*/ 559 h 10872"/>
              <a:gd name="T4" fmla="*/ 560 w 5896"/>
              <a:gd name="T5" fmla="*/ 121 h 10872"/>
              <a:gd name="T6" fmla="*/ 121 w 5896"/>
              <a:gd name="T7" fmla="*/ 121 h 10872"/>
              <a:gd name="T8" fmla="*/ 121 w 5896"/>
              <a:gd name="T9" fmla="*/ 559 h 10872"/>
              <a:gd name="T10" fmla="*/ 173 w 5896"/>
              <a:gd name="T11" fmla="*/ 10310 h 10872"/>
              <a:gd name="T12" fmla="*/ 614 w 5896"/>
              <a:gd name="T13" fmla="*/ 10752 h 10872"/>
              <a:gd name="T14" fmla="*/ 5896 w 5896"/>
              <a:gd name="T15" fmla="*/ 5470 h 10872"/>
              <a:gd name="T16" fmla="*/ 549 w 5896"/>
              <a:gd name="T17" fmla="*/ 125 h 10872"/>
              <a:gd name="T18" fmla="*/ 167 w 5896"/>
              <a:gd name="T19" fmla="*/ 508 h 10872"/>
              <a:gd name="T20" fmla="*/ 167 w 5896"/>
              <a:gd name="T21" fmla="*/ 605 h 10872"/>
              <a:gd name="T22" fmla="*/ 5023 w 5896"/>
              <a:gd name="T23" fmla="*/ 5460 h 10872"/>
              <a:gd name="T24" fmla="*/ 173 w 5896"/>
              <a:gd name="T25" fmla="*/ 10310 h 10872"/>
              <a:gd name="T26" fmla="*/ 175 w 5896"/>
              <a:gd name="T27" fmla="*/ 10751 h 10872"/>
              <a:gd name="T28" fmla="*/ 613 w 5896"/>
              <a:gd name="T29" fmla="*/ 10751 h 10872"/>
              <a:gd name="T30" fmla="*/ 613 w 5896"/>
              <a:gd name="T31" fmla="*/ 10313 h 10872"/>
              <a:gd name="T32" fmla="*/ 175 w 5896"/>
              <a:gd name="T33" fmla="*/ 10313 h 10872"/>
              <a:gd name="T34" fmla="*/ 175 w 5896"/>
              <a:gd name="T35" fmla="*/ 10751 h 10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896" h="10872">
                <a:moveTo>
                  <a:pt x="121" y="559"/>
                </a:moveTo>
                <a:cubicBezTo>
                  <a:pt x="242" y="680"/>
                  <a:pt x="439" y="680"/>
                  <a:pt x="560" y="559"/>
                </a:cubicBezTo>
                <a:cubicBezTo>
                  <a:pt x="681" y="438"/>
                  <a:pt x="681" y="242"/>
                  <a:pt x="560" y="121"/>
                </a:cubicBezTo>
                <a:cubicBezTo>
                  <a:pt x="439" y="0"/>
                  <a:pt x="242" y="0"/>
                  <a:pt x="121" y="121"/>
                </a:cubicBezTo>
                <a:cubicBezTo>
                  <a:pt x="0" y="242"/>
                  <a:pt x="0" y="438"/>
                  <a:pt x="121" y="559"/>
                </a:cubicBezTo>
                <a:close/>
                <a:moveTo>
                  <a:pt x="173" y="10310"/>
                </a:moveTo>
                <a:lnTo>
                  <a:pt x="614" y="10752"/>
                </a:lnTo>
                <a:lnTo>
                  <a:pt x="5896" y="5470"/>
                </a:lnTo>
                <a:lnTo>
                  <a:pt x="549" y="125"/>
                </a:lnTo>
                <a:lnTo>
                  <a:pt x="167" y="508"/>
                </a:lnTo>
                <a:lnTo>
                  <a:pt x="167" y="605"/>
                </a:lnTo>
                <a:lnTo>
                  <a:pt x="5023" y="5460"/>
                </a:lnTo>
                <a:lnTo>
                  <a:pt x="173" y="10310"/>
                </a:lnTo>
                <a:close/>
                <a:moveTo>
                  <a:pt x="175" y="10751"/>
                </a:moveTo>
                <a:cubicBezTo>
                  <a:pt x="296" y="10872"/>
                  <a:pt x="492" y="10872"/>
                  <a:pt x="613" y="10751"/>
                </a:cubicBezTo>
                <a:cubicBezTo>
                  <a:pt x="734" y="10630"/>
                  <a:pt x="734" y="10434"/>
                  <a:pt x="613" y="10313"/>
                </a:cubicBezTo>
                <a:cubicBezTo>
                  <a:pt x="492" y="10192"/>
                  <a:pt x="296" y="10192"/>
                  <a:pt x="175" y="10313"/>
                </a:cubicBezTo>
                <a:cubicBezTo>
                  <a:pt x="54" y="10434"/>
                  <a:pt x="54" y="10630"/>
                  <a:pt x="175" y="10751"/>
                </a:cubicBezTo>
                <a:close/>
              </a:path>
            </a:pathLst>
          </a:custGeom>
          <a:solidFill>
            <a:srgbClr val="4F81BD"/>
          </a:solidFill>
          <a:ln w="28575" cap="flat" cmpd="sng" algn="ctr">
            <a:solidFill>
              <a:srgbClr val="9BD5DB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0643553" y="2214722"/>
            <a:ext cx="857250" cy="2647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智能问答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0643553" y="2775427"/>
            <a:ext cx="857250" cy="2647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智能看数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0643553" y="3341847"/>
            <a:ext cx="857250" cy="2647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智能分析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0643553" y="3929698"/>
            <a:ext cx="857250" cy="2647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多端支撑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712788" y="1511935"/>
            <a:ext cx="1114425" cy="302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业务场景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9" name="iconfont-11910-5473256"/>
          <p:cNvSpPr/>
          <p:nvPr/>
        </p:nvSpPr>
        <p:spPr>
          <a:xfrm rot="5400000">
            <a:off x="1231900" y="1578610"/>
            <a:ext cx="76200" cy="686435"/>
          </a:xfrm>
          <a:custGeom>
            <a:avLst/>
            <a:gdLst>
              <a:gd name="T0" fmla="*/ 121 w 5896"/>
              <a:gd name="T1" fmla="*/ 559 h 10872"/>
              <a:gd name="T2" fmla="*/ 560 w 5896"/>
              <a:gd name="T3" fmla="*/ 559 h 10872"/>
              <a:gd name="T4" fmla="*/ 560 w 5896"/>
              <a:gd name="T5" fmla="*/ 121 h 10872"/>
              <a:gd name="T6" fmla="*/ 121 w 5896"/>
              <a:gd name="T7" fmla="*/ 121 h 10872"/>
              <a:gd name="T8" fmla="*/ 121 w 5896"/>
              <a:gd name="T9" fmla="*/ 559 h 10872"/>
              <a:gd name="T10" fmla="*/ 173 w 5896"/>
              <a:gd name="T11" fmla="*/ 10310 h 10872"/>
              <a:gd name="T12" fmla="*/ 614 w 5896"/>
              <a:gd name="T13" fmla="*/ 10752 h 10872"/>
              <a:gd name="T14" fmla="*/ 5896 w 5896"/>
              <a:gd name="T15" fmla="*/ 5470 h 10872"/>
              <a:gd name="T16" fmla="*/ 549 w 5896"/>
              <a:gd name="T17" fmla="*/ 125 h 10872"/>
              <a:gd name="T18" fmla="*/ 167 w 5896"/>
              <a:gd name="T19" fmla="*/ 508 h 10872"/>
              <a:gd name="T20" fmla="*/ 167 w 5896"/>
              <a:gd name="T21" fmla="*/ 605 h 10872"/>
              <a:gd name="T22" fmla="*/ 5023 w 5896"/>
              <a:gd name="T23" fmla="*/ 5460 h 10872"/>
              <a:gd name="T24" fmla="*/ 173 w 5896"/>
              <a:gd name="T25" fmla="*/ 10310 h 10872"/>
              <a:gd name="T26" fmla="*/ 175 w 5896"/>
              <a:gd name="T27" fmla="*/ 10751 h 10872"/>
              <a:gd name="T28" fmla="*/ 613 w 5896"/>
              <a:gd name="T29" fmla="*/ 10751 h 10872"/>
              <a:gd name="T30" fmla="*/ 613 w 5896"/>
              <a:gd name="T31" fmla="*/ 10313 h 10872"/>
              <a:gd name="T32" fmla="*/ 175 w 5896"/>
              <a:gd name="T33" fmla="*/ 10313 h 10872"/>
              <a:gd name="T34" fmla="*/ 175 w 5896"/>
              <a:gd name="T35" fmla="*/ 10751 h 10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896" h="10872">
                <a:moveTo>
                  <a:pt x="121" y="559"/>
                </a:moveTo>
                <a:cubicBezTo>
                  <a:pt x="242" y="680"/>
                  <a:pt x="439" y="680"/>
                  <a:pt x="560" y="559"/>
                </a:cubicBezTo>
                <a:cubicBezTo>
                  <a:pt x="681" y="438"/>
                  <a:pt x="681" y="242"/>
                  <a:pt x="560" y="121"/>
                </a:cubicBezTo>
                <a:cubicBezTo>
                  <a:pt x="439" y="0"/>
                  <a:pt x="242" y="0"/>
                  <a:pt x="121" y="121"/>
                </a:cubicBezTo>
                <a:cubicBezTo>
                  <a:pt x="0" y="242"/>
                  <a:pt x="0" y="438"/>
                  <a:pt x="121" y="559"/>
                </a:cubicBezTo>
                <a:close/>
                <a:moveTo>
                  <a:pt x="173" y="10310"/>
                </a:moveTo>
                <a:lnTo>
                  <a:pt x="614" y="10752"/>
                </a:lnTo>
                <a:lnTo>
                  <a:pt x="5896" y="5470"/>
                </a:lnTo>
                <a:lnTo>
                  <a:pt x="549" y="125"/>
                </a:lnTo>
                <a:lnTo>
                  <a:pt x="167" y="508"/>
                </a:lnTo>
                <a:lnTo>
                  <a:pt x="167" y="605"/>
                </a:lnTo>
                <a:lnTo>
                  <a:pt x="5023" y="5460"/>
                </a:lnTo>
                <a:lnTo>
                  <a:pt x="173" y="10310"/>
                </a:lnTo>
                <a:close/>
                <a:moveTo>
                  <a:pt x="175" y="10751"/>
                </a:moveTo>
                <a:cubicBezTo>
                  <a:pt x="296" y="10872"/>
                  <a:pt x="492" y="10872"/>
                  <a:pt x="613" y="10751"/>
                </a:cubicBezTo>
                <a:cubicBezTo>
                  <a:pt x="734" y="10630"/>
                  <a:pt x="734" y="10434"/>
                  <a:pt x="613" y="10313"/>
                </a:cubicBezTo>
                <a:cubicBezTo>
                  <a:pt x="492" y="10192"/>
                  <a:pt x="296" y="10192"/>
                  <a:pt x="175" y="10313"/>
                </a:cubicBezTo>
                <a:cubicBezTo>
                  <a:pt x="54" y="10434"/>
                  <a:pt x="54" y="10630"/>
                  <a:pt x="175" y="10751"/>
                </a:cubicBezTo>
                <a:close/>
              </a:path>
            </a:pathLst>
          </a:custGeom>
          <a:solidFill>
            <a:srgbClr val="4F81BD"/>
          </a:solidFill>
          <a:ln w="28575" cap="flat" cmpd="sng" algn="ctr">
            <a:solidFill>
              <a:srgbClr val="9BD5DB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" y="4428490"/>
            <a:ext cx="2562225" cy="208153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821055" y="6506845"/>
            <a:ext cx="14522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一句话洞察数据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825230" y="6510020"/>
            <a:ext cx="1452245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数字孪生看数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4235" y="4420235"/>
            <a:ext cx="3530600" cy="2052955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992245" y="6510020"/>
            <a:ext cx="23545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GIS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辅助，智能生成结论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76580" y="687705"/>
            <a:ext cx="11220450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业务场景：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关键指标查询，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质差问题识别、原因分析、方案决策、一键执行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应用范围：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省移动（黑龙江、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甘肃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511200" y="50400"/>
            <a:ext cx="9759950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无线专业智能体 | 质差分析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6" name="矩形 26"/>
          <p:cNvSpPr/>
          <p:nvPr>
            <p:custDataLst>
              <p:tags r:id="rId1"/>
            </p:custDataLst>
          </p:nvPr>
        </p:nvSpPr>
        <p:spPr bwMode="auto">
          <a:xfrm>
            <a:off x="4241800" y="1720850"/>
            <a:ext cx="7670165" cy="471678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>
            <a:solidFill>
              <a:srgbClr val="1184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82550" tIns="41275" rIns="82550" bIns="41275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26"/>
          <p:cNvSpPr/>
          <p:nvPr>
            <p:custDataLst>
              <p:tags r:id="rId2"/>
            </p:custDataLst>
          </p:nvPr>
        </p:nvSpPr>
        <p:spPr bwMode="auto">
          <a:xfrm>
            <a:off x="317500" y="1720215"/>
            <a:ext cx="3825240" cy="4716780"/>
          </a:xfrm>
          <a:prstGeom prst="roundRect">
            <a:avLst>
              <a:gd name="adj" fmla="val 2357"/>
            </a:avLst>
          </a:prstGeom>
          <a:solidFill>
            <a:schemeClr val="bg1"/>
          </a:solidFill>
          <a:ln>
            <a:solidFill>
              <a:srgbClr val="1184C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82550" tIns="41275" rIns="82550" bIns="41275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336675" y="1581150"/>
            <a:ext cx="1786890" cy="25717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业务痛点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3"/>
            </p:custDataLst>
          </p:nvPr>
        </p:nvSpPr>
        <p:spPr>
          <a:xfrm>
            <a:off x="393700" y="1896110"/>
            <a:ext cx="3701415" cy="915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u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传统质差分析依赖集中及专项优化工单，受人力限制仅派发处理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TOP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问题，且分析应用仅面向小区维度，对一线优化人员不友好。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圆角矩形 176"/>
          <p:cNvSpPr/>
          <p:nvPr/>
        </p:nvSpPr>
        <p:spPr>
          <a:xfrm>
            <a:off x="7183438" y="1580515"/>
            <a:ext cx="1786890" cy="25717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: 圆角 23"/>
          <p:cNvSpPr/>
          <p:nvPr/>
        </p:nvSpPr>
        <p:spPr>
          <a:xfrm>
            <a:off x="1997393" y="4272915"/>
            <a:ext cx="1962150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质差问题定位慢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: 圆角 23"/>
          <p:cNvSpPr/>
          <p:nvPr/>
        </p:nvSpPr>
        <p:spPr>
          <a:xfrm>
            <a:off x="1997075" y="4735195"/>
            <a:ext cx="1962785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人工分析经验依赖高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矩形: 圆角 23"/>
          <p:cNvSpPr/>
          <p:nvPr/>
        </p:nvSpPr>
        <p:spPr>
          <a:xfrm>
            <a:off x="1997075" y="5197475"/>
            <a:ext cx="1962785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人工方案效果不稳定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等腰三角形 24"/>
          <p:cNvSpPr/>
          <p:nvPr/>
        </p:nvSpPr>
        <p:spPr>
          <a:xfrm rot="10800000">
            <a:off x="1146810" y="2719070"/>
            <a:ext cx="1963420" cy="26797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" name="矩形: 圆角 23"/>
          <p:cNvSpPr/>
          <p:nvPr/>
        </p:nvSpPr>
        <p:spPr>
          <a:xfrm>
            <a:off x="1997075" y="5659755"/>
            <a:ext cx="1962785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无便捷的实时分析手段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圆角矩形 70"/>
          <p:cNvSpPr/>
          <p:nvPr/>
        </p:nvSpPr>
        <p:spPr>
          <a:xfrm>
            <a:off x="488315" y="4236720"/>
            <a:ext cx="125349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覆盖小区分析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88950" y="3472180"/>
            <a:ext cx="1252855" cy="262890"/>
          </a:xfrm>
          <a:prstGeom prst="roundRect">
            <a:avLst/>
          </a:prstGeom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传统质差分析流程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70"/>
          <p:cNvSpPr/>
          <p:nvPr/>
        </p:nvSpPr>
        <p:spPr>
          <a:xfrm>
            <a:off x="488315" y="4661535"/>
            <a:ext cx="125349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挨个小区健康体检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22985" y="3020695"/>
            <a:ext cx="2443480" cy="315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帮我分析下当前位置为什么上网慢？</a:t>
            </a:r>
            <a:endParaRPr lang="zh-CN" alt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70"/>
          <p:cNvSpPr/>
          <p:nvPr/>
        </p:nvSpPr>
        <p:spPr>
          <a:xfrm>
            <a:off x="488950" y="3811905"/>
            <a:ext cx="125349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用户位置查找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70"/>
          <p:cNvSpPr/>
          <p:nvPr/>
        </p:nvSpPr>
        <p:spPr>
          <a:xfrm>
            <a:off x="488950" y="5086350"/>
            <a:ext cx="125349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分析问题根因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70"/>
          <p:cNvSpPr/>
          <p:nvPr/>
        </p:nvSpPr>
        <p:spPr>
          <a:xfrm>
            <a:off x="488950" y="5511165"/>
            <a:ext cx="125349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制定解决方案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70"/>
          <p:cNvSpPr/>
          <p:nvPr/>
        </p:nvSpPr>
        <p:spPr>
          <a:xfrm>
            <a:off x="488950" y="5935980"/>
            <a:ext cx="125349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提交参数修改工单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352675" y="3472180"/>
            <a:ext cx="1252855" cy="262890"/>
          </a:xfrm>
          <a:prstGeom prst="roundRect">
            <a:avLst/>
          </a:prstGeom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箭头: 下 38"/>
          <p:cNvSpPr/>
          <p:nvPr/>
        </p:nvSpPr>
        <p:spPr>
          <a:xfrm>
            <a:off x="1022350" y="4086860"/>
            <a:ext cx="124460" cy="109220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3" name="箭头: 下 38"/>
          <p:cNvSpPr/>
          <p:nvPr/>
        </p:nvSpPr>
        <p:spPr>
          <a:xfrm>
            <a:off x="1022350" y="4511675"/>
            <a:ext cx="124460" cy="109220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4" name="箭头: 下 38"/>
          <p:cNvSpPr/>
          <p:nvPr/>
        </p:nvSpPr>
        <p:spPr>
          <a:xfrm>
            <a:off x="1024890" y="4936490"/>
            <a:ext cx="124460" cy="109220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5" name="箭头: 下 38"/>
          <p:cNvSpPr/>
          <p:nvPr/>
        </p:nvSpPr>
        <p:spPr>
          <a:xfrm>
            <a:off x="1022350" y="5361305"/>
            <a:ext cx="124460" cy="109220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6" name="箭头: 下 38"/>
          <p:cNvSpPr/>
          <p:nvPr/>
        </p:nvSpPr>
        <p:spPr>
          <a:xfrm>
            <a:off x="1022350" y="5786120"/>
            <a:ext cx="124460" cy="109220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84" name="矩形: 圆角 23"/>
          <p:cNvSpPr/>
          <p:nvPr/>
        </p:nvSpPr>
        <p:spPr>
          <a:xfrm>
            <a:off x="1997393" y="3810635"/>
            <a:ext cx="1962150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不支持意图交互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4337050" y="2483485"/>
            <a:ext cx="615950" cy="414655"/>
          </a:xfrm>
          <a:prstGeom prst="roundRect">
            <a:avLst/>
          </a:prstGeom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智能体工作流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" name="圆角矩形 70"/>
          <p:cNvSpPr/>
          <p:nvPr/>
        </p:nvSpPr>
        <p:spPr>
          <a:xfrm>
            <a:off x="6199505" y="2507615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获取位置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70"/>
          <p:cNvSpPr/>
          <p:nvPr/>
        </p:nvSpPr>
        <p:spPr>
          <a:xfrm>
            <a:off x="5021580" y="2503170"/>
            <a:ext cx="482600" cy="377190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意图识别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圆角矩形 70"/>
          <p:cNvSpPr/>
          <p:nvPr/>
        </p:nvSpPr>
        <p:spPr>
          <a:xfrm>
            <a:off x="5565775" y="2503170"/>
            <a:ext cx="482600" cy="377190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任务规划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圆角矩形 70"/>
          <p:cNvSpPr/>
          <p:nvPr/>
        </p:nvSpPr>
        <p:spPr>
          <a:xfrm>
            <a:off x="6809740" y="2507615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查询栅格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圆角矩形 70"/>
          <p:cNvSpPr/>
          <p:nvPr/>
        </p:nvSpPr>
        <p:spPr>
          <a:xfrm>
            <a:off x="7419975" y="2503170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相关小区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70"/>
          <p:cNvSpPr/>
          <p:nvPr/>
        </p:nvSpPr>
        <p:spPr>
          <a:xfrm>
            <a:off x="8030210" y="2503170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指标查询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圆角矩形 70"/>
          <p:cNvSpPr/>
          <p:nvPr/>
        </p:nvSpPr>
        <p:spPr>
          <a:xfrm>
            <a:off x="8640445" y="2503170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问题洞察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9250680" y="2507615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根因定位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9860915" y="2507615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方案决策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10508615" y="2503170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  <a:prstDash val="solid"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一键执行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右箭头 225"/>
          <p:cNvSpPr/>
          <p:nvPr/>
        </p:nvSpPr>
        <p:spPr>
          <a:xfrm>
            <a:off x="11058525" y="2615565"/>
            <a:ext cx="113030" cy="12319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: 圆角 23"/>
          <p:cNvSpPr/>
          <p:nvPr/>
        </p:nvSpPr>
        <p:spPr>
          <a:xfrm>
            <a:off x="5965190" y="3065780"/>
            <a:ext cx="98298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智能规划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8" name="矩形: 圆角 23"/>
          <p:cNvSpPr/>
          <p:nvPr/>
        </p:nvSpPr>
        <p:spPr>
          <a:xfrm>
            <a:off x="4725035" y="3065780"/>
            <a:ext cx="98298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意图交互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9" name="矩形: 圆角 23"/>
          <p:cNvSpPr/>
          <p:nvPr/>
        </p:nvSpPr>
        <p:spPr>
          <a:xfrm>
            <a:off x="7205345" y="3065780"/>
            <a:ext cx="128651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智能调度分析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9" name="矩形: 圆角 23"/>
          <p:cNvSpPr/>
          <p:nvPr/>
        </p:nvSpPr>
        <p:spPr>
          <a:xfrm>
            <a:off x="10296525" y="3065780"/>
            <a:ext cx="98298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一键优化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4" name="矩形: 圆角 23"/>
          <p:cNvSpPr/>
          <p:nvPr/>
        </p:nvSpPr>
        <p:spPr>
          <a:xfrm>
            <a:off x="8749030" y="3065780"/>
            <a:ext cx="129032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详细方案生成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圆角矩形 70"/>
          <p:cNvSpPr/>
          <p:nvPr/>
        </p:nvSpPr>
        <p:spPr>
          <a:xfrm>
            <a:off x="6136640" y="2386330"/>
            <a:ext cx="4291965" cy="54546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矩形: 圆角 23"/>
          <p:cNvSpPr/>
          <p:nvPr/>
        </p:nvSpPr>
        <p:spPr>
          <a:xfrm>
            <a:off x="7532370" y="2301875"/>
            <a:ext cx="1500505" cy="1727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智能调度分析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11179175" y="2408555"/>
            <a:ext cx="595630" cy="539750"/>
            <a:chOff x="17654" y="3795"/>
            <a:chExt cx="938" cy="850"/>
          </a:xfrm>
        </p:grpSpPr>
        <p:sp>
          <p:nvSpPr>
            <p:cNvPr id="224" name="椭圆 223"/>
            <p:cNvSpPr/>
            <p:nvPr/>
          </p:nvSpPr>
          <p:spPr>
            <a:xfrm>
              <a:off x="17698" y="3795"/>
              <a:ext cx="850" cy="8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7654" y="3906"/>
              <a:ext cx="939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000" b="1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参数</a:t>
              </a:r>
              <a:endPara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000" b="1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智能体</a:t>
              </a:r>
              <a:endPara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876165" y="1896110"/>
            <a:ext cx="612140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以大模型驱动智能工作流，实现质差问题智能分析、根因定位与一键优化，赋能一线。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4843780"/>
            <a:ext cx="2263140" cy="1233170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970" y="4845050"/>
            <a:ext cx="2267585" cy="12319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5305" y="4845050"/>
            <a:ext cx="2678430" cy="1232535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4801870" y="4476750"/>
            <a:ext cx="161353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分析步骤规划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419975" y="4476750"/>
            <a:ext cx="161353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分析结论输出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834245" y="4476750"/>
            <a:ext cx="161353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latin typeface="Roboto Bold"/>
                <a:ea typeface="思源黑体 CN Bold" panose="020B0800000000000000" charset="-122"/>
              </a:defRPr>
            </a:lvl1pPr>
          </a:lstStyle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多模态展示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" name="图片 13" descr="图层 88"/>
          <p:cNvPicPr>
            <a:picLocks noChangeAspect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7871" t="14035"/>
          <a:stretch>
            <a:fillRect/>
          </a:stretch>
        </p:blipFill>
        <p:spPr>
          <a:xfrm>
            <a:off x="5021580" y="3607435"/>
            <a:ext cx="7285990" cy="647065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11200" y="50400"/>
            <a:ext cx="9759950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algn="l" defTabSz="914400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无线专业智能体 | 投诉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: 圆角 194"/>
          <p:cNvSpPr/>
          <p:nvPr/>
        </p:nvSpPr>
        <p:spPr>
          <a:xfrm>
            <a:off x="271780" y="1779905"/>
            <a:ext cx="11669395" cy="4705350"/>
          </a:xfrm>
          <a:prstGeom prst="roundRect">
            <a:avLst>
              <a:gd name="adj" fmla="val 1908"/>
            </a:avLst>
          </a:prstGeom>
          <a:noFill/>
          <a:ln w="12700" cmpd="sng">
            <a:solidFill>
              <a:srgbClr val="01B7C3"/>
            </a:solidFill>
            <a:prstDash val="sysDash"/>
          </a:ln>
        </p:spPr>
        <p:style>
          <a:lnRef idx="2">
            <a:srgbClr val="0070C0">
              <a:shade val="50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63065" y="2373630"/>
            <a:ext cx="997585" cy="291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一线人员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6262370" y="1516380"/>
            <a:ext cx="2148205" cy="41402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Ins="36000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1"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AI+</a:t>
            </a:r>
            <a:r>
              <a:rPr kumimoji="1"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投诉生产创新流程</a:t>
            </a:r>
            <a:endParaRPr kumimoji="1"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线连接符 35"/>
          <p:cNvCxnSpPr/>
          <p:nvPr>
            <p:custDataLst>
              <p:tags r:id="rId2"/>
            </p:custDataLst>
          </p:nvPr>
        </p:nvCxnSpPr>
        <p:spPr bwMode="auto">
          <a:xfrm flipH="1">
            <a:off x="2866224" y="2707071"/>
            <a:ext cx="635" cy="3700780"/>
          </a:xfrm>
          <a:prstGeom prst="line">
            <a:avLst/>
          </a:prstGeom>
          <a:noFill/>
          <a:ln w="9525" algn="ctr">
            <a:solidFill>
              <a:sysClr val="window" lastClr="FFFFFF">
                <a:lumMod val="50000"/>
              </a:sysClr>
            </a:solidFill>
            <a:prstDash val="lgDash"/>
            <a:round/>
          </a:ln>
        </p:spPr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9030" y="1923247"/>
            <a:ext cx="843309" cy="51288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92759" y="1516285"/>
            <a:ext cx="1226216" cy="41402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Ins="36000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传统投诉处理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70"/>
          <p:cNvSpPr/>
          <p:nvPr/>
        </p:nvSpPr>
        <p:spPr>
          <a:xfrm>
            <a:off x="363538" y="302133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接单联系用户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70"/>
          <p:cNvSpPr/>
          <p:nvPr/>
        </p:nvSpPr>
        <p:spPr>
          <a:xfrm>
            <a:off x="363538" y="345440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信息预处理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70"/>
          <p:cNvSpPr/>
          <p:nvPr/>
        </p:nvSpPr>
        <p:spPr>
          <a:xfrm>
            <a:off x="363538" y="475361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派发子工单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70"/>
          <p:cNvSpPr/>
          <p:nvPr/>
        </p:nvSpPr>
        <p:spPr>
          <a:xfrm>
            <a:off x="363538" y="432054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zh-CN" altLang="en-US" sz="1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人工深度分析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70"/>
          <p:cNvSpPr/>
          <p:nvPr/>
        </p:nvSpPr>
        <p:spPr>
          <a:xfrm>
            <a:off x="363538" y="518668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填写内容回单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70"/>
          <p:cNvSpPr/>
          <p:nvPr/>
        </p:nvSpPr>
        <p:spPr>
          <a:xfrm>
            <a:off x="363538" y="388747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投诉重定位分析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箭头: 下 37"/>
          <p:cNvSpPr/>
          <p:nvPr/>
        </p:nvSpPr>
        <p:spPr>
          <a:xfrm>
            <a:off x="861060" y="3302635"/>
            <a:ext cx="137795" cy="104775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4" name="箭头: 下 38"/>
          <p:cNvSpPr/>
          <p:nvPr/>
        </p:nvSpPr>
        <p:spPr>
          <a:xfrm>
            <a:off x="861060" y="3735705"/>
            <a:ext cx="137795" cy="104775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5" name="箭头: 下 39"/>
          <p:cNvSpPr/>
          <p:nvPr/>
        </p:nvSpPr>
        <p:spPr>
          <a:xfrm>
            <a:off x="861060" y="4168775"/>
            <a:ext cx="137795" cy="104775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6" name="箭头: 下 40"/>
          <p:cNvSpPr/>
          <p:nvPr/>
        </p:nvSpPr>
        <p:spPr>
          <a:xfrm>
            <a:off x="861060" y="4601845"/>
            <a:ext cx="137795" cy="104775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7" name="箭头: 下 41"/>
          <p:cNvSpPr/>
          <p:nvPr/>
        </p:nvSpPr>
        <p:spPr>
          <a:xfrm>
            <a:off x="861060" y="5034915"/>
            <a:ext cx="137795" cy="104775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8" name="圆角矩形 70"/>
          <p:cNvSpPr/>
          <p:nvPr/>
        </p:nvSpPr>
        <p:spPr>
          <a:xfrm>
            <a:off x="363538" y="561975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工单质检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箭头: 下 41"/>
          <p:cNvSpPr/>
          <p:nvPr/>
        </p:nvSpPr>
        <p:spPr>
          <a:xfrm>
            <a:off x="861060" y="5467985"/>
            <a:ext cx="137795" cy="104775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34" name="圆角矩形 70"/>
          <p:cNvSpPr/>
          <p:nvPr/>
        </p:nvSpPr>
        <p:spPr>
          <a:xfrm>
            <a:off x="363538" y="6052820"/>
            <a:ext cx="1132840" cy="23431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工单闭环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箭头: 下 41"/>
          <p:cNvSpPr/>
          <p:nvPr/>
        </p:nvSpPr>
        <p:spPr>
          <a:xfrm>
            <a:off x="861060" y="5901055"/>
            <a:ext cx="137795" cy="104775"/>
          </a:xfrm>
          <a:prstGeom prst="downArrow">
            <a:avLst/>
          </a:prstGeom>
          <a:ln>
            <a:noFill/>
          </a:ln>
        </p:spPr>
        <p:style>
          <a:lnRef idx="2">
            <a:srgbClr val="0070C0">
              <a:shade val="15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36" name="肘形连接符 35"/>
          <p:cNvCxnSpPr>
            <a:stCxn id="12" idx="1"/>
            <a:endCxn id="37" idx="0"/>
          </p:cNvCxnSpPr>
          <p:nvPr/>
        </p:nvCxnSpPr>
        <p:spPr>
          <a:xfrm rot="10800000" flipV="1">
            <a:off x="930275" y="2179955"/>
            <a:ext cx="838835" cy="464185"/>
          </a:xfrm>
          <a:prstGeom prst="bentConnector2">
            <a:avLst/>
          </a:prstGeom>
          <a:ln>
            <a:tailEnd type="arrow"/>
          </a:ln>
        </p:spPr>
        <p:style>
          <a:lnRef idx="2">
            <a:srgbClr val="0070C0"/>
          </a:lnRef>
          <a:fillRef idx="0">
            <a:srgbClr val="FFFFFF"/>
          </a:fillRef>
          <a:effectRef idx="0">
            <a:srgbClr val="FFFFFF"/>
          </a:effectRef>
          <a:fontRef idx="minor">
            <a:sysClr val="windowText" lastClr="000000"/>
          </a:fontRef>
        </p:style>
      </p:cxnSp>
      <p:sp>
        <p:nvSpPr>
          <p:cNvPr id="37" name="圆角矩形 36"/>
          <p:cNvSpPr/>
          <p:nvPr/>
        </p:nvSpPr>
        <p:spPr>
          <a:xfrm>
            <a:off x="440055" y="2644140"/>
            <a:ext cx="979805" cy="262890"/>
          </a:xfrm>
          <a:prstGeom prst="roundRect">
            <a:avLst/>
          </a:prstGeom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4278630" y="2062480"/>
            <a:ext cx="7512050" cy="4345305"/>
          </a:xfrm>
          <a:prstGeom prst="rect">
            <a:avLst/>
          </a:prstGeom>
          <a:solidFill>
            <a:sysClr val="window" lastClr="FFFFFF"/>
          </a:solidFill>
          <a:ln w="12700" cmpd="sng">
            <a:solidFill>
              <a:srgbClr val="01B7C3"/>
            </a:solidFill>
            <a:prstDash val="dash"/>
          </a:ln>
        </p:spPr>
        <p:style>
          <a:lnRef idx="2">
            <a:srgbClr val="0070C0">
              <a:shade val="50000"/>
            </a:srgbClr>
          </a:lnRef>
          <a:fillRef idx="1">
            <a:srgbClr val="0070C0"/>
          </a:fillRef>
          <a:effectRef idx="0">
            <a:srgbClr val="0070C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6759258" y="1882140"/>
            <a:ext cx="2550795" cy="36830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540000" rIns="3600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网优大模型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投诉专业智能体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肘形连接符 37"/>
          <p:cNvCxnSpPr>
            <a:stCxn id="12" idx="3"/>
            <a:endCxn id="39" idx="0"/>
          </p:cNvCxnSpPr>
          <p:nvPr/>
        </p:nvCxnSpPr>
        <p:spPr>
          <a:xfrm>
            <a:off x="2612390" y="2179955"/>
            <a:ext cx="994410" cy="464185"/>
          </a:xfrm>
          <a:prstGeom prst="bentConnector2">
            <a:avLst/>
          </a:prstGeom>
          <a:ln>
            <a:tailEnd type="arrow"/>
          </a:ln>
        </p:spPr>
        <p:style>
          <a:lnRef idx="2">
            <a:srgbClr val="0070C0"/>
          </a:lnRef>
          <a:fillRef idx="0">
            <a:srgbClr val="FFFFFF"/>
          </a:fillRef>
          <a:effectRef idx="0">
            <a:srgbClr val="FFFFFF"/>
          </a:effectRef>
          <a:fontRef idx="minor">
            <a:sysClr val="windowText" lastClr="000000"/>
          </a:fontRef>
        </p:style>
      </p:cxnSp>
      <p:sp>
        <p:nvSpPr>
          <p:cNvPr id="39" name="圆角矩形 38"/>
          <p:cNvSpPr/>
          <p:nvPr/>
        </p:nvSpPr>
        <p:spPr>
          <a:xfrm>
            <a:off x="3057525" y="2644140"/>
            <a:ext cx="1098550" cy="262890"/>
          </a:xfrm>
          <a:prstGeom prst="roundRect">
            <a:avLst/>
          </a:prstGeom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en-US" altLang="zh-CN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AI+</a:t>
            </a:r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投诉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2911475" y="2991485"/>
            <a:ext cx="1278890" cy="745490"/>
            <a:chOff x="7111" y="4991"/>
            <a:chExt cx="2014" cy="1175"/>
          </a:xfrm>
        </p:grpSpPr>
        <p:pic>
          <p:nvPicPr>
            <p:cNvPr id="41" name="图片 40" descr="question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7243" y="4991"/>
              <a:ext cx="450" cy="412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7111" y="5670"/>
              <a:ext cx="2014" cy="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zh-CN" sz="900" dirty="0">
                  <a:latin typeface="微软雅黑" panose="020B0503020204020204" charset="-122"/>
                  <a:ea typeface="微软雅黑" panose="020B0503020204020204" charset="-122"/>
                </a:rPr>
                <a:t>查询我的待办投诉工单有哪些？</a:t>
              </a:r>
              <a:endParaRPr 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9"/>
              </p:custDataLst>
            </p:nvPr>
          </p:nvSpPr>
          <p:spPr>
            <a:xfrm>
              <a:off x="7624" y="5178"/>
              <a:ext cx="130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问</a:t>
              </a:r>
              <a:r>
                <a:rPr kumimoji="1" lang="en-US" alt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-</a:t>
              </a:r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查询</a:t>
              </a: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911475" y="4763135"/>
            <a:ext cx="1278255" cy="677545"/>
            <a:chOff x="7077" y="4991"/>
            <a:chExt cx="2013" cy="1068"/>
          </a:xfrm>
        </p:grpSpPr>
        <p:pic>
          <p:nvPicPr>
            <p:cNvPr id="51" name="图片 50" descr="question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7243" y="4991"/>
              <a:ext cx="450" cy="412"/>
            </a:xfrm>
            <a:prstGeom prst="rect">
              <a:avLst/>
            </a:prstGeom>
          </p:spPr>
        </p:pic>
        <p:sp>
          <p:nvSpPr>
            <p:cNvPr id="52" name="文本框 51"/>
            <p:cNvSpPr txBox="1"/>
            <p:nvPr/>
          </p:nvSpPr>
          <p:spPr>
            <a:xfrm>
              <a:off x="7077" y="5670"/>
              <a:ext cx="2013" cy="3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zh-CN" sz="900" dirty="0">
                  <a:latin typeface="微软雅黑" panose="020B0503020204020204" charset="-122"/>
                  <a:ea typeface="微软雅黑" panose="020B0503020204020204" charset="-122"/>
                </a:rPr>
                <a:t>该工单用户投诉的具体原因可能是什么？</a:t>
              </a:r>
              <a:endParaRPr lang="en-US" alt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1"/>
              </p:custDataLst>
            </p:nvPr>
          </p:nvSpPr>
          <p:spPr>
            <a:xfrm>
              <a:off x="7624" y="5178"/>
              <a:ext cx="130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问</a:t>
              </a:r>
              <a:r>
                <a:rPr kumimoji="1" lang="en-US" alt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-</a:t>
              </a:r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分析</a:t>
              </a: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911475" y="5601970"/>
            <a:ext cx="1278255" cy="677545"/>
            <a:chOff x="7112" y="4991"/>
            <a:chExt cx="2013" cy="1068"/>
          </a:xfrm>
        </p:grpSpPr>
        <p:pic>
          <p:nvPicPr>
            <p:cNvPr id="57" name="图片 56" descr="question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7243" y="4991"/>
              <a:ext cx="450" cy="412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7112" y="5670"/>
              <a:ext cx="2013" cy="3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zh-CN" sz="900" dirty="0">
                  <a:latin typeface="微软雅黑" panose="020B0503020204020204" charset="-122"/>
                  <a:ea typeface="微软雅黑" panose="020B0503020204020204" charset="-122"/>
                </a:rPr>
                <a:t>帮我根据工单的测试和分析内容进行回单。</a:t>
              </a:r>
              <a:endParaRPr lang="zh-CN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3"/>
              </p:custDataLst>
            </p:nvPr>
          </p:nvSpPr>
          <p:spPr>
            <a:xfrm>
              <a:off x="7624" y="5178"/>
              <a:ext cx="130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问</a:t>
              </a:r>
              <a:r>
                <a:rPr kumimoji="1" lang="en-US" alt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-</a:t>
              </a:r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处理</a:t>
              </a: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910205" y="3898265"/>
            <a:ext cx="1278890" cy="703580"/>
            <a:chOff x="7112" y="4991"/>
            <a:chExt cx="2014" cy="1109"/>
          </a:xfrm>
        </p:grpSpPr>
        <p:pic>
          <p:nvPicPr>
            <p:cNvPr id="69" name="图片 68" descr="question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7243" y="4991"/>
              <a:ext cx="450" cy="412"/>
            </a:xfrm>
            <a:prstGeom prst="rect">
              <a:avLst/>
            </a:prstGeom>
          </p:spPr>
        </p:pic>
        <p:sp>
          <p:nvSpPr>
            <p:cNvPr id="76" name="文本框 75"/>
            <p:cNvSpPr txBox="1"/>
            <p:nvPr/>
          </p:nvSpPr>
          <p:spPr>
            <a:xfrm>
              <a:off x="7112" y="5670"/>
              <a:ext cx="2014" cy="4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</a:rPr>
                <a:t>首次联系投诉用户的标准话术流程是什么？</a:t>
              </a:r>
              <a:endParaRPr lang="zh-CN" altLang="en-US" sz="9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5"/>
              </p:custDataLst>
            </p:nvPr>
          </p:nvSpPr>
          <p:spPr>
            <a:xfrm>
              <a:off x="7624" y="5178"/>
              <a:ext cx="1303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问</a:t>
              </a:r>
              <a:r>
                <a:rPr kumimoji="1" lang="en-US" alt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-</a:t>
              </a:r>
              <a:r>
                <a:rPr kumimoji="1"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等线" panose="02010600030101010101" charset="-122"/>
                </a:rPr>
                <a:t>引导</a:t>
              </a: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endParaRPr>
            </a:p>
          </p:txBody>
        </p:sp>
      </p:grpSp>
      <p:sp>
        <p:nvSpPr>
          <p:cNvPr id="80" name="流程图: 可选过程 79"/>
          <p:cNvSpPr/>
          <p:nvPr/>
        </p:nvSpPr>
        <p:spPr>
          <a:xfrm>
            <a:off x="4563745" y="2512060"/>
            <a:ext cx="1552575" cy="355600"/>
          </a:xfrm>
          <a:prstGeom prst="flowChartAlternateProcess">
            <a:avLst/>
          </a:prstGeom>
          <a:solidFill>
            <a:srgbClr val="99CC00">
              <a:lumMod val="60000"/>
              <a:lumOff val="40000"/>
            </a:srgbClr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语言大模型</a:t>
            </a:r>
            <a:endParaRPr lang="zh-CN" altLang="en-US" sz="10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DeepSeek V3</a:t>
            </a:r>
            <a:endParaRPr lang="en-US" altLang="zh-CN" sz="10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流程图: 可选过程 86"/>
          <p:cNvSpPr/>
          <p:nvPr/>
        </p:nvSpPr>
        <p:spPr>
          <a:xfrm>
            <a:off x="6316980" y="2512060"/>
            <a:ext cx="1282700" cy="355600"/>
          </a:xfrm>
          <a:prstGeom prst="flowChartAlternateProcess">
            <a:avLst/>
          </a:prstGeom>
          <a:solidFill>
            <a:srgbClr val="B0E3E6"/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推理大模型</a:t>
            </a:r>
            <a:endParaRPr lang="zh-CN" altLang="en-US" sz="10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DeepSeek R1</a:t>
            </a:r>
            <a:endParaRPr lang="en-US" altLang="zh-CN" sz="10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8" name="流程图: 可选过程 87"/>
          <p:cNvSpPr/>
          <p:nvPr/>
        </p:nvSpPr>
        <p:spPr>
          <a:xfrm>
            <a:off x="7892415" y="2512060"/>
            <a:ext cx="1712595" cy="355600"/>
          </a:xfrm>
          <a:prstGeom prst="flowChartAlternateProcess">
            <a:avLst/>
          </a:prstGeom>
          <a:solidFill>
            <a:srgbClr val="C6D9F1"/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sz="10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投诉智能体</a:t>
            </a:r>
            <a:endParaRPr lang="zh-CN" sz="10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90" name="流程图: 可选过程 89"/>
          <p:cNvSpPr/>
          <p:nvPr/>
        </p:nvSpPr>
        <p:spPr>
          <a:xfrm>
            <a:off x="9688195" y="2512060"/>
            <a:ext cx="1945005" cy="355600"/>
          </a:xfrm>
          <a:prstGeom prst="flowChartAlternateProcess">
            <a:avLst/>
          </a:prstGeom>
          <a:solidFill>
            <a:srgbClr val="FFF2CC"/>
          </a:solidFill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sz="100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投诉知识库</a:t>
            </a:r>
            <a:endParaRPr lang="zh-CN" sz="100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91" name="直接箭头连接符 43"/>
          <p:cNvCxnSpPr/>
          <p:nvPr/>
        </p:nvCxnSpPr>
        <p:spPr>
          <a:xfrm>
            <a:off x="4159250" y="3215640"/>
            <a:ext cx="632460" cy="4445"/>
          </a:xfrm>
          <a:prstGeom prst="straightConnector1">
            <a:avLst/>
          </a:prstGeom>
          <a:ln w="19050">
            <a:solidFill>
              <a:srgbClr val="FF000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92" name="直接箭头连接符 43"/>
          <p:cNvCxnSpPr>
            <a:stCxn id="99" idx="3"/>
          </p:cNvCxnSpPr>
          <p:nvPr/>
        </p:nvCxnSpPr>
        <p:spPr>
          <a:xfrm>
            <a:off x="6318885" y="3215640"/>
            <a:ext cx="1621155" cy="4445"/>
          </a:xfrm>
          <a:prstGeom prst="straightConnector1">
            <a:avLst/>
          </a:prstGeom>
          <a:ln w="19050">
            <a:solidFill>
              <a:srgbClr val="FF000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93" name="文本框 92"/>
          <p:cNvSpPr txBox="1"/>
          <p:nvPr>
            <p:custDataLst>
              <p:tags r:id="rId16"/>
            </p:custDataLst>
          </p:nvPr>
        </p:nvSpPr>
        <p:spPr>
          <a:xfrm>
            <a:off x="7985760" y="2934970"/>
            <a:ext cx="1572895" cy="808990"/>
          </a:xfrm>
          <a:prstGeom prst="rect">
            <a:avLst/>
          </a:prstGeom>
          <a:noFill/>
          <a:ln w="12700" cmpd="sng">
            <a:solidFill>
              <a:srgbClr val="0070C0">
                <a:shade val="50000"/>
              </a:srgbClr>
            </a:solidFill>
            <a:prstDash val="dashDot"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9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智能体调用：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投诉工单查询</a:t>
            </a:r>
            <a:endParaRPr kumimoji="1" 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表单交互呈现</a:t>
            </a:r>
            <a:endParaRPr kumimoji="1" 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结果整合</a:t>
            </a:r>
            <a:endParaRPr kumimoji="1" lang="zh-CN" alt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95" name="直接箭头连接符 43"/>
          <p:cNvCxnSpPr/>
          <p:nvPr/>
        </p:nvCxnSpPr>
        <p:spPr>
          <a:xfrm flipV="1">
            <a:off x="9707880" y="3225165"/>
            <a:ext cx="256540" cy="1905"/>
          </a:xfrm>
          <a:prstGeom prst="straightConnector1">
            <a:avLst/>
          </a:prstGeom>
          <a:ln w="19050">
            <a:solidFill>
              <a:srgbClr val="FF000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96" name="文本框 95"/>
          <p:cNvSpPr txBox="1"/>
          <p:nvPr>
            <p:custDataLst>
              <p:tags r:id="rId17"/>
            </p:custDataLst>
          </p:nvPr>
        </p:nvSpPr>
        <p:spPr>
          <a:xfrm>
            <a:off x="9893300" y="3110230"/>
            <a:ext cx="1740535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检索：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工单查询后续任务引导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97" name="肘形连接符 96"/>
          <p:cNvCxnSpPr>
            <a:stCxn id="96" idx="2"/>
          </p:cNvCxnSpPr>
          <p:nvPr/>
        </p:nvCxnSpPr>
        <p:spPr>
          <a:xfrm rot="5400000">
            <a:off x="10093325" y="2934970"/>
            <a:ext cx="265430" cy="1075690"/>
          </a:xfrm>
          <a:prstGeom prst="bentConnector2">
            <a:avLst/>
          </a:prstGeom>
          <a:ln w="19050">
            <a:solidFill>
              <a:srgbClr val="FF0000">
                <a:lumMod val="60000"/>
                <a:lumOff val="40000"/>
              </a:srgbClr>
            </a:solidFill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98" name="文本框 97"/>
          <p:cNvSpPr txBox="1"/>
          <p:nvPr/>
        </p:nvSpPr>
        <p:spPr>
          <a:xfrm>
            <a:off x="6543675" y="2935605"/>
            <a:ext cx="129476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信息：投诉工单查询</a:t>
            </a:r>
            <a:endParaRPr kumimoji="1"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4742815" y="3100705"/>
            <a:ext cx="157607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意图：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投诉问题，工单查询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02" name="直接箭头连接符 43"/>
          <p:cNvCxnSpPr/>
          <p:nvPr/>
        </p:nvCxnSpPr>
        <p:spPr>
          <a:xfrm flipH="1">
            <a:off x="6325870" y="3583305"/>
            <a:ext cx="1585595" cy="3810"/>
          </a:xfrm>
          <a:prstGeom prst="straightConnector1">
            <a:avLst/>
          </a:prstGeom>
          <a:ln w="19050">
            <a:solidFill>
              <a:srgbClr val="FF000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03" name="文本框 102"/>
          <p:cNvSpPr txBox="1"/>
          <p:nvPr>
            <p:custDataLst>
              <p:tags r:id="rId18"/>
            </p:custDataLst>
          </p:nvPr>
        </p:nvSpPr>
        <p:spPr>
          <a:xfrm>
            <a:off x="4751070" y="3364230"/>
            <a:ext cx="1572895" cy="394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内容：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投诉工单列表</a:t>
            </a:r>
            <a:endParaRPr kumimoji="1" lang="zh-CN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kumimoji="1" lang="zh-CN" altLang="zh-CN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引导：</a:t>
            </a:r>
            <a:r>
              <a:rPr kumimoji="1" lang="zh-CN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联系用户</a:t>
            </a:r>
            <a:r>
              <a:rPr kumimoji="1"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/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工单处理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553200" y="3312160"/>
            <a:ext cx="10541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结果及引导</a:t>
            </a:r>
            <a:endParaRPr kumimoji="1"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05" name="直接箭头连接符 43"/>
          <p:cNvCxnSpPr/>
          <p:nvPr/>
        </p:nvCxnSpPr>
        <p:spPr>
          <a:xfrm>
            <a:off x="4159250" y="4101465"/>
            <a:ext cx="590550" cy="0"/>
          </a:xfrm>
          <a:prstGeom prst="straightConnector1">
            <a:avLst/>
          </a:prstGeom>
          <a:ln w="19050">
            <a:solidFill>
              <a:srgbClr val="F79646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06" name="直接箭头连接符 43"/>
          <p:cNvCxnSpPr/>
          <p:nvPr/>
        </p:nvCxnSpPr>
        <p:spPr>
          <a:xfrm flipH="1">
            <a:off x="5438140" y="3711575"/>
            <a:ext cx="635" cy="284480"/>
          </a:xfrm>
          <a:prstGeom prst="straightConnector1">
            <a:avLst/>
          </a:prstGeom>
          <a:ln w="19050">
            <a:solidFill>
              <a:srgbClr val="FF000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08" name="文本框 107"/>
          <p:cNvSpPr txBox="1"/>
          <p:nvPr/>
        </p:nvSpPr>
        <p:spPr>
          <a:xfrm>
            <a:off x="4912360" y="3726815"/>
            <a:ext cx="1054100" cy="213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kumimoji="1" 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引导</a:t>
            </a:r>
            <a:r>
              <a:rPr kumimoji="1" lang="en-US" alt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 </a:t>
            </a:r>
            <a:r>
              <a:rPr kumimoji="1" 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成功</a:t>
            </a:r>
            <a:endParaRPr kumimoji="1" lang="zh-CN" sz="8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19"/>
            </p:custDataLst>
          </p:nvPr>
        </p:nvSpPr>
        <p:spPr>
          <a:xfrm>
            <a:off x="7985760" y="3898265"/>
            <a:ext cx="1572895" cy="629920"/>
          </a:xfrm>
          <a:prstGeom prst="rect">
            <a:avLst/>
          </a:prstGeom>
          <a:noFill/>
          <a:ln w="12700" cmpd="sng">
            <a:solidFill>
              <a:srgbClr val="0070C0">
                <a:shade val="50000"/>
              </a:srgbClr>
            </a:solidFill>
            <a:prstDash val="dashDot"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9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智能体调用：</a:t>
            </a:r>
            <a:endParaRPr kumimoji="1" lang="zh-CN" sz="9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文本呈现</a:t>
            </a:r>
            <a:endParaRPr kumimoji="1" 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结果整合</a:t>
            </a:r>
            <a:endParaRPr kumimoji="1" lang="zh-CN" alt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20"/>
            </p:custDataLst>
          </p:nvPr>
        </p:nvSpPr>
        <p:spPr>
          <a:xfrm>
            <a:off x="9970770" y="3874135"/>
            <a:ext cx="1595755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kumimoji="1" lang="zh-CN" altLang="en-US" sz="9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检索：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/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1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、投诉专业知识问答库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/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2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、联系用户后续任务引导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11" name="直接箭头连接符 43"/>
          <p:cNvCxnSpPr/>
          <p:nvPr/>
        </p:nvCxnSpPr>
        <p:spPr>
          <a:xfrm>
            <a:off x="9698355" y="4112260"/>
            <a:ext cx="266065" cy="5080"/>
          </a:xfrm>
          <a:prstGeom prst="straightConnector1">
            <a:avLst/>
          </a:prstGeom>
          <a:ln w="19050">
            <a:solidFill>
              <a:srgbClr val="F79646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13" name="肘形连接符 112"/>
          <p:cNvCxnSpPr>
            <a:stCxn id="110" idx="2"/>
          </p:cNvCxnSpPr>
          <p:nvPr/>
        </p:nvCxnSpPr>
        <p:spPr>
          <a:xfrm rot="5400000">
            <a:off x="10180955" y="3883025"/>
            <a:ext cx="90170" cy="1085215"/>
          </a:xfrm>
          <a:prstGeom prst="bentConnector2">
            <a:avLst/>
          </a:prstGeom>
          <a:ln w="19050">
            <a:solidFill>
              <a:srgbClr val="F79646">
                <a:lumMod val="60000"/>
                <a:lumOff val="40000"/>
              </a:srgbClr>
            </a:solidFill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14" name="直接箭头连接符 43"/>
          <p:cNvCxnSpPr/>
          <p:nvPr/>
        </p:nvCxnSpPr>
        <p:spPr>
          <a:xfrm flipH="1">
            <a:off x="6318885" y="4466590"/>
            <a:ext cx="1585595" cy="3810"/>
          </a:xfrm>
          <a:prstGeom prst="straightConnector1">
            <a:avLst/>
          </a:prstGeom>
          <a:ln w="19050">
            <a:solidFill>
              <a:srgbClr val="F79646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15" name="文本框 114"/>
          <p:cNvSpPr txBox="1"/>
          <p:nvPr/>
        </p:nvSpPr>
        <p:spPr>
          <a:xfrm>
            <a:off x="6553835" y="4197350"/>
            <a:ext cx="10541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结果及引导</a:t>
            </a:r>
            <a:endParaRPr kumimoji="1"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21"/>
            </p:custDataLst>
          </p:nvPr>
        </p:nvSpPr>
        <p:spPr>
          <a:xfrm>
            <a:off x="4563745" y="4197350"/>
            <a:ext cx="1760220" cy="394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内容：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标准话术流程</a:t>
            </a:r>
            <a:endParaRPr kumimoji="1" lang="zh-CN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kumimoji="1" lang="zh-CN" altLang="zh-CN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引导：</a:t>
            </a:r>
            <a:r>
              <a:rPr kumimoji="1" lang="zh-CN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智能分析</a:t>
            </a:r>
            <a:r>
              <a:rPr kumimoji="1"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/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重复投诉查询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17" name="文本框 116"/>
          <p:cNvSpPr txBox="1"/>
          <p:nvPr>
            <p:custDataLst>
              <p:tags r:id="rId22"/>
            </p:custDataLst>
          </p:nvPr>
        </p:nvSpPr>
        <p:spPr>
          <a:xfrm>
            <a:off x="7985760" y="4655185"/>
            <a:ext cx="1572895" cy="808990"/>
          </a:xfrm>
          <a:prstGeom prst="rect">
            <a:avLst/>
          </a:prstGeom>
          <a:noFill/>
          <a:ln w="12700" cmpd="sng">
            <a:solidFill>
              <a:srgbClr val="0070C0">
                <a:shade val="50000"/>
              </a:srgbClr>
            </a:solidFill>
            <a:prstDash val="dashDot"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9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智能体调用：</a:t>
            </a:r>
            <a:b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</a:b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位置</a:t>
            </a:r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/</a:t>
            </a: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小区</a:t>
            </a:r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/</a:t>
            </a: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用户分析</a:t>
            </a:r>
            <a:endParaRPr kumimoji="1" 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分析结论呈现</a:t>
            </a:r>
            <a:endParaRPr kumimoji="1" 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结果整合</a:t>
            </a:r>
            <a:endParaRPr kumimoji="1" lang="zh-CN" alt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18" name="文本框 117"/>
          <p:cNvSpPr txBox="1"/>
          <p:nvPr>
            <p:custDataLst>
              <p:tags r:id="rId23"/>
            </p:custDataLst>
          </p:nvPr>
        </p:nvSpPr>
        <p:spPr>
          <a:xfrm>
            <a:off x="9971405" y="4689475"/>
            <a:ext cx="1595755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kumimoji="1" lang="zh-CN" altLang="en-US" sz="9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检索：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/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1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、智能分析任务链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/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2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、</a:t>
            </a: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智能分析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后续任务引导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19" name="直接箭头连接符 43"/>
          <p:cNvCxnSpPr/>
          <p:nvPr/>
        </p:nvCxnSpPr>
        <p:spPr>
          <a:xfrm>
            <a:off x="9712960" y="4928235"/>
            <a:ext cx="251460" cy="4445"/>
          </a:xfrm>
          <a:prstGeom prst="straightConnector1">
            <a:avLst/>
          </a:prstGeom>
          <a:ln w="19050">
            <a:solidFill>
              <a:srgbClr val="0070C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20" name="肘形连接符 119"/>
          <p:cNvCxnSpPr>
            <a:stCxn id="118" idx="2"/>
          </p:cNvCxnSpPr>
          <p:nvPr/>
        </p:nvCxnSpPr>
        <p:spPr>
          <a:xfrm rot="5400000">
            <a:off x="10198735" y="4720590"/>
            <a:ext cx="95885" cy="1046480"/>
          </a:xfrm>
          <a:prstGeom prst="bentConnector2">
            <a:avLst/>
          </a:prstGeom>
          <a:ln w="19050">
            <a:solidFill>
              <a:srgbClr val="0070C0">
                <a:lumMod val="60000"/>
                <a:lumOff val="40000"/>
              </a:srgbClr>
            </a:solidFill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21" name="直接箭头连接符 43"/>
          <p:cNvCxnSpPr/>
          <p:nvPr/>
        </p:nvCxnSpPr>
        <p:spPr>
          <a:xfrm flipH="1">
            <a:off x="7472680" y="5281930"/>
            <a:ext cx="471170" cy="635"/>
          </a:xfrm>
          <a:prstGeom prst="straightConnector1">
            <a:avLst/>
          </a:prstGeom>
          <a:ln w="19050">
            <a:solidFill>
              <a:srgbClr val="0070C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22" name="文本框 121"/>
          <p:cNvSpPr txBox="1"/>
          <p:nvPr>
            <p:custDataLst>
              <p:tags r:id="rId24"/>
            </p:custDataLst>
          </p:nvPr>
        </p:nvSpPr>
        <p:spPr>
          <a:xfrm>
            <a:off x="6197600" y="5080635"/>
            <a:ext cx="128333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推理：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结合分析内容要求以专家视角分析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23" name="直接箭头连接符 43"/>
          <p:cNvCxnSpPr/>
          <p:nvPr/>
        </p:nvCxnSpPr>
        <p:spPr>
          <a:xfrm flipH="1">
            <a:off x="5747385" y="5285105"/>
            <a:ext cx="471170" cy="635"/>
          </a:xfrm>
          <a:prstGeom prst="straightConnector1">
            <a:avLst/>
          </a:prstGeom>
          <a:ln w="19050">
            <a:solidFill>
              <a:srgbClr val="0070C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25" name="文本框 124"/>
          <p:cNvSpPr txBox="1"/>
          <p:nvPr>
            <p:custDataLst>
              <p:tags r:id="rId25"/>
            </p:custDataLst>
          </p:nvPr>
        </p:nvSpPr>
        <p:spPr>
          <a:xfrm>
            <a:off x="4311015" y="5053965"/>
            <a:ext cx="1541145" cy="394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内容：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智能分析结论</a:t>
            </a:r>
            <a:endParaRPr kumimoji="1" 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kumimoji="1" lang="zh-CN" altLang="zh-CN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引导：</a:t>
            </a:r>
            <a:r>
              <a:rPr kumimoji="1" lang="zh-CN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派发测试</a:t>
            </a:r>
            <a:r>
              <a:rPr kumimoji="1"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/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一键回单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26" name="文本框 125"/>
          <p:cNvSpPr txBox="1"/>
          <p:nvPr>
            <p:custDataLst>
              <p:tags r:id="rId26"/>
            </p:custDataLst>
          </p:nvPr>
        </p:nvSpPr>
        <p:spPr>
          <a:xfrm>
            <a:off x="7985760" y="5556885"/>
            <a:ext cx="1572895" cy="730250"/>
          </a:xfrm>
          <a:prstGeom prst="rect">
            <a:avLst/>
          </a:prstGeom>
          <a:noFill/>
          <a:ln w="12700" cmpd="sng">
            <a:solidFill>
              <a:srgbClr val="0070C0">
                <a:shade val="50000"/>
              </a:srgbClr>
            </a:solidFill>
            <a:prstDash val="dashDot"/>
          </a:ln>
        </p:spPr>
        <p:txBody>
          <a:bodyPr wrap="square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9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智能体调用：</a:t>
            </a:r>
            <a:b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</a:b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投诉案例</a:t>
            </a: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库查询</a:t>
            </a:r>
            <a:endParaRPr kumimoji="1" 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2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工单处理交互呈现</a:t>
            </a:r>
            <a:endParaRPr kumimoji="1" 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ctr">
              <a:lnSpc>
                <a:spcPct val="120000"/>
              </a:lnSpc>
            </a:pPr>
            <a:r>
              <a:rPr kumimoji="1" 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结果整合</a:t>
            </a:r>
            <a:endParaRPr kumimoji="1" lang="zh-CN" altLang="zh-CN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742815" y="3967480"/>
            <a:ext cx="157607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意图：</a:t>
            </a:r>
            <a:r>
              <a:rPr kumimoji="1" lang="zh-CN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联系用户</a:t>
            </a:r>
            <a:endParaRPr kumimoji="1" lang="zh-CN" alt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30" name="直接箭头连接符 43"/>
          <p:cNvCxnSpPr/>
          <p:nvPr/>
        </p:nvCxnSpPr>
        <p:spPr>
          <a:xfrm>
            <a:off x="6318885" y="4101465"/>
            <a:ext cx="1610360" cy="0"/>
          </a:xfrm>
          <a:prstGeom prst="straightConnector1">
            <a:avLst/>
          </a:prstGeom>
          <a:ln w="19050">
            <a:solidFill>
              <a:srgbClr val="F79646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32" name="直接箭头连接符 43"/>
          <p:cNvCxnSpPr/>
          <p:nvPr/>
        </p:nvCxnSpPr>
        <p:spPr>
          <a:xfrm flipH="1">
            <a:off x="5429250" y="4544695"/>
            <a:ext cx="635" cy="284480"/>
          </a:xfrm>
          <a:prstGeom prst="straightConnector1">
            <a:avLst/>
          </a:prstGeom>
          <a:ln w="19050">
            <a:solidFill>
              <a:srgbClr val="F79646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33" name="文本框 132"/>
          <p:cNvSpPr txBox="1"/>
          <p:nvPr/>
        </p:nvSpPr>
        <p:spPr>
          <a:xfrm>
            <a:off x="4903470" y="4577715"/>
            <a:ext cx="1054100" cy="194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kumimoji="1" 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引导</a:t>
            </a:r>
            <a:r>
              <a:rPr kumimoji="1" lang="en-US" alt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 </a:t>
            </a:r>
            <a:r>
              <a:rPr kumimoji="1" 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成功</a:t>
            </a:r>
            <a:endParaRPr kumimoji="1" lang="zh-CN" sz="8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37" name="直接箭头连接符 43"/>
          <p:cNvCxnSpPr/>
          <p:nvPr/>
        </p:nvCxnSpPr>
        <p:spPr>
          <a:xfrm flipH="1">
            <a:off x="5438140" y="5397500"/>
            <a:ext cx="635" cy="284480"/>
          </a:xfrm>
          <a:prstGeom prst="straightConnector1">
            <a:avLst/>
          </a:prstGeom>
          <a:ln w="19050">
            <a:solidFill>
              <a:srgbClr val="0070C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38" name="文本框 137"/>
          <p:cNvSpPr txBox="1"/>
          <p:nvPr/>
        </p:nvSpPr>
        <p:spPr>
          <a:xfrm>
            <a:off x="4912360" y="5424170"/>
            <a:ext cx="1054100" cy="213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kumimoji="1" 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引导</a:t>
            </a:r>
            <a:r>
              <a:rPr kumimoji="1" lang="en-US" alt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 </a:t>
            </a:r>
            <a:r>
              <a:rPr kumimoji="1" lang="zh-CN" sz="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成功</a:t>
            </a:r>
            <a:endParaRPr kumimoji="1" lang="zh-CN" sz="8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39" name="直接箭头连接符 43"/>
          <p:cNvCxnSpPr/>
          <p:nvPr/>
        </p:nvCxnSpPr>
        <p:spPr>
          <a:xfrm>
            <a:off x="4211955" y="4925695"/>
            <a:ext cx="529590" cy="6985"/>
          </a:xfrm>
          <a:prstGeom prst="straightConnector1">
            <a:avLst/>
          </a:prstGeom>
          <a:ln w="19050">
            <a:solidFill>
              <a:srgbClr val="0070C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42" name="文本框 141"/>
          <p:cNvSpPr txBox="1"/>
          <p:nvPr/>
        </p:nvSpPr>
        <p:spPr>
          <a:xfrm>
            <a:off x="4734560" y="4798695"/>
            <a:ext cx="157607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意图：</a:t>
            </a:r>
            <a:r>
              <a:rPr kumimoji="1" lang="zh-CN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智能分析</a:t>
            </a:r>
            <a:endParaRPr kumimoji="1" lang="zh-CN" alt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46" name="直接箭头连接符 43"/>
          <p:cNvCxnSpPr/>
          <p:nvPr/>
        </p:nvCxnSpPr>
        <p:spPr>
          <a:xfrm>
            <a:off x="6310630" y="4932680"/>
            <a:ext cx="1610360" cy="0"/>
          </a:xfrm>
          <a:prstGeom prst="straightConnector1">
            <a:avLst/>
          </a:prstGeom>
          <a:ln w="19050">
            <a:solidFill>
              <a:srgbClr val="0070C0">
                <a:lumMod val="60000"/>
                <a:lumOff val="40000"/>
              </a:srgbClr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47" name="直接箭头连接符 43"/>
          <p:cNvCxnSpPr/>
          <p:nvPr/>
        </p:nvCxnSpPr>
        <p:spPr>
          <a:xfrm>
            <a:off x="4176395" y="5802630"/>
            <a:ext cx="565150" cy="9525"/>
          </a:xfrm>
          <a:prstGeom prst="straightConnector1">
            <a:avLst/>
          </a:prstGeom>
          <a:ln w="19050">
            <a:solidFill>
              <a:srgbClr val="57CB92"/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61" name="文本框 160"/>
          <p:cNvSpPr txBox="1"/>
          <p:nvPr/>
        </p:nvSpPr>
        <p:spPr>
          <a:xfrm>
            <a:off x="4734560" y="5678170"/>
            <a:ext cx="157607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意图：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一键回单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62" name="直接箭头连接符 43"/>
          <p:cNvCxnSpPr/>
          <p:nvPr/>
        </p:nvCxnSpPr>
        <p:spPr>
          <a:xfrm>
            <a:off x="6310630" y="5812155"/>
            <a:ext cx="1610360" cy="0"/>
          </a:xfrm>
          <a:prstGeom prst="straightConnector1">
            <a:avLst/>
          </a:prstGeom>
          <a:ln w="19050">
            <a:solidFill>
              <a:srgbClr val="57CB92"/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63" name="文本框 162"/>
          <p:cNvSpPr txBox="1"/>
          <p:nvPr>
            <p:custDataLst>
              <p:tags r:id="rId27"/>
            </p:custDataLst>
          </p:nvPr>
        </p:nvSpPr>
        <p:spPr>
          <a:xfrm>
            <a:off x="9965690" y="5555615"/>
            <a:ext cx="1595755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kumimoji="1" lang="zh-CN" altLang="en-US" sz="9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检索：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/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1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、投诉回单规范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/>
            <a:r>
              <a:rPr kumimoji="1" lang="en-US" altLang="zh-CN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2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、</a:t>
            </a: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一键回单</a:t>
            </a:r>
            <a:r>
              <a:rPr kumimoji="1" lang="zh-CN" altLang="en-US" sz="900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后续任务引导</a:t>
            </a:r>
            <a:endParaRPr kumimoji="1" lang="zh-CN" altLang="en-US" sz="900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cxnSp>
        <p:nvCxnSpPr>
          <p:cNvPr id="164" name="直接箭头连接符 43"/>
          <p:cNvCxnSpPr/>
          <p:nvPr/>
        </p:nvCxnSpPr>
        <p:spPr>
          <a:xfrm>
            <a:off x="9707880" y="5798185"/>
            <a:ext cx="256540" cy="635"/>
          </a:xfrm>
          <a:prstGeom prst="straightConnector1">
            <a:avLst/>
          </a:prstGeom>
          <a:ln w="19050">
            <a:solidFill>
              <a:srgbClr val="57CB92"/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74" name="肘形连接符 173"/>
          <p:cNvCxnSpPr>
            <a:stCxn id="163" idx="2"/>
          </p:cNvCxnSpPr>
          <p:nvPr/>
        </p:nvCxnSpPr>
        <p:spPr>
          <a:xfrm rot="5400000">
            <a:off x="10215880" y="5589270"/>
            <a:ext cx="74930" cy="1021080"/>
          </a:xfrm>
          <a:prstGeom prst="bentConnector2">
            <a:avLst/>
          </a:prstGeom>
          <a:ln w="19050">
            <a:solidFill>
              <a:srgbClr val="57CB92"/>
            </a:solidFill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cxnSp>
        <p:nvCxnSpPr>
          <p:cNvPr id="176" name="直接箭头连接符 43"/>
          <p:cNvCxnSpPr/>
          <p:nvPr/>
        </p:nvCxnSpPr>
        <p:spPr>
          <a:xfrm flipH="1">
            <a:off x="6310630" y="6148070"/>
            <a:ext cx="1585595" cy="3810"/>
          </a:xfrm>
          <a:prstGeom prst="straightConnector1">
            <a:avLst/>
          </a:prstGeom>
          <a:ln w="19050">
            <a:solidFill>
              <a:srgbClr val="57CB92"/>
            </a:solidFill>
            <a:prstDash val="solid"/>
            <a:tailEnd type="triangle"/>
          </a:ln>
        </p:spPr>
        <p:style>
          <a:lnRef idx="1">
            <a:srgbClr val="0070C0"/>
          </a:lnRef>
          <a:fillRef idx="0">
            <a:srgbClr val="0070C0"/>
          </a:fillRef>
          <a:effectRef idx="0">
            <a:srgbClr val="0070C0"/>
          </a:effectRef>
          <a:fontRef idx="minor">
            <a:sysClr val="windowText" lastClr="000000"/>
          </a:fontRef>
        </p:style>
      </p:cxnSp>
      <p:sp>
        <p:nvSpPr>
          <p:cNvPr id="177" name="文本框 176"/>
          <p:cNvSpPr txBox="1"/>
          <p:nvPr/>
        </p:nvSpPr>
        <p:spPr>
          <a:xfrm>
            <a:off x="6545580" y="5878830"/>
            <a:ext cx="10541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结果及引导</a:t>
            </a:r>
            <a:endParaRPr kumimoji="1" lang="zh-CN" altLang="en-US" sz="9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178" name="文本框 177"/>
          <p:cNvSpPr txBox="1"/>
          <p:nvPr>
            <p:custDataLst>
              <p:tags r:id="rId28"/>
            </p:custDataLst>
          </p:nvPr>
        </p:nvSpPr>
        <p:spPr>
          <a:xfrm>
            <a:off x="4351655" y="5917565"/>
            <a:ext cx="2065020" cy="394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内容：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工单自动回填，流程页面呈现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kumimoji="1" lang="zh-CN" altLang="zh-CN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引导：</a:t>
            </a:r>
            <a:r>
              <a:rPr kumimoji="1" lang="zh-CN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处理其他工单</a:t>
            </a:r>
            <a:r>
              <a:rPr kumimoji="1"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/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等线" panose="02010600030101010101" charset="-122"/>
              </a:rPr>
              <a:t>投诉监控总览</a:t>
            </a:r>
            <a:endParaRPr kumimoji="1"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等线" panose="02010600030101010101" charset="-122"/>
            </a:endParaRPr>
          </a:p>
        </p:txBody>
      </p:sp>
      <p:pic>
        <p:nvPicPr>
          <p:cNvPr id="179" name="图片 178"/>
          <p:cNvPicPr/>
          <p:nvPr>
            <p:custDataLst>
              <p:tags r:id="rId2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93560" y="1843405"/>
            <a:ext cx="305435" cy="4235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1045" y="695960"/>
            <a:ext cx="10926445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核心能力：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自然语言交互，标准话术引导、智能综合分析、一键回单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应用范围：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移动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734310" y="1657985"/>
            <a:ext cx="281940" cy="218440"/>
            <a:chOff x="2590037" y="4405322"/>
            <a:chExt cx="352544" cy="249151"/>
          </a:xfrm>
        </p:grpSpPr>
        <p:sp>
          <p:nvSpPr>
            <p:cNvPr id="4" name="矩形 3"/>
            <p:cNvSpPr/>
            <p:nvPr>
              <p:custDataLst>
                <p:tags r:id="rId31"/>
              </p:custDataLst>
            </p:nvPr>
          </p:nvSpPr>
          <p:spPr>
            <a:xfrm>
              <a:off x="2590037" y="4405322"/>
              <a:ext cx="352544" cy="2491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2620646" y="4489822"/>
              <a:ext cx="288000" cy="108000"/>
              <a:chOff x="1450696" y="3639217"/>
              <a:chExt cx="336858" cy="194469"/>
            </a:xfrm>
            <a:solidFill>
              <a:schemeClr val="bg1"/>
            </a:solidFill>
          </p:grpSpPr>
          <p:sp>
            <p:nvSpPr>
              <p:cNvPr id="15" name="iconfont-11910-5473256"/>
              <p:cNvSpPr/>
              <p:nvPr>
                <p:custDataLst>
                  <p:tags r:id="rId32"/>
                </p:custDataLst>
              </p:nvPr>
            </p:nvSpPr>
            <p:spPr>
              <a:xfrm>
                <a:off x="1450696" y="3639217"/>
                <a:ext cx="89100" cy="194469"/>
              </a:xfrm>
              <a:custGeom>
                <a:avLst/>
                <a:gdLst>
                  <a:gd name="T0" fmla="*/ 121 w 5896"/>
                  <a:gd name="T1" fmla="*/ 559 h 10872"/>
                  <a:gd name="T2" fmla="*/ 560 w 5896"/>
                  <a:gd name="T3" fmla="*/ 559 h 10872"/>
                  <a:gd name="T4" fmla="*/ 560 w 5896"/>
                  <a:gd name="T5" fmla="*/ 121 h 10872"/>
                  <a:gd name="T6" fmla="*/ 121 w 5896"/>
                  <a:gd name="T7" fmla="*/ 121 h 10872"/>
                  <a:gd name="T8" fmla="*/ 121 w 5896"/>
                  <a:gd name="T9" fmla="*/ 559 h 10872"/>
                  <a:gd name="T10" fmla="*/ 173 w 5896"/>
                  <a:gd name="T11" fmla="*/ 10310 h 10872"/>
                  <a:gd name="T12" fmla="*/ 614 w 5896"/>
                  <a:gd name="T13" fmla="*/ 10752 h 10872"/>
                  <a:gd name="T14" fmla="*/ 5896 w 5896"/>
                  <a:gd name="T15" fmla="*/ 5470 h 10872"/>
                  <a:gd name="T16" fmla="*/ 549 w 5896"/>
                  <a:gd name="T17" fmla="*/ 125 h 10872"/>
                  <a:gd name="T18" fmla="*/ 167 w 5896"/>
                  <a:gd name="T19" fmla="*/ 508 h 10872"/>
                  <a:gd name="T20" fmla="*/ 167 w 5896"/>
                  <a:gd name="T21" fmla="*/ 605 h 10872"/>
                  <a:gd name="T22" fmla="*/ 5023 w 5896"/>
                  <a:gd name="T23" fmla="*/ 5460 h 10872"/>
                  <a:gd name="T24" fmla="*/ 173 w 5896"/>
                  <a:gd name="T25" fmla="*/ 10310 h 10872"/>
                  <a:gd name="T26" fmla="*/ 175 w 5896"/>
                  <a:gd name="T27" fmla="*/ 10751 h 10872"/>
                  <a:gd name="T28" fmla="*/ 613 w 5896"/>
                  <a:gd name="T29" fmla="*/ 10751 h 10872"/>
                  <a:gd name="T30" fmla="*/ 613 w 5896"/>
                  <a:gd name="T31" fmla="*/ 10313 h 10872"/>
                  <a:gd name="T32" fmla="*/ 175 w 5896"/>
                  <a:gd name="T33" fmla="*/ 10313 h 10872"/>
                  <a:gd name="T34" fmla="*/ 175 w 5896"/>
                  <a:gd name="T35" fmla="*/ 10751 h 10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896" h="10872">
                    <a:moveTo>
                      <a:pt x="121" y="559"/>
                    </a:moveTo>
                    <a:cubicBezTo>
                      <a:pt x="242" y="680"/>
                      <a:pt x="439" y="680"/>
                      <a:pt x="560" y="559"/>
                    </a:cubicBezTo>
                    <a:cubicBezTo>
                      <a:pt x="681" y="438"/>
                      <a:pt x="681" y="242"/>
                      <a:pt x="560" y="121"/>
                    </a:cubicBezTo>
                    <a:cubicBezTo>
                      <a:pt x="439" y="0"/>
                      <a:pt x="242" y="0"/>
                      <a:pt x="121" y="121"/>
                    </a:cubicBezTo>
                    <a:cubicBezTo>
                      <a:pt x="0" y="242"/>
                      <a:pt x="0" y="438"/>
                      <a:pt x="121" y="559"/>
                    </a:cubicBezTo>
                    <a:close/>
                    <a:moveTo>
                      <a:pt x="173" y="10310"/>
                    </a:moveTo>
                    <a:lnTo>
                      <a:pt x="614" y="10752"/>
                    </a:lnTo>
                    <a:lnTo>
                      <a:pt x="5896" y="5470"/>
                    </a:lnTo>
                    <a:lnTo>
                      <a:pt x="549" y="125"/>
                    </a:lnTo>
                    <a:lnTo>
                      <a:pt x="167" y="508"/>
                    </a:lnTo>
                    <a:lnTo>
                      <a:pt x="167" y="605"/>
                    </a:lnTo>
                    <a:lnTo>
                      <a:pt x="5023" y="5460"/>
                    </a:lnTo>
                    <a:lnTo>
                      <a:pt x="173" y="10310"/>
                    </a:lnTo>
                    <a:close/>
                    <a:moveTo>
                      <a:pt x="175" y="10751"/>
                    </a:moveTo>
                    <a:cubicBezTo>
                      <a:pt x="296" y="10872"/>
                      <a:pt x="492" y="10872"/>
                      <a:pt x="613" y="10751"/>
                    </a:cubicBezTo>
                    <a:cubicBezTo>
                      <a:pt x="734" y="10630"/>
                      <a:pt x="734" y="10434"/>
                      <a:pt x="613" y="10313"/>
                    </a:cubicBezTo>
                    <a:cubicBezTo>
                      <a:pt x="492" y="10192"/>
                      <a:pt x="296" y="10192"/>
                      <a:pt x="175" y="10313"/>
                    </a:cubicBezTo>
                    <a:cubicBezTo>
                      <a:pt x="54" y="10434"/>
                      <a:pt x="54" y="10630"/>
                      <a:pt x="175" y="10751"/>
                    </a:cubicBezTo>
                    <a:close/>
                  </a:path>
                </a:pathLst>
              </a:custGeom>
              <a:grpFill/>
              <a:ln w="28575">
                <a:solidFill>
                  <a:srgbClr val="66B8C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solidFill>
                    <a:srgbClr val="66B8CE"/>
                  </a:solidFill>
                </a:endParaRPr>
              </a:p>
            </p:txBody>
          </p:sp>
          <p:sp>
            <p:nvSpPr>
              <p:cNvPr id="18" name="iconfont-11910-5473256"/>
              <p:cNvSpPr/>
              <p:nvPr>
                <p:custDataLst>
                  <p:tags r:id="rId33"/>
                </p:custDataLst>
              </p:nvPr>
            </p:nvSpPr>
            <p:spPr>
              <a:xfrm>
                <a:off x="1574575" y="3639217"/>
                <a:ext cx="89100" cy="194469"/>
              </a:xfrm>
              <a:custGeom>
                <a:avLst/>
                <a:gdLst>
                  <a:gd name="T0" fmla="*/ 121 w 5896"/>
                  <a:gd name="T1" fmla="*/ 559 h 10872"/>
                  <a:gd name="T2" fmla="*/ 560 w 5896"/>
                  <a:gd name="T3" fmla="*/ 559 h 10872"/>
                  <a:gd name="T4" fmla="*/ 560 w 5896"/>
                  <a:gd name="T5" fmla="*/ 121 h 10872"/>
                  <a:gd name="T6" fmla="*/ 121 w 5896"/>
                  <a:gd name="T7" fmla="*/ 121 h 10872"/>
                  <a:gd name="T8" fmla="*/ 121 w 5896"/>
                  <a:gd name="T9" fmla="*/ 559 h 10872"/>
                  <a:gd name="T10" fmla="*/ 173 w 5896"/>
                  <a:gd name="T11" fmla="*/ 10310 h 10872"/>
                  <a:gd name="T12" fmla="*/ 614 w 5896"/>
                  <a:gd name="T13" fmla="*/ 10752 h 10872"/>
                  <a:gd name="T14" fmla="*/ 5896 w 5896"/>
                  <a:gd name="T15" fmla="*/ 5470 h 10872"/>
                  <a:gd name="T16" fmla="*/ 549 w 5896"/>
                  <a:gd name="T17" fmla="*/ 125 h 10872"/>
                  <a:gd name="T18" fmla="*/ 167 w 5896"/>
                  <a:gd name="T19" fmla="*/ 508 h 10872"/>
                  <a:gd name="T20" fmla="*/ 167 w 5896"/>
                  <a:gd name="T21" fmla="*/ 605 h 10872"/>
                  <a:gd name="T22" fmla="*/ 5023 w 5896"/>
                  <a:gd name="T23" fmla="*/ 5460 h 10872"/>
                  <a:gd name="T24" fmla="*/ 173 w 5896"/>
                  <a:gd name="T25" fmla="*/ 10310 h 10872"/>
                  <a:gd name="T26" fmla="*/ 175 w 5896"/>
                  <a:gd name="T27" fmla="*/ 10751 h 10872"/>
                  <a:gd name="T28" fmla="*/ 613 w 5896"/>
                  <a:gd name="T29" fmla="*/ 10751 h 10872"/>
                  <a:gd name="T30" fmla="*/ 613 w 5896"/>
                  <a:gd name="T31" fmla="*/ 10313 h 10872"/>
                  <a:gd name="T32" fmla="*/ 175 w 5896"/>
                  <a:gd name="T33" fmla="*/ 10313 h 10872"/>
                  <a:gd name="T34" fmla="*/ 175 w 5896"/>
                  <a:gd name="T35" fmla="*/ 10751 h 10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896" h="10872">
                    <a:moveTo>
                      <a:pt x="121" y="559"/>
                    </a:moveTo>
                    <a:cubicBezTo>
                      <a:pt x="242" y="680"/>
                      <a:pt x="439" y="680"/>
                      <a:pt x="560" y="559"/>
                    </a:cubicBezTo>
                    <a:cubicBezTo>
                      <a:pt x="681" y="438"/>
                      <a:pt x="681" y="242"/>
                      <a:pt x="560" y="121"/>
                    </a:cubicBezTo>
                    <a:cubicBezTo>
                      <a:pt x="439" y="0"/>
                      <a:pt x="242" y="0"/>
                      <a:pt x="121" y="121"/>
                    </a:cubicBezTo>
                    <a:cubicBezTo>
                      <a:pt x="0" y="242"/>
                      <a:pt x="0" y="438"/>
                      <a:pt x="121" y="559"/>
                    </a:cubicBezTo>
                    <a:close/>
                    <a:moveTo>
                      <a:pt x="173" y="10310"/>
                    </a:moveTo>
                    <a:lnTo>
                      <a:pt x="614" y="10752"/>
                    </a:lnTo>
                    <a:lnTo>
                      <a:pt x="5896" y="5470"/>
                    </a:lnTo>
                    <a:lnTo>
                      <a:pt x="549" y="125"/>
                    </a:lnTo>
                    <a:lnTo>
                      <a:pt x="167" y="508"/>
                    </a:lnTo>
                    <a:lnTo>
                      <a:pt x="167" y="605"/>
                    </a:lnTo>
                    <a:lnTo>
                      <a:pt x="5023" y="5460"/>
                    </a:lnTo>
                    <a:lnTo>
                      <a:pt x="173" y="10310"/>
                    </a:lnTo>
                    <a:close/>
                    <a:moveTo>
                      <a:pt x="175" y="10751"/>
                    </a:moveTo>
                    <a:cubicBezTo>
                      <a:pt x="296" y="10872"/>
                      <a:pt x="492" y="10872"/>
                      <a:pt x="613" y="10751"/>
                    </a:cubicBezTo>
                    <a:cubicBezTo>
                      <a:pt x="734" y="10630"/>
                      <a:pt x="734" y="10434"/>
                      <a:pt x="613" y="10313"/>
                    </a:cubicBezTo>
                    <a:cubicBezTo>
                      <a:pt x="492" y="10192"/>
                      <a:pt x="296" y="10192"/>
                      <a:pt x="175" y="10313"/>
                    </a:cubicBezTo>
                    <a:cubicBezTo>
                      <a:pt x="54" y="10434"/>
                      <a:pt x="54" y="10630"/>
                      <a:pt x="175" y="10751"/>
                    </a:cubicBezTo>
                    <a:close/>
                  </a:path>
                </a:pathLst>
              </a:custGeom>
              <a:grpFill/>
              <a:ln w="28575">
                <a:solidFill>
                  <a:srgbClr val="66B8C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solidFill>
                    <a:srgbClr val="66B8CE"/>
                  </a:solidFill>
                </a:endParaRPr>
              </a:p>
            </p:txBody>
          </p:sp>
          <p:sp>
            <p:nvSpPr>
              <p:cNvPr id="30" name="iconfont-11910-54732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698454" y="3639217"/>
                <a:ext cx="89100" cy="194469"/>
              </a:xfrm>
              <a:custGeom>
                <a:avLst/>
                <a:gdLst>
                  <a:gd name="T0" fmla="*/ 121 w 5896"/>
                  <a:gd name="T1" fmla="*/ 559 h 10872"/>
                  <a:gd name="T2" fmla="*/ 560 w 5896"/>
                  <a:gd name="T3" fmla="*/ 559 h 10872"/>
                  <a:gd name="T4" fmla="*/ 560 w 5896"/>
                  <a:gd name="T5" fmla="*/ 121 h 10872"/>
                  <a:gd name="T6" fmla="*/ 121 w 5896"/>
                  <a:gd name="T7" fmla="*/ 121 h 10872"/>
                  <a:gd name="T8" fmla="*/ 121 w 5896"/>
                  <a:gd name="T9" fmla="*/ 559 h 10872"/>
                  <a:gd name="T10" fmla="*/ 173 w 5896"/>
                  <a:gd name="T11" fmla="*/ 10310 h 10872"/>
                  <a:gd name="T12" fmla="*/ 614 w 5896"/>
                  <a:gd name="T13" fmla="*/ 10752 h 10872"/>
                  <a:gd name="T14" fmla="*/ 5896 w 5896"/>
                  <a:gd name="T15" fmla="*/ 5470 h 10872"/>
                  <a:gd name="T16" fmla="*/ 549 w 5896"/>
                  <a:gd name="T17" fmla="*/ 125 h 10872"/>
                  <a:gd name="T18" fmla="*/ 167 w 5896"/>
                  <a:gd name="T19" fmla="*/ 508 h 10872"/>
                  <a:gd name="T20" fmla="*/ 167 w 5896"/>
                  <a:gd name="T21" fmla="*/ 605 h 10872"/>
                  <a:gd name="T22" fmla="*/ 5023 w 5896"/>
                  <a:gd name="T23" fmla="*/ 5460 h 10872"/>
                  <a:gd name="T24" fmla="*/ 173 w 5896"/>
                  <a:gd name="T25" fmla="*/ 10310 h 10872"/>
                  <a:gd name="T26" fmla="*/ 175 w 5896"/>
                  <a:gd name="T27" fmla="*/ 10751 h 10872"/>
                  <a:gd name="T28" fmla="*/ 613 w 5896"/>
                  <a:gd name="T29" fmla="*/ 10751 h 10872"/>
                  <a:gd name="T30" fmla="*/ 613 w 5896"/>
                  <a:gd name="T31" fmla="*/ 10313 h 10872"/>
                  <a:gd name="T32" fmla="*/ 175 w 5896"/>
                  <a:gd name="T33" fmla="*/ 10313 h 10872"/>
                  <a:gd name="T34" fmla="*/ 175 w 5896"/>
                  <a:gd name="T35" fmla="*/ 10751 h 10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896" h="10872">
                    <a:moveTo>
                      <a:pt x="121" y="559"/>
                    </a:moveTo>
                    <a:cubicBezTo>
                      <a:pt x="242" y="680"/>
                      <a:pt x="439" y="680"/>
                      <a:pt x="560" y="559"/>
                    </a:cubicBezTo>
                    <a:cubicBezTo>
                      <a:pt x="681" y="438"/>
                      <a:pt x="681" y="242"/>
                      <a:pt x="560" y="121"/>
                    </a:cubicBezTo>
                    <a:cubicBezTo>
                      <a:pt x="439" y="0"/>
                      <a:pt x="242" y="0"/>
                      <a:pt x="121" y="121"/>
                    </a:cubicBezTo>
                    <a:cubicBezTo>
                      <a:pt x="0" y="242"/>
                      <a:pt x="0" y="438"/>
                      <a:pt x="121" y="559"/>
                    </a:cubicBezTo>
                    <a:close/>
                    <a:moveTo>
                      <a:pt x="173" y="10310"/>
                    </a:moveTo>
                    <a:lnTo>
                      <a:pt x="614" y="10752"/>
                    </a:lnTo>
                    <a:lnTo>
                      <a:pt x="5896" y="5470"/>
                    </a:lnTo>
                    <a:lnTo>
                      <a:pt x="549" y="125"/>
                    </a:lnTo>
                    <a:lnTo>
                      <a:pt x="167" y="508"/>
                    </a:lnTo>
                    <a:lnTo>
                      <a:pt x="167" y="605"/>
                    </a:lnTo>
                    <a:lnTo>
                      <a:pt x="5023" y="5460"/>
                    </a:lnTo>
                    <a:lnTo>
                      <a:pt x="173" y="10310"/>
                    </a:lnTo>
                    <a:close/>
                    <a:moveTo>
                      <a:pt x="175" y="10751"/>
                    </a:moveTo>
                    <a:cubicBezTo>
                      <a:pt x="296" y="10872"/>
                      <a:pt x="492" y="10872"/>
                      <a:pt x="613" y="10751"/>
                    </a:cubicBezTo>
                    <a:cubicBezTo>
                      <a:pt x="734" y="10630"/>
                      <a:pt x="734" y="10434"/>
                      <a:pt x="613" y="10313"/>
                    </a:cubicBezTo>
                    <a:cubicBezTo>
                      <a:pt x="492" y="10192"/>
                      <a:pt x="296" y="10192"/>
                      <a:pt x="175" y="10313"/>
                    </a:cubicBezTo>
                    <a:cubicBezTo>
                      <a:pt x="54" y="10434"/>
                      <a:pt x="54" y="10630"/>
                      <a:pt x="175" y="10751"/>
                    </a:cubicBezTo>
                    <a:close/>
                  </a:path>
                </a:pathLst>
              </a:custGeom>
              <a:grpFill/>
              <a:ln w="28575">
                <a:solidFill>
                  <a:srgbClr val="66B8C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solidFill>
                    <a:srgbClr val="66B8CE"/>
                  </a:solidFill>
                </a:endParaRPr>
              </a:p>
            </p:txBody>
          </p:sp>
        </p:grpSp>
      </p:grpSp>
      <p:sp>
        <p:nvSpPr>
          <p:cNvPr id="32" name="圆角矩形 31"/>
          <p:cNvSpPr/>
          <p:nvPr/>
        </p:nvSpPr>
        <p:spPr>
          <a:xfrm>
            <a:off x="1696720" y="2644140"/>
            <a:ext cx="979805" cy="262890"/>
          </a:xfrm>
          <a:prstGeom prst="roundRect">
            <a:avLst/>
          </a:prstGeom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: 圆角 23"/>
          <p:cNvSpPr/>
          <p:nvPr/>
        </p:nvSpPr>
        <p:spPr>
          <a:xfrm>
            <a:off x="1609408" y="3021330"/>
            <a:ext cx="1154430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全流程依赖人工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矩形: 圆角 23"/>
          <p:cNvSpPr/>
          <p:nvPr/>
        </p:nvSpPr>
        <p:spPr>
          <a:xfrm>
            <a:off x="1609408" y="3453130"/>
            <a:ext cx="1154430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经验门槛高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矩形: 圆角 23"/>
          <p:cNvSpPr/>
          <p:nvPr/>
        </p:nvSpPr>
        <p:spPr>
          <a:xfrm>
            <a:off x="1609408" y="3884930"/>
            <a:ext cx="1154430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流程繁琐协同弱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矩形: 圆角 23"/>
          <p:cNvSpPr/>
          <p:nvPr/>
        </p:nvSpPr>
        <p:spPr>
          <a:xfrm>
            <a:off x="1609408" y="4316730"/>
            <a:ext cx="1154430" cy="2762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缺乏智能支撑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87950" y="2245995"/>
            <a:ext cx="627443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投诉智能体通过自然语言交互，实现投诉查询、分析到处理全流程智能化，高效降本提效。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11200" y="50400"/>
            <a:ext cx="9759950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无线专业智能体 | 干扰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228715" y="1785620"/>
            <a:ext cx="5525135" cy="4550410"/>
          </a:xfrm>
          <a:prstGeom prst="roundRect">
            <a:avLst>
              <a:gd name="adj" fmla="val 2025"/>
            </a:avLst>
          </a:prstGeom>
          <a:noFill/>
          <a:ln w="9525">
            <a:solidFill>
              <a:srgbClr val="1183CE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404495" y="3434080"/>
            <a:ext cx="5525770" cy="2901315"/>
          </a:xfrm>
          <a:prstGeom prst="roundRect">
            <a:avLst>
              <a:gd name="adj" fmla="val 2958"/>
            </a:avLst>
          </a:prstGeom>
          <a:noFill/>
          <a:ln w="9525">
            <a:solidFill>
              <a:srgbClr val="1183CE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8087043" y="1653540"/>
            <a:ext cx="1808480" cy="252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解决方案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404495" y="1785620"/>
            <a:ext cx="5525135" cy="1414145"/>
          </a:xfrm>
          <a:prstGeom prst="roundRect">
            <a:avLst>
              <a:gd name="adj" fmla="val 5523"/>
            </a:avLst>
          </a:prstGeom>
          <a:noFill/>
          <a:ln w="9525">
            <a:solidFill>
              <a:srgbClr val="1183CE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2262823" y="1653540"/>
            <a:ext cx="1808480" cy="252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背景与痛点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263140" y="3305810"/>
            <a:ext cx="1808480" cy="252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应用成效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42925" y="1875155"/>
            <a:ext cx="5273040" cy="785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just" defTabSz="913130" fontAlgn="ctr">
              <a:lnSpc>
                <a:spcPct val="14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干扰问题是影响无线网络性能的最核心、最棘手的难题之一，干扰问题的分析与定位高度依赖专家经验，并需要辅以大量的指标数据支撑，人工排查耗时长效率低。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just" defTabSz="913130" fontAlgn="ctr">
              <a:lnSpc>
                <a:spcPct val="130000"/>
              </a:lnSpc>
              <a:spcBef>
                <a:spcPct val="0"/>
              </a:spcBef>
              <a:defRPr/>
            </a:pP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6307455" y="3242945"/>
            <a:ext cx="3293745" cy="2091055"/>
          </a:xfrm>
          <a:prstGeom prst="roundRect">
            <a:avLst>
              <a:gd name="adj" fmla="val 37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buClr>
                <a:srgbClr val="0000FF"/>
              </a:buClr>
              <a:buSzTx/>
              <a:buFont typeface="Wingdings" panose="05000000000000000000" pitchFamily="2" charset="2"/>
            </a:pP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6308090" y="5416550"/>
            <a:ext cx="1737360" cy="817245"/>
          </a:xfrm>
          <a:prstGeom prst="roundRect">
            <a:avLst>
              <a:gd name="adj" fmla="val 79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buClr>
                <a:srgbClr val="0000FF"/>
              </a:buClr>
              <a:buSzTx/>
              <a:buFont typeface="Wingdings" panose="05000000000000000000" pitchFamily="2" charset="2"/>
            </a:pP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8141970" y="5417185"/>
            <a:ext cx="1459865" cy="44577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 anchor="t" anchorCtr="0">
            <a:noAutofit/>
          </a:bodyPr>
          <a:lstStyle/>
          <a:p>
            <a:pPr indent="0" algn="ctr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9747250" y="3243580"/>
            <a:ext cx="1925320" cy="3032125"/>
          </a:xfrm>
          <a:prstGeom prst="roundRect">
            <a:avLst>
              <a:gd name="adj" fmla="val 425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buClr>
                <a:srgbClr val="0000FF"/>
              </a:buClr>
              <a:buSzTx/>
              <a:buFont typeface="Wingdings" panose="05000000000000000000" pitchFamily="2" charset="2"/>
            </a:pP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60185" y="4730115"/>
            <a:ext cx="2984500" cy="51244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 anchorCtr="0">
            <a:noAutofit/>
          </a:bodyPr>
          <a:lstStyle/>
          <a:p>
            <a:pPr indent="0" algn="ctr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541895" y="4624705"/>
            <a:ext cx="1059180" cy="245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数据查询服务</a:t>
            </a:r>
            <a:endParaRPr lang="zh-CN" altLang="en-US" sz="1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7381875" y="4896485"/>
            <a:ext cx="655320" cy="29146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lIns="0" rIns="0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分析能力类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数据查询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8083550" y="4896485"/>
            <a:ext cx="653415" cy="29146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数据库类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数据查询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8783320" y="4896485"/>
            <a:ext cx="653415" cy="29146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OMC类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数据查询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0379710" y="3290570"/>
            <a:ext cx="661035" cy="215900"/>
          </a:xfrm>
          <a:prstGeom prst="rect">
            <a:avLst/>
          </a:prstGeom>
          <a:noFill/>
        </p:spPr>
        <p:txBody>
          <a:bodyPr wrap="none" rtlCol="0" anchor="b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大模型</a:t>
            </a:r>
            <a:endParaRPr lang="zh-CN" altLang="en-US" sz="1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流程图: 磁盘 72"/>
          <p:cNvSpPr/>
          <p:nvPr/>
        </p:nvSpPr>
        <p:spPr>
          <a:xfrm>
            <a:off x="6388100" y="5488940"/>
            <a:ext cx="735965" cy="314325"/>
          </a:xfrm>
          <a:prstGeom prst="flowChartMagneticDisk">
            <a:avLst/>
          </a:prstGeom>
          <a:solidFill>
            <a:srgbClr val="118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统计数据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流程图: 磁盘 73"/>
          <p:cNvSpPr/>
          <p:nvPr/>
        </p:nvSpPr>
        <p:spPr>
          <a:xfrm>
            <a:off x="6390640" y="5859780"/>
            <a:ext cx="735965" cy="314325"/>
          </a:xfrm>
          <a:prstGeom prst="flowChartMagneticDisk">
            <a:avLst/>
          </a:prstGeom>
          <a:solidFill>
            <a:srgbClr val="118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性能数据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流程图: 磁盘 74"/>
          <p:cNvSpPr/>
          <p:nvPr/>
        </p:nvSpPr>
        <p:spPr>
          <a:xfrm>
            <a:off x="7219950" y="5859780"/>
            <a:ext cx="735965" cy="314325"/>
          </a:xfrm>
          <a:prstGeom prst="flowChartMagneticDisk">
            <a:avLst/>
          </a:prstGeom>
          <a:solidFill>
            <a:srgbClr val="118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工单数据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141970" y="5984875"/>
            <a:ext cx="1459865" cy="2482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tIns="45720" bIns="4572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>
                <a:srgbClr val="0000FF"/>
              </a:buClr>
              <a:buSzTx/>
              <a:buFont typeface="Wingdings" panose="05000000000000000000" pitchFamily="2" charset="2"/>
            </a:pP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8" name="图片 77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788400" y="5833110"/>
            <a:ext cx="166370" cy="174625"/>
          </a:xfrm>
          <a:prstGeom prst="rect">
            <a:avLst/>
          </a:prstGeom>
        </p:spPr>
      </p:pic>
      <p:pic>
        <p:nvPicPr>
          <p:cNvPr id="81" name="图片 80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807450" y="5307330"/>
            <a:ext cx="130810" cy="174625"/>
          </a:xfrm>
          <a:prstGeom prst="rect">
            <a:avLst/>
          </a:prstGeom>
        </p:spPr>
      </p:pic>
      <p:pic>
        <p:nvPicPr>
          <p:cNvPr id="82" name="图片 81" descr="箭头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7139305" y="5292090"/>
            <a:ext cx="137795" cy="174625"/>
          </a:xfrm>
          <a:prstGeom prst="rect">
            <a:avLst/>
          </a:prstGeom>
        </p:spPr>
      </p:pic>
      <p:sp>
        <p:nvSpPr>
          <p:cNvPr id="83" name="矩形 82"/>
          <p:cNvSpPr/>
          <p:nvPr/>
        </p:nvSpPr>
        <p:spPr>
          <a:xfrm>
            <a:off x="8183245" y="5516880"/>
            <a:ext cx="1361440" cy="240665"/>
          </a:xfrm>
          <a:prstGeom prst="rect">
            <a:avLst/>
          </a:prstGeom>
          <a:solidFill>
            <a:srgbClr val="118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omc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查询命令下发能力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9888220" y="3685540"/>
            <a:ext cx="1630680" cy="3727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昨天有多少干扰小区，干扰类型是什么？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0024110" y="4441190"/>
            <a:ext cx="59182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sql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10012045" y="4687570"/>
            <a:ext cx="659765" cy="509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4/5G资源大表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干扰小区列表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性能指标表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924415" y="5553075"/>
            <a:ext cx="246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回复生成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284720" y="3369310"/>
            <a:ext cx="2259330" cy="49212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 anchorCtr="0">
            <a:noAutofit/>
          </a:bodyPr>
          <a:lstStyle/>
          <a:p>
            <a:pPr indent="0" algn="ctr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8084185" y="3248660"/>
            <a:ext cx="822325" cy="1955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用户交互</a:t>
            </a:r>
            <a:endParaRPr lang="zh-CN" altLang="en-US" sz="1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7" name="图片 106" descr="A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6820" y="3498215"/>
            <a:ext cx="253365" cy="234950"/>
          </a:xfrm>
          <a:prstGeom prst="rect">
            <a:avLst/>
          </a:prstGeom>
        </p:spPr>
      </p:pic>
      <p:pic>
        <p:nvPicPr>
          <p:cNvPr id="112" name="图片 111" descr="web (1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3065" y="3347085"/>
            <a:ext cx="279400" cy="228600"/>
          </a:xfrm>
          <a:prstGeom prst="rect">
            <a:avLst/>
          </a:prstGeom>
        </p:spPr>
      </p:pic>
      <p:pic>
        <p:nvPicPr>
          <p:cNvPr id="124" name="图片 123" descr="手机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635" y="3639185"/>
            <a:ext cx="290195" cy="283210"/>
          </a:xfrm>
          <a:prstGeom prst="rect">
            <a:avLst/>
          </a:prstGeom>
        </p:spPr>
      </p:pic>
      <p:cxnSp>
        <p:nvCxnSpPr>
          <p:cNvPr id="128" name="肘形连接符 127"/>
          <p:cNvCxnSpPr>
            <a:stCxn id="112" idx="3"/>
            <a:endCxn id="100" idx="1"/>
          </p:cNvCxnSpPr>
          <p:nvPr/>
        </p:nvCxnSpPr>
        <p:spPr>
          <a:xfrm>
            <a:off x="7022465" y="3461385"/>
            <a:ext cx="262255" cy="154305"/>
          </a:xfrm>
          <a:prstGeom prst="bentConnector3">
            <a:avLst>
              <a:gd name="adj1" fmla="val 50121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肘形连接符 128"/>
          <p:cNvCxnSpPr>
            <a:stCxn id="124" idx="3"/>
            <a:endCxn id="100" idx="1"/>
          </p:cNvCxnSpPr>
          <p:nvPr/>
        </p:nvCxnSpPr>
        <p:spPr>
          <a:xfrm flipV="1">
            <a:off x="7021830" y="3615690"/>
            <a:ext cx="262890" cy="165100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连接符 130"/>
          <p:cNvCxnSpPr>
            <a:stCxn id="107" idx="3"/>
            <a:endCxn id="112" idx="1"/>
          </p:cNvCxnSpPr>
          <p:nvPr/>
        </p:nvCxnSpPr>
        <p:spPr>
          <a:xfrm flipV="1">
            <a:off x="6560185" y="3461385"/>
            <a:ext cx="182880" cy="1543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连接符 133"/>
          <p:cNvCxnSpPr>
            <a:stCxn id="107" idx="3"/>
            <a:endCxn id="124" idx="1"/>
          </p:cNvCxnSpPr>
          <p:nvPr/>
        </p:nvCxnSpPr>
        <p:spPr>
          <a:xfrm>
            <a:off x="6560185" y="3615690"/>
            <a:ext cx="171450" cy="165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5" name="圆角矩形 134"/>
          <p:cNvSpPr/>
          <p:nvPr/>
        </p:nvSpPr>
        <p:spPr>
          <a:xfrm>
            <a:off x="8561070" y="3496310"/>
            <a:ext cx="824230" cy="31432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大模型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调用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7481570" y="3497580"/>
            <a:ext cx="877570" cy="313690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用户输入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解析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9544685" y="5041900"/>
            <a:ext cx="408305" cy="6350"/>
          </a:xfrm>
          <a:prstGeom prst="straightConnector1">
            <a:avLst/>
          </a:prstGeom>
          <a:ln w="6350">
            <a:solidFill>
              <a:srgbClr val="1183C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1" name="图片 140" descr="箭头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7705" y="3595370"/>
            <a:ext cx="200025" cy="173355"/>
          </a:xfrm>
          <a:prstGeom prst="rect">
            <a:avLst/>
          </a:prstGeom>
        </p:spPr>
      </p:pic>
      <p:sp>
        <p:nvSpPr>
          <p:cNvPr id="143" name="矩形 142"/>
          <p:cNvSpPr/>
          <p:nvPr/>
        </p:nvSpPr>
        <p:spPr>
          <a:xfrm>
            <a:off x="6560820" y="4018280"/>
            <a:ext cx="2983230" cy="5219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 anchorCtr="0">
            <a:noAutofit/>
          </a:bodyPr>
          <a:lstStyle/>
          <a:p>
            <a:pPr indent="0" algn="ctr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参数业务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7541895" y="3922395"/>
            <a:ext cx="1058545" cy="245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业务能力调用</a:t>
            </a:r>
            <a:endParaRPr lang="zh-CN" altLang="en-US" sz="1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7371080" y="4179253"/>
            <a:ext cx="654050" cy="29146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网内干扰参数方案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8075930" y="4179253"/>
            <a:ext cx="653415" cy="29146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网内干扰关联小区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8780145" y="4179253"/>
            <a:ext cx="653415" cy="29146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网外干扰定位能力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0895965" y="4442460"/>
            <a:ext cx="59182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接口调用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10871200" y="4675505"/>
            <a:ext cx="659765" cy="509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干扰类型识别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干扰源定位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9528175" y="4877435"/>
            <a:ext cx="4629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查询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3" name="直接箭头连接符 152"/>
          <p:cNvCxnSpPr/>
          <p:nvPr/>
        </p:nvCxnSpPr>
        <p:spPr>
          <a:xfrm>
            <a:off x="9544685" y="4533265"/>
            <a:ext cx="1269365" cy="10160"/>
          </a:xfrm>
          <a:prstGeom prst="straightConnector1">
            <a:avLst/>
          </a:prstGeom>
          <a:ln w="6350">
            <a:solidFill>
              <a:srgbClr val="1183C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4" name="文本框 153"/>
          <p:cNvSpPr txBox="1"/>
          <p:nvPr/>
        </p:nvSpPr>
        <p:spPr>
          <a:xfrm>
            <a:off x="9544050" y="4363085"/>
            <a:ext cx="4629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</a:rPr>
              <a:t>调用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6666230" y="4175760"/>
            <a:ext cx="654050" cy="298450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干扰类型识别能力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680200" y="4896485"/>
            <a:ext cx="655320" cy="291465"/>
          </a:xfrm>
          <a:prstGeom prst="roundRect">
            <a:avLst>
              <a:gd name="adj" fmla="val 0"/>
            </a:avLst>
          </a:prstGeom>
          <a:solidFill>
            <a:srgbClr val="1182CD"/>
          </a:solidFill>
          <a:ln>
            <a:noFill/>
          </a:ln>
        </p:spPr>
        <p:txBody>
          <a:bodyPr wrap="square" lIns="0" rIns="0" rtlCol="0" anchor="ctr" anchorCtr="0">
            <a:noAutofit/>
          </a:bodyPr>
          <a:lstStyle/>
          <a:p>
            <a:pPr indent="0" algn="ctr" fontAlgn="auto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工单类数据查询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流程图: 磁盘 156"/>
          <p:cNvSpPr/>
          <p:nvPr/>
        </p:nvSpPr>
        <p:spPr>
          <a:xfrm>
            <a:off x="7219950" y="5483860"/>
            <a:ext cx="735965" cy="314325"/>
          </a:xfrm>
          <a:prstGeom prst="flowChartMagneticDisk">
            <a:avLst/>
          </a:prstGeom>
          <a:solidFill>
            <a:srgbClr val="118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>
                <a:srgbClr val="0000FF"/>
              </a:buClr>
              <a:buSzTx/>
              <a:buFont typeface="Wingdings" panose="05000000000000000000" pitchFamily="2" charset="2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参数数据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58" name="图片 157"/>
          <p:cNvPicPr/>
          <p:nvPr/>
        </p:nvPicPr>
        <p:blipFill>
          <a:blip r:embed="rId11"/>
          <a:stretch>
            <a:fillRect/>
          </a:stretch>
        </p:blipFill>
        <p:spPr>
          <a:xfrm>
            <a:off x="10148570" y="5566410"/>
            <a:ext cx="1347470" cy="57531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159" name="圆角矩形 158"/>
          <p:cNvSpPr/>
          <p:nvPr/>
        </p:nvSpPr>
        <p:spPr>
          <a:xfrm>
            <a:off x="1104265" y="2767965"/>
            <a:ext cx="2032635" cy="30670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人工成本和时间成本高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3383280" y="2767965"/>
            <a:ext cx="2032635" cy="30670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传统工具效率低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507365" y="3725545"/>
            <a:ext cx="2149475" cy="2550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lvl="0" indent="-171450" algn="just" defTabSz="913130" fontAlgn="ctr">
              <a:lnSpc>
                <a:spcPct val="130000"/>
              </a:lnSpc>
              <a:spcBef>
                <a:spcPct val="0"/>
              </a:spcBef>
              <a:buFont typeface="Wingdings" panose="05000000000000000000" charset="0"/>
              <a:buChar char="l"/>
              <a:defRPr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干扰趋势分析：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基于干扰指标数据和查询服务，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输出干扰小区指标和趋势分析结果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just" defTabSz="913130" fontAlgn="ctr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干扰类型识别：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基于干扰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PRB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波形数据，精准识别干扰类型</a:t>
            </a:r>
            <a:endParaRPr lang="zh-CN" altLang="en-US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just" defTabSz="913130" fontAlgn="ctr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干扰源定位：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基于干扰类型结果智能诊断网内同频干扰小区和网外干扰源的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GIS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定位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lvl="0" indent="-171450" algn="just" defTabSz="913130" fontAlgn="ctr">
              <a:lnSpc>
                <a:spcPct val="130000"/>
              </a:lnSpc>
              <a:spcBef>
                <a:spcPts val="600"/>
              </a:spcBef>
              <a:buFont typeface="Wingdings" panose="05000000000000000000" charset="0"/>
              <a:buChar char="l"/>
              <a:defRPr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处理方案输出：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智能输出干扰参数优化与规避方案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404495" y="598805"/>
            <a:ext cx="1149223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业务场景：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网内外干扰问题识别与干扰源定位，并输出方案解决或规避干扰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核心能力：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指标趋势分析、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干扰类型判断、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网内干扰邻区定位、网外干扰源GIS定位、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干扰优化与规避方案生成、一键执行</a:t>
            </a:r>
            <a:endParaRPr lang="zh-CN" altLang="en-US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Wingdings" panose="05000000000000000000" charset="0"/>
              <a:buChar char="p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应用范围：</a:t>
            </a:r>
            <a:r>
              <a:rPr kumimoji="1"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省移动（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浙江</a:t>
            </a:r>
            <a:r>
              <a:rPr kumimoji="1"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7" name="等腰三角形 24"/>
          <p:cNvSpPr/>
          <p:nvPr/>
        </p:nvSpPr>
        <p:spPr>
          <a:xfrm rot="5400000">
            <a:off x="5517515" y="2423795"/>
            <a:ext cx="1171575" cy="20193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68" name="等腰三角形 24"/>
          <p:cNvSpPr/>
          <p:nvPr/>
        </p:nvSpPr>
        <p:spPr>
          <a:xfrm rot="16200000">
            <a:off x="5481955" y="4728210"/>
            <a:ext cx="1171575" cy="201930"/>
          </a:xfrm>
          <a:prstGeom prst="triangle">
            <a:avLst>
              <a:gd name="adj" fmla="val 51725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  <a:alpha val="70000"/>
                </a:srgbClr>
              </a:gs>
              <a:gs pos="89000">
                <a:srgbClr val="4F81BD">
                  <a:lumMod val="45000"/>
                  <a:lumOff val="55000"/>
                  <a:alpha val="8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265545" y="2567940"/>
            <a:ext cx="615950" cy="414655"/>
          </a:xfrm>
          <a:prstGeom prst="roundRect">
            <a:avLst/>
          </a:prstGeom>
          <a:ln>
            <a:noFill/>
          </a:ln>
        </p:spPr>
        <p:style>
          <a:lnRef idx="2">
            <a:srgbClr val="0070C0">
              <a:lumMod val="75000"/>
            </a:srgbClr>
          </a:lnRef>
          <a:fillRef idx="1">
            <a:srgbClr val="0070C0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智能体工作流</a:t>
            </a:r>
            <a:endParaRPr lang="zh-CN" altLang="en-US" sz="10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" name="圆角矩形 70"/>
          <p:cNvSpPr/>
          <p:nvPr/>
        </p:nvSpPr>
        <p:spPr>
          <a:xfrm>
            <a:off x="7994650" y="2592070"/>
            <a:ext cx="561600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干扰类型识别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70"/>
          <p:cNvSpPr/>
          <p:nvPr/>
        </p:nvSpPr>
        <p:spPr>
          <a:xfrm>
            <a:off x="6914515" y="2587625"/>
            <a:ext cx="482600" cy="377190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意图识别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70"/>
          <p:cNvSpPr/>
          <p:nvPr/>
        </p:nvSpPr>
        <p:spPr>
          <a:xfrm>
            <a:off x="7440930" y="2587625"/>
            <a:ext cx="482600" cy="377190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任务规划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圆角矩形 70"/>
          <p:cNvSpPr/>
          <p:nvPr/>
        </p:nvSpPr>
        <p:spPr>
          <a:xfrm>
            <a:off x="8600700" y="2592070"/>
            <a:ext cx="561340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干扰源定位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圆角矩形 70"/>
          <p:cNvSpPr/>
          <p:nvPr/>
        </p:nvSpPr>
        <p:spPr>
          <a:xfrm>
            <a:off x="9206490" y="2587625"/>
            <a:ext cx="561340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参数优化方案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70"/>
          <p:cNvSpPr/>
          <p:nvPr/>
        </p:nvSpPr>
        <p:spPr>
          <a:xfrm>
            <a:off x="9812280" y="2587625"/>
            <a:ext cx="561340" cy="35877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干扰规避方案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10460355" y="2587625"/>
            <a:ext cx="488315" cy="358775"/>
          </a:xfrm>
          <a:prstGeom prst="roundRect">
            <a:avLst/>
          </a:prstGeom>
          <a:noFill/>
          <a:ln>
            <a:solidFill>
              <a:srgbClr val="30C0B4"/>
            </a:solidFill>
            <a:prstDash val="solid"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一键执行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右箭头 225"/>
          <p:cNvSpPr/>
          <p:nvPr/>
        </p:nvSpPr>
        <p:spPr>
          <a:xfrm>
            <a:off x="11001375" y="2700020"/>
            <a:ext cx="113030" cy="12319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圆角矩形 70"/>
          <p:cNvSpPr/>
          <p:nvPr/>
        </p:nvSpPr>
        <p:spPr>
          <a:xfrm>
            <a:off x="7964170" y="2470785"/>
            <a:ext cx="2452370" cy="545465"/>
          </a:xfrm>
          <a:prstGeom prst="roundRect">
            <a:avLst/>
          </a:prstGeom>
          <a:noFill/>
          <a:ln>
            <a:solidFill>
              <a:srgbClr val="30C0B4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矩形: 圆角 23"/>
          <p:cNvSpPr/>
          <p:nvPr/>
        </p:nvSpPr>
        <p:spPr>
          <a:xfrm>
            <a:off x="8429625" y="2386330"/>
            <a:ext cx="1500505" cy="1727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智能干扰分析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72" name="组合 171"/>
          <p:cNvGrpSpPr/>
          <p:nvPr/>
        </p:nvGrpSpPr>
        <p:grpSpPr>
          <a:xfrm>
            <a:off x="11122025" y="2493010"/>
            <a:ext cx="595630" cy="539750"/>
            <a:chOff x="17654" y="3795"/>
            <a:chExt cx="938" cy="850"/>
          </a:xfrm>
        </p:grpSpPr>
        <p:sp>
          <p:nvSpPr>
            <p:cNvPr id="224" name="椭圆 223"/>
            <p:cNvSpPr/>
            <p:nvPr/>
          </p:nvSpPr>
          <p:spPr>
            <a:xfrm>
              <a:off x="17698" y="3795"/>
              <a:ext cx="850" cy="8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rgbClr val="0070C0">
                <a:lumMod val="75000"/>
              </a:srgbClr>
            </a:lnRef>
            <a:fillRef idx="1">
              <a:srgbClr val="0070C0"/>
            </a:fillRef>
            <a:effectRef idx="0">
              <a:srgbClr val="FFFFF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17654" y="3906"/>
              <a:ext cx="939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000" b="1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参数</a:t>
              </a:r>
              <a:endPara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000" b="1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智能体</a:t>
              </a:r>
              <a:endParaRPr lang="zh-CN" altLang="en-US" sz="10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75" name="圆角矩形 70"/>
          <p:cNvSpPr/>
          <p:nvPr/>
        </p:nvSpPr>
        <p:spPr>
          <a:xfrm>
            <a:off x="10814050" y="4314190"/>
            <a:ext cx="762000" cy="910590"/>
          </a:xfrm>
          <a:prstGeom prst="roundRect">
            <a:avLst>
              <a:gd name="adj" fmla="val 3583"/>
            </a:avLst>
          </a:prstGeom>
          <a:noFill/>
          <a:ln w="9525">
            <a:solidFill>
              <a:srgbClr val="0070C0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0895965" y="4202430"/>
            <a:ext cx="600075" cy="213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接口服务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1" name="圆角矩形 70"/>
          <p:cNvSpPr/>
          <p:nvPr/>
        </p:nvSpPr>
        <p:spPr>
          <a:xfrm>
            <a:off x="9952990" y="4314190"/>
            <a:ext cx="762000" cy="910590"/>
          </a:xfrm>
          <a:prstGeom prst="roundRect">
            <a:avLst>
              <a:gd name="adj" fmla="val 3583"/>
            </a:avLst>
          </a:prstGeom>
          <a:noFill/>
          <a:ln w="9525">
            <a:solidFill>
              <a:srgbClr val="0070C0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10029825" y="4210685"/>
            <a:ext cx="600075" cy="213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数据服务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3" name="圆角矩形 70"/>
          <p:cNvSpPr/>
          <p:nvPr/>
        </p:nvSpPr>
        <p:spPr>
          <a:xfrm>
            <a:off x="9853930" y="3571875"/>
            <a:ext cx="1722755" cy="521335"/>
          </a:xfrm>
          <a:prstGeom prst="roundRect">
            <a:avLst>
              <a:gd name="adj" fmla="val 11814"/>
            </a:avLst>
          </a:prstGeom>
          <a:noFill/>
          <a:ln w="9525">
            <a:solidFill>
              <a:srgbClr val="0070C0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10396855" y="3471545"/>
            <a:ext cx="600075" cy="213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意图理解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5" name="圆角矩形 70"/>
          <p:cNvSpPr/>
          <p:nvPr/>
        </p:nvSpPr>
        <p:spPr>
          <a:xfrm>
            <a:off x="9853295" y="5455285"/>
            <a:ext cx="1722755" cy="727710"/>
          </a:xfrm>
          <a:prstGeom prst="roundRect">
            <a:avLst>
              <a:gd name="adj" fmla="val 9090"/>
            </a:avLst>
          </a:prstGeom>
          <a:noFill/>
          <a:ln w="9525">
            <a:solidFill>
              <a:srgbClr val="0070C0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10394315" y="5342890"/>
            <a:ext cx="600075" cy="213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应答引擎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8552815" y="5993765"/>
            <a:ext cx="600075" cy="229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OMC</a:t>
            </a:r>
            <a:endParaRPr lang="en-US" altLang="zh-CN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7" name="矩形: 圆角 23"/>
          <p:cNvSpPr/>
          <p:nvPr/>
        </p:nvSpPr>
        <p:spPr>
          <a:xfrm>
            <a:off x="4400550" y="3813810"/>
            <a:ext cx="1289685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智能规划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8" name="矩形: 圆角 23"/>
          <p:cNvSpPr/>
          <p:nvPr/>
        </p:nvSpPr>
        <p:spPr>
          <a:xfrm>
            <a:off x="2917190" y="3813810"/>
            <a:ext cx="1285875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意图交互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9" name="矩形: 圆角 23"/>
          <p:cNvSpPr/>
          <p:nvPr/>
        </p:nvSpPr>
        <p:spPr>
          <a:xfrm>
            <a:off x="2916555" y="4267835"/>
            <a:ext cx="128651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智能干扰分析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8" name="矩形: 圆角 23"/>
          <p:cNvSpPr/>
          <p:nvPr/>
        </p:nvSpPr>
        <p:spPr>
          <a:xfrm>
            <a:off x="4399915" y="4740910"/>
            <a:ext cx="1290955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一键优化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9" name="矩形: 圆角 23"/>
          <p:cNvSpPr/>
          <p:nvPr/>
        </p:nvSpPr>
        <p:spPr>
          <a:xfrm>
            <a:off x="4400550" y="4267835"/>
            <a:ext cx="129032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干扰源定位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0" name="矩形: 圆角 23"/>
          <p:cNvSpPr/>
          <p:nvPr/>
        </p:nvSpPr>
        <p:spPr>
          <a:xfrm>
            <a:off x="2917190" y="4740910"/>
            <a:ext cx="1290320" cy="251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kern="100" spc="120" dirty="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详细方案生成</a:t>
            </a:r>
            <a:endParaRPr lang="zh-CN" altLang="en-US" sz="1200" kern="100" spc="120" dirty="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6388100" y="1939290"/>
            <a:ext cx="51435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大模型驱动智能工作流，实现无线网络干扰的智能分析、定位与一键优化，高效降本提效。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2" name="图片 191"/>
          <p:cNvPicPr/>
          <p:nvPr/>
        </p:nvPicPr>
        <p:blipFill>
          <a:blip r:embed="rId12"/>
          <a:stretch>
            <a:fillRect/>
          </a:stretch>
        </p:blipFill>
        <p:spPr>
          <a:xfrm>
            <a:off x="2926715" y="5160010"/>
            <a:ext cx="1289050" cy="10020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93" name="图片 192"/>
          <p:cNvPicPr/>
          <p:nvPr/>
        </p:nvPicPr>
        <p:blipFill>
          <a:blip r:embed="rId13"/>
          <a:stretch>
            <a:fillRect/>
          </a:stretch>
        </p:blipFill>
        <p:spPr>
          <a:xfrm>
            <a:off x="4373880" y="5160010"/>
            <a:ext cx="1338580" cy="100076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511200" y="50400"/>
            <a:ext cx="9759950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无线岗位龙虾 | </a:t>
            </a:r>
            <a:r>
              <a:rPr lang="en-US" altLang="zh-CN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3CC</a:t>
            </a: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自主配置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528320" y="5585460"/>
            <a:ext cx="11045190" cy="8972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 defTabSz="685800"/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381000" y="2019935"/>
            <a:ext cx="11343640" cy="4570095"/>
          </a:xfrm>
          <a:prstGeom prst="rect">
            <a:avLst/>
          </a:prstGeom>
          <a:noFill/>
          <a:ln w="12700">
            <a:solidFill>
              <a:srgbClr val="7ABCE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矩形 6"/>
          <p:cNvSpPr/>
          <p:nvPr/>
        </p:nvSpPr>
        <p:spPr>
          <a:xfrm>
            <a:off x="3214370" y="1828800"/>
            <a:ext cx="5676900" cy="396875"/>
          </a:xfrm>
          <a:prstGeom prst="rect">
            <a:avLst/>
          </a:prstGeom>
          <a:solidFill>
            <a:srgbClr val="7ABCE2"/>
          </a:solidFill>
        </p:spPr>
        <p:txBody>
          <a:bodyPr lIns="0" tIns="0" rIns="0" bIns="0" anchor="ctr"/>
          <a:lstStyle/>
          <a:p>
            <a:pPr algn="ctr" defTabSz="1219200"/>
            <a:r>
              <a:rPr lang="en-US" altLang="zh-CN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一键赋能、全链自智</a:t>
            </a:r>
            <a:r>
              <a:rPr lang="en-US" altLang="zh-CN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打造3CC自主配置新范式</a:t>
            </a:r>
            <a:endParaRPr sz="1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68270" y="5701030"/>
            <a:ext cx="2254250" cy="713105"/>
            <a:chOff x="4342" y="9248"/>
            <a:chExt cx="3550" cy="1123"/>
          </a:xfrm>
        </p:grpSpPr>
        <p:sp>
          <p:nvSpPr>
            <p:cNvPr id="113" name="圆角矩形 112"/>
            <p:cNvSpPr/>
            <p:nvPr/>
          </p:nvSpPr>
          <p:spPr>
            <a:xfrm>
              <a:off x="5587" y="9873"/>
              <a:ext cx="1060" cy="49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小区状态核查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4" name="圆角矩形 113"/>
            <p:cNvSpPr/>
            <p:nvPr/>
          </p:nvSpPr>
          <p:spPr>
            <a:xfrm>
              <a:off x="6832" y="9873"/>
              <a:ext cx="1060" cy="49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小区告警核查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5" name="圆角矩形 114"/>
            <p:cNvSpPr/>
            <p:nvPr/>
          </p:nvSpPr>
          <p:spPr>
            <a:xfrm>
              <a:off x="4342" y="9248"/>
              <a:ext cx="1060" cy="49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邻区关系自动匹配</a:t>
              </a:r>
              <a:endPara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6" name="圆角矩形 115"/>
            <p:cNvSpPr/>
            <p:nvPr/>
          </p:nvSpPr>
          <p:spPr>
            <a:xfrm>
              <a:off x="5587" y="9248"/>
              <a:ext cx="1060" cy="49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邻区筛选规则内嵌</a:t>
              </a:r>
              <a:endPara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7" name="圆角矩形 116"/>
            <p:cNvSpPr/>
            <p:nvPr/>
          </p:nvSpPr>
          <p:spPr>
            <a:xfrm>
              <a:off x="6832" y="9248"/>
              <a:ext cx="1060" cy="49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配置脚本自动生成</a:t>
              </a:r>
              <a:endPara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8" name="圆角矩形 117"/>
            <p:cNvSpPr/>
            <p:nvPr/>
          </p:nvSpPr>
          <p:spPr>
            <a:xfrm>
              <a:off x="4342" y="9873"/>
              <a:ext cx="1060" cy="49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配置脚本自动执行</a:t>
              </a:r>
              <a:endPara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19" name="矩形 118"/>
          <p:cNvSpPr/>
          <p:nvPr>
            <p:custDataLst>
              <p:tags r:id="rId3"/>
            </p:custDataLst>
          </p:nvPr>
        </p:nvSpPr>
        <p:spPr>
          <a:xfrm>
            <a:off x="685800" y="5706110"/>
            <a:ext cx="469265" cy="688340"/>
          </a:xfrm>
          <a:prstGeom prst="rect">
            <a:avLst/>
          </a:prstGeom>
          <a:solidFill>
            <a:srgbClr val="F4511E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0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原子能力</a:t>
            </a:r>
            <a:endParaRPr lang="zh-CN" altLang="en-US" sz="9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0" name="圆角矩形 102"/>
          <p:cNvSpPr/>
          <p:nvPr>
            <p:custDataLst>
              <p:tags r:id="rId4"/>
            </p:custDataLst>
          </p:nvPr>
        </p:nvSpPr>
        <p:spPr>
          <a:xfrm>
            <a:off x="702945" y="2190750"/>
            <a:ext cx="1647825" cy="3081020"/>
          </a:xfrm>
          <a:prstGeom prst="roundRect">
            <a:avLst>
              <a:gd name="adj" fmla="val 6786"/>
            </a:avLst>
          </a:prstGeom>
          <a:solidFill>
            <a:schemeClr val="bg1"/>
          </a:solidFill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6858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 sz="1200" kern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1" name="图片 120" descr="小龙虾 (1)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2312670"/>
            <a:ext cx="450850" cy="450850"/>
          </a:xfrm>
          <a:prstGeom prst="rect">
            <a:avLst/>
          </a:prstGeom>
        </p:spPr>
      </p:pic>
      <p:sp>
        <p:nvSpPr>
          <p:cNvPr id="123" name="文本框 122"/>
          <p:cNvSpPr txBox="1"/>
          <p:nvPr/>
        </p:nvSpPr>
        <p:spPr>
          <a:xfrm>
            <a:off x="1192530" y="2229485"/>
            <a:ext cx="1108710" cy="60706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OpenClaw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架构，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5GA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2885" y="671830"/>
            <a:ext cx="11501755" cy="97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base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3CC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场景业务流程复杂，现网需求量大，且厂家操作单站投资较高。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计划</a:t>
            </a: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面向开站和参数修改操作环节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，基于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OpenClaw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架构，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构建3CC自主开通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与自动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配置能力，将智能体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能力融入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3CC自动部署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”及“</a:t>
            </a:r>
            <a:r>
              <a:rPr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160M自主自动扩容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”两大核心流程，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驱动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3CC自动部署</a:t>
            </a:r>
            <a:r>
              <a:rPr 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支撑省端开站及参数环节的自动化操作，减少人工干预。</a:t>
            </a:r>
            <a:endParaRPr sz="1600" i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1205" y="2705100"/>
            <a:ext cx="1550035" cy="251968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署中的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3CC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开通判断、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3CC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160M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扩容判断及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160M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小区扩容封装为可复用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Skill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，由智能体自主规划调用、串联各业务环节，将系统固定流程转化为数字员工的自主驱动，实现端到端自动化闭环。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523105" y="2303145"/>
            <a:ext cx="1353820" cy="2882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3CC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开通判断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118860" y="2303145"/>
            <a:ext cx="1353820" cy="2882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3CC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118860" y="4890135"/>
            <a:ext cx="1353820" cy="288290"/>
          </a:xfrm>
          <a:prstGeom prst="roundRect">
            <a:avLst/>
          </a:prstGeom>
          <a:solidFill>
            <a:srgbClr val="92D050">
              <a:alpha val="25000"/>
            </a:srgb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160M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小区扩容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菱形 10"/>
          <p:cNvSpPr/>
          <p:nvPr/>
        </p:nvSpPr>
        <p:spPr>
          <a:xfrm>
            <a:off x="4675505" y="2877185"/>
            <a:ext cx="1066800" cy="680720"/>
          </a:xfrm>
          <a:prstGeom prst="diamond">
            <a:avLst/>
          </a:prstGeom>
          <a:ln w="19050"/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3CC</a:t>
            </a: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开通条件判断</a:t>
            </a:r>
            <a:endParaRPr lang="zh-CN" altLang="en-US" sz="1000" b="1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6256020" y="3029585"/>
            <a:ext cx="1088390" cy="366395"/>
          </a:xfrm>
          <a:prstGeom prst="rect">
            <a:avLst/>
          </a:prstGeom>
          <a:ln w="19050"/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lIns="0" r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3CC</a:t>
            </a: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自动部署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3" name="菱形 12"/>
          <p:cNvSpPr/>
          <p:nvPr/>
        </p:nvSpPr>
        <p:spPr>
          <a:xfrm>
            <a:off x="4676775" y="3835400"/>
            <a:ext cx="1066800" cy="680720"/>
          </a:xfrm>
          <a:prstGeom prst="diamond">
            <a:avLst/>
          </a:prstGeom>
          <a:ln w="19050"/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160M</a:t>
            </a: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扩容判断</a:t>
            </a:r>
            <a:endParaRPr lang="zh-CN" altLang="en-US" sz="1000" b="1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675505" y="4858385"/>
            <a:ext cx="1088390" cy="366395"/>
          </a:xfrm>
          <a:prstGeom prst="rect">
            <a:avLst/>
          </a:prstGeom>
          <a:ln w="19050"/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lIns="0" r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160M</a:t>
            </a: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小区扩容</a:t>
            </a:r>
            <a:endParaRPr lang="zh-CN" altLang="en-US" sz="1000" b="1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7" name="直接箭头连接符 36"/>
          <p:cNvCxnSpPr>
            <a:stCxn id="32" idx="3"/>
            <a:endCxn id="11" idx="1"/>
          </p:cNvCxnSpPr>
          <p:nvPr/>
        </p:nvCxnSpPr>
        <p:spPr>
          <a:xfrm flipV="1">
            <a:off x="3905885" y="3217545"/>
            <a:ext cx="769620" cy="2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11" idx="3"/>
            <a:endCxn id="12" idx="1"/>
          </p:cNvCxnSpPr>
          <p:nvPr/>
        </p:nvCxnSpPr>
        <p:spPr>
          <a:xfrm flipV="1">
            <a:off x="5742305" y="3213100"/>
            <a:ext cx="51371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11" idx="2"/>
            <a:endCxn id="13" idx="0"/>
          </p:cNvCxnSpPr>
          <p:nvPr/>
        </p:nvCxnSpPr>
        <p:spPr>
          <a:xfrm>
            <a:off x="5208905" y="3557905"/>
            <a:ext cx="1270" cy="277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3" idx="2"/>
            <a:endCxn id="14" idx="0"/>
          </p:cNvCxnSpPr>
          <p:nvPr/>
        </p:nvCxnSpPr>
        <p:spPr>
          <a:xfrm>
            <a:off x="5210175" y="4516120"/>
            <a:ext cx="9525" cy="34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3" idx="3"/>
            <a:endCxn id="36" idx="1"/>
          </p:cNvCxnSpPr>
          <p:nvPr/>
        </p:nvCxnSpPr>
        <p:spPr>
          <a:xfrm flipV="1">
            <a:off x="5743575" y="4172585"/>
            <a:ext cx="1710055" cy="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14" idx="1"/>
            <a:endCxn id="11" idx="0"/>
          </p:cNvCxnSpPr>
          <p:nvPr/>
        </p:nvCxnSpPr>
        <p:spPr>
          <a:xfrm rot="10800000" flipH="1">
            <a:off x="4675505" y="2876550"/>
            <a:ext cx="533400" cy="2164715"/>
          </a:xfrm>
          <a:prstGeom prst="bentConnector4">
            <a:avLst>
              <a:gd name="adj1" fmla="val -354761"/>
              <a:gd name="adj2" fmla="val 1066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12" idx="3"/>
            <a:endCxn id="36" idx="0"/>
          </p:cNvCxnSpPr>
          <p:nvPr/>
        </p:nvCxnSpPr>
        <p:spPr>
          <a:xfrm>
            <a:off x="7344410" y="3213100"/>
            <a:ext cx="1033780" cy="5969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3067685" y="4031615"/>
            <a:ext cx="1353820" cy="2882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160M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扩容判断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1" name="直接连接符 20"/>
          <p:cNvCxnSpPr>
            <a:stCxn id="19" idx="3"/>
            <a:endCxn id="13" idx="1"/>
          </p:cNvCxnSpPr>
          <p:nvPr/>
        </p:nvCxnSpPr>
        <p:spPr>
          <a:xfrm>
            <a:off x="4421505" y="4175760"/>
            <a:ext cx="255270" cy="0"/>
          </a:xfrm>
          <a:prstGeom prst="line">
            <a:avLst/>
          </a:prstGeom>
          <a:ln w="19050">
            <a:solidFill>
              <a:srgbClr val="CCC1DA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8" idx="2"/>
          </p:cNvCxnSpPr>
          <p:nvPr/>
        </p:nvCxnSpPr>
        <p:spPr>
          <a:xfrm>
            <a:off x="5200015" y="2591435"/>
            <a:ext cx="8890" cy="285750"/>
          </a:xfrm>
          <a:prstGeom prst="line">
            <a:avLst/>
          </a:prstGeom>
          <a:ln w="19050">
            <a:solidFill>
              <a:srgbClr val="B7DEE8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9" idx="2"/>
            <a:endCxn id="12" idx="0"/>
          </p:cNvCxnSpPr>
          <p:nvPr/>
        </p:nvCxnSpPr>
        <p:spPr>
          <a:xfrm>
            <a:off x="6795770" y="2591435"/>
            <a:ext cx="4445" cy="438150"/>
          </a:xfrm>
          <a:prstGeom prst="line">
            <a:avLst/>
          </a:prstGeom>
          <a:ln w="19050">
            <a:solidFill>
              <a:srgbClr val="FCD5B5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4" idx="3"/>
            <a:endCxn id="10" idx="1"/>
          </p:cNvCxnSpPr>
          <p:nvPr/>
        </p:nvCxnSpPr>
        <p:spPr>
          <a:xfrm flipV="1">
            <a:off x="5763895" y="5034280"/>
            <a:ext cx="354965" cy="7620"/>
          </a:xfrm>
          <a:prstGeom prst="line">
            <a:avLst/>
          </a:prstGeom>
          <a:ln w="19050">
            <a:solidFill>
              <a:srgbClr val="E4F3D3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7" name="组合 136"/>
          <p:cNvGrpSpPr/>
          <p:nvPr/>
        </p:nvGrpSpPr>
        <p:grpSpPr>
          <a:xfrm>
            <a:off x="1466850" y="5706110"/>
            <a:ext cx="715010" cy="697865"/>
            <a:chOff x="2025" y="9256"/>
            <a:chExt cx="1126" cy="1099"/>
          </a:xfrm>
        </p:grpSpPr>
        <p:sp>
          <p:nvSpPr>
            <p:cNvPr id="91" name="圆角矩形 90"/>
            <p:cNvSpPr/>
            <p:nvPr/>
          </p:nvSpPr>
          <p:spPr>
            <a:xfrm>
              <a:off x="2025" y="9256"/>
              <a:ext cx="1126" cy="49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硬件信息查询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2" name="圆角矩形 91"/>
            <p:cNvSpPr/>
            <p:nvPr/>
          </p:nvSpPr>
          <p:spPr>
            <a:xfrm>
              <a:off x="2025" y="9857"/>
              <a:ext cx="1126" cy="49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3CC</a:t>
              </a:r>
              <a:r>
                <a:rPr lang="zh-CN" altLang="en-US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开通判断</a:t>
              </a:r>
              <a:endParaRPr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5408930" y="5706110"/>
            <a:ext cx="715010" cy="697865"/>
            <a:chOff x="8850" y="9256"/>
            <a:chExt cx="1126" cy="1099"/>
          </a:xfrm>
        </p:grpSpPr>
        <p:sp>
          <p:nvSpPr>
            <p:cNvPr id="24" name="圆角矩形 23"/>
            <p:cNvSpPr/>
            <p:nvPr/>
          </p:nvSpPr>
          <p:spPr>
            <a:xfrm>
              <a:off x="8850" y="9256"/>
              <a:ext cx="1126" cy="4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硬件信息查询</a:t>
              </a:r>
              <a:endPara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3" name="圆角矩形 102"/>
            <p:cNvSpPr/>
            <p:nvPr/>
          </p:nvSpPr>
          <p:spPr>
            <a:xfrm>
              <a:off x="8850" y="9857"/>
              <a:ext cx="1126" cy="4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小区扩容判断</a:t>
              </a:r>
              <a:endParaRPr lang="en-US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610350" y="5695315"/>
            <a:ext cx="4803775" cy="696595"/>
            <a:chOff x="10410" y="9239"/>
            <a:chExt cx="7565" cy="1097"/>
          </a:xfrm>
        </p:grpSpPr>
        <p:sp>
          <p:nvSpPr>
            <p:cNvPr id="122" name="圆角矩形 121"/>
            <p:cNvSpPr/>
            <p:nvPr/>
          </p:nvSpPr>
          <p:spPr>
            <a:xfrm>
              <a:off x="10410" y="9239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站点信息自动查询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5" name="圆角矩形 124"/>
            <p:cNvSpPr/>
            <p:nvPr/>
          </p:nvSpPr>
          <p:spPr>
            <a:xfrm>
              <a:off x="11698" y="9239"/>
              <a:ext cx="1125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华为脚本自动生成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6" name="圆角矩形 125"/>
            <p:cNvSpPr/>
            <p:nvPr/>
          </p:nvSpPr>
          <p:spPr>
            <a:xfrm>
              <a:off x="10410" y="9838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中兴spu表自动生成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7" name="圆角矩形 126"/>
            <p:cNvSpPr/>
            <p:nvPr/>
          </p:nvSpPr>
          <p:spPr>
            <a:xfrm>
              <a:off x="11711" y="9838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扩容数据自动执行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12985" y="9239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自动匹配基线模版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13012" y="9838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基线自动下发执行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0" name="圆角矩形 129"/>
            <p:cNvSpPr/>
            <p:nvPr/>
          </p:nvSpPr>
          <p:spPr>
            <a:xfrm>
              <a:off x="14273" y="9239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正向邻区方案生成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5561" y="9239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反向邻区方案生成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2" name="圆角矩形 131"/>
            <p:cNvSpPr/>
            <p:nvPr/>
          </p:nvSpPr>
          <p:spPr>
            <a:xfrm>
              <a:off x="16849" y="9239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邻区脚本自动执行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3" name="圆角矩形 132"/>
            <p:cNvSpPr/>
            <p:nvPr/>
          </p:nvSpPr>
          <p:spPr>
            <a:xfrm>
              <a:off x="14313" y="9838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告警自动核查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15614" y="9838"/>
              <a:ext cx="1126" cy="499"/>
            </a:xfrm>
            <a:prstGeom prst="roundRect">
              <a:avLst/>
            </a:prstGeom>
            <a:solidFill>
              <a:srgbClr val="92D050">
                <a:alpha val="25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小区自动激活</a:t>
              </a:r>
              <a:endPara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0" name="圆角矩形 102"/>
          <p:cNvSpPr/>
          <p:nvPr>
            <p:custDataLst>
              <p:tags r:id="rId9"/>
            </p:custDataLst>
          </p:nvPr>
        </p:nvSpPr>
        <p:spPr>
          <a:xfrm>
            <a:off x="9411335" y="2190750"/>
            <a:ext cx="2088515" cy="3160395"/>
          </a:xfrm>
          <a:prstGeom prst="roundRect">
            <a:avLst>
              <a:gd name="adj" fmla="val 3072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tIns="90170" numCol="1" spcCol="0" rtlCol="0" fromWordArt="0" anchor="t" anchorCtr="0" forceAA="0" compatLnSpc="1">
            <a:noAutofit/>
          </a:bodyPr>
          <a:lstStyle/>
          <a:p>
            <a:pPr lvl="0" indent="0" algn="ctr" defTabSz="685800" fontAlgn="auto">
              <a:spcBef>
                <a:spcPts val="500"/>
              </a:spcBef>
              <a:spcAft>
                <a:spcPts val="500"/>
              </a:spcAft>
              <a:buClrTx/>
              <a:buSzTx/>
              <a:buFontTx/>
              <a:defRPr/>
            </a:pPr>
            <a:r>
              <a:rPr lang="zh-CN" altLang="en-US" sz="14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安全加固</a:t>
            </a:r>
            <a:endParaRPr lang="zh-CN" altLang="en-US" sz="1400" kern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1755" lvl="0" indent="-71755" algn="l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规则固化：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将核心规则（禁止自行生成代码等）写入</a:t>
            </a:r>
            <a:r>
              <a:rPr lang="en-US" altLang="zh-CN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agent.md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，设置文件为只读</a:t>
            </a:r>
            <a:endParaRPr lang="zh-CN" altLang="en-US" sz="1000" kern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1755" lvl="0" indent="-71755" algn="l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篡改防护：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部署时计算</a:t>
            </a:r>
            <a:r>
              <a:rPr lang="en-US" altLang="zh-CN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agent.md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哈希，启动时校验</a:t>
            </a:r>
            <a:endParaRPr lang="zh-CN" altLang="en-US" sz="1000" kern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1755" lvl="0" indent="-71755" algn="l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提示词攻击防护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：配置</a:t>
            </a:r>
            <a:r>
              <a:rPr lang="en-US" altLang="zh-CN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Prompt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注入检测规则，拦截</a:t>
            </a:r>
            <a:r>
              <a:rPr lang="en-US" altLang="zh-CN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SYSTEM_OVERRIDE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等关键词</a:t>
            </a:r>
            <a:endParaRPr lang="zh-CN" altLang="en-US" sz="1000" kern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1755" lvl="0" indent="-71755" algn="l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日志回溯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：配置</a:t>
            </a:r>
            <a:r>
              <a:rPr lang="en-US" altLang="zh-CN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Session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日志采集，记录每一次工具调用、参数、结果及执行链路，为问题追溯与合规审计提供完整依据</a:t>
            </a:r>
            <a:endParaRPr lang="zh-CN" altLang="en-US" sz="1000" kern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1755" lvl="0" indent="-71755" algn="l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000" b="1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越权告警：</a:t>
            </a:r>
            <a:r>
              <a:rPr lang="zh-CN" altLang="en-US" sz="1000" kern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设置敏感路径访问、工具越权、密钥泄露三类高风险行为进行检测，触发后自动告警并阻断</a:t>
            </a:r>
            <a:endParaRPr lang="zh-CN" altLang="en-US" sz="1000" kern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067685" y="2991485"/>
            <a:ext cx="838200" cy="457200"/>
          </a:xfrm>
          <a:prstGeom prst="roundRect">
            <a:avLst/>
          </a:prstGeom>
          <a:ln w="19050"/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3CC</a:t>
            </a: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开通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需求输入</a:t>
            </a:r>
            <a:endParaRPr lang="zh-CN" altLang="en-US" sz="1000" b="1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526020" y="4006850"/>
            <a:ext cx="838200" cy="457200"/>
          </a:xfrm>
          <a:prstGeom prst="roundRect">
            <a:avLst/>
          </a:prstGeom>
          <a:ln w="19050"/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成功结果</a:t>
            </a:r>
            <a:endParaRPr lang="zh-CN" altLang="en-US" sz="1000" b="1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74" name="图片 173" descr="安全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30740" y="2263140"/>
            <a:ext cx="309245" cy="30924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743877" y="3014643"/>
            <a:ext cx="385639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Y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6" name="文本框 175"/>
          <p:cNvSpPr txBox="1"/>
          <p:nvPr>
            <p:custDataLst>
              <p:tags r:id="rId13"/>
            </p:custDataLst>
          </p:nvPr>
        </p:nvSpPr>
        <p:spPr>
          <a:xfrm>
            <a:off x="4893612" y="3558203"/>
            <a:ext cx="385639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7" name="文本框 176"/>
          <p:cNvSpPr txBox="1"/>
          <p:nvPr>
            <p:custDataLst>
              <p:tags r:id="rId14"/>
            </p:custDataLst>
          </p:nvPr>
        </p:nvSpPr>
        <p:spPr>
          <a:xfrm>
            <a:off x="5743877" y="3947458"/>
            <a:ext cx="385639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8" name="文本框 177"/>
          <p:cNvSpPr txBox="1"/>
          <p:nvPr>
            <p:custDataLst>
              <p:tags r:id="rId15"/>
            </p:custDataLst>
          </p:nvPr>
        </p:nvSpPr>
        <p:spPr>
          <a:xfrm>
            <a:off x="4893612" y="4541183"/>
            <a:ext cx="385639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Y</a:t>
            </a:r>
            <a:endParaRPr kumimoji="0" lang="en-US" altLang="zh-CN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8422640" y="4000500"/>
            <a:ext cx="838200" cy="457200"/>
          </a:xfrm>
          <a:prstGeom prst="roundRect">
            <a:avLst/>
          </a:prstGeom>
          <a:ln w="19050"/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失败原因</a:t>
            </a:r>
            <a:endParaRPr lang="zh-CN" altLang="en-US" sz="1000" b="1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7453630" y="3810000"/>
            <a:ext cx="1849120" cy="724535"/>
          </a:xfrm>
          <a:prstGeom prst="round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lIns="0" tIns="0" rIns="0" numCol="1" spcCol="0" rtlCol="0" fromWordArt="0" anchor="t" anchorCtr="0" forceAA="0" compatLnSpc="1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结果输出</a:t>
            </a:r>
            <a:endParaRPr lang="zh-CN" altLang="en-US" sz="10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 txBox="1"/>
          <p:nvPr/>
        </p:nvSpPr>
        <p:spPr>
          <a:xfrm>
            <a:off x="511200" y="51859"/>
            <a:ext cx="6101715" cy="49403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21917" tIns="60959" rIns="121917" bIns="60959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7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AI+探索实践交流</a:t>
            </a:r>
            <a:endParaRPr lang="zh-CN" altLang="en-US" sz="27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: 形状 53"/>
          <p:cNvSpPr>
            <a:spLocks noChangeAspect="1"/>
          </p:cNvSpPr>
          <p:nvPr/>
        </p:nvSpPr>
        <p:spPr>
          <a:xfrm>
            <a:off x="1043362" y="2242986"/>
            <a:ext cx="10105275" cy="4024475"/>
          </a:xfrm>
          <a:custGeom>
            <a:avLst/>
            <a:gdLst>
              <a:gd name="connsiteX0" fmla="*/ 0 w 12192000"/>
              <a:gd name="connsiteY0" fmla="*/ 0 h 4343395"/>
              <a:gd name="connsiteX1" fmla="*/ 5942936 w 12192000"/>
              <a:gd name="connsiteY1" fmla="*/ 0 h 4343395"/>
              <a:gd name="connsiteX2" fmla="*/ 6096000 w 12192000"/>
              <a:gd name="connsiteY2" fmla="*/ 192835 h 4343395"/>
              <a:gd name="connsiteX3" fmla="*/ 6249064 w 12192000"/>
              <a:gd name="connsiteY3" fmla="*/ 0 h 4343395"/>
              <a:gd name="connsiteX4" fmla="*/ 12192000 w 12192000"/>
              <a:gd name="connsiteY4" fmla="*/ 0 h 4343395"/>
              <a:gd name="connsiteX5" fmla="*/ 12192000 w 12192000"/>
              <a:gd name="connsiteY5" fmla="*/ 4343395 h 4343395"/>
              <a:gd name="connsiteX6" fmla="*/ 0 w 12192000"/>
              <a:gd name="connsiteY6" fmla="*/ 4343395 h 434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43395">
                <a:moveTo>
                  <a:pt x="0" y="0"/>
                </a:moveTo>
                <a:lnTo>
                  <a:pt x="5942936" y="0"/>
                </a:lnTo>
                <a:lnTo>
                  <a:pt x="6096000" y="192835"/>
                </a:lnTo>
                <a:lnTo>
                  <a:pt x="6249064" y="0"/>
                </a:lnTo>
                <a:lnTo>
                  <a:pt x="12192000" y="0"/>
                </a:lnTo>
                <a:lnTo>
                  <a:pt x="12192000" y="4343395"/>
                </a:lnTo>
                <a:lnTo>
                  <a:pt x="0" y="4343395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  <a:effectLst>
            <a:outerShdw blurRad="457200" sx="102000" sy="102000" algn="ctr" rotWithShape="0">
              <a:srgbClr val="16587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1837" y="1184516"/>
            <a:ext cx="21513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6587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   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1658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150293" y="1788971"/>
            <a:ext cx="2472090" cy="57674"/>
            <a:chOff x="4859955" y="745637"/>
            <a:chExt cx="2472090" cy="57674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4859955" y="774473"/>
              <a:ext cx="2472090" cy="0"/>
            </a:xfrm>
            <a:prstGeom prst="line">
              <a:avLst/>
            </a:prstGeom>
            <a:ln w="12700">
              <a:gradFill>
                <a:gsLst>
                  <a:gs pos="0">
                    <a:srgbClr val="165878">
                      <a:alpha val="0"/>
                    </a:srgbClr>
                  </a:gs>
                  <a:gs pos="53000">
                    <a:srgbClr val="165878"/>
                  </a:gs>
                  <a:gs pos="100000">
                    <a:srgbClr val="165878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6067163" y="745637"/>
              <a:ext cx="57674" cy="57674"/>
            </a:xfrm>
            <a:prstGeom prst="ellipse">
              <a:avLst/>
            </a:prstGeom>
            <a:solidFill>
              <a:srgbClr val="F3F7F8"/>
            </a:solidFill>
            <a:ln>
              <a:solidFill>
                <a:srgbClr val="1658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" name="TextBox 7"/>
          <p:cNvSpPr txBox="1"/>
          <p:nvPr/>
        </p:nvSpPr>
        <p:spPr>
          <a:xfrm>
            <a:off x="3068320" y="3444875"/>
            <a:ext cx="1557655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第一部分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75225" y="3444875"/>
            <a:ext cx="273177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AI+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探索实践介绍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740275" y="3539173"/>
            <a:ext cx="0" cy="271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7"/>
          <p:cNvSpPr txBox="1"/>
          <p:nvPr>
            <p:custDataLst>
              <p:tags r:id="rId1"/>
            </p:custDataLst>
          </p:nvPr>
        </p:nvSpPr>
        <p:spPr>
          <a:xfrm>
            <a:off x="3068320" y="4082098"/>
            <a:ext cx="1557655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rgbClr val="0070C0"/>
                </a:solidFill>
              </a:rPr>
              <a:t>第二部分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0" name="TextBox 11"/>
          <p:cNvSpPr txBox="1"/>
          <p:nvPr>
            <p:custDataLst>
              <p:tags r:id="rId2"/>
            </p:custDataLst>
          </p:nvPr>
        </p:nvSpPr>
        <p:spPr>
          <a:xfrm>
            <a:off x="4975225" y="4082415"/>
            <a:ext cx="273050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>
                <a:solidFill>
                  <a:srgbClr val="0070C0"/>
                </a:solidFill>
                <a:sym typeface="+mn-ea"/>
              </a:rPr>
              <a:t>AI+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任务</a:t>
            </a:r>
            <a:r>
              <a:rPr lang="zh-CN" altLang="en-US" dirty="0">
                <a:solidFill>
                  <a:srgbClr val="0070C0"/>
                </a:solidFill>
                <a:sym typeface="+mn-ea"/>
              </a:rPr>
              <a:t>调度中枢</a:t>
            </a:r>
            <a:endParaRPr lang="zh-CN" altLang="en-US" dirty="0">
              <a:solidFill>
                <a:srgbClr val="0070C0"/>
              </a:solidFill>
              <a:sym typeface="+mn-ea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"/>
            </p:custDataLst>
          </p:nvPr>
        </p:nvCxnSpPr>
        <p:spPr>
          <a:xfrm>
            <a:off x="4740275" y="4176395"/>
            <a:ext cx="0" cy="271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dirty="0">
                <a:cs typeface="+mn-cs"/>
                <a:sym typeface="+mn-ea"/>
              </a:rPr>
              <a:t>AI</a:t>
            </a:r>
            <a:r>
              <a:rPr lang="zh-CN" altLang="en-US" dirty="0">
                <a:cs typeface="+mn-cs"/>
                <a:sym typeface="+mn-ea"/>
              </a:rPr>
              <a:t>任务调度中枢</a:t>
            </a:r>
            <a:r>
              <a:rPr lang="en-US" altLang="zh-CN" dirty="0">
                <a:cs typeface="+mn-cs"/>
                <a:sym typeface="+mn-ea"/>
              </a:rPr>
              <a:t>-</a:t>
            </a:r>
            <a:r>
              <a:rPr lang="zh-CN" altLang="en-US" dirty="0">
                <a:cs typeface="+mn-cs"/>
                <a:sym typeface="+mn-ea"/>
              </a:rPr>
              <a:t>建设背景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329" name="文本框 328"/>
          <p:cNvSpPr txBox="1"/>
          <p:nvPr>
            <p:custDataLst>
              <p:tags r:id="rId3"/>
            </p:custDataLst>
          </p:nvPr>
        </p:nvSpPr>
        <p:spPr>
          <a:xfrm>
            <a:off x="5306060" y="1877060"/>
            <a:ext cx="6603365" cy="32512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>
                <a:solidFill>
                  <a:sysClr val="window" lastClr="FFFFFF"/>
                </a:solidFill>
                <a:latin typeface="微软雅黑" panose="020B0503020204020204" charset="-122"/>
              </a:rPr>
              <a:t>网优优化作战存在的主要问题</a:t>
            </a:r>
            <a:endParaRPr lang="zh-CN" altLang="en-US">
              <a:solidFill>
                <a:sysClr val="window" lastClr="FFFFFF"/>
              </a:solidFill>
              <a:latin typeface="微软雅黑" panose="020B0503020204020204" charset="-122"/>
            </a:endParaRPr>
          </a:p>
        </p:txBody>
      </p:sp>
      <p:sp>
        <p:nvSpPr>
          <p:cNvPr id="330" name="矩形 329"/>
          <p:cNvSpPr/>
          <p:nvPr>
            <p:custDataLst>
              <p:tags r:id="rId4"/>
            </p:custDataLst>
          </p:nvPr>
        </p:nvSpPr>
        <p:spPr>
          <a:xfrm>
            <a:off x="5306695" y="2202815"/>
            <a:ext cx="6603365" cy="4318000"/>
          </a:xfrm>
          <a:prstGeom prst="rect">
            <a:avLst/>
          </a:prstGeom>
          <a:solidFill>
            <a:srgbClr val="EEECEB"/>
          </a:solidFill>
          <a:ln w="9525" cap="flat" cmpd="sng" algn="ctr">
            <a:noFill/>
            <a:prstDash val="sysDash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5382895" y="2286635"/>
            <a:ext cx="6470015" cy="4133215"/>
            <a:chOff x="557" y="3636"/>
            <a:chExt cx="10189" cy="5502"/>
          </a:xfrm>
        </p:grpSpPr>
        <p:sp>
          <p:nvSpPr>
            <p:cNvPr id="332" name="矩形 331"/>
            <p:cNvSpPr/>
            <p:nvPr>
              <p:custDataLst>
                <p:tags r:id="rId5"/>
              </p:custDataLst>
            </p:nvPr>
          </p:nvSpPr>
          <p:spPr bwMode="auto">
            <a:xfrm>
              <a:off x="557" y="3636"/>
              <a:ext cx="719" cy="1000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non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ctr" defTabSz="3917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01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33" name="矩形 332"/>
            <p:cNvSpPr/>
            <p:nvPr>
              <p:custDataLst>
                <p:tags r:id="rId6"/>
              </p:custDataLst>
            </p:nvPr>
          </p:nvSpPr>
          <p:spPr bwMode="auto">
            <a:xfrm>
              <a:off x="1276" y="3636"/>
              <a:ext cx="9471" cy="1000"/>
            </a:xfrm>
            <a:prstGeom prst="rect">
              <a:avLst/>
            </a:prstGeom>
            <a:solidFill>
              <a:srgbClr val="E5F6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square" lIns="107950" tIns="0" rIns="71755" bIns="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l" defTabSz="3917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微软雅黑" panose="020B0503020204020204" charset="-122"/>
                </a:rPr>
                <a:t>网络质量整体性把控不足，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单点工单闭环不等于问题真正闭环。跨道路、跨小区、跨区域的系统性质差缺乏统一态势感知，点状处置难以防止”按下葫芦浮起瓢”的反复发生。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34" name="矩形 333"/>
            <p:cNvSpPr/>
            <p:nvPr>
              <p:custDataLst>
                <p:tags r:id="rId7"/>
              </p:custDataLst>
            </p:nvPr>
          </p:nvSpPr>
          <p:spPr bwMode="auto">
            <a:xfrm>
              <a:off x="557" y="4761"/>
              <a:ext cx="720" cy="1000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non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ctr" defTabSz="3917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02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35" name="矩形 334"/>
            <p:cNvSpPr/>
            <p:nvPr>
              <p:custDataLst>
                <p:tags r:id="rId8"/>
              </p:custDataLst>
            </p:nvPr>
          </p:nvSpPr>
          <p:spPr bwMode="auto">
            <a:xfrm>
              <a:off x="1275" y="4761"/>
              <a:ext cx="9471" cy="1000"/>
            </a:xfrm>
            <a:prstGeom prst="rect">
              <a:avLst/>
            </a:prstGeom>
            <a:solidFill>
              <a:srgbClr val="E5F6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square" lIns="107950" tIns="0" rIns="71755" bIns="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l" defTabSz="3917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工单机制难以支撑实时协同作战，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传统工单以”事务流转”为核心，不具备动态讨论、多人会商、实时指挥调度、方案迭代调整和全过程留痕的能力。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36" name="矩形 335"/>
            <p:cNvSpPr/>
            <p:nvPr>
              <p:custDataLst>
                <p:tags r:id="rId9"/>
              </p:custDataLst>
            </p:nvPr>
          </p:nvSpPr>
          <p:spPr bwMode="auto">
            <a:xfrm>
              <a:off x="557" y="5887"/>
              <a:ext cx="720" cy="1000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non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ctr" defTabSz="3917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03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37" name="矩形 336"/>
            <p:cNvSpPr/>
            <p:nvPr>
              <p:custDataLst>
                <p:tags r:id="rId10"/>
              </p:custDataLst>
            </p:nvPr>
          </p:nvSpPr>
          <p:spPr bwMode="auto">
            <a:xfrm>
              <a:off x="1275" y="5887"/>
              <a:ext cx="9471" cy="1000"/>
            </a:xfrm>
            <a:prstGeom prst="rect">
              <a:avLst/>
            </a:prstGeom>
            <a:solidFill>
              <a:srgbClr val="E5F6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square" lIns="107950" tIns="0" rIns="71755" bIns="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l" defTabSz="3917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宋体" panose="02010600030101010101" pitchFamily="2" charset="-122"/>
                </a:rPr>
                <a:t>多团队协同效率低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宋体" panose="02010600030101010101" pitchFamily="2" charset="-122"/>
                </a:rPr>
                <a:t>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微软雅黑" panose="020B0503020204020204" charset="-122"/>
                </a:rPr>
                <a:t>横向上多数据来源割裂；纵向上网格→区县→地市→省级协同层级多，信息在传递中衰减，关键问题的响应时效受制于工作流程。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微软雅黑" panose="020B0503020204020204" charset="-122"/>
              </a:endParaRPr>
            </a:p>
          </p:txBody>
        </p:sp>
        <p:sp>
          <p:nvSpPr>
            <p:cNvPr id="338" name="矩形 337"/>
            <p:cNvSpPr/>
            <p:nvPr>
              <p:custDataLst>
                <p:tags r:id="rId11"/>
              </p:custDataLst>
            </p:nvPr>
          </p:nvSpPr>
          <p:spPr bwMode="auto">
            <a:xfrm>
              <a:off x="557" y="7012"/>
              <a:ext cx="720" cy="1000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non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ctr" defTabSz="3917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04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39" name="矩形 338"/>
            <p:cNvSpPr/>
            <p:nvPr>
              <p:custDataLst>
                <p:tags r:id="rId12"/>
              </p:custDataLst>
            </p:nvPr>
          </p:nvSpPr>
          <p:spPr bwMode="auto">
            <a:xfrm>
              <a:off x="1275" y="7012"/>
              <a:ext cx="9471" cy="1000"/>
            </a:xfrm>
            <a:prstGeom prst="rect">
              <a:avLst/>
            </a:prstGeom>
            <a:solidFill>
              <a:srgbClr val="E5F6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square" lIns="107950" tIns="0" rIns="71755" bIns="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l" defTabSz="3917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全流程智能化程度不足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单个优化问题有智能化分析能力支撑，但端到端感知复合指标缺乏自动化分析、任务智能编排和闭环评估能力，优化质量因人而异、波动较大。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40" name="矩形 339"/>
            <p:cNvSpPr/>
            <p:nvPr>
              <p:custDataLst>
                <p:tags r:id="rId13"/>
              </p:custDataLst>
            </p:nvPr>
          </p:nvSpPr>
          <p:spPr bwMode="auto">
            <a:xfrm>
              <a:off x="557" y="8138"/>
              <a:ext cx="720" cy="1000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non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ctr" defTabSz="3917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05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+mn-ea"/>
              </a:endParaRPr>
            </a:p>
          </p:txBody>
        </p:sp>
        <p:sp>
          <p:nvSpPr>
            <p:cNvPr id="341" name="矩形 340"/>
            <p:cNvSpPr/>
            <p:nvPr>
              <p:custDataLst>
                <p:tags r:id="rId14"/>
              </p:custDataLst>
            </p:nvPr>
          </p:nvSpPr>
          <p:spPr bwMode="auto">
            <a:xfrm>
              <a:off x="1275" y="8138"/>
              <a:ext cx="9471" cy="1000"/>
            </a:xfrm>
            <a:prstGeom prst="rect">
              <a:avLst/>
            </a:prstGeom>
            <a:solidFill>
              <a:srgbClr val="E5F6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Overflow="overflow" horzOverflow="overflow" vert="horz" wrap="square" lIns="107950" tIns="0" rIns="71755" bIns="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ysClr val="windowText" lastClr="000000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Calibri" panose="020F0502020204030204" charset="0"/>
                  <a:ea typeface="+mn-ea"/>
                  <a:cs typeface="+mn-ea"/>
                </a:defRPr>
              </a:lvl9pPr>
            </a:lstStyle>
            <a:p>
              <a:pPr marL="0" marR="0" lvl="0" indent="0" algn="l" defTabSz="3917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2A2A2"/>
                </a:buClr>
                <a:buSzPct val="70000"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经验碎片化无法系统复用，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+mn-ea"/>
                </a:rPr>
                <a:t>网优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sym typeface="微软雅黑" panose="020B0503020204020204" charset="-122"/>
                </a:rPr>
                <a:t>处理经验留存手段缺失，无法沉淀为标准化的场景化能力，同类问题反复”从零开始”，人才流动带来的经验流失难以弥补。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sym typeface="微软雅黑" panose="020B0503020204020204" charset="-122"/>
              </a:endParaRPr>
            </a:p>
          </p:txBody>
        </p:sp>
      </p:grpSp>
      <p:sp>
        <p:nvSpPr>
          <p:cNvPr id="342" name="文本框 341"/>
          <p:cNvSpPr txBox="1"/>
          <p:nvPr/>
        </p:nvSpPr>
        <p:spPr>
          <a:xfrm>
            <a:off x="183515" y="913130"/>
            <a:ext cx="11858625" cy="878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无线网优在处置复杂网络问题时面临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五大核心挑战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：问题感知分散、协同响应迟滞、多团队协同效率低、全流程智能化不足、处置经验无系统沉淀。痛点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根源于以计件工单流转为核心的管理范式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，难以满足日益复杂化的网络优化作战需求，需重构处置体系。</a:t>
            </a:r>
            <a:endParaRPr lang="zh-CN" altLang="en-US" sz="16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3" name="矩形 342"/>
          <p:cNvSpPr/>
          <p:nvPr>
            <p:custDataLst>
              <p:tags r:id="rId15"/>
            </p:custDataLst>
          </p:nvPr>
        </p:nvSpPr>
        <p:spPr>
          <a:xfrm>
            <a:off x="226695" y="2101850"/>
            <a:ext cx="4989830" cy="4423410"/>
          </a:xfrm>
          <a:prstGeom prst="rect">
            <a:avLst/>
          </a:prstGeom>
          <a:solidFill>
            <a:srgbClr val="EEECEB"/>
          </a:solidFill>
          <a:ln w="9525" cap="flat" cmpd="sng" algn="ctr">
            <a:noFill/>
            <a:prstDash val="sysDash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4" name="矩形 343"/>
          <p:cNvSpPr/>
          <p:nvPr>
            <p:custDataLst>
              <p:tags r:id="rId16"/>
            </p:custDataLst>
          </p:nvPr>
        </p:nvSpPr>
        <p:spPr bwMode="auto">
          <a:xfrm>
            <a:off x="287655" y="2280920"/>
            <a:ext cx="4839970" cy="2154555"/>
          </a:xfrm>
          <a:prstGeom prst="rect">
            <a:avLst/>
          </a:prstGeom>
          <a:solidFill>
            <a:srgbClr val="E5F6F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107950" tIns="0" rIns="71755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ysClr val="windowText" lastClr="000000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marR="0" lvl="0" indent="0" algn="l" defTabSz="39179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2A2A2"/>
              </a:buClr>
              <a:buSzPct val="70000"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sym typeface="微软雅黑" panose="020B0503020204020204" charset="-122"/>
            </a:endParaRPr>
          </a:p>
        </p:txBody>
      </p:sp>
      <p:sp>
        <p:nvSpPr>
          <p:cNvPr id="345" name="文本框 344"/>
          <p:cNvSpPr txBox="1"/>
          <p:nvPr/>
        </p:nvSpPr>
        <p:spPr>
          <a:xfrm>
            <a:off x="287655" y="2292985"/>
            <a:ext cx="4840605" cy="595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1450" indent="-171450" defTabSz="391795">
              <a:lnSpc>
                <a:spcPct val="14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1200" dirty="0">
                <a:solidFill>
                  <a:sysClr val="windowText" lastClr="000000"/>
                </a:solidFill>
                <a:latin typeface="微软雅黑" panose="020B0503020204020204" charset="-122"/>
                <a:sym typeface="微软雅黑" panose="020B0503020204020204" charset="-122"/>
              </a:rPr>
              <a:t>全区小区级工单数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月均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1.78w</a:t>
            </a:r>
            <a:r>
              <a:rPr lang="zh-CN" altLang="en-US" sz="1200" dirty="0">
                <a:solidFill>
                  <a:sysClr val="windowText" lastClr="000000"/>
                </a:solidFill>
                <a:latin typeface="微软雅黑" panose="020B0503020204020204" charset="-122"/>
                <a:sym typeface="微软雅黑" panose="020B0503020204020204" charset="-122"/>
              </a:rPr>
              <a:t>，问题小区（不同问题）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重复派单比例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16.97%</a:t>
            </a:r>
            <a:r>
              <a:rPr lang="zh-CN" altLang="en-US" sz="1200" dirty="0">
                <a:solidFill>
                  <a:sysClr val="windowText" lastClr="000000"/>
                </a:solidFill>
                <a:latin typeface="微软雅黑" panose="020B0503020204020204" charset="-122"/>
                <a:sym typeface="微软雅黑" panose="020B0503020204020204" charset="-122"/>
              </a:rPr>
              <a:t>，耗费大量人力进行优化工单处理且问题返工率高。</a:t>
            </a:r>
            <a:endParaRPr lang="zh-CN" altLang="en-US" sz="1200" dirty="0">
              <a:solidFill>
                <a:sysClr val="windowText" lastClr="000000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46" name="文本框 345"/>
          <p:cNvSpPr txBox="1"/>
          <p:nvPr>
            <p:custDataLst>
              <p:tags r:id="rId17"/>
            </p:custDataLst>
          </p:nvPr>
        </p:nvSpPr>
        <p:spPr>
          <a:xfrm>
            <a:off x="226695" y="1877060"/>
            <a:ext cx="4989830" cy="32512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>
                <a:solidFill>
                  <a:sysClr val="window" lastClr="FFFFFF"/>
                </a:solidFill>
                <a:latin typeface="微软雅黑" panose="020B0503020204020204" charset="-122"/>
                <a:sym typeface="+mn-ea"/>
              </a:rPr>
              <a:t>网优当前现状</a:t>
            </a:r>
            <a:endParaRPr lang="zh-CN" altLang="en-US">
              <a:solidFill>
                <a:sysClr val="window" lastClr="FFFFFF"/>
              </a:solidFill>
              <a:latin typeface="微软雅黑" panose="020B0503020204020204" charset="-122"/>
            </a:endParaRPr>
          </a:p>
        </p:txBody>
      </p:sp>
      <p:sp>
        <p:nvSpPr>
          <p:cNvPr id="347" name="矩形 346"/>
          <p:cNvSpPr/>
          <p:nvPr>
            <p:custDataLst>
              <p:tags r:id="rId18"/>
            </p:custDataLst>
          </p:nvPr>
        </p:nvSpPr>
        <p:spPr bwMode="auto">
          <a:xfrm>
            <a:off x="287020" y="4562475"/>
            <a:ext cx="4840605" cy="1862455"/>
          </a:xfrm>
          <a:prstGeom prst="rect">
            <a:avLst/>
          </a:prstGeom>
          <a:solidFill>
            <a:srgbClr val="E5F6F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107950" tIns="0" rIns="71755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ysClr val="windowText" lastClr="000000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marR="0" lvl="0" indent="0" algn="l" defTabSz="39179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2A2A2"/>
              </a:buClr>
              <a:buSzPct val="70000"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sym typeface="微软雅黑" panose="020B0503020204020204" charset="-122"/>
            </a:endParaRPr>
          </a:p>
        </p:txBody>
      </p:sp>
      <p:graphicFrame>
        <p:nvGraphicFramePr>
          <p:cNvPr id="348" name="图表 347" descr="7b0a202020202263686172745265734964223a20223530303733323932220a7d0a"/>
          <p:cNvGraphicFramePr/>
          <p:nvPr/>
        </p:nvGraphicFramePr>
        <p:xfrm>
          <a:off x="405130" y="2934970"/>
          <a:ext cx="4605655" cy="141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49" name="文本框 348"/>
          <p:cNvSpPr txBox="1"/>
          <p:nvPr/>
        </p:nvSpPr>
        <p:spPr>
          <a:xfrm>
            <a:off x="287655" y="4566920"/>
            <a:ext cx="4840605" cy="595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1450" indent="-171450" defTabSz="391795">
              <a:lnSpc>
                <a:spcPct val="14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1200" dirty="0">
                <a:solidFill>
                  <a:sysClr val="windowText" lastClr="000000"/>
                </a:solidFill>
                <a:latin typeface="微软雅黑" panose="020B0503020204020204" charset="-122"/>
                <a:sym typeface="微软雅黑" panose="020B0503020204020204" charset="-122"/>
              </a:rPr>
              <a:t>无线网优涉及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业务平台超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18+</a:t>
            </a:r>
            <a:r>
              <a:rPr lang="zh-CN" altLang="en-US" sz="1200" dirty="0">
                <a:solidFill>
                  <a:sysClr val="windowText" lastClr="000000"/>
                </a:solidFill>
                <a:latin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原子化能力超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200+</a:t>
            </a:r>
            <a:r>
              <a:rPr lang="zh-CN" altLang="en-US" sz="1200" dirty="0">
                <a:solidFill>
                  <a:sysClr val="windowText" lastClr="000000"/>
                </a:solidFill>
                <a:latin typeface="微软雅黑" panose="020B0503020204020204" charset="-122"/>
                <a:sym typeface="微软雅黑" panose="020B0503020204020204" charset="-122"/>
              </a:rPr>
              <a:t>，网优人员对能力的学习及使用成本高，很多能力无法被有效使用。</a:t>
            </a:r>
            <a:endParaRPr lang="zh-CN" altLang="en-US" sz="1200" dirty="0">
              <a:solidFill>
                <a:sysClr val="windowText" lastClr="000000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350" name="图表 349" descr="7b0a202020202263686172745265734964223a20223530303733323735220a7d0a"/>
          <p:cNvGraphicFramePr/>
          <p:nvPr/>
        </p:nvGraphicFramePr>
        <p:xfrm>
          <a:off x="404495" y="5244465"/>
          <a:ext cx="4660900" cy="110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任务调度中枢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建设思路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83515" y="901700"/>
            <a:ext cx="11700510" cy="830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构建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任务经理”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统一调度中枢，将分散在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MR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平台/网优平台/驾驶舱等多套系统的感知、认知、决策、执行、闭环能力串联为端到端指挥链，每个问题都有统一入口、统一调度、统一跟踪，实现"中枢串联、全程可视、经验沉淀"的范式升级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" name="Rectangle 72"/>
          <p:cNvSpPr/>
          <p:nvPr>
            <p:custDataLst>
              <p:tags r:id="rId1"/>
            </p:custDataLst>
          </p:nvPr>
        </p:nvSpPr>
        <p:spPr>
          <a:xfrm>
            <a:off x="162560" y="1899920"/>
            <a:ext cx="11857990" cy="176339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203200" dist="38100" dir="5400000" algn="t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103" name="矩形: 圆角 23"/>
          <p:cNvSpPr/>
          <p:nvPr/>
        </p:nvSpPr>
        <p:spPr>
          <a:xfrm>
            <a:off x="594360" y="3801745"/>
            <a:ext cx="2228850" cy="266065"/>
          </a:xfrm>
          <a:prstGeom prst="chevron">
            <a:avLst/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rPr>
              <a:t>感知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4" name="矩形: 圆角 23"/>
          <p:cNvSpPr/>
          <p:nvPr/>
        </p:nvSpPr>
        <p:spPr>
          <a:xfrm>
            <a:off x="2827020" y="3802380"/>
            <a:ext cx="2228850" cy="266065"/>
          </a:xfrm>
          <a:prstGeom prst="chevron">
            <a:avLst/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rPr>
              <a:t>认知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5" name="矩形: 圆角 23"/>
          <p:cNvSpPr/>
          <p:nvPr/>
        </p:nvSpPr>
        <p:spPr>
          <a:xfrm>
            <a:off x="7292340" y="3803015"/>
            <a:ext cx="2228850" cy="266065"/>
          </a:xfrm>
          <a:prstGeom prst="chevron">
            <a:avLst/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rPr>
              <a:t>执行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6" name="矩形: 圆角 23"/>
          <p:cNvSpPr/>
          <p:nvPr/>
        </p:nvSpPr>
        <p:spPr>
          <a:xfrm>
            <a:off x="5059680" y="3803650"/>
            <a:ext cx="2228850" cy="266065"/>
          </a:xfrm>
          <a:prstGeom prst="chevron">
            <a:avLst/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rPr>
              <a:t>决策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7" name="矩形: 圆角 23"/>
          <p:cNvSpPr/>
          <p:nvPr/>
        </p:nvSpPr>
        <p:spPr>
          <a:xfrm>
            <a:off x="9525000" y="3806825"/>
            <a:ext cx="2228850" cy="266065"/>
          </a:xfrm>
          <a:prstGeom prst="chevron">
            <a:avLst/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rPr>
              <a:t>评估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  <a:sym typeface="宋体" panose="02010600030101010101" pitchFamily="2" charset="-122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861060" y="2392680"/>
            <a:ext cx="10671175" cy="1181735"/>
            <a:chOff x="1356" y="3362"/>
            <a:chExt cx="16805" cy="2027"/>
          </a:xfrm>
        </p:grpSpPr>
        <p:sp>
          <p:nvSpPr>
            <p:cNvPr id="109" name="矩形: 圆角 108"/>
            <p:cNvSpPr/>
            <p:nvPr/>
          </p:nvSpPr>
          <p:spPr>
            <a:xfrm>
              <a:off x="1356" y="3362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0089F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线上系统感知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多平台：网优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/MR/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无线运维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0" name="矩形: 圆角 31"/>
            <p:cNvSpPr/>
            <p:nvPr/>
          </p:nvSpPr>
          <p:spPr>
            <a:xfrm>
              <a:off x="1356" y="4595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FFC00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线下任务分发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多渠道：集团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/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区公司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/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专项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1" name="矩形: 圆角 31"/>
            <p:cNvSpPr/>
            <p:nvPr/>
          </p:nvSpPr>
          <p:spPr>
            <a:xfrm>
              <a:off x="4871" y="3362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0089F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98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类根因诊断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能力分散：平台间各自分析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2" name="矩形: 圆角 31"/>
            <p:cNvSpPr/>
            <p:nvPr/>
          </p:nvSpPr>
          <p:spPr>
            <a:xfrm>
              <a:off x="4871" y="4595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FFC00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人工研判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依赖经验：质量不均缺乏沉淀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3" name="矩形: 圆角 31"/>
            <p:cNvSpPr/>
            <p:nvPr/>
          </p:nvSpPr>
          <p:spPr>
            <a:xfrm>
              <a:off x="8301" y="3362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0089F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14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项线上决策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简单场景：干扰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/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容量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/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故障等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4" name="矩形: 圆角 31"/>
            <p:cNvSpPr/>
            <p:nvPr/>
          </p:nvSpPr>
          <p:spPr>
            <a:xfrm>
              <a:off x="8301" y="4595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FFC00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人工负责决策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群内讨论：无留痕，口头安排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0" name="矩形: 圆角 31"/>
            <p:cNvSpPr/>
            <p:nvPr/>
          </p:nvSpPr>
          <p:spPr>
            <a:xfrm>
              <a:off x="11731" y="3362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0089F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38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项线上决策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常规运维：干扰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/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容量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/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故障等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1" name="矩形: 圆角 31"/>
            <p:cNvSpPr/>
            <p:nvPr/>
          </p:nvSpPr>
          <p:spPr>
            <a:xfrm>
              <a:off x="11731" y="4595"/>
              <a:ext cx="2822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FFC00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现场人工执行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过程不可视：缺进度质量管控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>
              <a:stCxn id="110" idx="3"/>
              <a:endCxn id="112" idx="1"/>
            </p:cNvCxnSpPr>
            <p:nvPr/>
          </p:nvCxnSpPr>
          <p:spPr>
            <a:xfrm>
              <a:off x="4178" y="4993"/>
              <a:ext cx="693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3" name="连接符: 曲线 65"/>
            <p:cNvCxnSpPr>
              <a:stCxn id="110" idx="3"/>
              <a:endCxn id="111" idx="1"/>
            </p:cNvCxnSpPr>
            <p:nvPr/>
          </p:nvCxnSpPr>
          <p:spPr>
            <a:xfrm flipV="1">
              <a:off x="4178" y="3760"/>
              <a:ext cx="693" cy="1233"/>
            </a:xfrm>
            <a:prstGeom prst="curvedConnector3">
              <a:avLst>
                <a:gd name="adj1" fmla="val 50072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4" name="直接箭头连接符 123"/>
            <p:cNvCxnSpPr>
              <a:stCxn id="109" idx="3"/>
              <a:endCxn id="111" idx="1"/>
            </p:cNvCxnSpPr>
            <p:nvPr/>
          </p:nvCxnSpPr>
          <p:spPr>
            <a:xfrm>
              <a:off x="4178" y="3760"/>
              <a:ext cx="693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5" name="连接符: 曲线 65"/>
            <p:cNvCxnSpPr>
              <a:stCxn id="109" idx="3"/>
              <a:endCxn id="112" idx="1"/>
            </p:cNvCxnSpPr>
            <p:nvPr/>
          </p:nvCxnSpPr>
          <p:spPr>
            <a:xfrm>
              <a:off x="4178" y="3760"/>
              <a:ext cx="693" cy="1233"/>
            </a:xfrm>
            <a:prstGeom prst="curvedConnector3">
              <a:avLst>
                <a:gd name="adj1" fmla="val 50072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>
            <a:xfrm>
              <a:off x="7693" y="4993"/>
              <a:ext cx="588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7" name="连接符: 曲线 65"/>
            <p:cNvCxnSpPr/>
            <p:nvPr/>
          </p:nvCxnSpPr>
          <p:spPr>
            <a:xfrm flipV="1">
              <a:off x="7693" y="3760"/>
              <a:ext cx="588" cy="1233"/>
            </a:xfrm>
            <a:prstGeom prst="curved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8" name="直接箭头连接符 127"/>
            <p:cNvCxnSpPr/>
            <p:nvPr/>
          </p:nvCxnSpPr>
          <p:spPr>
            <a:xfrm>
              <a:off x="7693" y="3760"/>
              <a:ext cx="588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9" name="连接符: 曲线 65"/>
            <p:cNvCxnSpPr/>
            <p:nvPr/>
          </p:nvCxnSpPr>
          <p:spPr>
            <a:xfrm>
              <a:off x="7693" y="3760"/>
              <a:ext cx="588" cy="1233"/>
            </a:xfrm>
            <a:prstGeom prst="curved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0" name="直接箭头连接符 129"/>
            <p:cNvCxnSpPr/>
            <p:nvPr/>
          </p:nvCxnSpPr>
          <p:spPr>
            <a:xfrm>
              <a:off x="11143" y="4993"/>
              <a:ext cx="588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1" name="连接符: 曲线 65"/>
            <p:cNvCxnSpPr/>
            <p:nvPr/>
          </p:nvCxnSpPr>
          <p:spPr>
            <a:xfrm flipV="1">
              <a:off x="11143" y="3760"/>
              <a:ext cx="588" cy="1233"/>
            </a:xfrm>
            <a:prstGeom prst="curved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>
            <a:xfrm>
              <a:off x="11143" y="3760"/>
              <a:ext cx="588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5" name="连接符: 曲线 65"/>
            <p:cNvCxnSpPr/>
            <p:nvPr/>
          </p:nvCxnSpPr>
          <p:spPr>
            <a:xfrm>
              <a:off x="11143" y="3760"/>
              <a:ext cx="588" cy="1233"/>
            </a:xfrm>
            <a:prstGeom prst="curved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6" name="直接箭头连接符 135"/>
            <p:cNvCxnSpPr/>
            <p:nvPr/>
          </p:nvCxnSpPr>
          <p:spPr>
            <a:xfrm>
              <a:off x="14553" y="4993"/>
              <a:ext cx="588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7" name="连接符: 曲线 65"/>
            <p:cNvCxnSpPr/>
            <p:nvPr/>
          </p:nvCxnSpPr>
          <p:spPr>
            <a:xfrm flipV="1">
              <a:off x="14553" y="3760"/>
              <a:ext cx="588" cy="1233"/>
            </a:xfrm>
            <a:prstGeom prst="curved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/>
          </p:nvCxnSpPr>
          <p:spPr>
            <a:xfrm>
              <a:off x="14553" y="3760"/>
              <a:ext cx="588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9" name="连接符: 曲线 65"/>
            <p:cNvCxnSpPr/>
            <p:nvPr/>
          </p:nvCxnSpPr>
          <p:spPr>
            <a:xfrm>
              <a:off x="14553" y="3760"/>
              <a:ext cx="588" cy="1233"/>
            </a:xfrm>
            <a:prstGeom prst="curved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40" name="矩形: 圆角 31"/>
            <p:cNvSpPr/>
            <p:nvPr/>
          </p:nvSpPr>
          <p:spPr>
            <a:xfrm>
              <a:off x="15161" y="3362"/>
              <a:ext cx="3001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0089F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37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项线上评估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维度单一：覆盖性能等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1" name="矩形: 圆角 31"/>
            <p:cNvSpPr/>
            <p:nvPr/>
          </p:nvSpPr>
          <p:spPr>
            <a:xfrm>
              <a:off x="15161" y="4595"/>
              <a:ext cx="2987" cy="795"/>
            </a:xfrm>
            <a:prstGeom prst="roundRect">
              <a:avLst>
                <a:gd name="adj" fmla="val 24600"/>
              </a:avLst>
            </a:prstGeom>
            <a:noFill/>
            <a:ln w="9525" cap="rnd" cmpd="sng" algn="ctr">
              <a:solidFill>
                <a:srgbClr val="FFC000"/>
              </a:solidFill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人工抽查复评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标准不统一：质量难控闭环滞后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143" name="文本框 142"/>
          <p:cNvSpPr txBox="1"/>
          <p:nvPr/>
        </p:nvSpPr>
        <p:spPr>
          <a:xfrm>
            <a:off x="849630" y="1913890"/>
            <a:ext cx="1805305" cy="4622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碎片化告警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无统一感知视图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3093085" y="1903730"/>
            <a:ext cx="1791970" cy="4813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数据能力分散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无统一分析标准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5277485" y="1901825"/>
            <a:ext cx="1791970" cy="4813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决策能力单一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复杂问题依赖人工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7461885" y="1894840"/>
            <a:ext cx="1791970" cy="4813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记录难追溯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协同渠道缺乏统筹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9618345" y="1894840"/>
            <a:ext cx="1905635" cy="4813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闭环质量难控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1100" b="1">
                <a:solidFill>
                  <a:srgbClr val="FF0000"/>
                </a:solidFill>
                <a:latin typeface="微软雅黑" panose="020B0503020204020204" charset="-122"/>
              </a:rPr>
              <a:t>带病闭环难以根除</a:t>
            </a:r>
            <a:endParaRPr lang="zh-CN" altLang="en-US" sz="1100" b="1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204" name="矩形: 圆角 23"/>
          <p:cNvSpPr/>
          <p:nvPr/>
        </p:nvSpPr>
        <p:spPr>
          <a:xfrm>
            <a:off x="622300" y="6424930"/>
            <a:ext cx="11159490" cy="281940"/>
          </a:xfrm>
          <a:prstGeom prst="chevron">
            <a:avLst/>
          </a:prstGeom>
          <a:gradFill flip="none" rotWithShape="1">
            <a:gsLst>
              <a:gs pos="19000">
                <a:srgbClr val="00B0F0"/>
              </a:gs>
              <a:gs pos="66000">
                <a:srgbClr val="4176F1"/>
              </a:gs>
              <a:gs pos="100000">
                <a:srgbClr val="3161E7"/>
              </a:gs>
            </a:gsLst>
            <a:lin ang="2700000" scaled="1"/>
            <a:tileRect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+mn-ea"/>
              </a:rPr>
              <a:t>统一指挥中枢，全链路自动调度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  <a:sym typeface="+mn-ea"/>
            </a:endParaRPr>
          </a:p>
        </p:txBody>
      </p:sp>
      <p:sp>
        <p:nvSpPr>
          <p:cNvPr id="205" name="等腰三角形 24"/>
          <p:cNvSpPr/>
          <p:nvPr>
            <p:custDataLst>
              <p:tags r:id="rId2"/>
            </p:custDataLst>
          </p:nvPr>
        </p:nvSpPr>
        <p:spPr>
          <a:xfrm flipV="1">
            <a:off x="4504418" y="4062560"/>
            <a:ext cx="3339576" cy="410843"/>
          </a:xfrm>
          <a:custGeom>
            <a:avLst/>
            <a:gdLst>
              <a:gd name="connsiteX0" fmla="*/ 0 w 578876"/>
              <a:gd name="connsiteY0" fmla="*/ 4648025 h 4648025"/>
              <a:gd name="connsiteX1" fmla="*/ 289438 w 578876"/>
              <a:gd name="connsiteY1" fmla="*/ 0 h 4648025"/>
              <a:gd name="connsiteX2" fmla="*/ 578876 w 578876"/>
              <a:gd name="connsiteY2" fmla="*/ 4648025 h 4648025"/>
              <a:gd name="connsiteX3" fmla="*/ 0 w 578876"/>
              <a:gd name="connsiteY3" fmla="*/ 4648025 h 4648025"/>
              <a:gd name="connsiteX0-1" fmla="*/ 0 w 578876"/>
              <a:gd name="connsiteY0-2" fmla="*/ 4648025 h 4648025"/>
              <a:gd name="connsiteX1-3" fmla="*/ 289438 w 578876"/>
              <a:gd name="connsiteY1-4" fmla="*/ 0 h 4648025"/>
              <a:gd name="connsiteX2-5" fmla="*/ 578876 w 578876"/>
              <a:gd name="connsiteY2-6" fmla="*/ 4648025 h 4648025"/>
              <a:gd name="connsiteX3-7" fmla="*/ 0 w 578876"/>
              <a:gd name="connsiteY3-8" fmla="*/ 4648025 h 4648025"/>
              <a:gd name="connsiteX0-9" fmla="*/ 0 w 578876"/>
              <a:gd name="connsiteY0-10" fmla="*/ 4648025 h 4648025"/>
              <a:gd name="connsiteX1-11" fmla="*/ 289438 w 578876"/>
              <a:gd name="connsiteY1-12" fmla="*/ 0 h 4648025"/>
              <a:gd name="connsiteX2-13" fmla="*/ 578876 w 578876"/>
              <a:gd name="connsiteY2-14" fmla="*/ 4648025 h 4648025"/>
              <a:gd name="connsiteX3-15" fmla="*/ 0 w 578876"/>
              <a:gd name="connsiteY3-16" fmla="*/ 4648025 h 4648025"/>
              <a:gd name="connsiteX0-17" fmla="*/ 0 w 578876"/>
              <a:gd name="connsiteY0-18" fmla="*/ 4648025 h 4648025"/>
              <a:gd name="connsiteX1-19" fmla="*/ 289438 w 578876"/>
              <a:gd name="connsiteY1-20" fmla="*/ 0 h 4648025"/>
              <a:gd name="connsiteX2-21" fmla="*/ 578876 w 578876"/>
              <a:gd name="connsiteY2-22" fmla="*/ 4648025 h 4648025"/>
              <a:gd name="connsiteX3-23" fmla="*/ 0 w 578876"/>
              <a:gd name="connsiteY3-24" fmla="*/ 4648025 h 4648025"/>
              <a:gd name="connsiteX0-25" fmla="*/ 0 w 578876"/>
              <a:gd name="connsiteY0-26" fmla="*/ 4648025 h 4648025"/>
              <a:gd name="connsiteX1-27" fmla="*/ 289438 w 578876"/>
              <a:gd name="connsiteY1-28" fmla="*/ 0 h 4648025"/>
              <a:gd name="connsiteX2-29" fmla="*/ 578876 w 578876"/>
              <a:gd name="connsiteY2-30" fmla="*/ 4648025 h 4648025"/>
              <a:gd name="connsiteX3-31" fmla="*/ 0 w 578876"/>
              <a:gd name="connsiteY3-32" fmla="*/ 4648025 h 4648025"/>
              <a:gd name="connsiteX0-33" fmla="*/ 0 w 578876"/>
              <a:gd name="connsiteY0-34" fmla="*/ 4648025 h 4648025"/>
              <a:gd name="connsiteX1-35" fmla="*/ 289438 w 578876"/>
              <a:gd name="connsiteY1-36" fmla="*/ 0 h 4648025"/>
              <a:gd name="connsiteX2-37" fmla="*/ 578876 w 578876"/>
              <a:gd name="connsiteY2-38" fmla="*/ 4648025 h 4648025"/>
              <a:gd name="connsiteX3-39" fmla="*/ 0 w 578876"/>
              <a:gd name="connsiteY3-40" fmla="*/ 4648025 h 4648025"/>
              <a:gd name="connsiteX0-41" fmla="*/ 0 w 578876"/>
              <a:gd name="connsiteY0-42" fmla="*/ 4648025 h 4648025"/>
              <a:gd name="connsiteX1-43" fmla="*/ 289438 w 578876"/>
              <a:gd name="connsiteY1-44" fmla="*/ 0 h 4648025"/>
              <a:gd name="connsiteX2-45" fmla="*/ 578876 w 578876"/>
              <a:gd name="connsiteY2-46" fmla="*/ 4648025 h 4648025"/>
              <a:gd name="connsiteX3-47" fmla="*/ 0 w 578876"/>
              <a:gd name="connsiteY3-48" fmla="*/ 4648025 h 4648025"/>
              <a:gd name="connsiteX0-49" fmla="*/ 0 w 578876"/>
              <a:gd name="connsiteY0-50" fmla="*/ 4648025 h 4648025"/>
              <a:gd name="connsiteX1-51" fmla="*/ 289438 w 578876"/>
              <a:gd name="connsiteY1-52" fmla="*/ 0 h 4648025"/>
              <a:gd name="connsiteX2-53" fmla="*/ 578876 w 578876"/>
              <a:gd name="connsiteY2-54" fmla="*/ 4648025 h 4648025"/>
              <a:gd name="connsiteX3-55" fmla="*/ 0 w 578876"/>
              <a:gd name="connsiteY3-56" fmla="*/ 4648025 h 4648025"/>
              <a:gd name="connsiteX0-57" fmla="*/ 0 w 578876"/>
              <a:gd name="connsiteY0-58" fmla="*/ 4648025 h 4648025"/>
              <a:gd name="connsiteX1-59" fmla="*/ 289438 w 578876"/>
              <a:gd name="connsiteY1-60" fmla="*/ 0 h 4648025"/>
              <a:gd name="connsiteX2-61" fmla="*/ 578876 w 578876"/>
              <a:gd name="connsiteY2-62" fmla="*/ 4648025 h 4648025"/>
              <a:gd name="connsiteX3-63" fmla="*/ 0 w 578876"/>
              <a:gd name="connsiteY3-64" fmla="*/ 4648025 h 4648025"/>
              <a:gd name="connsiteX0-65" fmla="*/ 0 w 578876"/>
              <a:gd name="connsiteY0-66" fmla="*/ 4648025 h 4648025"/>
              <a:gd name="connsiteX1-67" fmla="*/ 289438 w 578876"/>
              <a:gd name="connsiteY1-68" fmla="*/ 0 h 4648025"/>
              <a:gd name="connsiteX2-69" fmla="*/ 578876 w 578876"/>
              <a:gd name="connsiteY2-70" fmla="*/ 4648025 h 4648025"/>
              <a:gd name="connsiteX3-71" fmla="*/ 0 w 578876"/>
              <a:gd name="connsiteY3-72" fmla="*/ 4648025 h 4648025"/>
              <a:gd name="connsiteX0-73" fmla="*/ 0 w 578876"/>
              <a:gd name="connsiteY0-74" fmla="*/ 4648025 h 4648025"/>
              <a:gd name="connsiteX1-75" fmla="*/ 289438 w 578876"/>
              <a:gd name="connsiteY1-76" fmla="*/ 0 h 4648025"/>
              <a:gd name="connsiteX2-77" fmla="*/ 578876 w 578876"/>
              <a:gd name="connsiteY2-78" fmla="*/ 4648025 h 4648025"/>
              <a:gd name="connsiteX3-79" fmla="*/ 0 w 578876"/>
              <a:gd name="connsiteY3-80" fmla="*/ 4648025 h 4648025"/>
              <a:gd name="connsiteX0-81" fmla="*/ 0 w 578876"/>
              <a:gd name="connsiteY0-82" fmla="*/ 4648025 h 4648025"/>
              <a:gd name="connsiteX1-83" fmla="*/ 289438 w 578876"/>
              <a:gd name="connsiteY1-84" fmla="*/ 0 h 4648025"/>
              <a:gd name="connsiteX2-85" fmla="*/ 578876 w 578876"/>
              <a:gd name="connsiteY2-86" fmla="*/ 4648025 h 4648025"/>
              <a:gd name="connsiteX3-87" fmla="*/ 0 w 578876"/>
              <a:gd name="connsiteY3-88" fmla="*/ 4648025 h 4648025"/>
              <a:gd name="connsiteX0-89" fmla="*/ 0 w 578876"/>
              <a:gd name="connsiteY0-90" fmla="*/ 4648025 h 4648025"/>
              <a:gd name="connsiteX1-91" fmla="*/ 289438 w 578876"/>
              <a:gd name="connsiteY1-92" fmla="*/ 0 h 4648025"/>
              <a:gd name="connsiteX2-93" fmla="*/ 578876 w 578876"/>
              <a:gd name="connsiteY2-94" fmla="*/ 4648025 h 4648025"/>
              <a:gd name="connsiteX3-95" fmla="*/ 0 w 578876"/>
              <a:gd name="connsiteY3-96" fmla="*/ 4648025 h 4648025"/>
              <a:gd name="connsiteX0-97" fmla="*/ 0 w 578876"/>
              <a:gd name="connsiteY0-98" fmla="*/ 4648025 h 4648025"/>
              <a:gd name="connsiteX1-99" fmla="*/ 289438 w 578876"/>
              <a:gd name="connsiteY1-100" fmla="*/ 0 h 4648025"/>
              <a:gd name="connsiteX2-101" fmla="*/ 578876 w 578876"/>
              <a:gd name="connsiteY2-102" fmla="*/ 4648025 h 4648025"/>
              <a:gd name="connsiteX3-103" fmla="*/ 0 w 578876"/>
              <a:gd name="connsiteY3-104" fmla="*/ 4648025 h 4648025"/>
              <a:gd name="connsiteX0-105" fmla="*/ 0 w 578876"/>
              <a:gd name="connsiteY0-106" fmla="*/ 4648025 h 4648025"/>
              <a:gd name="connsiteX1-107" fmla="*/ 289438 w 578876"/>
              <a:gd name="connsiteY1-108" fmla="*/ 0 h 4648025"/>
              <a:gd name="connsiteX2-109" fmla="*/ 578876 w 578876"/>
              <a:gd name="connsiteY2-110" fmla="*/ 4648025 h 4648025"/>
              <a:gd name="connsiteX3-111" fmla="*/ 0 w 578876"/>
              <a:gd name="connsiteY3-112" fmla="*/ 4648025 h 46480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8876" h="4648025">
                <a:moveTo>
                  <a:pt x="0" y="4648025"/>
                </a:moveTo>
                <a:cubicBezTo>
                  <a:pt x="162866" y="3047883"/>
                  <a:pt x="238853" y="1866842"/>
                  <a:pt x="289438" y="0"/>
                </a:cubicBezTo>
                <a:cubicBezTo>
                  <a:pt x="343197" y="1879542"/>
                  <a:pt x="403887" y="3035183"/>
                  <a:pt x="578876" y="4648025"/>
                </a:cubicBezTo>
                <a:lnTo>
                  <a:pt x="0" y="4648025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3161E7"/>
              </a:gs>
              <a:gs pos="16000">
                <a:srgbClr val="2193F1">
                  <a:alpha val="10000"/>
                </a:srgbClr>
              </a:gs>
              <a:gs pos="64000">
                <a:srgbClr val="4176F1">
                  <a:alpha val="7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73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585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5753100" y="4072255"/>
            <a:ext cx="8242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70C0"/>
                </a:solidFill>
                <a:latin typeface="微软雅黑" panose="020B0503020204020204" charset="-122"/>
              </a:rPr>
              <a:t>模式转变</a:t>
            </a:r>
            <a:endParaRPr lang="zh-CN" altLang="en-US" sz="1200" b="1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sp>
        <p:nvSpPr>
          <p:cNvPr id="211" name="圆角矩形 28"/>
          <p:cNvSpPr/>
          <p:nvPr/>
        </p:nvSpPr>
        <p:spPr>
          <a:xfrm>
            <a:off x="264795" y="2068830"/>
            <a:ext cx="329565" cy="1506220"/>
          </a:xfrm>
          <a:prstGeom prst="roundRect">
            <a:avLst/>
          </a:prstGeom>
          <a:gradFill flip="none" rotWithShape="1">
            <a:gsLst>
              <a:gs pos="50000">
                <a:srgbClr val="70AD47"/>
              </a:gs>
              <a:gs pos="0">
                <a:srgbClr val="70AD47">
                  <a:lumMod val="25000"/>
                  <a:lumOff val="75000"/>
                </a:srgbClr>
              </a:gs>
              <a:gs pos="100000">
                <a:srgbClr val="70AD47">
                  <a:lumMod val="85000"/>
                </a:srgbClr>
              </a:gs>
            </a:gsLst>
            <a:lin ang="5400000" scaled="1"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rPr>
              <a:t>传统模式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2" name="圆角矩形 28"/>
          <p:cNvSpPr/>
          <p:nvPr/>
        </p:nvSpPr>
        <p:spPr>
          <a:xfrm>
            <a:off x="264795" y="4641850"/>
            <a:ext cx="329565" cy="1597660"/>
          </a:xfrm>
          <a:prstGeom prst="roundRect">
            <a:avLst/>
          </a:prstGeom>
          <a:gradFill flip="none" rotWithShape="1">
            <a:gsLst>
              <a:gs pos="25000">
                <a:srgbClr val="FF566A"/>
              </a:gs>
              <a:gs pos="75000">
                <a:srgbClr val="F6AABA"/>
              </a:gs>
              <a:gs pos="0">
                <a:srgbClr val="EB3A48"/>
              </a:gs>
              <a:gs pos="100000">
                <a:srgbClr val="FFCFD9"/>
              </a:gs>
            </a:gsLst>
            <a:lin ang="18900000" scaled="1"/>
          </a:gradFill>
          <a:ln w="57150" cap="rnd" cmpd="sng" algn="ctr">
            <a:noFill/>
            <a:prstDash val="solid"/>
            <a:round/>
          </a:ln>
          <a:effectLst>
            <a:outerShdw blurRad="63500" algn="ctr" rotWithShape="0">
              <a:srgbClr val="467CF3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rPr>
              <a:t>创新模式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219" name="组合 218"/>
          <p:cNvGrpSpPr/>
          <p:nvPr/>
        </p:nvGrpSpPr>
        <p:grpSpPr>
          <a:xfrm>
            <a:off x="753745" y="4613910"/>
            <a:ext cx="2168525" cy="1655445"/>
            <a:chOff x="1187" y="7266"/>
            <a:chExt cx="3518" cy="2457"/>
          </a:xfrm>
        </p:grpSpPr>
        <p:sp>
          <p:nvSpPr>
            <p:cNvPr id="220" name="矩形: 圆角 30"/>
            <p:cNvSpPr/>
            <p:nvPr/>
          </p:nvSpPr>
          <p:spPr>
            <a:xfrm>
              <a:off x="1188" y="7266"/>
              <a:ext cx="3433" cy="2457"/>
            </a:xfrm>
            <a:prstGeom prst="roundRect">
              <a:avLst>
                <a:gd name="adj" fmla="val 3204"/>
              </a:avLst>
            </a:prstGeom>
            <a:noFill/>
            <a:ln w="12700" cap="rnd" cmpd="sng" algn="ctr">
              <a:solidFill>
                <a:sysClr val="window" lastClr="FFFFFF">
                  <a:lumMod val="50000"/>
                </a:sysClr>
              </a:solidFill>
              <a:prstDash val="dash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1678" y="7430"/>
              <a:ext cx="3027" cy="45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全量事件统一接入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2" name="矩形 221"/>
            <p:cNvSpPr/>
            <p:nvPr/>
          </p:nvSpPr>
          <p:spPr>
            <a:xfrm>
              <a:off x="1187" y="7941"/>
              <a:ext cx="3454" cy="178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7145" marR="0" lvl="0" indent="0" algn="just" defTabSz="914400" eaLnBrk="1" fontAlgn="auto" latinLnBrk="0" hangingPunct="1">
                <a:lnSpc>
                  <a:spcPct val="13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线上线下全量事件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AI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自动捕获去重，四级严重等级判定，重大事件自动升级推送，全省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GIS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态势一屏感知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grpSp>
          <p:nvGrpSpPr>
            <p:cNvPr id="223" name="组合 222"/>
            <p:cNvGrpSpPr/>
            <p:nvPr/>
          </p:nvGrpSpPr>
          <p:grpSpPr>
            <a:xfrm>
              <a:off x="1369" y="7395"/>
              <a:ext cx="518" cy="545"/>
              <a:chOff x="7967813" y="2469395"/>
              <a:chExt cx="329024" cy="346340"/>
            </a:xfrm>
          </p:grpSpPr>
          <p:sp>
            <p:nvSpPr>
              <p:cNvPr id="224" name="任意多边形: 形状 57"/>
              <p:cNvSpPr/>
              <p:nvPr/>
            </p:nvSpPr>
            <p:spPr>
              <a:xfrm>
                <a:off x="8161548" y="2702092"/>
                <a:ext cx="135289" cy="32469"/>
              </a:xfrm>
              <a:custGeom>
                <a:avLst/>
                <a:gdLst>
                  <a:gd name="connsiteX0" fmla="*/ 119055 w 135289"/>
                  <a:gd name="connsiteY0" fmla="*/ 32469 h 32469"/>
                  <a:gd name="connsiteX1" fmla="*/ 16235 w 135289"/>
                  <a:gd name="connsiteY1" fmla="*/ 32469 h 32469"/>
                  <a:gd name="connsiteX2" fmla="*/ 0 w 135289"/>
                  <a:gd name="connsiteY2" fmla="*/ 16235 h 32469"/>
                  <a:gd name="connsiteX3" fmla="*/ 16235 w 135289"/>
                  <a:gd name="connsiteY3" fmla="*/ 0 h 32469"/>
                  <a:gd name="connsiteX4" fmla="*/ 119055 w 135289"/>
                  <a:gd name="connsiteY4" fmla="*/ 0 h 32469"/>
                  <a:gd name="connsiteX5" fmla="*/ 135289 w 135289"/>
                  <a:gd name="connsiteY5" fmla="*/ 16235 h 32469"/>
                  <a:gd name="connsiteX6" fmla="*/ 119055 w 135289"/>
                  <a:gd name="connsiteY6" fmla="*/ 32469 h 32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5289" h="32469">
                    <a:moveTo>
                      <a:pt x="119055" y="32469"/>
                    </a:moveTo>
                    <a:lnTo>
                      <a:pt x="16235" y="32469"/>
                    </a:lnTo>
                    <a:cubicBezTo>
                      <a:pt x="7576" y="32469"/>
                      <a:pt x="0" y="24893"/>
                      <a:pt x="0" y="16235"/>
                    </a:cubicBezTo>
                    <a:cubicBezTo>
                      <a:pt x="0" y="7576"/>
                      <a:pt x="7576" y="0"/>
                      <a:pt x="16235" y="0"/>
                    </a:cubicBezTo>
                    <a:lnTo>
                      <a:pt x="119055" y="0"/>
                    </a:lnTo>
                    <a:cubicBezTo>
                      <a:pt x="127713" y="0"/>
                      <a:pt x="135289" y="7576"/>
                      <a:pt x="135289" y="16235"/>
                    </a:cubicBezTo>
                    <a:cubicBezTo>
                      <a:pt x="135289" y="24893"/>
                      <a:pt x="127713" y="32469"/>
                      <a:pt x="119055" y="32469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25" name="任意多边形: 形状 58"/>
              <p:cNvSpPr/>
              <p:nvPr/>
            </p:nvSpPr>
            <p:spPr>
              <a:xfrm>
                <a:off x="8161480" y="2653929"/>
                <a:ext cx="81173" cy="80649"/>
              </a:xfrm>
              <a:custGeom>
                <a:avLst/>
                <a:gdLst>
                  <a:gd name="connsiteX0" fmla="*/ 15694 w 81173"/>
                  <a:gd name="connsiteY0" fmla="*/ 80633 h 80649"/>
                  <a:gd name="connsiteX1" fmla="*/ 4870 w 81173"/>
                  <a:gd name="connsiteY1" fmla="*/ 76303 h 80649"/>
                  <a:gd name="connsiteX2" fmla="*/ 4870 w 81173"/>
                  <a:gd name="connsiteY2" fmla="*/ 53575 h 80649"/>
                  <a:gd name="connsiteX3" fmla="*/ 53575 w 81173"/>
                  <a:gd name="connsiteY3" fmla="*/ 4870 h 80649"/>
                  <a:gd name="connsiteX4" fmla="*/ 76303 w 81173"/>
                  <a:gd name="connsiteY4" fmla="*/ 4870 h 80649"/>
                  <a:gd name="connsiteX5" fmla="*/ 76303 w 81173"/>
                  <a:gd name="connsiteY5" fmla="*/ 27599 h 80649"/>
                  <a:gd name="connsiteX6" fmla="*/ 27599 w 81173"/>
                  <a:gd name="connsiteY6" fmla="*/ 76320 h 80649"/>
                  <a:gd name="connsiteX7" fmla="*/ 15694 w 81173"/>
                  <a:gd name="connsiteY7" fmla="*/ 80649 h 80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1173" h="80649">
                    <a:moveTo>
                      <a:pt x="15694" y="80633"/>
                    </a:moveTo>
                    <a:cubicBezTo>
                      <a:pt x="11364" y="80633"/>
                      <a:pt x="7035" y="79550"/>
                      <a:pt x="4870" y="76303"/>
                    </a:cubicBezTo>
                    <a:cubicBezTo>
                      <a:pt x="-1623" y="69809"/>
                      <a:pt x="-1623" y="60069"/>
                      <a:pt x="4870" y="53575"/>
                    </a:cubicBezTo>
                    <a:lnTo>
                      <a:pt x="53575" y="4870"/>
                    </a:lnTo>
                    <a:cubicBezTo>
                      <a:pt x="60069" y="-1623"/>
                      <a:pt x="69809" y="-1623"/>
                      <a:pt x="76303" y="4870"/>
                    </a:cubicBezTo>
                    <a:cubicBezTo>
                      <a:pt x="82797" y="11364"/>
                      <a:pt x="82797" y="21105"/>
                      <a:pt x="76303" y="27599"/>
                    </a:cubicBezTo>
                    <a:lnTo>
                      <a:pt x="27599" y="76320"/>
                    </a:lnTo>
                    <a:cubicBezTo>
                      <a:pt x="23270" y="79567"/>
                      <a:pt x="18941" y="80649"/>
                      <a:pt x="15694" y="80649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26" name="任意多边形: 形状 59"/>
              <p:cNvSpPr/>
              <p:nvPr/>
            </p:nvSpPr>
            <p:spPr>
              <a:xfrm>
                <a:off x="8161649" y="2702650"/>
                <a:ext cx="81190" cy="80615"/>
              </a:xfrm>
              <a:custGeom>
                <a:avLst/>
                <a:gdLst>
                  <a:gd name="connsiteX0" fmla="*/ 64415 w 81190"/>
                  <a:gd name="connsiteY0" fmla="*/ 80616 h 80615"/>
                  <a:gd name="connsiteX1" fmla="*/ 53592 w 81190"/>
                  <a:gd name="connsiteY1" fmla="*/ 76286 h 80615"/>
                  <a:gd name="connsiteX2" fmla="*/ 4870 w 81190"/>
                  <a:gd name="connsiteY2" fmla="*/ 27599 h 80615"/>
                  <a:gd name="connsiteX3" fmla="*/ 4870 w 81190"/>
                  <a:gd name="connsiteY3" fmla="*/ 4870 h 80615"/>
                  <a:gd name="connsiteX4" fmla="*/ 27599 w 81190"/>
                  <a:gd name="connsiteY4" fmla="*/ 4870 h 80615"/>
                  <a:gd name="connsiteX5" fmla="*/ 76320 w 81190"/>
                  <a:gd name="connsiteY5" fmla="*/ 53558 h 80615"/>
                  <a:gd name="connsiteX6" fmla="*/ 76320 w 81190"/>
                  <a:gd name="connsiteY6" fmla="*/ 76286 h 80615"/>
                  <a:gd name="connsiteX7" fmla="*/ 64415 w 81190"/>
                  <a:gd name="connsiteY7" fmla="*/ 80616 h 80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1190" h="80615">
                    <a:moveTo>
                      <a:pt x="64415" y="80616"/>
                    </a:moveTo>
                    <a:cubicBezTo>
                      <a:pt x="60085" y="80616"/>
                      <a:pt x="55756" y="79533"/>
                      <a:pt x="53592" y="76286"/>
                    </a:cubicBezTo>
                    <a:lnTo>
                      <a:pt x="4870" y="27599"/>
                    </a:lnTo>
                    <a:cubicBezTo>
                      <a:pt x="-1623" y="21105"/>
                      <a:pt x="-1623" y="11364"/>
                      <a:pt x="4870" y="4870"/>
                    </a:cubicBezTo>
                    <a:cubicBezTo>
                      <a:pt x="11364" y="-1623"/>
                      <a:pt x="21105" y="-1623"/>
                      <a:pt x="27599" y="4870"/>
                    </a:cubicBezTo>
                    <a:lnTo>
                      <a:pt x="76320" y="53558"/>
                    </a:lnTo>
                    <a:cubicBezTo>
                      <a:pt x="82814" y="60052"/>
                      <a:pt x="82814" y="69792"/>
                      <a:pt x="76320" y="76286"/>
                    </a:cubicBezTo>
                    <a:cubicBezTo>
                      <a:pt x="73073" y="78451"/>
                      <a:pt x="68744" y="80616"/>
                      <a:pt x="64415" y="80616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27" name="任意多边形: 形状 60"/>
              <p:cNvSpPr/>
              <p:nvPr/>
            </p:nvSpPr>
            <p:spPr>
              <a:xfrm>
                <a:off x="8013270" y="2510522"/>
                <a:ext cx="275969" cy="305213"/>
              </a:xfrm>
              <a:custGeom>
                <a:avLst/>
                <a:gdLst>
                  <a:gd name="connsiteX0" fmla="*/ 246768 w 275969"/>
                  <a:gd name="connsiteY0" fmla="*/ 290061 h 305213"/>
                  <a:gd name="connsiteX1" fmla="*/ 213216 w 275969"/>
                  <a:gd name="connsiteY1" fmla="*/ 304131 h 305213"/>
                  <a:gd name="connsiteX2" fmla="*/ 179664 w 275969"/>
                  <a:gd name="connsiteY2" fmla="*/ 290061 h 305213"/>
                  <a:gd name="connsiteX3" fmla="*/ 132043 w 275969"/>
                  <a:gd name="connsiteY3" fmla="*/ 241356 h 305213"/>
                  <a:gd name="connsiteX4" fmla="*/ 119055 w 275969"/>
                  <a:gd name="connsiteY4" fmla="*/ 217545 h 305213"/>
                  <a:gd name="connsiteX5" fmla="*/ 117972 w 275969"/>
                  <a:gd name="connsiteY5" fmla="*/ 207822 h 305213"/>
                  <a:gd name="connsiteX6" fmla="*/ 119055 w 275969"/>
                  <a:gd name="connsiteY6" fmla="*/ 198098 h 305213"/>
                  <a:gd name="connsiteX7" fmla="*/ 132043 w 275969"/>
                  <a:gd name="connsiteY7" fmla="*/ 174287 h 305213"/>
                  <a:gd name="connsiteX8" fmla="*/ 180730 w 275969"/>
                  <a:gd name="connsiteY8" fmla="*/ 125549 h 305213"/>
                  <a:gd name="connsiteX9" fmla="*/ 247256 w 275969"/>
                  <a:gd name="connsiteY9" fmla="*/ 124971 h 305213"/>
                  <a:gd name="connsiteX10" fmla="*/ 247833 w 275969"/>
                  <a:gd name="connsiteY10" fmla="*/ 125549 h 305213"/>
                  <a:gd name="connsiteX11" fmla="*/ 273124 w 275969"/>
                  <a:gd name="connsiteY11" fmla="*/ 156412 h 305213"/>
                  <a:gd name="connsiteX12" fmla="*/ 275347 w 275969"/>
                  <a:gd name="connsiteY12" fmla="*/ 156709 h 305213"/>
                  <a:gd name="connsiteX13" fmla="*/ 275970 w 275969"/>
                  <a:gd name="connsiteY13" fmla="*/ 155452 h 305213"/>
                  <a:gd name="connsiteX14" fmla="*/ 275970 w 275969"/>
                  <a:gd name="connsiteY14" fmla="*/ 44878 h 305213"/>
                  <a:gd name="connsiteX15" fmla="*/ 231091 w 275969"/>
                  <a:gd name="connsiteY15" fmla="*/ 0 h 305213"/>
                  <a:gd name="connsiteX16" fmla="*/ 44878 w 275969"/>
                  <a:gd name="connsiteY16" fmla="*/ 0 h 305213"/>
                  <a:gd name="connsiteX17" fmla="*/ 0 w 275969"/>
                  <a:gd name="connsiteY17" fmla="*/ 44878 h 305213"/>
                  <a:gd name="connsiteX18" fmla="*/ 0 w 275969"/>
                  <a:gd name="connsiteY18" fmla="*/ 260335 h 305213"/>
                  <a:gd name="connsiteX19" fmla="*/ 44878 w 275969"/>
                  <a:gd name="connsiteY19" fmla="*/ 305213 h 305213"/>
                  <a:gd name="connsiteX20" fmla="*/ 230030 w 275969"/>
                  <a:gd name="connsiteY20" fmla="*/ 305213 h 305213"/>
                  <a:gd name="connsiteX21" fmla="*/ 274908 w 275969"/>
                  <a:gd name="connsiteY21" fmla="*/ 260335 h 305213"/>
                  <a:gd name="connsiteX22" fmla="*/ 273327 w 275969"/>
                  <a:gd name="connsiteY22" fmla="*/ 258745 h 305213"/>
                  <a:gd name="connsiteX23" fmla="*/ 272042 w 275969"/>
                  <a:gd name="connsiteY23" fmla="*/ 259397 h 305213"/>
                  <a:gd name="connsiteX24" fmla="*/ 246768 w 275969"/>
                  <a:gd name="connsiteY24" fmla="*/ 290061 h 305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5969" h="305213">
                    <a:moveTo>
                      <a:pt x="246768" y="290061"/>
                    </a:moveTo>
                    <a:cubicBezTo>
                      <a:pt x="237896" y="299020"/>
                      <a:pt x="225824" y="304080"/>
                      <a:pt x="213216" y="304131"/>
                    </a:cubicBezTo>
                    <a:cubicBezTo>
                      <a:pt x="200228" y="304131"/>
                      <a:pt x="189405" y="299801"/>
                      <a:pt x="179664" y="290061"/>
                    </a:cubicBezTo>
                    <a:lnTo>
                      <a:pt x="132043" y="241356"/>
                    </a:lnTo>
                    <a:cubicBezTo>
                      <a:pt x="125549" y="234862"/>
                      <a:pt x="121219" y="226204"/>
                      <a:pt x="119055" y="217545"/>
                    </a:cubicBezTo>
                    <a:cubicBezTo>
                      <a:pt x="117972" y="214299"/>
                      <a:pt x="117972" y="211052"/>
                      <a:pt x="117972" y="207822"/>
                    </a:cubicBezTo>
                    <a:cubicBezTo>
                      <a:pt x="117972" y="204591"/>
                      <a:pt x="117972" y="201328"/>
                      <a:pt x="119055" y="198098"/>
                    </a:cubicBezTo>
                    <a:cubicBezTo>
                      <a:pt x="121219" y="189439"/>
                      <a:pt x="125549" y="180764"/>
                      <a:pt x="132043" y="174287"/>
                    </a:cubicBezTo>
                    <a:lnTo>
                      <a:pt x="180730" y="125549"/>
                    </a:lnTo>
                    <a:cubicBezTo>
                      <a:pt x="198941" y="107018"/>
                      <a:pt x="228725" y="106760"/>
                      <a:pt x="247256" y="124971"/>
                    </a:cubicBezTo>
                    <a:cubicBezTo>
                      <a:pt x="247450" y="125162"/>
                      <a:pt x="247643" y="125354"/>
                      <a:pt x="247833" y="125549"/>
                    </a:cubicBezTo>
                    <a:cubicBezTo>
                      <a:pt x="254450" y="132169"/>
                      <a:pt x="267396" y="148907"/>
                      <a:pt x="273124" y="156412"/>
                    </a:cubicBezTo>
                    <a:cubicBezTo>
                      <a:pt x="273656" y="157107"/>
                      <a:pt x="274650" y="157241"/>
                      <a:pt x="275347" y="156709"/>
                    </a:cubicBezTo>
                    <a:cubicBezTo>
                      <a:pt x="275738" y="156410"/>
                      <a:pt x="275969" y="155945"/>
                      <a:pt x="275970" y="155452"/>
                    </a:cubicBezTo>
                    <a:lnTo>
                      <a:pt x="275970" y="44878"/>
                    </a:lnTo>
                    <a:cubicBezTo>
                      <a:pt x="275970" y="20196"/>
                      <a:pt x="255773" y="0"/>
                      <a:pt x="231091" y="0"/>
                    </a:cubicBezTo>
                    <a:lnTo>
                      <a:pt x="44878" y="0"/>
                    </a:lnTo>
                    <a:cubicBezTo>
                      <a:pt x="20196" y="0"/>
                      <a:pt x="0" y="20196"/>
                      <a:pt x="0" y="44878"/>
                    </a:cubicBezTo>
                    <a:lnTo>
                      <a:pt x="0" y="260335"/>
                    </a:lnTo>
                    <a:cubicBezTo>
                      <a:pt x="0" y="285017"/>
                      <a:pt x="20196" y="305213"/>
                      <a:pt x="44878" y="305213"/>
                    </a:cubicBezTo>
                    <a:lnTo>
                      <a:pt x="230030" y="305213"/>
                    </a:lnTo>
                    <a:cubicBezTo>
                      <a:pt x="254712" y="305213"/>
                      <a:pt x="274908" y="285017"/>
                      <a:pt x="274908" y="260335"/>
                    </a:cubicBezTo>
                    <a:cubicBezTo>
                      <a:pt x="274911" y="259459"/>
                      <a:pt x="274203" y="258748"/>
                      <a:pt x="273327" y="258745"/>
                    </a:cubicBezTo>
                    <a:cubicBezTo>
                      <a:pt x="272819" y="258744"/>
                      <a:pt x="272341" y="258986"/>
                      <a:pt x="272042" y="259397"/>
                    </a:cubicBezTo>
                    <a:cubicBezTo>
                      <a:pt x="266486" y="267015"/>
                      <a:pt x="254145" y="283503"/>
                      <a:pt x="246768" y="290061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28" name="任意多边形: 形状 61"/>
              <p:cNvSpPr/>
              <p:nvPr/>
            </p:nvSpPr>
            <p:spPr>
              <a:xfrm>
                <a:off x="7967813" y="2469395"/>
                <a:ext cx="264085" cy="300883"/>
              </a:xfrm>
              <a:custGeom>
                <a:avLst/>
                <a:gdLst>
                  <a:gd name="connsiteX0" fmla="*/ 21646 w 264085"/>
                  <a:gd name="connsiteY0" fmla="*/ 290061 h 300883"/>
                  <a:gd name="connsiteX1" fmla="*/ 21646 w 264085"/>
                  <a:gd name="connsiteY1" fmla="*/ 60610 h 300883"/>
                  <a:gd name="connsiteX2" fmla="*/ 67104 w 264085"/>
                  <a:gd name="connsiteY2" fmla="*/ 15152 h 300883"/>
                  <a:gd name="connsiteX3" fmla="*/ 264085 w 264085"/>
                  <a:gd name="connsiteY3" fmla="*/ 15152 h 300883"/>
                  <a:gd name="connsiteX4" fmla="*/ 231616 w 264085"/>
                  <a:gd name="connsiteY4" fmla="*/ 0 h 300883"/>
                  <a:gd name="connsiteX5" fmla="*/ 43293 w 264085"/>
                  <a:gd name="connsiteY5" fmla="*/ 0 h 300883"/>
                  <a:gd name="connsiteX6" fmla="*/ 0 w 264085"/>
                  <a:gd name="connsiteY6" fmla="*/ 43293 h 300883"/>
                  <a:gd name="connsiteX7" fmla="*/ 0 w 264085"/>
                  <a:gd name="connsiteY7" fmla="*/ 263003 h 300883"/>
                  <a:gd name="connsiteX8" fmla="*/ 22729 w 264085"/>
                  <a:gd name="connsiteY8" fmla="*/ 300884 h 300883"/>
                  <a:gd name="connsiteX9" fmla="*/ 21646 w 264085"/>
                  <a:gd name="connsiteY9" fmla="*/ 290061 h 300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4085" h="300883">
                    <a:moveTo>
                      <a:pt x="21646" y="290061"/>
                    </a:moveTo>
                    <a:lnTo>
                      <a:pt x="21646" y="60610"/>
                    </a:lnTo>
                    <a:cubicBezTo>
                      <a:pt x="21646" y="35716"/>
                      <a:pt x="42210" y="15152"/>
                      <a:pt x="67104" y="15152"/>
                    </a:cubicBezTo>
                    <a:lnTo>
                      <a:pt x="264085" y="15152"/>
                    </a:lnTo>
                    <a:cubicBezTo>
                      <a:pt x="256509" y="6494"/>
                      <a:pt x="244603" y="0"/>
                      <a:pt x="231616" y="0"/>
                    </a:cubicBezTo>
                    <a:lnTo>
                      <a:pt x="43293" y="0"/>
                    </a:lnTo>
                    <a:cubicBezTo>
                      <a:pt x="19482" y="0"/>
                      <a:pt x="0" y="19482"/>
                      <a:pt x="0" y="43293"/>
                    </a:cubicBezTo>
                    <a:lnTo>
                      <a:pt x="0" y="263003"/>
                    </a:lnTo>
                    <a:cubicBezTo>
                      <a:pt x="0" y="279237"/>
                      <a:pt x="8659" y="293308"/>
                      <a:pt x="22729" y="300884"/>
                    </a:cubicBezTo>
                    <a:cubicBezTo>
                      <a:pt x="21646" y="296554"/>
                      <a:pt x="21646" y="293308"/>
                      <a:pt x="21646" y="290061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</p:grpSp>
      </p:grpSp>
      <p:grpSp>
        <p:nvGrpSpPr>
          <p:cNvPr id="229" name="组合 228"/>
          <p:cNvGrpSpPr/>
          <p:nvPr/>
        </p:nvGrpSpPr>
        <p:grpSpPr>
          <a:xfrm>
            <a:off x="2950210" y="4613910"/>
            <a:ext cx="2148840" cy="1655445"/>
            <a:chOff x="4987" y="7266"/>
            <a:chExt cx="3486" cy="2457"/>
          </a:xfrm>
        </p:grpSpPr>
        <p:sp>
          <p:nvSpPr>
            <p:cNvPr id="230" name="矩形: 圆角 30"/>
            <p:cNvSpPr/>
            <p:nvPr/>
          </p:nvSpPr>
          <p:spPr>
            <a:xfrm>
              <a:off x="4988" y="7266"/>
              <a:ext cx="3433" cy="2457"/>
            </a:xfrm>
            <a:prstGeom prst="roundRect">
              <a:avLst>
                <a:gd name="adj" fmla="val 3204"/>
              </a:avLst>
            </a:prstGeom>
            <a:noFill/>
            <a:ln w="12700" cap="rnd" cmpd="sng" algn="ctr">
              <a:solidFill>
                <a:sysClr val="window" lastClr="FFFFFF">
                  <a:lumMod val="50000"/>
                </a:sysClr>
              </a:solidFill>
              <a:prstDash val="dash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1" name="文本框 230"/>
            <p:cNvSpPr txBox="1"/>
            <p:nvPr/>
          </p:nvSpPr>
          <p:spPr>
            <a:xfrm>
              <a:off x="5446" y="7430"/>
              <a:ext cx="3027" cy="45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诊断工具统一调度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2" name="矩形 231"/>
            <p:cNvSpPr/>
            <p:nvPr/>
          </p:nvSpPr>
          <p:spPr>
            <a:xfrm>
              <a:off x="4987" y="7941"/>
              <a:ext cx="3454" cy="178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7145" marR="0" lvl="0" indent="0" algn="just" defTabSz="914400" eaLnBrk="1" fontAlgn="auto" latinLnBrk="0" hangingPunct="1">
                <a:lnSpc>
                  <a:spcPct val="13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场景模板驱动的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AI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自动调用98类诊断工具，结构化分析结论，历史案例自动检索，新人质量趋近专家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sp>
          <p:nvSpPr>
            <p:cNvPr id="233" name="图形 64"/>
            <p:cNvSpPr/>
            <p:nvPr/>
          </p:nvSpPr>
          <p:spPr>
            <a:xfrm>
              <a:off x="5118" y="7424"/>
              <a:ext cx="604" cy="475"/>
            </a:xfrm>
            <a:custGeom>
              <a:avLst/>
              <a:gdLst>
                <a:gd name="connsiteX0" fmla="*/ 287709 w 383611"/>
                <a:gd name="connsiteY0" fmla="*/ 301409 h 301408"/>
                <a:gd name="connsiteX1" fmla="*/ 191806 w 383611"/>
                <a:gd name="connsiteY1" fmla="*/ 219207 h 301408"/>
                <a:gd name="connsiteX2" fmla="*/ 287709 w 383611"/>
                <a:gd name="connsiteY2" fmla="*/ 137004 h 301408"/>
                <a:gd name="connsiteX3" fmla="*/ 383611 w 383611"/>
                <a:gd name="connsiteY3" fmla="*/ 219207 h 301408"/>
                <a:gd name="connsiteX4" fmla="*/ 287709 w 383611"/>
                <a:gd name="connsiteY4" fmla="*/ 301409 h 301408"/>
                <a:gd name="connsiteX5" fmla="*/ 287709 w 383611"/>
                <a:gd name="connsiteY5" fmla="*/ 274008 h 301408"/>
                <a:gd name="connsiteX6" fmla="*/ 342510 w 383611"/>
                <a:gd name="connsiteY6" fmla="*/ 219207 h 301408"/>
                <a:gd name="connsiteX7" fmla="*/ 287709 w 383611"/>
                <a:gd name="connsiteY7" fmla="*/ 164405 h 301408"/>
                <a:gd name="connsiteX8" fmla="*/ 232907 w 383611"/>
                <a:gd name="connsiteY8" fmla="*/ 219207 h 301408"/>
                <a:gd name="connsiteX9" fmla="*/ 287709 w 383611"/>
                <a:gd name="connsiteY9" fmla="*/ 274008 h 301408"/>
                <a:gd name="connsiteX10" fmla="*/ 54802 w 383611"/>
                <a:gd name="connsiteY10" fmla="*/ 54802 h 301408"/>
                <a:gd name="connsiteX11" fmla="*/ 54802 w 383611"/>
                <a:gd name="connsiteY11" fmla="*/ 219207 h 301408"/>
                <a:gd name="connsiteX12" fmla="*/ 149965 w 383611"/>
                <a:gd name="connsiteY12" fmla="*/ 219207 h 301408"/>
                <a:gd name="connsiteX13" fmla="*/ 149965 w 383611"/>
                <a:gd name="connsiteY13" fmla="*/ 274008 h 301408"/>
                <a:gd name="connsiteX14" fmla="*/ 0 w 383611"/>
                <a:gd name="connsiteY14" fmla="*/ 274008 h 301408"/>
                <a:gd name="connsiteX15" fmla="*/ 0 w 383611"/>
                <a:gd name="connsiteY15" fmla="*/ 0 h 301408"/>
                <a:gd name="connsiteX16" fmla="*/ 356211 w 383611"/>
                <a:gd name="connsiteY16" fmla="*/ 0 h 301408"/>
                <a:gd name="connsiteX17" fmla="*/ 356211 w 383611"/>
                <a:gd name="connsiteY17" fmla="*/ 91327 h 301408"/>
                <a:gd name="connsiteX18" fmla="*/ 301409 w 383611"/>
                <a:gd name="connsiteY18" fmla="*/ 91327 h 301408"/>
                <a:gd name="connsiteX19" fmla="*/ 301409 w 383611"/>
                <a:gd name="connsiteY19" fmla="*/ 54802 h 301408"/>
                <a:gd name="connsiteX20" fmla="*/ 54802 w 383611"/>
                <a:gd name="connsiteY20" fmla="*/ 54802 h 301408"/>
                <a:gd name="connsiteX21" fmla="*/ 287709 w 383611"/>
                <a:gd name="connsiteY21" fmla="*/ 246607 h 301408"/>
                <a:gd name="connsiteX22" fmla="*/ 260308 w 383611"/>
                <a:gd name="connsiteY22" fmla="*/ 219207 h 301408"/>
                <a:gd name="connsiteX23" fmla="*/ 287709 w 383611"/>
                <a:gd name="connsiteY23" fmla="*/ 191806 h 301408"/>
                <a:gd name="connsiteX24" fmla="*/ 315109 w 383611"/>
                <a:gd name="connsiteY24" fmla="*/ 219207 h 301408"/>
                <a:gd name="connsiteX25" fmla="*/ 287709 w 383611"/>
                <a:gd name="connsiteY25" fmla="*/ 246607 h 301408"/>
                <a:gd name="connsiteX26" fmla="*/ 102753 w 383611"/>
                <a:gd name="connsiteY26" fmla="*/ 151526 h 301408"/>
                <a:gd name="connsiteX27" fmla="*/ 82915 w 383611"/>
                <a:gd name="connsiteY27" fmla="*/ 132620 h 301408"/>
                <a:gd name="connsiteX28" fmla="*/ 132072 w 383611"/>
                <a:gd name="connsiteY28" fmla="*/ 80915 h 301408"/>
                <a:gd name="connsiteX29" fmla="*/ 173803 w 383611"/>
                <a:gd name="connsiteY29" fmla="*/ 122646 h 301408"/>
                <a:gd name="connsiteX30" fmla="*/ 209479 w 383611"/>
                <a:gd name="connsiteY30" fmla="*/ 86970 h 301408"/>
                <a:gd name="connsiteX31" fmla="*/ 228879 w 383611"/>
                <a:gd name="connsiteY31" fmla="*/ 106343 h 301408"/>
                <a:gd name="connsiteX32" fmla="*/ 173803 w 383611"/>
                <a:gd name="connsiteY32" fmla="*/ 161418 h 301408"/>
                <a:gd name="connsiteX33" fmla="*/ 132620 w 383611"/>
                <a:gd name="connsiteY33" fmla="*/ 120153 h 301408"/>
                <a:gd name="connsiteX34" fmla="*/ 102753 w 383611"/>
                <a:gd name="connsiteY34" fmla="*/ 151499 h 30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83611" h="301408">
                  <a:moveTo>
                    <a:pt x="287709" y="301409"/>
                  </a:moveTo>
                  <a:cubicBezTo>
                    <a:pt x="241812" y="301409"/>
                    <a:pt x="209835" y="274008"/>
                    <a:pt x="191806" y="219207"/>
                  </a:cubicBezTo>
                  <a:cubicBezTo>
                    <a:pt x="209835" y="164405"/>
                    <a:pt x="241812" y="137004"/>
                    <a:pt x="287709" y="137004"/>
                  </a:cubicBezTo>
                  <a:cubicBezTo>
                    <a:pt x="333605" y="137004"/>
                    <a:pt x="365582" y="164405"/>
                    <a:pt x="383611" y="219207"/>
                  </a:cubicBezTo>
                  <a:cubicBezTo>
                    <a:pt x="365582" y="274008"/>
                    <a:pt x="333605" y="301409"/>
                    <a:pt x="287709" y="301409"/>
                  </a:cubicBezTo>
                  <a:close/>
                  <a:moveTo>
                    <a:pt x="287709" y="274008"/>
                  </a:moveTo>
                  <a:cubicBezTo>
                    <a:pt x="317974" y="274008"/>
                    <a:pt x="342510" y="249472"/>
                    <a:pt x="342510" y="219207"/>
                  </a:cubicBezTo>
                  <a:cubicBezTo>
                    <a:pt x="342510" y="188941"/>
                    <a:pt x="317974" y="164405"/>
                    <a:pt x="287709" y="164405"/>
                  </a:cubicBezTo>
                  <a:cubicBezTo>
                    <a:pt x="257443" y="164405"/>
                    <a:pt x="232907" y="188941"/>
                    <a:pt x="232907" y="219207"/>
                  </a:cubicBezTo>
                  <a:cubicBezTo>
                    <a:pt x="232907" y="249472"/>
                    <a:pt x="257443" y="274008"/>
                    <a:pt x="287709" y="274008"/>
                  </a:cubicBezTo>
                  <a:close/>
                  <a:moveTo>
                    <a:pt x="54802" y="54802"/>
                  </a:moveTo>
                  <a:lnTo>
                    <a:pt x="54802" y="219207"/>
                  </a:lnTo>
                  <a:lnTo>
                    <a:pt x="149965" y="219207"/>
                  </a:lnTo>
                  <a:lnTo>
                    <a:pt x="149965" y="274008"/>
                  </a:lnTo>
                  <a:lnTo>
                    <a:pt x="0" y="274008"/>
                  </a:lnTo>
                  <a:lnTo>
                    <a:pt x="0" y="0"/>
                  </a:lnTo>
                  <a:lnTo>
                    <a:pt x="356211" y="0"/>
                  </a:lnTo>
                  <a:lnTo>
                    <a:pt x="356211" y="91327"/>
                  </a:lnTo>
                  <a:lnTo>
                    <a:pt x="301409" y="91327"/>
                  </a:lnTo>
                  <a:lnTo>
                    <a:pt x="301409" y="54802"/>
                  </a:lnTo>
                  <a:lnTo>
                    <a:pt x="54802" y="54802"/>
                  </a:lnTo>
                  <a:close/>
                  <a:moveTo>
                    <a:pt x="287709" y="246607"/>
                  </a:moveTo>
                  <a:cubicBezTo>
                    <a:pt x="272576" y="246607"/>
                    <a:pt x="260308" y="234339"/>
                    <a:pt x="260308" y="219207"/>
                  </a:cubicBezTo>
                  <a:cubicBezTo>
                    <a:pt x="260308" y="204074"/>
                    <a:pt x="272576" y="191806"/>
                    <a:pt x="287709" y="191806"/>
                  </a:cubicBezTo>
                  <a:cubicBezTo>
                    <a:pt x="302842" y="191806"/>
                    <a:pt x="315109" y="204074"/>
                    <a:pt x="315109" y="219207"/>
                  </a:cubicBezTo>
                  <a:cubicBezTo>
                    <a:pt x="315109" y="234339"/>
                    <a:pt x="302842" y="246607"/>
                    <a:pt x="287709" y="246607"/>
                  </a:cubicBezTo>
                  <a:close/>
                  <a:moveTo>
                    <a:pt x="102753" y="151526"/>
                  </a:moveTo>
                  <a:lnTo>
                    <a:pt x="82915" y="132620"/>
                  </a:lnTo>
                  <a:lnTo>
                    <a:pt x="132072" y="80915"/>
                  </a:lnTo>
                  <a:lnTo>
                    <a:pt x="173803" y="122646"/>
                  </a:lnTo>
                  <a:lnTo>
                    <a:pt x="209479" y="86970"/>
                  </a:lnTo>
                  <a:lnTo>
                    <a:pt x="228879" y="106343"/>
                  </a:lnTo>
                  <a:lnTo>
                    <a:pt x="173803" y="161418"/>
                  </a:lnTo>
                  <a:lnTo>
                    <a:pt x="132620" y="120153"/>
                  </a:lnTo>
                  <a:lnTo>
                    <a:pt x="102753" y="151499"/>
                  </a:ln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 cmpd="sng" algn="ctr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5126990" y="4613910"/>
            <a:ext cx="2183765" cy="1655445"/>
            <a:chOff x="8787" y="7266"/>
            <a:chExt cx="3544" cy="2457"/>
          </a:xfrm>
        </p:grpSpPr>
        <p:sp>
          <p:nvSpPr>
            <p:cNvPr id="235" name="矩形: 圆角 30"/>
            <p:cNvSpPr/>
            <p:nvPr/>
          </p:nvSpPr>
          <p:spPr>
            <a:xfrm>
              <a:off x="8788" y="7266"/>
              <a:ext cx="3433" cy="2457"/>
            </a:xfrm>
            <a:prstGeom prst="roundRect">
              <a:avLst>
                <a:gd name="adj" fmla="val 3204"/>
              </a:avLst>
            </a:prstGeom>
            <a:noFill/>
            <a:ln w="12700" cap="rnd" cmpd="sng" algn="ctr">
              <a:solidFill>
                <a:sysClr val="window" lastClr="FFFFFF">
                  <a:lumMod val="50000"/>
                </a:sysClr>
              </a:solidFill>
              <a:prstDash val="dash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9304" y="7430"/>
              <a:ext cx="3027" cy="45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方案推荐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+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自动编排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7" name="矩形 236"/>
            <p:cNvSpPr/>
            <p:nvPr/>
          </p:nvSpPr>
          <p:spPr>
            <a:xfrm>
              <a:off x="8787" y="7941"/>
              <a:ext cx="3454" cy="178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7145" marR="0" lvl="0" indent="0" algn="just" defTabSz="914400" eaLnBrk="1" fontAlgn="auto" latinLnBrk="0" hangingPunct="1">
                <a:lnSpc>
                  <a:spcPct val="13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高频问题成熟方案一键启用，任务链自动拆解+责任人绑定，超时自动按层级升级，所有决策方案留痕可追溯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sp>
          <p:nvSpPr>
            <p:cNvPr id="238" name="图形 63"/>
            <p:cNvSpPr/>
            <p:nvPr/>
          </p:nvSpPr>
          <p:spPr>
            <a:xfrm>
              <a:off x="8931" y="7411"/>
              <a:ext cx="502" cy="502"/>
            </a:xfrm>
            <a:custGeom>
              <a:avLst/>
              <a:gdLst>
                <a:gd name="connsiteX0" fmla="*/ 276992 w 318804"/>
                <a:gd name="connsiteY0" fmla="*/ 260882 h 318804"/>
                <a:gd name="connsiteX1" fmla="*/ 315468 w 318804"/>
                <a:gd name="connsiteY1" fmla="*/ 299359 h 318804"/>
                <a:gd name="connsiteX2" fmla="*/ 315468 w 318804"/>
                <a:gd name="connsiteY2" fmla="*/ 315468 h 318804"/>
                <a:gd name="connsiteX3" fmla="*/ 299359 w 318804"/>
                <a:gd name="connsiteY3" fmla="*/ 315468 h 318804"/>
                <a:gd name="connsiteX4" fmla="*/ 260882 w 318804"/>
                <a:gd name="connsiteY4" fmla="*/ 276992 h 318804"/>
                <a:gd name="connsiteX5" fmla="*/ 260882 w 318804"/>
                <a:gd name="connsiteY5" fmla="*/ 260882 h 318804"/>
                <a:gd name="connsiteX6" fmla="*/ 276992 w 318804"/>
                <a:gd name="connsiteY6" fmla="*/ 260882 h 318804"/>
                <a:gd name="connsiteX7" fmla="*/ 216281 w 318804"/>
                <a:gd name="connsiteY7" fmla="*/ 136621 h 318804"/>
                <a:gd name="connsiteX8" fmla="*/ 147629 w 318804"/>
                <a:gd name="connsiteY8" fmla="*/ 205100 h 318804"/>
                <a:gd name="connsiteX9" fmla="*/ 216108 w 318804"/>
                <a:gd name="connsiteY9" fmla="*/ 273752 h 318804"/>
                <a:gd name="connsiteX10" fmla="*/ 284760 w 318804"/>
                <a:gd name="connsiteY10" fmla="*/ 205273 h 318804"/>
                <a:gd name="connsiteX11" fmla="*/ 264566 w 318804"/>
                <a:gd name="connsiteY11" fmla="*/ 156591 h 318804"/>
                <a:gd name="connsiteX12" fmla="*/ 216281 w 318804"/>
                <a:gd name="connsiteY12" fmla="*/ 136621 h 318804"/>
                <a:gd name="connsiteX13" fmla="*/ 216281 w 318804"/>
                <a:gd name="connsiteY13" fmla="*/ 113943 h 318804"/>
                <a:gd name="connsiteX14" fmla="*/ 307258 w 318804"/>
                <a:gd name="connsiteY14" fmla="*/ 204920 h 318804"/>
                <a:gd name="connsiteX15" fmla="*/ 216281 w 318804"/>
                <a:gd name="connsiteY15" fmla="*/ 295897 h 318804"/>
                <a:gd name="connsiteX16" fmla="*/ 125304 w 318804"/>
                <a:gd name="connsiteY16" fmla="*/ 204920 h 318804"/>
                <a:gd name="connsiteX17" fmla="*/ 216237 w 318804"/>
                <a:gd name="connsiteY17" fmla="*/ 113899 h 318804"/>
                <a:gd name="connsiteX18" fmla="*/ 216281 w 318804"/>
                <a:gd name="connsiteY18" fmla="*/ 113899 h 318804"/>
                <a:gd name="connsiteX19" fmla="*/ 216281 w 318804"/>
                <a:gd name="connsiteY19" fmla="*/ 91088 h 318804"/>
                <a:gd name="connsiteX20" fmla="*/ 260660 w 318804"/>
                <a:gd name="connsiteY20" fmla="*/ 99964 h 318804"/>
                <a:gd name="connsiteX21" fmla="*/ 296829 w 318804"/>
                <a:gd name="connsiteY21" fmla="*/ 124372 h 318804"/>
                <a:gd name="connsiteX22" fmla="*/ 311386 w 318804"/>
                <a:gd name="connsiteY22" fmla="*/ 142324 h 318804"/>
                <a:gd name="connsiteX23" fmla="*/ 318752 w 318804"/>
                <a:gd name="connsiteY23" fmla="*/ 142324 h 318804"/>
                <a:gd name="connsiteX24" fmla="*/ 318752 w 318804"/>
                <a:gd name="connsiteY24" fmla="*/ 45533 h 318804"/>
                <a:gd name="connsiteX25" fmla="*/ 273220 w 318804"/>
                <a:gd name="connsiteY25" fmla="*/ 0 h 318804"/>
                <a:gd name="connsiteX26" fmla="*/ 273153 w 318804"/>
                <a:gd name="connsiteY26" fmla="*/ 0 h 318804"/>
                <a:gd name="connsiteX27" fmla="*/ 176429 w 318804"/>
                <a:gd name="connsiteY27" fmla="*/ 0 h 318804"/>
                <a:gd name="connsiteX28" fmla="*/ 176429 w 318804"/>
                <a:gd name="connsiteY28" fmla="*/ 98255 h 318804"/>
                <a:gd name="connsiteX29" fmla="*/ 216281 w 318804"/>
                <a:gd name="connsiteY29" fmla="*/ 90977 h 318804"/>
                <a:gd name="connsiteX30" fmla="*/ 135800 w 318804"/>
                <a:gd name="connsiteY30" fmla="*/ 124461 h 318804"/>
                <a:gd name="connsiteX31" fmla="*/ 142257 w 318804"/>
                <a:gd name="connsiteY31" fmla="*/ 118492 h 318804"/>
                <a:gd name="connsiteX32" fmla="*/ 142257 w 318804"/>
                <a:gd name="connsiteY32" fmla="*/ 0 h 318804"/>
                <a:gd name="connsiteX33" fmla="*/ 45533 w 318804"/>
                <a:gd name="connsiteY33" fmla="*/ 0 h 318804"/>
                <a:gd name="connsiteX34" fmla="*/ 0 w 318804"/>
                <a:gd name="connsiteY34" fmla="*/ 45533 h 318804"/>
                <a:gd name="connsiteX35" fmla="*/ 0 w 318804"/>
                <a:gd name="connsiteY35" fmla="*/ 142257 h 318804"/>
                <a:gd name="connsiteX36" fmla="*/ 121244 w 318804"/>
                <a:gd name="connsiteY36" fmla="*/ 142257 h 318804"/>
                <a:gd name="connsiteX37" fmla="*/ 135800 w 318804"/>
                <a:gd name="connsiteY37" fmla="*/ 124461 h 318804"/>
                <a:gd name="connsiteX38" fmla="*/ 135800 w 318804"/>
                <a:gd name="connsiteY38" fmla="*/ 285424 h 318804"/>
                <a:gd name="connsiteX39" fmla="*/ 102516 w 318804"/>
                <a:gd name="connsiteY39" fmla="*/ 204942 h 318804"/>
                <a:gd name="connsiteX40" fmla="*/ 106066 w 318804"/>
                <a:gd name="connsiteY40" fmla="*/ 176429 h 318804"/>
                <a:gd name="connsiteX41" fmla="*/ 0 w 318804"/>
                <a:gd name="connsiteY41" fmla="*/ 176429 h 318804"/>
                <a:gd name="connsiteX42" fmla="*/ 0 w 318804"/>
                <a:gd name="connsiteY42" fmla="*/ 273153 h 318804"/>
                <a:gd name="connsiteX43" fmla="*/ 45533 w 318804"/>
                <a:gd name="connsiteY43" fmla="*/ 318687 h 318804"/>
                <a:gd name="connsiteX44" fmla="*/ 142257 w 318804"/>
                <a:gd name="connsiteY44" fmla="*/ 318687 h 318804"/>
                <a:gd name="connsiteX45" fmla="*/ 142257 w 318804"/>
                <a:gd name="connsiteY45" fmla="*/ 291393 h 318804"/>
                <a:gd name="connsiteX46" fmla="*/ 135800 w 318804"/>
                <a:gd name="connsiteY46" fmla="*/ 285424 h 31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18804" h="318804">
                  <a:moveTo>
                    <a:pt x="276992" y="260882"/>
                  </a:moveTo>
                  <a:lnTo>
                    <a:pt x="315468" y="299359"/>
                  </a:lnTo>
                  <a:cubicBezTo>
                    <a:pt x="319916" y="303807"/>
                    <a:pt x="319916" y="311020"/>
                    <a:pt x="315468" y="315468"/>
                  </a:cubicBezTo>
                  <a:cubicBezTo>
                    <a:pt x="311020" y="319916"/>
                    <a:pt x="303807" y="319916"/>
                    <a:pt x="299359" y="315468"/>
                  </a:cubicBezTo>
                  <a:lnTo>
                    <a:pt x="260882" y="276992"/>
                  </a:lnTo>
                  <a:cubicBezTo>
                    <a:pt x="256434" y="272543"/>
                    <a:pt x="256434" y="265331"/>
                    <a:pt x="260882" y="260882"/>
                  </a:cubicBezTo>
                  <a:cubicBezTo>
                    <a:pt x="265331" y="256434"/>
                    <a:pt x="272543" y="256434"/>
                    <a:pt x="276992" y="260882"/>
                  </a:cubicBezTo>
                  <a:close/>
                  <a:moveTo>
                    <a:pt x="216281" y="136621"/>
                  </a:moveTo>
                  <a:cubicBezTo>
                    <a:pt x="178414" y="136573"/>
                    <a:pt x="147677" y="167232"/>
                    <a:pt x="147629" y="205100"/>
                  </a:cubicBezTo>
                  <a:cubicBezTo>
                    <a:pt x="147581" y="242967"/>
                    <a:pt x="178240" y="273704"/>
                    <a:pt x="216108" y="273752"/>
                  </a:cubicBezTo>
                  <a:cubicBezTo>
                    <a:pt x="253976" y="273800"/>
                    <a:pt x="284712" y="243141"/>
                    <a:pt x="284760" y="205273"/>
                  </a:cubicBezTo>
                  <a:cubicBezTo>
                    <a:pt x="284783" y="187004"/>
                    <a:pt x="277514" y="169480"/>
                    <a:pt x="264566" y="156591"/>
                  </a:cubicBezTo>
                  <a:cubicBezTo>
                    <a:pt x="251815" y="143708"/>
                    <a:pt x="234408" y="136508"/>
                    <a:pt x="216281" y="136621"/>
                  </a:cubicBezTo>
                  <a:moveTo>
                    <a:pt x="216281" y="113943"/>
                  </a:moveTo>
                  <a:cubicBezTo>
                    <a:pt x="266527" y="113943"/>
                    <a:pt x="307258" y="154675"/>
                    <a:pt x="307258" y="204920"/>
                  </a:cubicBezTo>
                  <a:cubicBezTo>
                    <a:pt x="307258" y="255166"/>
                    <a:pt x="266527" y="295897"/>
                    <a:pt x="216281" y="295897"/>
                  </a:cubicBezTo>
                  <a:cubicBezTo>
                    <a:pt x="166036" y="295897"/>
                    <a:pt x="125304" y="255166"/>
                    <a:pt x="125304" y="204920"/>
                  </a:cubicBezTo>
                  <a:cubicBezTo>
                    <a:pt x="125280" y="154675"/>
                    <a:pt x="165992" y="113923"/>
                    <a:pt x="216237" y="113899"/>
                  </a:cubicBezTo>
                  <a:cubicBezTo>
                    <a:pt x="216252" y="113899"/>
                    <a:pt x="216267" y="113899"/>
                    <a:pt x="216281" y="113899"/>
                  </a:cubicBezTo>
                  <a:close/>
                  <a:moveTo>
                    <a:pt x="216281" y="91088"/>
                  </a:moveTo>
                  <a:cubicBezTo>
                    <a:pt x="231516" y="91082"/>
                    <a:pt x="246600" y="94099"/>
                    <a:pt x="260660" y="99964"/>
                  </a:cubicBezTo>
                  <a:cubicBezTo>
                    <a:pt x="274180" y="105687"/>
                    <a:pt x="286463" y="113976"/>
                    <a:pt x="296829" y="124372"/>
                  </a:cubicBezTo>
                  <a:cubicBezTo>
                    <a:pt x="302317" y="129812"/>
                    <a:pt x="307198" y="135831"/>
                    <a:pt x="311386" y="142324"/>
                  </a:cubicBezTo>
                  <a:lnTo>
                    <a:pt x="318752" y="142324"/>
                  </a:lnTo>
                  <a:lnTo>
                    <a:pt x="318752" y="45533"/>
                  </a:lnTo>
                  <a:cubicBezTo>
                    <a:pt x="318752" y="20386"/>
                    <a:pt x="298367" y="0"/>
                    <a:pt x="273220" y="0"/>
                  </a:cubicBezTo>
                  <a:cubicBezTo>
                    <a:pt x="273198" y="0"/>
                    <a:pt x="273175" y="0"/>
                    <a:pt x="273153" y="0"/>
                  </a:cubicBezTo>
                  <a:lnTo>
                    <a:pt x="176429" y="0"/>
                  </a:lnTo>
                  <a:lnTo>
                    <a:pt x="176429" y="98255"/>
                  </a:lnTo>
                  <a:cubicBezTo>
                    <a:pt x="189172" y="93467"/>
                    <a:pt x="202669" y="91002"/>
                    <a:pt x="216281" y="90977"/>
                  </a:cubicBezTo>
                  <a:close/>
                  <a:moveTo>
                    <a:pt x="135800" y="124461"/>
                  </a:moveTo>
                  <a:cubicBezTo>
                    <a:pt x="138019" y="122242"/>
                    <a:pt x="140105" y="120334"/>
                    <a:pt x="142257" y="118492"/>
                  </a:cubicBezTo>
                  <a:lnTo>
                    <a:pt x="142257" y="0"/>
                  </a:lnTo>
                  <a:lnTo>
                    <a:pt x="45533" y="0"/>
                  </a:lnTo>
                  <a:cubicBezTo>
                    <a:pt x="20386" y="0"/>
                    <a:pt x="0" y="20386"/>
                    <a:pt x="0" y="45533"/>
                  </a:cubicBezTo>
                  <a:lnTo>
                    <a:pt x="0" y="142257"/>
                  </a:lnTo>
                  <a:lnTo>
                    <a:pt x="121244" y="142257"/>
                  </a:lnTo>
                  <a:cubicBezTo>
                    <a:pt x="125488" y="135853"/>
                    <a:pt x="130364" y="129891"/>
                    <a:pt x="135800" y="124461"/>
                  </a:cubicBezTo>
                  <a:close/>
                  <a:moveTo>
                    <a:pt x="135800" y="285424"/>
                  </a:moveTo>
                  <a:cubicBezTo>
                    <a:pt x="114432" y="264099"/>
                    <a:pt x="102452" y="235131"/>
                    <a:pt x="102516" y="204942"/>
                  </a:cubicBezTo>
                  <a:cubicBezTo>
                    <a:pt x="102551" y="195330"/>
                    <a:pt x="103743" y="185757"/>
                    <a:pt x="106066" y="176429"/>
                  </a:cubicBezTo>
                  <a:lnTo>
                    <a:pt x="0" y="176429"/>
                  </a:lnTo>
                  <a:lnTo>
                    <a:pt x="0" y="273153"/>
                  </a:lnTo>
                  <a:cubicBezTo>
                    <a:pt x="0" y="298300"/>
                    <a:pt x="20386" y="318687"/>
                    <a:pt x="45533" y="318687"/>
                  </a:cubicBezTo>
                  <a:lnTo>
                    <a:pt x="142257" y="318687"/>
                  </a:lnTo>
                  <a:lnTo>
                    <a:pt x="142257" y="291393"/>
                  </a:lnTo>
                  <a:cubicBezTo>
                    <a:pt x="140105" y="289551"/>
                    <a:pt x="137952" y="287554"/>
                    <a:pt x="135800" y="285424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rgbClr val="00B0F0"/>
                </a:gs>
                <a:gs pos="66000">
                  <a:srgbClr val="4176F1"/>
                </a:gs>
                <a:gs pos="100000">
                  <a:srgbClr val="3161E7"/>
                </a:gs>
              </a:gsLst>
              <a:lin ang="2700000" scaled="1"/>
              <a:tileRect/>
            </a:gradFill>
            <a:ln w="57150" cap="rnd" cmpd="sng" algn="ctr">
              <a:noFill/>
              <a:prstDash val="solid"/>
              <a:round/>
            </a:ln>
            <a:effectLst>
              <a:outerShdw blurRad="63500" algn="ctr" rotWithShape="0">
                <a:srgbClr val="467CF3">
                  <a:alpha val="4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9" name="组合 238"/>
          <p:cNvGrpSpPr/>
          <p:nvPr/>
        </p:nvGrpSpPr>
        <p:grpSpPr>
          <a:xfrm>
            <a:off x="9680575" y="4613910"/>
            <a:ext cx="2202815" cy="1654810"/>
            <a:chOff x="15245" y="7266"/>
            <a:chExt cx="3469" cy="2606"/>
          </a:xfrm>
        </p:grpSpPr>
        <p:sp>
          <p:nvSpPr>
            <p:cNvPr id="240" name="矩形: 圆角 30"/>
            <p:cNvSpPr/>
            <p:nvPr/>
          </p:nvSpPr>
          <p:spPr>
            <a:xfrm>
              <a:off x="15246" y="7266"/>
              <a:ext cx="3331" cy="2607"/>
            </a:xfrm>
            <a:prstGeom prst="roundRect">
              <a:avLst>
                <a:gd name="adj" fmla="val 3204"/>
              </a:avLst>
            </a:prstGeom>
            <a:noFill/>
            <a:ln w="12700" cap="rnd" cmpd="sng" algn="ctr">
              <a:solidFill>
                <a:sysClr val="window" lastClr="FFFFFF">
                  <a:lumMod val="50000"/>
                </a:sysClr>
              </a:solidFill>
              <a:prstDash val="dash"/>
              <a:round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7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15662" y="7440"/>
              <a:ext cx="3053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三重机制杜绝假闭环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矩形 241"/>
            <p:cNvSpPr/>
            <p:nvPr/>
          </p:nvSpPr>
          <p:spPr>
            <a:xfrm>
              <a:off x="15245" y="7982"/>
              <a:ext cx="3352" cy="18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7145" marR="0" lvl="0" indent="0" algn="just" defTabSz="914400" eaLnBrk="1" fontAlgn="auto" latinLnBrk="0" hangingPunct="1">
                <a:lnSpc>
                  <a:spcPct val="13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rPr>
                <a:t>指标达标+路测通过+自定义标准三合一闭环标准，系统自动核验，长短周期回检，知识案例持续沉淀复用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grpSp>
          <p:nvGrpSpPr>
            <p:cNvPr id="243" name="组合 242"/>
            <p:cNvGrpSpPr/>
            <p:nvPr/>
          </p:nvGrpSpPr>
          <p:grpSpPr>
            <a:xfrm>
              <a:off x="15273" y="7355"/>
              <a:ext cx="607" cy="606"/>
              <a:chOff x="7986386" y="5200087"/>
              <a:chExt cx="385378" cy="384800"/>
            </a:xfrm>
          </p:grpSpPr>
          <p:sp>
            <p:nvSpPr>
              <p:cNvPr id="244" name="任意多边形: 形状 71"/>
              <p:cNvSpPr/>
              <p:nvPr/>
            </p:nvSpPr>
            <p:spPr>
              <a:xfrm>
                <a:off x="8058800" y="5290024"/>
                <a:ext cx="222495" cy="222495"/>
              </a:xfrm>
              <a:custGeom>
                <a:avLst/>
                <a:gdLst>
                  <a:gd name="connsiteX0" fmla="*/ 207785 w 222495"/>
                  <a:gd name="connsiteY0" fmla="*/ 53325 h 222495"/>
                  <a:gd name="connsiteX1" fmla="*/ 174686 w 222495"/>
                  <a:gd name="connsiteY1" fmla="*/ 66197 h 222495"/>
                  <a:gd name="connsiteX2" fmla="*/ 152621 w 222495"/>
                  <a:gd name="connsiteY2" fmla="*/ 44131 h 222495"/>
                  <a:gd name="connsiteX3" fmla="*/ 165492 w 222495"/>
                  <a:gd name="connsiteY3" fmla="*/ 11033 h 222495"/>
                  <a:gd name="connsiteX4" fmla="*/ 137910 w 222495"/>
                  <a:gd name="connsiteY4" fmla="*/ 0 h 222495"/>
                  <a:gd name="connsiteX5" fmla="*/ 125039 w 222495"/>
                  <a:gd name="connsiteY5" fmla="*/ 33098 h 222495"/>
                  <a:gd name="connsiteX6" fmla="*/ 97456 w 222495"/>
                  <a:gd name="connsiteY6" fmla="*/ 33098 h 222495"/>
                  <a:gd name="connsiteX7" fmla="*/ 82746 w 222495"/>
                  <a:gd name="connsiteY7" fmla="*/ 0 h 222495"/>
                  <a:gd name="connsiteX8" fmla="*/ 53325 w 222495"/>
                  <a:gd name="connsiteY8" fmla="*/ 12872 h 222495"/>
                  <a:gd name="connsiteX9" fmla="*/ 66197 w 222495"/>
                  <a:gd name="connsiteY9" fmla="*/ 45970 h 222495"/>
                  <a:gd name="connsiteX10" fmla="*/ 45970 w 222495"/>
                  <a:gd name="connsiteY10" fmla="*/ 66197 h 222495"/>
                  <a:gd name="connsiteX11" fmla="*/ 11033 w 222495"/>
                  <a:gd name="connsiteY11" fmla="*/ 53325 h 222495"/>
                  <a:gd name="connsiteX12" fmla="*/ 0 w 222495"/>
                  <a:gd name="connsiteY12" fmla="*/ 82746 h 222495"/>
                  <a:gd name="connsiteX13" fmla="*/ 33098 w 222495"/>
                  <a:gd name="connsiteY13" fmla="*/ 95618 h 222495"/>
                  <a:gd name="connsiteX14" fmla="*/ 33098 w 222495"/>
                  <a:gd name="connsiteY14" fmla="*/ 125039 h 222495"/>
                  <a:gd name="connsiteX15" fmla="*/ 0 w 222495"/>
                  <a:gd name="connsiteY15" fmla="*/ 137910 h 222495"/>
                  <a:gd name="connsiteX16" fmla="*/ 11033 w 222495"/>
                  <a:gd name="connsiteY16" fmla="*/ 167331 h 222495"/>
                  <a:gd name="connsiteX17" fmla="*/ 45970 w 222495"/>
                  <a:gd name="connsiteY17" fmla="*/ 154460 h 222495"/>
                  <a:gd name="connsiteX18" fmla="*/ 68036 w 222495"/>
                  <a:gd name="connsiteY18" fmla="*/ 176525 h 222495"/>
                  <a:gd name="connsiteX19" fmla="*/ 55164 w 222495"/>
                  <a:gd name="connsiteY19" fmla="*/ 209624 h 222495"/>
                  <a:gd name="connsiteX20" fmla="*/ 84585 w 222495"/>
                  <a:gd name="connsiteY20" fmla="*/ 222495 h 222495"/>
                  <a:gd name="connsiteX21" fmla="*/ 97456 w 222495"/>
                  <a:gd name="connsiteY21" fmla="*/ 189397 h 222495"/>
                  <a:gd name="connsiteX22" fmla="*/ 125039 w 222495"/>
                  <a:gd name="connsiteY22" fmla="*/ 189397 h 222495"/>
                  <a:gd name="connsiteX23" fmla="*/ 137910 w 222495"/>
                  <a:gd name="connsiteY23" fmla="*/ 222495 h 222495"/>
                  <a:gd name="connsiteX24" fmla="*/ 167331 w 222495"/>
                  <a:gd name="connsiteY24" fmla="*/ 209624 h 222495"/>
                  <a:gd name="connsiteX25" fmla="*/ 154460 w 222495"/>
                  <a:gd name="connsiteY25" fmla="*/ 176525 h 222495"/>
                  <a:gd name="connsiteX26" fmla="*/ 176525 w 222495"/>
                  <a:gd name="connsiteY26" fmla="*/ 154460 h 222495"/>
                  <a:gd name="connsiteX27" fmla="*/ 209624 w 222495"/>
                  <a:gd name="connsiteY27" fmla="*/ 167331 h 222495"/>
                  <a:gd name="connsiteX28" fmla="*/ 222495 w 222495"/>
                  <a:gd name="connsiteY28" fmla="*/ 137910 h 222495"/>
                  <a:gd name="connsiteX29" fmla="*/ 189397 w 222495"/>
                  <a:gd name="connsiteY29" fmla="*/ 125039 h 222495"/>
                  <a:gd name="connsiteX30" fmla="*/ 189397 w 222495"/>
                  <a:gd name="connsiteY30" fmla="*/ 97456 h 222495"/>
                  <a:gd name="connsiteX31" fmla="*/ 222495 w 222495"/>
                  <a:gd name="connsiteY31" fmla="*/ 84585 h 222495"/>
                  <a:gd name="connsiteX32" fmla="*/ 207785 w 222495"/>
                  <a:gd name="connsiteY32" fmla="*/ 53325 h 222495"/>
                  <a:gd name="connsiteX33" fmla="*/ 110328 w 222495"/>
                  <a:gd name="connsiteY33" fmla="*/ 156299 h 222495"/>
                  <a:gd name="connsiteX34" fmla="*/ 62519 w 222495"/>
                  <a:gd name="connsiteY34" fmla="*/ 108489 h 222495"/>
                  <a:gd name="connsiteX35" fmla="*/ 110328 w 222495"/>
                  <a:gd name="connsiteY35" fmla="*/ 60681 h 222495"/>
                  <a:gd name="connsiteX36" fmla="*/ 158137 w 222495"/>
                  <a:gd name="connsiteY36" fmla="*/ 108489 h 222495"/>
                  <a:gd name="connsiteX37" fmla="*/ 110328 w 222495"/>
                  <a:gd name="connsiteY37" fmla="*/ 156299 h 222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2495" h="222495">
                    <a:moveTo>
                      <a:pt x="207785" y="53325"/>
                    </a:moveTo>
                    <a:lnTo>
                      <a:pt x="174686" y="66197"/>
                    </a:lnTo>
                    <a:cubicBezTo>
                      <a:pt x="169170" y="57003"/>
                      <a:pt x="161815" y="49648"/>
                      <a:pt x="152621" y="44131"/>
                    </a:cubicBezTo>
                    <a:lnTo>
                      <a:pt x="165492" y="11033"/>
                    </a:lnTo>
                    <a:lnTo>
                      <a:pt x="137910" y="0"/>
                    </a:lnTo>
                    <a:lnTo>
                      <a:pt x="125039" y="33098"/>
                    </a:lnTo>
                    <a:cubicBezTo>
                      <a:pt x="115845" y="31260"/>
                      <a:pt x="106651" y="31260"/>
                      <a:pt x="97456" y="33098"/>
                    </a:cubicBezTo>
                    <a:lnTo>
                      <a:pt x="82746" y="0"/>
                    </a:lnTo>
                    <a:lnTo>
                      <a:pt x="53325" y="12872"/>
                    </a:lnTo>
                    <a:lnTo>
                      <a:pt x="66197" y="45970"/>
                    </a:lnTo>
                    <a:cubicBezTo>
                      <a:pt x="58842" y="49648"/>
                      <a:pt x="51487" y="57003"/>
                      <a:pt x="45970" y="66197"/>
                    </a:cubicBezTo>
                    <a:lnTo>
                      <a:pt x="11033" y="53325"/>
                    </a:lnTo>
                    <a:lnTo>
                      <a:pt x="0" y="82746"/>
                    </a:lnTo>
                    <a:lnTo>
                      <a:pt x="33098" y="95618"/>
                    </a:lnTo>
                    <a:cubicBezTo>
                      <a:pt x="31260" y="104812"/>
                      <a:pt x="31260" y="115845"/>
                      <a:pt x="33098" y="125039"/>
                    </a:cubicBezTo>
                    <a:lnTo>
                      <a:pt x="0" y="137910"/>
                    </a:lnTo>
                    <a:lnTo>
                      <a:pt x="11033" y="167331"/>
                    </a:lnTo>
                    <a:lnTo>
                      <a:pt x="45970" y="154460"/>
                    </a:lnTo>
                    <a:cubicBezTo>
                      <a:pt x="51487" y="163653"/>
                      <a:pt x="58842" y="171009"/>
                      <a:pt x="68036" y="176525"/>
                    </a:cubicBezTo>
                    <a:lnTo>
                      <a:pt x="55164" y="209624"/>
                    </a:lnTo>
                    <a:lnTo>
                      <a:pt x="84585" y="222495"/>
                    </a:lnTo>
                    <a:lnTo>
                      <a:pt x="97456" y="189397"/>
                    </a:lnTo>
                    <a:cubicBezTo>
                      <a:pt x="106651" y="191235"/>
                      <a:pt x="115845" y="191235"/>
                      <a:pt x="125039" y="189397"/>
                    </a:cubicBezTo>
                    <a:lnTo>
                      <a:pt x="137910" y="222495"/>
                    </a:lnTo>
                    <a:lnTo>
                      <a:pt x="167331" y="209624"/>
                    </a:lnTo>
                    <a:lnTo>
                      <a:pt x="154460" y="176525"/>
                    </a:lnTo>
                    <a:cubicBezTo>
                      <a:pt x="163653" y="171009"/>
                      <a:pt x="171009" y="163653"/>
                      <a:pt x="176525" y="154460"/>
                    </a:cubicBezTo>
                    <a:lnTo>
                      <a:pt x="209624" y="167331"/>
                    </a:lnTo>
                    <a:lnTo>
                      <a:pt x="222495" y="137910"/>
                    </a:lnTo>
                    <a:lnTo>
                      <a:pt x="189397" y="125039"/>
                    </a:lnTo>
                    <a:cubicBezTo>
                      <a:pt x="191235" y="115845"/>
                      <a:pt x="191235" y="106651"/>
                      <a:pt x="189397" y="97456"/>
                    </a:cubicBezTo>
                    <a:lnTo>
                      <a:pt x="222495" y="84585"/>
                    </a:lnTo>
                    <a:lnTo>
                      <a:pt x="207785" y="53325"/>
                    </a:lnTo>
                    <a:close/>
                    <a:moveTo>
                      <a:pt x="110328" y="156299"/>
                    </a:moveTo>
                    <a:cubicBezTo>
                      <a:pt x="84585" y="156299"/>
                      <a:pt x="62519" y="136071"/>
                      <a:pt x="62519" y="108489"/>
                    </a:cubicBezTo>
                    <a:cubicBezTo>
                      <a:pt x="62519" y="80907"/>
                      <a:pt x="82746" y="60681"/>
                      <a:pt x="110328" y="60681"/>
                    </a:cubicBezTo>
                    <a:cubicBezTo>
                      <a:pt x="136071" y="60681"/>
                      <a:pt x="158137" y="80907"/>
                      <a:pt x="158137" y="108489"/>
                    </a:cubicBezTo>
                    <a:cubicBezTo>
                      <a:pt x="158137" y="136071"/>
                      <a:pt x="136071" y="156299"/>
                      <a:pt x="110328" y="156299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45" name="任意多边形: 形状 72"/>
              <p:cNvSpPr/>
              <p:nvPr/>
            </p:nvSpPr>
            <p:spPr>
              <a:xfrm>
                <a:off x="8154418" y="5385642"/>
                <a:ext cx="31259" cy="31259"/>
              </a:xfrm>
              <a:custGeom>
                <a:avLst/>
                <a:gdLst>
                  <a:gd name="connsiteX0" fmla="*/ 0 w 31259"/>
                  <a:gd name="connsiteY0" fmla="*/ 0 h 31259"/>
                  <a:gd name="connsiteX1" fmla="*/ 31260 w 31259"/>
                  <a:gd name="connsiteY1" fmla="*/ 0 h 31259"/>
                  <a:gd name="connsiteX2" fmla="*/ 31260 w 31259"/>
                  <a:gd name="connsiteY2" fmla="*/ 31260 h 31259"/>
                  <a:gd name="connsiteX3" fmla="*/ 0 w 31259"/>
                  <a:gd name="connsiteY3" fmla="*/ 31260 h 31259"/>
                  <a:gd name="connsiteX4" fmla="*/ 0 w 31259"/>
                  <a:gd name="connsiteY4" fmla="*/ 0 h 3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59" h="31259">
                    <a:moveTo>
                      <a:pt x="0" y="0"/>
                    </a:moveTo>
                    <a:lnTo>
                      <a:pt x="31260" y="0"/>
                    </a:lnTo>
                    <a:lnTo>
                      <a:pt x="31260" y="31260"/>
                    </a:lnTo>
                    <a:lnTo>
                      <a:pt x="0" y="3126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46" name="任意多边形: 形状 73"/>
              <p:cNvSpPr/>
              <p:nvPr/>
            </p:nvSpPr>
            <p:spPr>
              <a:xfrm>
                <a:off x="7986386" y="5200087"/>
                <a:ext cx="385378" cy="384800"/>
              </a:xfrm>
              <a:custGeom>
                <a:avLst/>
                <a:gdLst>
                  <a:gd name="connsiteX0" fmla="*/ 26812 w 385378"/>
                  <a:gd name="connsiteY0" fmla="*/ 167406 h 384800"/>
                  <a:gd name="connsiteX1" fmla="*/ 127946 w 385378"/>
                  <a:gd name="connsiteY1" fmla="*/ 47883 h 384800"/>
                  <a:gd name="connsiteX2" fmla="*/ 126107 w 385378"/>
                  <a:gd name="connsiteY2" fmla="*/ 51561 h 384800"/>
                  <a:gd name="connsiteX3" fmla="*/ 129785 w 385378"/>
                  <a:gd name="connsiteY3" fmla="*/ 68110 h 384800"/>
                  <a:gd name="connsiteX4" fmla="*/ 146334 w 385378"/>
                  <a:gd name="connsiteY4" fmla="*/ 64433 h 384800"/>
                  <a:gd name="connsiteX5" fmla="*/ 162883 w 385378"/>
                  <a:gd name="connsiteY5" fmla="*/ 35012 h 384800"/>
                  <a:gd name="connsiteX6" fmla="*/ 159206 w 385378"/>
                  <a:gd name="connsiteY6" fmla="*/ 18463 h 384800"/>
                  <a:gd name="connsiteX7" fmla="*/ 129785 w 385378"/>
                  <a:gd name="connsiteY7" fmla="*/ 1913 h 384800"/>
                  <a:gd name="connsiteX8" fmla="*/ 113235 w 385378"/>
                  <a:gd name="connsiteY8" fmla="*/ 5591 h 384800"/>
                  <a:gd name="connsiteX9" fmla="*/ 116913 w 385378"/>
                  <a:gd name="connsiteY9" fmla="*/ 22140 h 384800"/>
                  <a:gd name="connsiteX10" fmla="*/ 120591 w 385378"/>
                  <a:gd name="connsiteY10" fmla="*/ 23979 h 384800"/>
                  <a:gd name="connsiteX11" fmla="*/ 10262 w 385378"/>
                  <a:gd name="connsiteY11" fmla="*/ 255668 h 384800"/>
                  <a:gd name="connsiteX12" fmla="*/ 10262 w 385378"/>
                  <a:gd name="connsiteY12" fmla="*/ 257507 h 384800"/>
                  <a:gd name="connsiteX13" fmla="*/ 26812 w 385378"/>
                  <a:gd name="connsiteY13" fmla="*/ 264862 h 384800"/>
                  <a:gd name="connsiteX14" fmla="*/ 34167 w 385378"/>
                  <a:gd name="connsiteY14" fmla="*/ 248313 h 384800"/>
                  <a:gd name="connsiteX15" fmla="*/ 26812 w 385378"/>
                  <a:gd name="connsiteY15" fmla="*/ 167406 h 384800"/>
                  <a:gd name="connsiteX16" fmla="*/ 317343 w 385378"/>
                  <a:gd name="connsiteY16" fmla="*/ 301638 h 384800"/>
                  <a:gd name="connsiteX17" fmla="*/ 300793 w 385378"/>
                  <a:gd name="connsiteY17" fmla="*/ 303477 h 384800"/>
                  <a:gd name="connsiteX18" fmla="*/ 80137 w 385378"/>
                  <a:gd name="connsiteY18" fmla="*/ 323704 h 384800"/>
                  <a:gd name="connsiteX19" fmla="*/ 83814 w 385378"/>
                  <a:gd name="connsiteY19" fmla="*/ 323704 h 384800"/>
                  <a:gd name="connsiteX20" fmla="*/ 96686 w 385378"/>
                  <a:gd name="connsiteY20" fmla="*/ 310833 h 384800"/>
                  <a:gd name="connsiteX21" fmla="*/ 83814 w 385378"/>
                  <a:gd name="connsiteY21" fmla="*/ 297961 h 384800"/>
                  <a:gd name="connsiteX22" fmla="*/ 52555 w 385378"/>
                  <a:gd name="connsiteY22" fmla="*/ 297961 h 384800"/>
                  <a:gd name="connsiteX23" fmla="*/ 39683 w 385378"/>
                  <a:gd name="connsiteY23" fmla="*/ 308994 h 384800"/>
                  <a:gd name="connsiteX24" fmla="*/ 39683 w 385378"/>
                  <a:gd name="connsiteY24" fmla="*/ 345770 h 384800"/>
                  <a:gd name="connsiteX25" fmla="*/ 52555 w 385378"/>
                  <a:gd name="connsiteY25" fmla="*/ 358641 h 384800"/>
                  <a:gd name="connsiteX26" fmla="*/ 65427 w 385378"/>
                  <a:gd name="connsiteY26" fmla="*/ 345770 h 384800"/>
                  <a:gd name="connsiteX27" fmla="*/ 65427 w 385378"/>
                  <a:gd name="connsiteY27" fmla="*/ 342092 h 384800"/>
                  <a:gd name="connsiteX28" fmla="*/ 321020 w 385378"/>
                  <a:gd name="connsiteY28" fmla="*/ 320026 h 384800"/>
                  <a:gd name="connsiteX29" fmla="*/ 317343 w 385378"/>
                  <a:gd name="connsiteY29" fmla="*/ 301638 h 384800"/>
                  <a:gd name="connsiteX30" fmla="*/ 383540 w 385378"/>
                  <a:gd name="connsiteY30" fmla="*/ 229925 h 384800"/>
                  <a:gd name="connsiteX31" fmla="*/ 366990 w 385378"/>
                  <a:gd name="connsiteY31" fmla="*/ 226247 h 384800"/>
                  <a:gd name="connsiteX32" fmla="*/ 363313 w 385378"/>
                  <a:gd name="connsiteY32" fmla="*/ 228086 h 384800"/>
                  <a:gd name="connsiteX33" fmla="*/ 363313 w 385378"/>
                  <a:gd name="connsiteY33" fmla="*/ 226247 h 384800"/>
                  <a:gd name="connsiteX34" fmla="*/ 216208 w 385378"/>
                  <a:gd name="connsiteY34" fmla="*/ 16624 h 384800"/>
                  <a:gd name="connsiteX35" fmla="*/ 201498 w 385378"/>
                  <a:gd name="connsiteY35" fmla="*/ 25818 h 384800"/>
                  <a:gd name="connsiteX36" fmla="*/ 210692 w 385378"/>
                  <a:gd name="connsiteY36" fmla="*/ 40528 h 384800"/>
                  <a:gd name="connsiteX37" fmla="*/ 337569 w 385378"/>
                  <a:gd name="connsiteY37" fmla="*/ 222570 h 384800"/>
                  <a:gd name="connsiteX38" fmla="*/ 335731 w 385378"/>
                  <a:gd name="connsiteY38" fmla="*/ 218892 h 384800"/>
                  <a:gd name="connsiteX39" fmla="*/ 319182 w 385378"/>
                  <a:gd name="connsiteY39" fmla="*/ 215215 h 384800"/>
                  <a:gd name="connsiteX40" fmla="*/ 315504 w 385378"/>
                  <a:gd name="connsiteY40" fmla="*/ 231764 h 384800"/>
                  <a:gd name="connsiteX41" fmla="*/ 332053 w 385378"/>
                  <a:gd name="connsiteY41" fmla="*/ 261185 h 384800"/>
                  <a:gd name="connsiteX42" fmla="*/ 348602 w 385378"/>
                  <a:gd name="connsiteY42" fmla="*/ 264862 h 384800"/>
                  <a:gd name="connsiteX43" fmla="*/ 378023 w 385378"/>
                  <a:gd name="connsiteY43" fmla="*/ 248313 h 384800"/>
                  <a:gd name="connsiteX44" fmla="*/ 383540 w 385378"/>
                  <a:gd name="connsiteY44" fmla="*/ 229925 h 38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85378" h="384800">
                    <a:moveTo>
                      <a:pt x="26812" y="167406"/>
                    </a:moveTo>
                    <a:cubicBezTo>
                      <a:pt x="36006" y="112242"/>
                      <a:pt x="74620" y="66271"/>
                      <a:pt x="127946" y="47883"/>
                    </a:cubicBezTo>
                    <a:lnTo>
                      <a:pt x="126107" y="51561"/>
                    </a:lnTo>
                    <a:cubicBezTo>
                      <a:pt x="122429" y="57078"/>
                      <a:pt x="124268" y="64433"/>
                      <a:pt x="129785" y="68110"/>
                    </a:cubicBezTo>
                    <a:cubicBezTo>
                      <a:pt x="135301" y="71788"/>
                      <a:pt x="142656" y="69949"/>
                      <a:pt x="146334" y="64433"/>
                    </a:cubicBezTo>
                    <a:lnTo>
                      <a:pt x="162883" y="35012"/>
                    </a:lnTo>
                    <a:cubicBezTo>
                      <a:pt x="166560" y="29496"/>
                      <a:pt x="164722" y="22140"/>
                      <a:pt x="159206" y="18463"/>
                    </a:cubicBezTo>
                    <a:lnTo>
                      <a:pt x="129785" y="1913"/>
                    </a:lnTo>
                    <a:cubicBezTo>
                      <a:pt x="124268" y="-1764"/>
                      <a:pt x="116913" y="75"/>
                      <a:pt x="113235" y="5591"/>
                    </a:cubicBezTo>
                    <a:cubicBezTo>
                      <a:pt x="109558" y="11107"/>
                      <a:pt x="111396" y="18463"/>
                      <a:pt x="116913" y="22140"/>
                    </a:cubicBezTo>
                    <a:lnTo>
                      <a:pt x="120591" y="23979"/>
                    </a:lnTo>
                    <a:cubicBezTo>
                      <a:pt x="26812" y="57078"/>
                      <a:pt x="-22836" y="161889"/>
                      <a:pt x="10262" y="255668"/>
                    </a:cubicBezTo>
                    <a:lnTo>
                      <a:pt x="10262" y="257507"/>
                    </a:lnTo>
                    <a:cubicBezTo>
                      <a:pt x="12101" y="263023"/>
                      <a:pt x="19456" y="266701"/>
                      <a:pt x="26812" y="264862"/>
                    </a:cubicBezTo>
                    <a:cubicBezTo>
                      <a:pt x="32328" y="263023"/>
                      <a:pt x="36006" y="255668"/>
                      <a:pt x="34167" y="248313"/>
                    </a:cubicBezTo>
                    <a:cubicBezTo>
                      <a:pt x="23134" y="222570"/>
                      <a:pt x="21295" y="193149"/>
                      <a:pt x="26812" y="167406"/>
                    </a:cubicBezTo>
                    <a:close/>
                    <a:moveTo>
                      <a:pt x="317343" y="301638"/>
                    </a:moveTo>
                    <a:cubicBezTo>
                      <a:pt x="313665" y="297961"/>
                      <a:pt x="304471" y="297961"/>
                      <a:pt x="300793" y="303477"/>
                    </a:cubicBezTo>
                    <a:cubicBezTo>
                      <a:pt x="245629" y="369674"/>
                      <a:pt x="148173" y="378868"/>
                      <a:pt x="80137" y="323704"/>
                    </a:cubicBezTo>
                    <a:lnTo>
                      <a:pt x="83814" y="323704"/>
                    </a:lnTo>
                    <a:cubicBezTo>
                      <a:pt x="91170" y="323704"/>
                      <a:pt x="96686" y="318187"/>
                      <a:pt x="96686" y="310833"/>
                    </a:cubicBezTo>
                    <a:cubicBezTo>
                      <a:pt x="96686" y="303477"/>
                      <a:pt x="91170" y="297961"/>
                      <a:pt x="83814" y="297961"/>
                    </a:cubicBezTo>
                    <a:lnTo>
                      <a:pt x="52555" y="297961"/>
                    </a:lnTo>
                    <a:cubicBezTo>
                      <a:pt x="45199" y="297961"/>
                      <a:pt x="39683" y="301638"/>
                      <a:pt x="39683" y="308994"/>
                    </a:cubicBezTo>
                    <a:lnTo>
                      <a:pt x="39683" y="345770"/>
                    </a:lnTo>
                    <a:cubicBezTo>
                      <a:pt x="39683" y="353125"/>
                      <a:pt x="45199" y="358641"/>
                      <a:pt x="52555" y="358641"/>
                    </a:cubicBezTo>
                    <a:cubicBezTo>
                      <a:pt x="59910" y="358641"/>
                      <a:pt x="65427" y="353125"/>
                      <a:pt x="65427" y="345770"/>
                    </a:cubicBezTo>
                    <a:lnTo>
                      <a:pt x="65427" y="342092"/>
                    </a:lnTo>
                    <a:cubicBezTo>
                      <a:pt x="142656" y="406450"/>
                      <a:pt x="256662" y="397256"/>
                      <a:pt x="321020" y="320026"/>
                    </a:cubicBezTo>
                    <a:cubicBezTo>
                      <a:pt x="324698" y="314510"/>
                      <a:pt x="322859" y="307155"/>
                      <a:pt x="317343" y="301638"/>
                    </a:cubicBezTo>
                    <a:close/>
                    <a:moveTo>
                      <a:pt x="383540" y="229925"/>
                    </a:moveTo>
                    <a:cubicBezTo>
                      <a:pt x="379862" y="224408"/>
                      <a:pt x="372507" y="222570"/>
                      <a:pt x="366990" y="226247"/>
                    </a:cubicBezTo>
                    <a:lnTo>
                      <a:pt x="363313" y="228086"/>
                    </a:lnTo>
                    <a:lnTo>
                      <a:pt x="363313" y="226247"/>
                    </a:lnTo>
                    <a:cubicBezTo>
                      <a:pt x="379862" y="126952"/>
                      <a:pt x="315504" y="33173"/>
                      <a:pt x="216208" y="16624"/>
                    </a:cubicBezTo>
                    <a:cubicBezTo>
                      <a:pt x="208853" y="14785"/>
                      <a:pt x="203337" y="20301"/>
                      <a:pt x="201498" y="25818"/>
                    </a:cubicBezTo>
                    <a:cubicBezTo>
                      <a:pt x="199659" y="31334"/>
                      <a:pt x="205175" y="38689"/>
                      <a:pt x="210692" y="40528"/>
                    </a:cubicBezTo>
                    <a:cubicBezTo>
                      <a:pt x="295277" y="55239"/>
                      <a:pt x="352280" y="136146"/>
                      <a:pt x="337569" y="222570"/>
                    </a:cubicBezTo>
                    <a:lnTo>
                      <a:pt x="335731" y="218892"/>
                    </a:lnTo>
                    <a:cubicBezTo>
                      <a:pt x="332053" y="213376"/>
                      <a:pt x="324698" y="211537"/>
                      <a:pt x="319182" y="215215"/>
                    </a:cubicBezTo>
                    <a:cubicBezTo>
                      <a:pt x="313665" y="218892"/>
                      <a:pt x="311826" y="226247"/>
                      <a:pt x="315504" y="231764"/>
                    </a:cubicBezTo>
                    <a:lnTo>
                      <a:pt x="332053" y="261185"/>
                    </a:lnTo>
                    <a:cubicBezTo>
                      <a:pt x="335731" y="266701"/>
                      <a:pt x="343086" y="268540"/>
                      <a:pt x="348602" y="264862"/>
                    </a:cubicBezTo>
                    <a:lnTo>
                      <a:pt x="378023" y="248313"/>
                    </a:lnTo>
                    <a:cubicBezTo>
                      <a:pt x="385378" y="244636"/>
                      <a:pt x="387217" y="237280"/>
                      <a:pt x="383540" y="229925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</p:grpSp>
      </p:grpSp>
      <p:grpSp>
        <p:nvGrpSpPr>
          <p:cNvPr id="247" name="组合 246"/>
          <p:cNvGrpSpPr/>
          <p:nvPr/>
        </p:nvGrpSpPr>
        <p:grpSpPr>
          <a:xfrm>
            <a:off x="7338695" y="4613910"/>
            <a:ext cx="2313940" cy="1654810"/>
            <a:chOff x="11571" y="7266"/>
            <a:chExt cx="3644" cy="2606"/>
          </a:xfrm>
        </p:grpSpPr>
        <p:sp>
          <p:nvSpPr>
            <p:cNvPr id="248" name="文本框 247"/>
            <p:cNvSpPr txBox="1"/>
            <p:nvPr/>
          </p:nvSpPr>
          <p:spPr>
            <a:xfrm>
              <a:off x="12045" y="7440"/>
              <a:ext cx="3171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>
                <a:defRPr sz="2400"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latin typeface="Roboto Bold"/>
                  <a:ea typeface="思源黑体 CN Bold" panose="020B0800000000000000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78FA">
                          <a:lumMod val="60000"/>
                          <a:lumOff val="40000"/>
                        </a:srgbClr>
                      </a:gs>
                      <a:gs pos="50000">
                        <a:srgbClr val="1D78FA"/>
                      </a:gs>
                      <a:gs pos="100000">
                        <a:srgbClr val="1D78FA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一事一群统一作战空间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1D78FA">
                        <a:lumMod val="60000"/>
                        <a:lumOff val="40000"/>
                      </a:srgbClr>
                    </a:gs>
                    <a:gs pos="50000">
                      <a:srgbClr val="1D78FA"/>
                    </a:gs>
                    <a:gs pos="100000">
                      <a:srgbClr val="1D78FA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49" name="组合 248"/>
            <p:cNvGrpSpPr/>
            <p:nvPr/>
          </p:nvGrpSpPr>
          <p:grpSpPr>
            <a:xfrm>
              <a:off x="11571" y="7266"/>
              <a:ext cx="3571" cy="2607"/>
              <a:chOff x="11574" y="7266"/>
              <a:chExt cx="3467" cy="2607"/>
            </a:xfrm>
          </p:grpSpPr>
          <p:sp>
            <p:nvSpPr>
              <p:cNvPr id="250" name="矩形: 圆角 30"/>
              <p:cNvSpPr/>
              <p:nvPr/>
            </p:nvSpPr>
            <p:spPr>
              <a:xfrm>
                <a:off x="11576" y="7266"/>
                <a:ext cx="3444" cy="2607"/>
              </a:xfrm>
              <a:prstGeom prst="roundRect">
                <a:avLst>
                  <a:gd name="adj" fmla="val 3204"/>
                </a:avLst>
              </a:prstGeom>
              <a:noFill/>
              <a:ln w="12700" cap="rnd" cmpd="sng" algn="ctr">
                <a:solidFill>
                  <a:sysClr val="window" lastClr="FFFFFF">
                    <a:lumMod val="50000"/>
                  </a:sysClr>
                </a:solidFill>
                <a:prstDash val="dash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37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11574" y="7982"/>
                <a:ext cx="3467" cy="1891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17145" marR="0" lvl="0" indent="0" algn="just" defTabSz="914400" eaLnBrk="1" fontAlgn="auto" latinLnBrk="0" hangingPunct="1">
                  <a:lnSpc>
                    <a:spcPct val="13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cs typeface="微软雅黑" panose="020B0503020204020204" charset="-122"/>
                    <a:sym typeface="+mn-lt"/>
                  </a:rPr>
                  <a:t>告别人工群组，执行进度实时回传至管理者视图，第三方执行标准化，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cs typeface="微软雅黑" panose="020B0503020204020204" charset="-122"/>
                    <a:sym typeface="+mn-lt"/>
                  </a:rPr>
                  <a:t>GIS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cs typeface="微软雅黑" panose="020B0503020204020204" charset="-122"/>
                    <a:sym typeface="+mn-lt"/>
                  </a:rPr>
                  <a:t>可视化追踪，次生问题实时预警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252" name="图形 65"/>
              <p:cNvSpPr/>
              <p:nvPr/>
            </p:nvSpPr>
            <p:spPr>
              <a:xfrm>
                <a:off x="11642" y="7445"/>
                <a:ext cx="579" cy="492"/>
              </a:xfrm>
              <a:custGeom>
                <a:avLst/>
                <a:gdLst>
                  <a:gd name="connsiteX0" fmla="*/ 302428 w 367760"/>
                  <a:gd name="connsiteY0" fmla="*/ 142232 h 312155"/>
                  <a:gd name="connsiteX1" fmla="*/ 281466 w 367760"/>
                  <a:gd name="connsiteY1" fmla="*/ 139565 h 312155"/>
                  <a:gd name="connsiteX2" fmla="*/ 195171 w 367760"/>
                  <a:gd name="connsiteY2" fmla="*/ 225860 h 312155"/>
                  <a:gd name="connsiteX3" fmla="*/ 281466 w 367760"/>
                  <a:gd name="connsiteY3" fmla="*/ 312156 h 312155"/>
                  <a:gd name="connsiteX4" fmla="*/ 302428 w 367760"/>
                  <a:gd name="connsiteY4" fmla="*/ 309489 h 312155"/>
                  <a:gd name="connsiteX5" fmla="*/ 367761 w 367760"/>
                  <a:gd name="connsiteY5" fmla="*/ 225860 h 312155"/>
                  <a:gd name="connsiteX6" fmla="*/ 302428 w 367760"/>
                  <a:gd name="connsiteY6" fmla="*/ 142232 h 312155"/>
                  <a:gd name="connsiteX7" fmla="*/ 330746 w 367760"/>
                  <a:gd name="connsiteY7" fmla="*/ 234080 h 312155"/>
                  <a:gd name="connsiteX8" fmla="*/ 321772 w 367760"/>
                  <a:gd name="connsiteY8" fmla="*/ 234080 h 312155"/>
                  <a:gd name="connsiteX9" fmla="*/ 289685 w 367760"/>
                  <a:gd name="connsiteY9" fmla="*/ 266167 h 312155"/>
                  <a:gd name="connsiteX10" fmla="*/ 289685 w 367760"/>
                  <a:gd name="connsiteY10" fmla="*/ 275141 h 312155"/>
                  <a:gd name="connsiteX11" fmla="*/ 285566 w 367760"/>
                  <a:gd name="connsiteY11" fmla="*/ 282238 h 312155"/>
                  <a:gd name="connsiteX12" fmla="*/ 274329 w 367760"/>
                  <a:gd name="connsiteY12" fmla="*/ 279165 h 312155"/>
                  <a:gd name="connsiteX13" fmla="*/ 273246 w 367760"/>
                  <a:gd name="connsiteY13" fmla="*/ 275122 h 312155"/>
                  <a:gd name="connsiteX14" fmla="*/ 273246 w 367760"/>
                  <a:gd name="connsiteY14" fmla="*/ 266167 h 312155"/>
                  <a:gd name="connsiteX15" fmla="*/ 241141 w 367760"/>
                  <a:gd name="connsiteY15" fmla="*/ 234080 h 312155"/>
                  <a:gd name="connsiteX16" fmla="*/ 232186 w 367760"/>
                  <a:gd name="connsiteY16" fmla="*/ 234080 h 312155"/>
                  <a:gd name="connsiteX17" fmla="*/ 223966 w 367760"/>
                  <a:gd name="connsiteY17" fmla="*/ 225860 h 312155"/>
                  <a:gd name="connsiteX18" fmla="*/ 232186 w 367760"/>
                  <a:gd name="connsiteY18" fmla="*/ 217641 h 312155"/>
                  <a:gd name="connsiteX19" fmla="*/ 241141 w 367760"/>
                  <a:gd name="connsiteY19" fmla="*/ 217641 h 312155"/>
                  <a:gd name="connsiteX20" fmla="*/ 273246 w 367760"/>
                  <a:gd name="connsiteY20" fmla="*/ 185536 h 312155"/>
                  <a:gd name="connsiteX21" fmla="*/ 273246 w 367760"/>
                  <a:gd name="connsiteY21" fmla="*/ 176580 h 312155"/>
                  <a:gd name="connsiteX22" fmla="*/ 277347 w 367760"/>
                  <a:gd name="connsiteY22" fmla="*/ 169483 h 312155"/>
                  <a:gd name="connsiteX23" fmla="*/ 288571 w 367760"/>
                  <a:gd name="connsiteY23" fmla="*/ 172506 h 312155"/>
                  <a:gd name="connsiteX24" fmla="*/ 289667 w 367760"/>
                  <a:gd name="connsiteY24" fmla="*/ 176599 h 312155"/>
                  <a:gd name="connsiteX25" fmla="*/ 289667 w 367760"/>
                  <a:gd name="connsiteY25" fmla="*/ 185536 h 312155"/>
                  <a:gd name="connsiteX26" fmla="*/ 321772 w 367760"/>
                  <a:gd name="connsiteY26" fmla="*/ 217641 h 312155"/>
                  <a:gd name="connsiteX27" fmla="*/ 330727 w 367760"/>
                  <a:gd name="connsiteY27" fmla="*/ 217641 h 312155"/>
                  <a:gd name="connsiteX28" fmla="*/ 338947 w 367760"/>
                  <a:gd name="connsiteY28" fmla="*/ 225860 h 312155"/>
                  <a:gd name="connsiteX29" fmla="*/ 330727 w 367760"/>
                  <a:gd name="connsiteY29" fmla="*/ 234080 h 312155"/>
                  <a:gd name="connsiteX30" fmla="*/ 281466 w 367760"/>
                  <a:gd name="connsiteY30" fmla="*/ 201166 h 312155"/>
                  <a:gd name="connsiteX31" fmla="*/ 256771 w 367760"/>
                  <a:gd name="connsiteY31" fmla="*/ 225860 h 312155"/>
                  <a:gd name="connsiteX32" fmla="*/ 281466 w 367760"/>
                  <a:gd name="connsiteY32" fmla="*/ 250555 h 312155"/>
                  <a:gd name="connsiteX33" fmla="*/ 306161 w 367760"/>
                  <a:gd name="connsiteY33" fmla="*/ 225860 h 312155"/>
                  <a:gd name="connsiteX34" fmla="*/ 281466 w 367760"/>
                  <a:gd name="connsiteY34" fmla="*/ 201166 h 312155"/>
                  <a:gd name="connsiteX35" fmla="*/ 282661 w 367760"/>
                  <a:gd name="connsiteY35" fmla="*/ 112517 h 312155"/>
                  <a:gd name="connsiteX36" fmla="*/ 338928 w 367760"/>
                  <a:gd name="connsiteY36" fmla="*/ 127558 h 312155"/>
                  <a:gd name="connsiteX37" fmla="*/ 338928 w 367760"/>
                  <a:gd name="connsiteY37" fmla="*/ 28152 h 312155"/>
                  <a:gd name="connsiteX38" fmla="*/ 310648 w 367760"/>
                  <a:gd name="connsiteY38" fmla="*/ 0 h 312155"/>
                  <a:gd name="connsiteX39" fmla="*/ 28262 w 367760"/>
                  <a:gd name="connsiteY39" fmla="*/ 0 h 312155"/>
                  <a:gd name="connsiteX40" fmla="*/ 0 w 367760"/>
                  <a:gd name="connsiteY40" fmla="*/ 28134 h 312155"/>
                  <a:gd name="connsiteX41" fmla="*/ 0 w 367760"/>
                  <a:gd name="connsiteY41" fmla="*/ 254344 h 312155"/>
                  <a:gd name="connsiteX42" fmla="*/ 28281 w 367760"/>
                  <a:gd name="connsiteY42" fmla="*/ 282477 h 312155"/>
                  <a:gd name="connsiteX43" fmla="*/ 184395 w 367760"/>
                  <a:gd name="connsiteY43" fmla="*/ 282477 h 312155"/>
                  <a:gd name="connsiteX44" fmla="*/ 226120 w 367760"/>
                  <a:gd name="connsiteY44" fmla="*/ 127630 h 312155"/>
                  <a:gd name="connsiteX45" fmla="*/ 282661 w 367760"/>
                  <a:gd name="connsiteY45" fmla="*/ 112517 h 312155"/>
                  <a:gd name="connsiteX46" fmla="*/ 70610 w 367760"/>
                  <a:gd name="connsiteY46" fmla="*/ 84751 h 312155"/>
                  <a:gd name="connsiteX47" fmla="*/ 183568 w 367760"/>
                  <a:gd name="connsiteY47" fmla="*/ 84751 h 312155"/>
                  <a:gd name="connsiteX48" fmla="*/ 198209 w 367760"/>
                  <a:gd name="connsiteY48" fmla="*/ 98372 h 312155"/>
                  <a:gd name="connsiteX49" fmla="*/ 184588 w 367760"/>
                  <a:gd name="connsiteY49" fmla="*/ 113013 h 312155"/>
                  <a:gd name="connsiteX50" fmla="*/ 183568 w 367760"/>
                  <a:gd name="connsiteY50" fmla="*/ 113013 h 312155"/>
                  <a:gd name="connsiteX51" fmla="*/ 70610 w 367760"/>
                  <a:gd name="connsiteY51" fmla="*/ 113013 h 312155"/>
                  <a:gd name="connsiteX52" fmla="*/ 56470 w 367760"/>
                  <a:gd name="connsiteY52" fmla="*/ 98873 h 312155"/>
                  <a:gd name="connsiteX53" fmla="*/ 70610 w 367760"/>
                  <a:gd name="connsiteY53" fmla="*/ 84732 h 312155"/>
                  <a:gd name="connsiteX54" fmla="*/ 127061 w 367760"/>
                  <a:gd name="connsiteY54" fmla="*/ 225971 h 312155"/>
                  <a:gd name="connsiteX55" fmla="*/ 70610 w 367760"/>
                  <a:gd name="connsiteY55" fmla="*/ 225971 h 312155"/>
                  <a:gd name="connsiteX56" fmla="*/ 55969 w 367760"/>
                  <a:gd name="connsiteY56" fmla="*/ 212350 h 312155"/>
                  <a:gd name="connsiteX57" fmla="*/ 69590 w 367760"/>
                  <a:gd name="connsiteY57" fmla="*/ 197708 h 312155"/>
                  <a:gd name="connsiteX58" fmla="*/ 70610 w 367760"/>
                  <a:gd name="connsiteY58" fmla="*/ 197708 h 312155"/>
                  <a:gd name="connsiteX59" fmla="*/ 127098 w 367760"/>
                  <a:gd name="connsiteY59" fmla="*/ 197708 h 312155"/>
                  <a:gd name="connsiteX60" fmla="*/ 141220 w 367760"/>
                  <a:gd name="connsiteY60" fmla="*/ 211867 h 312155"/>
                  <a:gd name="connsiteX61" fmla="*/ 127061 w 367760"/>
                  <a:gd name="connsiteY61" fmla="*/ 225989 h 312155"/>
                  <a:gd name="connsiteX62" fmla="*/ 127061 w 367760"/>
                  <a:gd name="connsiteY62" fmla="*/ 169483 h 312155"/>
                  <a:gd name="connsiteX63" fmla="*/ 70610 w 367760"/>
                  <a:gd name="connsiteY63" fmla="*/ 169483 h 312155"/>
                  <a:gd name="connsiteX64" fmla="*/ 56467 w 367760"/>
                  <a:gd name="connsiteY64" fmla="*/ 155345 h 312155"/>
                  <a:gd name="connsiteX65" fmla="*/ 70605 w 367760"/>
                  <a:gd name="connsiteY65" fmla="*/ 141202 h 312155"/>
                  <a:gd name="connsiteX66" fmla="*/ 70610 w 367760"/>
                  <a:gd name="connsiteY66" fmla="*/ 141202 h 312155"/>
                  <a:gd name="connsiteX67" fmla="*/ 127098 w 367760"/>
                  <a:gd name="connsiteY67" fmla="*/ 141202 h 312155"/>
                  <a:gd name="connsiteX68" fmla="*/ 141220 w 367760"/>
                  <a:gd name="connsiteY68" fmla="*/ 155361 h 312155"/>
                  <a:gd name="connsiteX69" fmla="*/ 127061 w 367760"/>
                  <a:gd name="connsiteY69" fmla="*/ 169483 h 312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67760" h="312155">
                    <a:moveTo>
                      <a:pt x="302428" y="142232"/>
                    </a:moveTo>
                    <a:cubicBezTo>
                      <a:pt x="295577" y="140481"/>
                      <a:pt x="288537" y="139586"/>
                      <a:pt x="281466" y="139565"/>
                    </a:cubicBezTo>
                    <a:cubicBezTo>
                      <a:pt x="233823" y="139606"/>
                      <a:pt x="195211" y="178218"/>
                      <a:pt x="195171" y="225860"/>
                    </a:cubicBezTo>
                    <a:cubicBezTo>
                      <a:pt x="195221" y="273499"/>
                      <a:pt x="233827" y="312105"/>
                      <a:pt x="281466" y="312156"/>
                    </a:cubicBezTo>
                    <a:cubicBezTo>
                      <a:pt x="288692" y="312156"/>
                      <a:pt x="295680" y="311126"/>
                      <a:pt x="302428" y="309489"/>
                    </a:cubicBezTo>
                    <a:cubicBezTo>
                      <a:pt x="340780" y="299852"/>
                      <a:pt x="367691" y="265404"/>
                      <a:pt x="367761" y="225860"/>
                    </a:cubicBezTo>
                    <a:cubicBezTo>
                      <a:pt x="367697" y="186315"/>
                      <a:pt x="340783" y="151863"/>
                      <a:pt x="302428" y="142232"/>
                    </a:cubicBezTo>
                    <a:close/>
                    <a:moveTo>
                      <a:pt x="330746" y="234080"/>
                    </a:moveTo>
                    <a:lnTo>
                      <a:pt x="321772" y="234080"/>
                    </a:lnTo>
                    <a:cubicBezTo>
                      <a:pt x="318455" y="250230"/>
                      <a:pt x="305835" y="262850"/>
                      <a:pt x="289685" y="266167"/>
                    </a:cubicBezTo>
                    <a:lnTo>
                      <a:pt x="289685" y="275141"/>
                    </a:lnTo>
                    <a:cubicBezTo>
                      <a:pt x="289685" y="278082"/>
                      <a:pt x="288122" y="280804"/>
                      <a:pt x="285566" y="282238"/>
                    </a:cubicBezTo>
                    <a:cubicBezTo>
                      <a:pt x="281614" y="284493"/>
                      <a:pt x="276583" y="283117"/>
                      <a:pt x="274329" y="279165"/>
                    </a:cubicBezTo>
                    <a:cubicBezTo>
                      <a:pt x="273626" y="277933"/>
                      <a:pt x="273253" y="276540"/>
                      <a:pt x="273246" y="275122"/>
                    </a:cubicBezTo>
                    <a:lnTo>
                      <a:pt x="273246" y="266167"/>
                    </a:lnTo>
                    <a:cubicBezTo>
                      <a:pt x="257090" y="262856"/>
                      <a:pt x="244461" y="250235"/>
                      <a:pt x="241141" y="234080"/>
                    </a:cubicBezTo>
                    <a:lnTo>
                      <a:pt x="232186" y="234080"/>
                    </a:lnTo>
                    <a:cubicBezTo>
                      <a:pt x="227646" y="234080"/>
                      <a:pt x="223966" y="230400"/>
                      <a:pt x="223966" y="225860"/>
                    </a:cubicBezTo>
                    <a:cubicBezTo>
                      <a:pt x="223966" y="221321"/>
                      <a:pt x="227646" y="217641"/>
                      <a:pt x="232186" y="217641"/>
                    </a:cubicBezTo>
                    <a:lnTo>
                      <a:pt x="241141" y="217641"/>
                    </a:lnTo>
                    <a:cubicBezTo>
                      <a:pt x="244468" y="201487"/>
                      <a:pt x="257092" y="188863"/>
                      <a:pt x="273246" y="185536"/>
                    </a:cubicBezTo>
                    <a:lnTo>
                      <a:pt x="273246" y="176580"/>
                    </a:lnTo>
                    <a:cubicBezTo>
                      <a:pt x="273246" y="173639"/>
                      <a:pt x="274809" y="170917"/>
                      <a:pt x="277347" y="169483"/>
                    </a:cubicBezTo>
                    <a:cubicBezTo>
                      <a:pt x="281281" y="167218"/>
                      <a:pt x="286306" y="168572"/>
                      <a:pt x="288571" y="172506"/>
                    </a:cubicBezTo>
                    <a:cubicBezTo>
                      <a:pt x="289288" y="173751"/>
                      <a:pt x="289665" y="175162"/>
                      <a:pt x="289667" y="176599"/>
                    </a:cubicBezTo>
                    <a:lnTo>
                      <a:pt x="289667" y="185536"/>
                    </a:lnTo>
                    <a:cubicBezTo>
                      <a:pt x="305828" y="188849"/>
                      <a:pt x="318459" y="201479"/>
                      <a:pt x="321772" y="217641"/>
                    </a:cubicBezTo>
                    <a:lnTo>
                      <a:pt x="330727" y="217641"/>
                    </a:lnTo>
                    <a:cubicBezTo>
                      <a:pt x="335267" y="217641"/>
                      <a:pt x="338947" y="221321"/>
                      <a:pt x="338947" y="225860"/>
                    </a:cubicBezTo>
                    <a:cubicBezTo>
                      <a:pt x="338947" y="230400"/>
                      <a:pt x="335267" y="234080"/>
                      <a:pt x="330727" y="234080"/>
                    </a:cubicBezTo>
                    <a:close/>
                    <a:moveTo>
                      <a:pt x="281466" y="201166"/>
                    </a:moveTo>
                    <a:cubicBezTo>
                      <a:pt x="267827" y="201166"/>
                      <a:pt x="256771" y="212222"/>
                      <a:pt x="256771" y="225860"/>
                    </a:cubicBezTo>
                    <a:cubicBezTo>
                      <a:pt x="256771" y="239499"/>
                      <a:pt x="267827" y="250555"/>
                      <a:pt x="281466" y="250555"/>
                    </a:cubicBezTo>
                    <a:cubicBezTo>
                      <a:pt x="295105" y="250555"/>
                      <a:pt x="306161" y="239499"/>
                      <a:pt x="306161" y="225860"/>
                    </a:cubicBezTo>
                    <a:cubicBezTo>
                      <a:pt x="306161" y="212222"/>
                      <a:pt x="295105" y="201166"/>
                      <a:pt x="281466" y="201166"/>
                    </a:cubicBezTo>
                    <a:close/>
                    <a:moveTo>
                      <a:pt x="282661" y="112517"/>
                    </a:moveTo>
                    <a:cubicBezTo>
                      <a:pt x="303164" y="112517"/>
                      <a:pt x="322361" y="118033"/>
                      <a:pt x="338928" y="127558"/>
                    </a:cubicBezTo>
                    <a:lnTo>
                      <a:pt x="338928" y="28152"/>
                    </a:lnTo>
                    <a:cubicBezTo>
                      <a:pt x="338878" y="12575"/>
                      <a:pt x="326225" y="-20"/>
                      <a:pt x="310648" y="0"/>
                    </a:cubicBezTo>
                    <a:lnTo>
                      <a:pt x="28262" y="0"/>
                    </a:lnTo>
                    <a:cubicBezTo>
                      <a:pt x="12695" y="-20"/>
                      <a:pt x="51" y="12567"/>
                      <a:pt x="0" y="28134"/>
                    </a:cubicBezTo>
                    <a:lnTo>
                      <a:pt x="0" y="254344"/>
                    </a:lnTo>
                    <a:cubicBezTo>
                      <a:pt x="37" y="269918"/>
                      <a:pt x="12688" y="282533"/>
                      <a:pt x="28281" y="282477"/>
                    </a:cubicBezTo>
                    <a:lnTo>
                      <a:pt x="184395" y="282477"/>
                    </a:lnTo>
                    <a:cubicBezTo>
                      <a:pt x="153157" y="228195"/>
                      <a:pt x="171838" y="158868"/>
                      <a:pt x="226120" y="127630"/>
                    </a:cubicBezTo>
                    <a:cubicBezTo>
                      <a:pt x="243320" y="117731"/>
                      <a:pt x="262816" y="112520"/>
                      <a:pt x="282661" y="112517"/>
                    </a:cubicBezTo>
                    <a:close/>
                    <a:moveTo>
                      <a:pt x="70610" y="84751"/>
                    </a:moveTo>
                    <a:lnTo>
                      <a:pt x="183568" y="84751"/>
                    </a:lnTo>
                    <a:cubicBezTo>
                      <a:pt x="191372" y="84469"/>
                      <a:pt x="197927" y="90567"/>
                      <a:pt x="198209" y="98372"/>
                    </a:cubicBezTo>
                    <a:cubicBezTo>
                      <a:pt x="198490" y="106176"/>
                      <a:pt x="192392" y="112731"/>
                      <a:pt x="184588" y="113013"/>
                    </a:cubicBezTo>
                    <a:cubicBezTo>
                      <a:pt x="184248" y="113025"/>
                      <a:pt x="183908" y="113025"/>
                      <a:pt x="183568" y="113013"/>
                    </a:cubicBezTo>
                    <a:lnTo>
                      <a:pt x="70610" y="113013"/>
                    </a:lnTo>
                    <a:cubicBezTo>
                      <a:pt x="62801" y="113013"/>
                      <a:pt x="56470" y="106682"/>
                      <a:pt x="56470" y="98873"/>
                    </a:cubicBezTo>
                    <a:cubicBezTo>
                      <a:pt x="56470" y="91063"/>
                      <a:pt x="62801" y="84732"/>
                      <a:pt x="70610" y="84732"/>
                    </a:cubicBezTo>
                    <a:close/>
                    <a:moveTo>
                      <a:pt x="127061" y="225971"/>
                    </a:moveTo>
                    <a:lnTo>
                      <a:pt x="70610" y="225971"/>
                    </a:lnTo>
                    <a:cubicBezTo>
                      <a:pt x="62806" y="226252"/>
                      <a:pt x="56250" y="220154"/>
                      <a:pt x="55969" y="212350"/>
                    </a:cubicBezTo>
                    <a:cubicBezTo>
                      <a:pt x="55688" y="204545"/>
                      <a:pt x="61786" y="197990"/>
                      <a:pt x="69590" y="197708"/>
                    </a:cubicBezTo>
                    <a:cubicBezTo>
                      <a:pt x="69930" y="197696"/>
                      <a:pt x="70270" y="197696"/>
                      <a:pt x="70610" y="197708"/>
                    </a:cubicBezTo>
                    <a:lnTo>
                      <a:pt x="127098" y="197708"/>
                    </a:lnTo>
                    <a:cubicBezTo>
                      <a:pt x="134908" y="197719"/>
                      <a:pt x="141230" y="204058"/>
                      <a:pt x="141220" y="211867"/>
                    </a:cubicBezTo>
                    <a:cubicBezTo>
                      <a:pt x="141210" y="219677"/>
                      <a:pt x="134871" y="225999"/>
                      <a:pt x="127061" y="225989"/>
                    </a:cubicBezTo>
                    <a:close/>
                    <a:moveTo>
                      <a:pt x="127061" y="169483"/>
                    </a:moveTo>
                    <a:lnTo>
                      <a:pt x="70610" y="169483"/>
                    </a:lnTo>
                    <a:cubicBezTo>
                      <a:pt x="62801" y="169484"/>
                      <a:pt x="56469" y="163154"/>
                      <a:pt x="56467" y="155345"/>
                    </a:cubicBezTo>
                    <a:cubicBezTo>
                      <a:pt x="56466" y="147535"/>
                      <a:pt x="62796" y="141203"/>
                      <a:pt x="70605" y="141202"/>
                    </a:cubicBezTo>
                    <a:cubicBezTo>
                      <a:pt x="70607" y="141202"/>
                      <a:pt x="70609" y="141202"/>
                      <a:pt x="70610" y="141202"/>
                    </a:cubicBezTo>
                    <a:lnTo>
                      <a:pt x="127098" y="141202"/>
                    </a:lnTo>
                    <a:cubicBezTo>
                      <a:pt x="134908" y="141212"/>
                      <a:pt x="141230" y="147551"/>
                      <a:pt x="141220" y="155361"/>
                    </a:cubicBezTo>
                    <a:cubicBezTo>
                      <a:pt x="141210" y="163170"/>
                      <a:pt x="134871" y="169493"/>
                      <a:pt x="127061" y="169483"/>
                    </a:cubicBezTo>
                    <a:close/>
                  </a:path>
                </a:pathLst>
              </a:custGeom>
              <a:gradFill flip="none" rotWithShape="1">
                <a:gsLst>
                  <a:gs pos="19000">
                    <a:srgbClr val="00B0F0"/>
                  </a:gs>
                  <a:gs pos="66000">
                    <a:srgbClr val="4176F1"/>
                  </a:gs>
                  <a:gs pos="100000">
                    <a:srgbClr val="3161E7"/>
                  </a:gs>
                </a:gsLst>
                <a:lin ang="2700000" scaled="1"/>
                <a:tileRect/>
              </a:gradFill>
              <a:ln w="57150" cap="rnd" cmpd="sng" algn="ctr">
                <a:noFill/>
                <a:prstDash val="solid"/>
                <a:round/>
              </a:ln>
              <a:effectLst>
                <a:outerShdw blurRad="63500" algn="ctr" rotWithShape="0">
                  <a:srgbClr val="467CF3">
                    <a:alpha val="4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任务调度中枢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建设架构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0345" y="901700"/>
            <a:ext cx="1170051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指挥调度智能体不是替代工单系统，而是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构建一个有态势感知、有集中指挥、有多角色协同、有智能调度执行、有效果复盘的网络优化作战空间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。整体架构以”指挥调度中心”统领全局，通过两层能力支撑端到端作战，驱动感知→认知→决策→执行→评估五段智能闭环，将分散的人、工具和数据融为一体。</a:t>
            </a:r>
            <a:endParaRPr lang="zh-CN" altLang="en-US" sz="16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41070" y="2310765"/>
            <a:ext cx="10008870" cy="4427839"/>
            <a:chOff x="1482" y="2712"/>
            <a:chExt cx="15762" cy="7900"/>
          </a:xfrm>
        </p:grpSpPr>
        <p:sp>
          <p:nvSpPr>
            <p:cNvPr id="6" name="任意多边形: 形状 1"/>
            <p:cNvSpPr/>
            <p:nvPr/>
          </p:nvSpPr>
          <p:spPr>
            <a:xfrm rot="5400000">
              <a:off x="6348" y="3535"/>
              <a:ext cx="6160" cy="7642"/>
            </a:xfrm>
            <a:custGeom>
              <a:avLst/>
              <a:gdLst>
                <a:gd name="connsiteX0" fmla="*/ 0 w 4061400"/>
                <a:gd name="connsiteY0" fmla="*/ 4563004 h 4563004"/>
                <a:gd name="connsiteX1" fmla="*/ 9038 w 4061400"/>
                <a:gd name="connsiteY1" fmla="*/ 2281502 h 4563004"/>
                <a:gd name="connsiteX2" fmla="*/ 0 w 4061400"/>
                <a:gd name="connsiteY2" fmla="*/ 0 h 4563004"/>
                <a:gd name="connsiteX3" fmla="*/ 3511000 w 4061400"/>
                <a:gd name="connsiteY3" fmla="*/ 1731102 h 4563004"/>
                <a:gd name="connsiteX4" fmla="*/ 4061400 w 4061400"/>
                <a:gd name="connsiteY4" fmla="*/ 2281502 h 4563004"/>
                <a:gd name="connsiteX5" fmla="*/ 3511000 w 4061400"/>
                <a:gd name="connsiteY5" fmla="*/ 2831902 h 4563004"/>
                <a:gd name="connsiteX6" fmla="*/ 0 w 4061400"/>
                <a:gd name="connsiteY6" fmla="*/ 4563004 h 456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61400" h="4563004">
                  <a:moveTo>
                    <a:pt x="0" y="4563004"/>
                  </a:moveTo>
                  <a:lnTo>
                    <a:pt x="9038" y="2281502"/>
                  </a:lnTo>
                  <a:lnTo>
                    <a:pt x="0" y="0"/>
                  </a:lnTo>
                  <a:cubicBezTo>
                    <a:pt x="1136054" y="1845364"/>
                    <a:pt x="2196238" y="1686652"/>
                    <a:pt x="3511000" y="1731102"/>
                  </a:cubicBezTo>
                  <a:lnTo>
                    <a:pt x="4061400" y="2281502"/>
                  </a:lnTo>
                  <a:lnTo>
                    <a:pt x="3511000" y="2831902"/>
                  </a:lnTo>
                  <a:cubicBezTo>
                    <a:pt x="2196238" y="2876352"/>
                    <a:pt x="1136054" y="2717640"/>
                    <a:pt x="0" y="456300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5EBFF">
                    <a:alpha val="0"/>
                  </a:srgbClr>
                </a:gs>
                <a:gs pos="18000">
                  <a:srgbClr val="BDDFFF">
                    <a:alpha val="53000"/>
                  </a:srgbClr>
                </a:gs>
                <a:gs pos="98000">
                  <a:srgbClr val="BDDFFF">
                    <a:alpha val="0"/>
                  </a:srgbClr>
                </a:gs>
                <a:gs pos="74000">
                  <a:srgbClr val="E9F4FF">
                    <a:alpha val="44000"/>
                  </a:srgbClr>
                </a:gs>
                <a:gs pos="57000">
                  <a:srgbClr val="CEE8FF">
                    <a:alpha val="36000"/>
                  </a:srgbClr>
                </a:gs>
                <a:gs pos="30000">
                  <a:srgbClr val="DEEFFF">
                    <a:alpha val="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7" name="矩形: 圆角 69"/>
            <p:cNvSpPr/>
            <p:nvPr/>
          </p:nvSpPr>
          <p:spPr>
            <a:xfrm>
              <a:off x="3644" y="6714"/>
              <a:ext cx="1388" cy="51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9CD2FF"/>
                </a:gs>
                <a:gs pos="97000">
                  <a:srgbClr val="0C8AFE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srgbClr val="FFFFFF"/>
              </a:innerShdw>
              <a:reflection blurRad="38100" stA="40000" endPos="35000" dir="5400000" sy="-100000" algn="bl" rotWithShape="0"/>
            </a:effectLst>
          </p:spPr>
          <p:txBody>
            <a:bodyPr vertOverflow="overflow" horzOverflow="overflow" vert="horz" wrap="non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感知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: 圆角 69"/>
            <p:cNvSpPr/>
            <p:nvPr/>
          </p:nvSpPr>
          <p:spPr>
            <a:xfrm>
              <a:off x="5314" y="7624"/>
              <a:ext cx="1540" cy="6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9CD2FF"/>
                </a:gs>
                <a:gs pos="97000">
                  <a:srgbClr val="0C8AFE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srgbClr val="FFFFFF"/>
              </a:innerShdw>
              <a:reflection blurRad="38100" stA="40000" endPos="35000" dir="5400000" sy="-100000" algn="bl" rotWithShape="0"/>
            </a:effectLst>
          </p:spPr>
          <p:txBody>
            <a:bodyPr vertOverflow="overflow" horzOverflow="overflow" vert="horz" wrap="non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分析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: 圆角 69"/>
            <p:cNvSpPr/>
            <p:nvPr/>
          </p:nvSpPr>
          <p:spPr>
            <a:xfrm>
              <a:off x="12218" y="7592"/>
              <a:ext cx="1540" cy="6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9CD2FF"/>
                </a:gs>
                <a:gs pos="97000">
                  <a:srgbClr val="0C8AFE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srgbClr val="FFFFFF"/>
              </a:innerShdw>
              <a:reflection blurRad="38100" stA="40000" endPos="35000" dir="5400000" sy="-100000" algn="bl" rotWithShape="0"/>
            </a:effectLst>
          </p:spPr>
          <p:txBody>
            <a:bodyPr vertOverflow="overflow" horzOverflow="overflow" vert="horz" wrap="non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执行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: 圆角 69"/>
            <p:cNvSpPr/>
            <p:nvPr/>
          </p:nvSpPr>
          <p:spPr>
            <a:xfrm>
              <a:off x="13917" y="6714"/>
              <a:ext cx="1388" cy="51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9CD2FF"/>
                </a:gs>
                <a:gs pos="97000">
                  <a:srgbClr val="0C8AFE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srgbClr val="FFFFFF"/>
              </a:innerShdw>
              <a:reflection blurRad="38100" stA="40000" endPos="35000" dir="5400000" sy="-100000" algn="bl" rotWithShape="0"/>
            </a:effectLst>
          </p:spPr>
          <p:txBody>
            <a:bodyPr vertOverflow="overflow" horzOverflow="overflow" vert="horz" wrap="non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评估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: 圆角 69"/>
            <p:cNvSpPr/>
            <p:nvPr/>
          </p:nvSpPr>
          <p:spPr>
            <a:xfrm>
              <a:off x="8766" y="7978"/>
              <a:ext cx="1629" cy="69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9CD2FF"/>
                </a:gs>
                <a:gs pos="97000">
                  <a:srgbClr val="0C8AFE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srgbClr val="FFFFFF"/>
              </a:innerShdw>
              <a:reflection blurRad="38100" stA="40000" endPos="35000" dir="5400000" sy="-100000" algn="bl" rotWithShape="0"/>
            </a:effectLst>
          </p:spPr>
          <p:txBody>
            <a:bodyPr vertOverflow="overflow" horzOverflow="overflow" vert="horz" wrap="non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charset="-122"/>
                  <a:cs typeface="+mn-cs"/>
                  <a:sym typeface="宋体" panose="02010600030101010101" pitchFamily="2" charset="-122"/>
                </a:rPr>
                <a:t>决策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等线" panose="02010600030101010101" charset="-122"/>
                <a:cs typeface="+mn-cs"/>
                <a:sym typeface="宋体" panose="02010600030101010101" pitchFamily="2" charset="-122"/>
              </a:endParaRPr>
            </a:p>
          </p:txBody>
        </p:sp>
        <p:pic>
          <p:nvPicPr>
            <p:cNvPr id="12" name="图片 1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148" y="5012"/>
              <a:ext cx="4300" cy="2862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482" y="7225"/>
              <a:ext cx="568" cy="54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区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796" y="7290"/>
              <a:ext cx="588" cy="574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域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160" y="7368"/>
              <a:ext cx="608" cy="60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寻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51" y="7377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优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5509" y="7390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业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5946" y="7365"/>
              <a:ext cx="608" cy="60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务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337" y="7323"/>
              <a:ext cx="588" cy="574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协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676" y="7241"/>
              <a:ext cx="568" cy="54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同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781" y="6857"/>
              <a:ext cx="1451" cy="821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10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指</a:t>
              </a:r>
              <a:r>
                <a:rPr kumimoji="0" lang="en-US" altLang="zh-CN" sz="2400" b="1" i="0" u="none" strike="noStrike" kern="0" cap="none" spc="10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 </a:t>
              </a:r>
              <a:r>
                <a:rPr kumimoji="0" lang="zh-CN" altLang="en-US" sz="2400" b="1" i="0" u="none" strike="noStrike" kern="0" cap="none" spc="10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挥</a:t>
              </a:r>
              <a:endParaRPr kumimoji="0" lang="zh-CN" altLang="en-US" sz="2400" b="1" i="0" u="none" strike="noStrike" kern="0" cap="none" spc="10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22" name="燕尾形 162"/>
            <p:cNvSpPr/>
            <p:nvPr/>
          </p:nvSpPr>
          <p:spPr>
            <a:xfrm>
              <a:off x="7760" y="8049"/>
              <a:ext cx="227" cy="227"/>
            </a:xfrm>
            <a:prstGeom prst="chevron">
              <a:avLst/>
            </a:prstGeom>
            <a:gradFill>
              <a:gsLst>
                <a:gs pos="100000">
                  <a:srgbClr val="0C8AFE"/>
                </a:gs>
                <a:gs pos="0">
                  <a:srgbClr val="91CCFF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23" name="燕尾形 165"/>
            <p:cNvSpPr/>
            <p:nvPr/>
          </p:nvSpPr>
          <p:spPr>
            <a:xfrm>
              <a:off x="4013" y="7885"/>
              <a:ext cx="227" cy="227"/>
            </a:xfrm>
            <a:prstGeom prst="chevron">
              <a:avLst/>
            </a:prstGeom>
            <a:gradFill>
              <a:gsLst>
                <a:gs pos="100000">
                  <a:srgbClr val="0C8AFE"/>
                </a:gs>
                <a:gs pos="0">
                  <a:srgbClr val="91CCFF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24" name="燕尾形 166"/>
            <p:cNvSpPr/>
            <p:nvPr/>
          </p:nvSpPr>
          <p:spPr>
            <a:xfrm>
              <a:off x="11203" y="8039"/>
              <a:ext cx="227" cy="227"/>
            </a:xfrm>
            <a:prstGeom prst="chevron">
              <a:avLst/>
            </a:prstGeom>
            <a:gradFill>
              <a:gsLst>
                <a:gs pos="100000">
                  <a:srgbClr val="0C8AFE"/>
                </a:gs>
                <a:gs pos="0">
                  <a:srgbClr val="91CCFF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25" name="燕尾形 169"/>
            <p:cNvSpPr/>
            <p:nvPr/>
          </p:nvSpPr>
          <p:spPr>
            <a:xfrm>
              <a:off x="14712" y="7867"/>
              <a:ext cx="227" cy="227"/>
            </a:xfrm>
            <a:prstGeom prst="chevron">
              <a:avLst/>
            </a:prstGeom>
            <a:gradFill>
              <a:gsLst>
                <a:gs pos="100000">
                  <a:srgbClr val="0C8AFE"/>
                </a:gs>
                <a:gs pos="0">
                  <a:srgbClr val="91CCFF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1121" y="6899"/>
              <a:ext cx="1288" cy="821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10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调度</a:t>
              </a:r>
              <a:endParaRPr kumimoji="0" lang="zh-CN" altLang="en-US" sz="2400" b="1" i="0" u="none" strike="noStrike" kern="0" cap="none" spc="10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27" name="任意多边形: 形状 64"/>
            <p:cNvSpPr/>
            <p:nvPr/>
          </p:nvSpPr>
          <p:spPr bwMode="auto">
            <a:xfrm>
              <a:off x="2817" y="9631"/>
              <a:ext cx="4662" cy="950"/>
            </a:xfrm>
            <a:custGeom>
              <a:avLst/>
              <a:gdLst>
                <a:gd name="connsiteX0" fmla="*/ 0 w 3246437"/>
                <a:gd name="connsiteY0" fmla="*/ 0 h 587582"/>
                <a:gd name="connsiteX1" fmla="*/ 2885441 w 3246437"/>
                <a:gd name="connsiteY1" fmla="*/ 383998 h 587582"/>
                <a:gd name="connsiteX2" fmla="*/ 3246437 w 3246437"/>
                <a:gd name="connsiteY2" fmla="*/ 393899 h 587582"/>
                <a:gd name="connsiteX3" fmla="*/ 3246437 w 3246437"/>
                <a:gd name="connsiteY3" fmla="*/ 587582 h 587582"/>
                <a:gd name="connsiteX4" fmla="*/ 2885441 w 3246437"/>
                <a:gd name="connsiteY4" fmla="*/ 577713 h 587582"/>
                <a:gd name="connsiteX5" fmla="*/ 0 w 3246437"/>
                <a:gd name="connsiteY5" fmla="*/ 194299 h 587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46437" h="587582">
                  <a:moveTo>
                    <a:pt x="0" y="0"/>
                  </a:moveTo>
                  <a:cubicBezTo>
                    <a:pt x="0" y="172397"/>
                    <a:pt x="1189957" y="320648"/>
                    <a:pt x="2885441" y="383998"/>
                  </a:cubicBezTo>
                  <a:lnTo>
                    <a:pt x="3246437" y="393899"/>
                  </a:lnTo>
                  <a:lnTo>
                    <a:pt x="3246437" y="587582"/>
                  </a:lnTo>
                  <a:lnTo>
                    <a:pt x="2885441" y="577713"/>
                  </a:lnTo>
                  <a:cubicBezTo>
                    <a:pt x="1189957" y="514557"/>
                    <a:pt x="0" y="366696"/>
                    <a:pt x="0" y="194299"/>
                  </a:cubicBezTo>
                  <a:close/>
                </a:path>
              </a:pathLst>
            </a:custGeom>
            <a:gradFill>
              <a:gsLst>
                <a:gs pos="100000">
                  <a:srgbClr val="0C8AFE"/>
                </a:gs>
                <a:gs pos="0">
                  <a:srgbClr val="A9D7FF"/>
                </a:gs>
              </a:gsLst>
              <a:lin ang="0" scaled="1"/>
            </a:gradFill>
            <a:ln w="0">
              <a:noFill/>
              <a:prstDash val="solid"/>
              <a:round/>
            </a:ln>
            <a:effectLst>
              <a:innerShdw blurRad="241300">
                <a:srgbClr val="FFFFFF"/>
              </a:inn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</a:endParaRPr>
            </a:p>
          </p:txBody>
        </p:sp>
        <p:sp>
          <p:nvSpPr>
            <p:cNvPr id="28" name="任意多边形: 形状 66"/>
            <p:cNvSpPr/>
            <p:nvPr/>
          </p:nvSpPr>
          <p:spPr bwMode="auto">
            <a:xfrm>
              <a:off x="10205" y="9631"/>
              <a:ext cx="6178" cy="981"/>
            </a:xfrm>
            <a:custGeom>
              <a:avLst/>
              <a:gdLst>
                <a:gd name="connsiteX0" fmla="*/ 4302443 w 4302443"/>
                <a:gd name="connsiteY0" fmla="*/ 0 h 606663"/>
                <a:gd name="connsiteX1" fmla="*/ 4302443 w 4302443"/>
                <a:gd name="connsiteY1" fmla="*/ 194299 h 606663"/>
                <a:gd name="connsiteX2" fmla="*/ 530501 w 4302443"/>
                <a:gd name="connsiteY2" fmla="*/ 601954 h 606663"/>
                <a:gd name="connsiteX3" fmla="*/ 0 w 4302443"/>
                <a:gd name="connsiteY3" fmla="*/ 606663 h 606663"/>
                <a:gd name="connsiteX4" fmla="*/ 0 w 4302443"/>
                <a:gd name="connsiteY4" fmla="*/ 413043 h 606663"/>
                <a:gd name="connsiteX5" fmla="*/ 530501 w 4302443"/>
                <a:gd name="connsiteY5" fmla="*/ 408317 h 606663"/>
                <a:gd name="connsiteX6" fmla="*/ 4302443 w 4302443"/>
                <a:gd name="connsiteY6" fmla="*/ 0 h 606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2443" h="606663">
                  <a:moveTo>
                    <a:pt x="4302443" y="0"/>
                  </a:moveTo>
                  <a:lnTo>
                    <a:pt x="4302443" y="194299"/>
                  </a:lnTo>
                  <a:cubicBezTo>
                    <a:pt x="4302443" y="395428"/>
                    <a:pt x="2683308" y="563163"/>
                    <a:pt x="530501" y="601954"/>
                  </a:cubicBezTo>
                  <a:lnTo>
                    <a:pt x="0" y="606663"/>
                  </a:lnTo>
                  <a:lnTo>
                    <a:pt x="0" y="413043"/>
                  </a:lnTo>
                  <a:lnTo>
                    <a:pt x="530501" y="408317"/>
                  </a:lnTo>
                  <a:cubicBezTo>
                    <a:pt x="2683308" y="369394"/>
                    <a:pt x="4302443" y="201129"/>
                    <a:pt x="4302443" y="0"/>
                  </a:cubicBezTo>
                  <a:close/>
                </a:path>
              </a:pathLst>
            </a:custGeom>
            <a:gradFill>
              <a:gsLst>
                <a:gs pos="100000">
                  <a:srgbClr val="0C8AFE"/>
                </a:gs>
                <a:gs pos="0">
                  <a:srgbClr val="A9D7FF"/>
                </a:gs>
              </a:gsLst>
              <a:lin ang="0" scaled="1"/>
            </a:gradFill>
            <a:ln w="0">
              <a:noFill/>
              <a:prstDash val="solid"/>
              <a:round/>
            </a:ln>
            <a:effectLst>
              <a:innerShdw blurRad="241300">
                <a:srgbClr val="FFFFFF"/>
              </a:inn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598" y="9384"/>
              <a:ext cx="4262" cy="60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各业务平台多维度数据能力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0145" y="9445"/>
              <a:ext cx="3923" cy="60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ea"/>
                </a:rPr>
                <a:t>各业务平台专家算法能力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ea"/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>
              <a:off x="6174" y="8919"/>
              <a:ext cx="880" cy="465"/>
            </a:xfrm>
            <a:prstGeom prst="triangle">
              <a:avLst/>
            </a:prstGeom>
            <a:gradFill flip="none" rotWithShape="1">
              <a:gsLst>
                <a:gs pos="0">
                  <a:srgbClr val="92D050">
                    <a:alpha val="0"/>
                  </a:srgbClr>
                </a:gs>
                <a:gs pos="100000">
                  <a:srgbClr val="00B0F0">
                    <a:alpha val="3000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>
              <a:off x="11783" y="9048"/>
              <a:ext cx="880" cy="465"/>
            </a:xfrm>
            <a:prstGeom prst="triangle">
              <a:avLst/>
            </a:prstGeom>
            <a:gradFill flip="none" rotWithShape="1">
              <a:gsLst>
                <a:gs pos="0">
                  <a:srgbClr val="92D050">
                    <a:alpha val="0"/>
                  </a:srgbClr>
                </a:gs>
                <a:gs pos="100000">
                  <a:srgbClr val="00B0F0">
                    <a:alpha val="3000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endParaRPr>
            </a:p>
          </p:txBody>
        </p:sp>
        <p:pic>
          <p:nvPicPr>
            <p:cNvPr id="33" name="图片 32" descr="AI指挥调度智能体顶部设计方案 (3)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4" y="2712"/>
              <a:ext cx="2066" cy="2066"/>
            </a:xfrm>
            <a:prstGeom prst="rect">
              <a:avLst/>
            </a:prstGeom>
          </p:spPr>
        </p:pic>
        <p:pic>
          <p:nvPicPr>
            <p:cNvPr id="34" name="图片 33" descr="生成工程师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57" y="2954"/>
              <a:ext cx="1055" cy="1139"/>
            </a:xfrm>
            <a:prstGeom prst="rect">
              <a:avLst/>
            </a:prstGeom>
          </p:spPr>
        </p:pic>
        <p:pic>
          <p:nvPicPr>
            <p:cNvPr id="35" name="图片 34" descr="AI指挥调度智能体顶部设计方案 (5)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7" y="2712"/>
              <a:ext cx="1848" cy="1848"/>
            </a:xfrm>
            <a:prstGeom prst="rect">
              <a:avLst/>
            </a:prstGeom>
          </p:spPr>
        </p:pic>
        <p:grpSp>
          <p:nvGrpSpPr>
            <p:cNvPr id="36" name="组合 35"/>
            <p:cNvGrpSpPr/>
            <p:nvPr/>
          </p:nvGrpSpPr>
          <p:grpSpPr>
            <a:xfrm>
              <a:off x="5051" y="4276"/>
              <a:ext cx="2065" cy="2065"/>
              <a:chOff x="6292" y="4213"/>
              <a:chExt cx="2065" cy="2065"/>
            </a:xfrm>
          </p:grpSpPr>
          <p:pic>
            <p:nvPicPr>
              <p:cNvPr id="49" name="图片 48" descr="AI指挥调度智能体顶部设计方案 (4)(1)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92" y="4213"/>
                <a:ext cx="2065" cy="2065"/>
              </a:xfrm>
              <a:prstGeom prst="rect">
                <a:avLst/>
              </a:prstGeom>
            </p:spPr>
          </p:pic>
          <p:sp>
            <p:nvSpPr>
              <p:cNvPr id="50" name="文本框 49"/>
              <p:cNvSpPr txBox="1"/>
              <p:nvPr/>
            </p:nvSpPr>
            <p:spPr>
              <a:xfrm>
                <a:off x="6860" y="5455"/>
                <a:ext cx="888" cy="547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2000">
                    <a:gradFill>
                      <a:gsLst>
                        <a:gs pos="60000">
                          <a:schemeClr val="accent3"/>
                        </a:gs>
                        <a:gs pos="0">
                          <a:schemeClr val="accent1"/>
                        </a:gs>
                        <a:gs pos="31000">
                          <a:schemeClr val="accent2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effectLst>
                      <a:outerShdw blurRad="330200" dist="38100" dir="5400000" algn="t" rotWithShape="0">
                        <a:prstClr val="black">
                          <a:alpha val="78000"/>
                        </a:prstClr>
                      </a:outerShdw>
                    </a:effectLst>
                    <a:latin typeface="+mj-ea"/>
                    <a:ea typeface="+mj-ea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0" cap="none" spc="10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BDD4F6"/>
                        </a:gs>
                        <a:gs pos="100000">
                          <a:srgbClr val="4D8DE5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等线 Light" panose="02010600030101010101" pitchFamily="2" charset="-122"/>
                    <a:ea typeface="等线 Light" panose="02010600030101010101" pitchFamily="2" charset="-122"/>
                  </a:rPr>
                  <a:t>分析</a:t>
                </a:r>
                <a:endParaRPr kumimoji="0" lang="zh-CN" altLang="en-US" sz="1400" b="1" i="0" u="none" strike="noStrike" kern="0" cap="none" spc="10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4163" y="4052"/>
              <a:ext cx="888" cy="54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chemeClr val="accent3"/>
                      </a:gs>
                      <a:gs pos="0">
                        <a:schemeClr val="accent1"/>
                      </a:gs>
                      <a:gs pos="31000">
                        <a:schemeClr val="accent2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10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</a:rPr>
                <a:t>管理</a:t>
              </a:r>
              <a:endParaRPr kumimoji="0" lang="zh-CN" altLang="en-US" sz="1400" b="1" i="0" u="none" strike="noStrike" kern="0" cap="none" spc="10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907" y="4052"/>
              <a:ext cx="888" cy="54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chemeClr val="accent3"/>
                      </a:gs>
                      <a:gs pos="0">
                        <a:schemeClr val="accent1"/>
                      </a:gs>
                      <a:gs pos="31000">
                        <a:schemeClr val="accent2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100" normalizeH="0" baseline="0" noProof="0" dirty="0">
                  <a:ln>
                    <a:noFill/>
                  </a:ln>
                  <a:gradFill>
                    <a:gsLst>
                      <a:gs pos="0">
                        <a:srgbClr val="BDD4F6"/>
                      </a:gs>
                      <a:gs pos="100000">
                        <a:srgbClr val="4D8DE5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</a:rPr>
                <a:t>一线</a:t>
              </a:r>
              <a:endParaRPr kumimoji="0" lang="zh-CN" altLang="en-US" sz="1400" b="1" i="0" u="none" strike="noStrike" kern="0" cap="none" spc="100" normalizeH="0" baseline="0" noProof="0" dirty="0">
                <a:ln>
                  <a:noFill/>
                </a:ln>
                <a:gradFill>
                  <a:gsLst>
                    <a:gs pos="0">
                      <a:srgbClr val="BDD4F6"/>
                    </a:gs>
                    <a:gs pos="100000">
                      <a:srgbClr val="4D8DE5"/>
                    </a:gs>
                  </a:gsLst>
                  <a:lin ang="5400000" scaled="1"/>
                </a:gra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39" name="燕尾形 235"/>
            <p:cNvSpPr/>
            <p:nvPr/>
          </p:nvSpPr>
          <p:spPr>
            <a:xfrm rot="10800000">
              <a:off x="6627" y="4856"/>
              <a:ext cx="227" cy="227"/>
            </a:xfrm>
            <a:prstGeom prst="chevron">
              <a:avLst/>
            </a:prstGeom>
            <a:gradFill>
              <a:gsLst>
                <a:gs pos="70000">
                  <a:srgbClr val="9CD2FF"/>
                </a:gs>
                <a:gs pos="0">
                  <a:srgbClr val="9CD2FF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0" name="燕尾形 236"/>
            <p:cNvSpPr/>
            <p:nvPr/>
          </p:nvSpPr>
          <p:spPr>
            <a:xfrm>
              <a:off x="11991" y="4856"/>
              <a:ext cx="227" cy="227"/>
            </a:xfrm>
            <a:prstGeom prst="chevron">
              <a:avLst/>
            </a:prstGeom>
            <a:gradFill>
              <a:gsLst>
                <a:gs pos="70000">
                  <a:srgbClr val="9CD2FF"/>
                </a:gs>
                <a:gs pos="0">
                  <a:srgbClr val="9CD2FF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781" y="4522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智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414" y="4650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能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047" y="4732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统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680" y="4812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筹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313" y="4812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协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946" y="4732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同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579" y="4640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作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1212" y="4512"/>
              <a:ext cx="648" cy="65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60000">
                        <a:srgbClr val="FFC000"/>
                      </a:gs>
                      <a:gs pos="0">
                        <a:srgbClr val="00B0F0"/>
                      </a:gs>
                      <a:gs pos="31000">
                        <a:srgbClr val="92D050"/>
                      </a:gs>
                      <a:gs pos="100000">
                        <a:srgbClr val="92D050"/>
                      </a:gs>
                    </a:gsLst>
                    <a:lin ang="0" scaled="1"/>
                  </a:gradFill>
                  <a:effectLst>
                    <a:outerShdw blurRad="330200" dist="38100" dir="5400000" algn="t" rotWithShape="0">
                      <a:prstClr val="black">
                        <a:alpha val="78000"/>
                      </a:prstClr>
                    </a:outerShdw>
                  </a:effectLst>
                  <a:latin typeface="+mn-ea"/>
                  <a:ea typeface="+mn-ea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50000">
                        <a:srgbClr val="1F5FBF"/>
                      </a:gs>
                      <a:gs pos="0">
                        <a:srgbClr val="1486CB"/>
                      </a:gs>
                      <a:gs pos="100000">
                        <a:srgbClr val="2A34B2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</a:rPr>
                <a:t>战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207200" y="4084744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670F1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b="1" dirty="0">
                <a:solidFill>
                  <a:srgbClr val="0670F1"/>
                </a:solidFill>
                <a:latin typeface="微软雅黑" panose="020B0503020204020204" charset="-122"/>
                <a:ea typeface="微软雅黑" panose="020B0503020204020204" charset="-122"/>
              </a:rPr>
              <a:t>任务经理</a:t>
            </a:r>
            <a:endParaRPr lang="zh-CN" altLang="en-US" b="1" dirty="0">
              <a:solidFill>
                <a:srgbClr val="0670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任务调度中枢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功能架构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83515" y="901700"/>
            <a:ext cx="11700510" cy="1123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系统采用"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能力层—大脑层—应用层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"三层架构设计。底层汇聚多源网络数据和专业分析能力，形成统一的能力底座；中间层将专家经验封装为可编排调度的技能体系，由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任务经理统一驱动感知、诊断、决策、执行、督办、评估的全链路闭环；上层面向区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市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县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格的管理者、分析人员和处理团队提供差异化应用入口，构建"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一个中心统领、多层能力支撑、多端协同作战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"的智能指挥体系。</a:t>
            </a:r>
            <a:endParaRPr lang="zh-CN" altLang="en-US" sz="14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91465" y="5555615"/>
            <a:ext cx="782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gradFill>
                  <a:gsLst>
                    <a:gs pos="0">
                      <a:srgbClr val="5B9BD5">
                        <a:lumMod val="50000"/>
                      </a:srgbClr>
                    </a:gs>
                    <a:gs pos="50000">
                      <a:srgbClr val="5B9BD5"/>
                    </a:gs>
                    <a:gs pos="100000">
                      <a:srgbClr val="5B9BD5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</a:rPr>
              <a:t>AI</a:t>
            </a:r>
            <a:endParaRPr lang="en-US" altLang="zh-CN" sz="1400" b="1" dirty="0">
              <a:gradFill>
                <a:gsLst>
                  <a:gs pos="0">
                    <a:srgbClr val="5B9BD5">
                      <a:lumMod val="50000"/>
                    </a:srgbClr>
                  </a:gs>
                  <a:gs pos="50000">
                    <a:srgbClr val="5B9BD5"/>
                  </a:gs>
                  <a:gs pos="100000">
                    <a:srgbClr val="5B9BD5">
                      <a:lumMod val="60000"/>
                      <a:lumOff val="40000"/>
                    </a:srgb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charset="-122"/>
            </a:endParaRPr>
          </a:p>
          <a:p>
            <a:pPr algn="ctr"/>
            <a:r>
              <a:rPr lang="zh-CN" altLang="en-US" sz="1400" b="1" dirty="0">
                <a:gradFill>
                  <a:gsLst>
                    <a:gs pos="0">
                      <a:srgbClr val="5B9BD5">
                        <a:lumMod val="50000"/>
                      </a:srgbClr>
                    </a:gs>
                    <a:gs pos="50000">
                      <a:srgbClr val="5B9BD5"/>
                    </a:gs>
                    <a:gs pos="100000">
                      <a:srgbClr val="5B9BD5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</a:rPr>
              <a:t>能力层</a:t>
            </a:r>
            <a:endParaRPr lang="zh-CN" altLang="en-US" sz="1400" b="1" dirty="0">
              <a:gradFill>
                <a:gsLst>
                  <a:gs pos="0">
                    <a:srgbClr val="5B9BD5">
                      <a:lumMod val="50000"/>
                    </a:srgbClr>
                  </a:gs>
                  <a:gs pos="50000">
                    <a:srgbClr val="5B9BD5"/>
                  </a:gs>
                  <a:gs pos="100000">
                    <a:srgbClr val="5B9BD5">
                      <a:lumMod val="60000"/>
                      <a:lumOff val="40000"/>
                    </a:srgb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charset="-122"/>
            </a:endParaRPr>
          </a:p>
        </p:txBody>
      </p:sp>
      <p:sp>
        <p:nvSpPr>
          <p:cNvPr id="92" name="矩形 91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309370" y="4976495"/>
            <a:ext cx="2542540" cy="1616075"/>
          </a:xfrm>
          <a:prstGeom prst="rect">
            <a:avLst/>
          </a:prstGeom>
          <a:gradFill>
            <a:gsLst>
              <a:gs pos="0">
                <a:srgbClr val="0082FF">
                  <a:alpha val="13000"/>
                </a:srgbClr>
              </a:gs>
              <a:gs pos="57000">
                <a:srgbClr val="0082FF">
                  <a:alpha val="1000"/>
                </a:srgbClr>
              </a:gs>
            </a:gsLst>
            <a:lin ang="5400000" scaled="1"/>
          </a:gradFill>
          <a:ln w="3175">
            <a:noFill/>
          </a:ln>
        </p:spPr>
        <p:txBody>
          <a:bodyPr lIns="17138" tIns="17138" rIns="17138" bIns="17138" rtlCol="0" anchor="ctr" anchorCtr="0">
            <a:noAutofit/>
          </a:bodyPr>
          <a:lstStyle/>
          <a:p>
            <a:pPr algn="ctr" defTabSz="64135">
              <a:defRPr/>
            </a:pPr>
            <a:endParaRPr lang="en-US" altLang="zh-CN" dirty="0">
              <a:solidFill>
                <a:srgbClr val="1678FC"/>
              </a:solidFill>
              <a:latin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309370" y="5213985"/>
            <a:ext cx="3460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</a:rPr>
              <a:t>数据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</a:endParaRPr>
          </a:p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</a:rPr>
              <a:t>中心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sp>
        <p:nvSpPr>
          <p:cNvPr id="94" name="圆角矩形 84"/>
          <p:cNvSpPr/>
          <p:nvPr/>
        </p:nvSpPr>
        <p:spPr>
          <a:xfrm>
            <a:off x="2386330" y="6167120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MR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5" name="圆角矩形 108"/>
          <p:cNvSpPr/>
          <p:nvPr/>
        </p:nvSpPr>
        <p:spPr>
          <a:xfrm>
            <a:off x="3145790" y="5120640"/>
            <a:ext cx="621030" cy="252095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MDT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6" name="圆角矩形 109"/>
          <p:cNvSpPr/>
          <p:nvPr/>
        </p:nvSpPr>
        <p:spPr>
          <a:xfrm>
            <a:off x="1638935" y="6167120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参数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7" name="圆角矩形 110"/>
          <p:cNvSpPr/>
          <p:nvPr/>
        </p:nvSpPr>
        <p:spPr>
          <a:xfrm>
            <a:off x="2386330" y="5469890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性能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8" name="圆角矩形 111"/>
          <p:cNvSpPr/>
          <p:nvPr/>
        </p:nvSpPr>
        <p:spPr>
          <a:xfrm>
            <a:off x="2386330" y="5120640"/>
            <a:ext cx="621030" cy="252095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告警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9" name="圆角矩形 112"/>
          <p:cNvSpPr/>
          <p:nvPr/>
        </p:nvSpPr>
        <p:spPr>
          <a:xfrm>
            <a:off x="2386330" y="5818505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感知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0" name="圆角矩形 113"/>
          <p:cNvSpPr/>
          <p:nvPr/>
        </p:nvSpPr>
        <p:spPr>
          <a:xfrm>
            <a:off x="1638935" y="5818505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工参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1" name="圆角矩形 123"/>
          <p:cNvSpPr/>
          <p:nvPr/>
        </p:nvSpPr>
        <p:spPr>
          <a:xfrm>
            <a:off x="3145790" y="5469890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OTT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2" name="圆角矩形 125"/>
          <p:cNvSpPr/>
          <p:nvPr/>
        </p:nvSpPr>
        <p:spPr>
          <a:xfrm>
            <a:off x="1638935" y="5120640"/>
            <a:ext cx="621030" cy="252095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地图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3" name="圆角矩形 112"/>
          <p:cNvSpPr/>
          <p:nvPr/>
        </p:nvSpPr>
        <p:spPr>
          <a:xfrm>
            <a:off x="1638935" y="5469890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场景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4" name="圆角矩形 125"/>
          <p:cNvSpPr/>
          <p:nvPr/>
        </p:nvSpPr>
        <p:spPr>
          <a:xfrm>
            <a:off x="3145790" y="5818505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en-US" altLang="zh-CN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CEI</a:t>
            </a:r>
            <a:endParaRPr lang="en-US" altLang="zh-CN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5" name="圆角矩形 125"/>
          <p:cNvSpPr/>
          <p:nvPr/>
        </p:nvSpPr>
        <p:spPr>
          <a:xfrm>
            <a:off x="3145790" y="6167120"/>
            <a:ext cx="621030" cy="251460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rPr>
              <a:t>...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+mn-ea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1301750" y="4370705"/>
            <a:ext cx="2549525" cy="605790"/>
            <a:chOff x="2050" y="6883"/>
            <a:chExt cx="4412" cy="954"/>
          </a:xfrm>
        </p:grpSpPr>
        <p:sp>
          <p:nvSpPr>
            <p:cNvPr id="107" name="梯形 106"/>
            <p:cNvSpPr/>
            <p:nvPr/>
          </p:nvSpPr>
          <p:spPr>
            <a:xfrm>
              <a:off x="2050" y="6883"/>
              <a:ext cx="4412" cy="954"/>
            </a:xfrm>
            <a:prstGeom prst="trapezoid">
              <a:avLst>
                <a:gd name="adj" fmla="val 200795"/>
              </a:avLst>
            </a:prstGeom>
            <a:gradFill>
              <a:gsLst>
                <a:gs pos="28000">
                  <a:srgbClr val="1D78FA">
                    <a:lumMod val="60000"/>
                    <a:lumOff val="40000"/>
                    <a:alpha val="17000"/>
                  </a:srgbClr>
                </a:gs>
                <a:gs pos="3000">
                  <a:srgbClr val="1D78FA">
                    <a:alpha val="19000"/>
                  </a:srgbClr>
                </a:gs>
                <a:gs pos="6900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" lastClr="FFFFFF"/>
                </a:solidFill>
                <a:latin typeface="Roboto Regular" charset="0"/>
                <a:ea typeface="思源黑体 CN Regular" charset="0"/>
              </a:endParaRPr>
            </a:p>
          </p:txBody>
        </p:sp>
        <p:sp>
          <p:nvSpPr>
            <p:cNvPr id="108" name="Freeform 2"/>
            <p:cNvSpPr/>
            <p:nvPr/>
          </p:nvSpPr>
          <p:spPr bwMode="gray">
            <a:xfrm rot="10800000" flipV="1">
              <a:off x="2600" y="7273"/>
              <a:ext cx="3354" cy="563"/>
            </a:xfrm>
            <a:custGeom>
              <a:avLst/>
              <a:gdLst/>
              <a:ahLst/>
              <a:cxnLst>
                <a:cxn ang="0">
                  <a:pos x="0" y="2240"/>
                </a:cxn>
                <a:cxn ang="0">
                  <a:pos x="1122" y="702"/>
                </a:cxn>
                <a:cxn ang="0">
                  <a:pos x="972" y="744"/>
                </a:cxn>
                <a:cxn ang="0">
                  <a:pos x="1140" y="438"/>
                </a:cxn>
                <a:cxn ang="0">
                  <a:pos x="1422" y="642"/>
                </a:cxn>
                <a:cxn ang="0">
                  <a:pos x="1272" y="672"/>
                </a:cxn>
                <a:cxn ang="0">
                  <a:pos x="1968" y="1284"/>
                </a:cxn>
                <a:cxn ang="0">
                  <a:pos x="2466" y="318"/>
                </a:cxn>
                <a:cxn ang="0">
                  <a:pos x="2280" y="318"/>
                </a:cxn>
                <a:cxn ang="0">
                  <a:pos x="2598" y="0"/>
                </a:cxn>
                <a:cxn ang="0">
                  <a:pos x="2898" y="330"/>
                </a:cxn>
                <a:cxn ang="0">
                  <a:pos x="2724" y="324"/>
                </a:cxn>
                <a:cxn ang="0">
                  <a:pos x="3210" y="1302"/>
                </a:cxn>
                <a:cxn ang="0">
                  <a:pos x="3870" y="654"/>
                </a:cxn>
                <a:cxn ang="0">
                  <a:pos x="3702" y="642"/>
                </a:cxn>
                <a:cxn ang="0">
                  <a:pos x="3984" y="420"/>
                </a:cxn>
                <a:cxn ang="0">
                  <a:pos x="4182" y="678"/>
                </a:cxn>
                <a:cxn ang="0">
                  <a:pos x="4026" y="672"/>
                </a:cxn>
                <a:cxn ang="0">
                  <a:pos x="5016" y="2225"/>
                </a:cxn>
                <a:cxn ang="0">
                  <a:pos x="0" y="2240"/>
                </a:cxn>
              </a:cxnLst>
              <a:rect l="0" t="0" r="r" b="b"/>
              <a:pathLst>
                <a:path w="5016" h="2256">
                  <a:moveTo>
                    <a:pt x="0" y="2240"/>
                  </a:moveTo>
                  <a:cubicBezTo>
                    <a:pt x="276" y="2109"/>
                    <a:pt x="1182" y="1474"/>
                    <a:pt x="1122" y="702"/>
                  </a:cubicBezTo>
                  <a:lnTo>
                    <a:pt x="972" y="744"/>
                  </a:lnTo>
                  <a:cubicBezTo>
                    <a:pt x="988" y="702"/>
                    <a:pt x="1140" y="436"/>
                    <a:pt x="1140" y="438"/>
                  </a:cubicBezTo>
                  <a:lnTo>
                    <a:pt x="1422" y="642"/>
                  </a:lnTo>
                  <a:cubicBezTo>
                    <a:pt x="1422" y="642"/>
                    <a:pt x="1260" y="672"/>
                    <a:pt x="1272" y="672"/>
                  </a:cubicBezTo>
                  <a:cubicBezTo>
                    <a:pt x="1428" y="1008"/>
                    <a:pt x="1620" y="1350"/>
                    <a:pt x="1968" y="1284"/>
                  </a:cubicBezTo>
                  <a:cubicBezTo>
                    <a:pt x="2316" y="1218"/>
                    <a:pt x="2460" y="576"/>
                    <a:pt x="2466" y="318"/>
                  </a:cubicBezTo>
                  <a:lnTo>
                    <a:pt x="2280" y="318"/>
                  </a:lnTo>
                  <a:lnTo>
                    <a:pt x="2598" y="0"/>
                  </a:lnTo>
                  <a:lnTo>
                    <a:pt x="2898" y="330"/>
                  </a:lnTo>
                  <a:lnTo>
                    <a:pt x="2724" y="324"/>
                  </a:lnTo>
                  <a:cubicBezTo>
                    <a:pt x="2724" y="325"/>
                    <a:pt x="2760" y="1284"/>
                    <a:pt x="3210" y="1302"/>
                  </a:cubicBezTo>
                  <a:cubicBezTo>
                    <a:pt x="3660" y="1320"/>
                    <a:pt x="3816" y="912"/>
                    <a:pt x="3870" y="654"/>
                  </a:cubicBezTo>
                  <a:lnTo>
                    <a:pt x="3702" y="642"/>
                  </a:lnTo>
                  <a:lnTo>
                    <a:pt x="3984" y="420"/>
                  </a:lnTo>
                  <a:lnTo>
                    <a:pt x="4182" y="678"/>
                  </a:lnTo>
                  <a:lnTo>
                    <a:pt x="4026" y="672"/>
                  </a:lnTo>
                  <a:cubicBezTo>
                    <a:pt x="4032" y="678"/>
                    <a:pt x="3960" y="1862"/>
                    <a:pt x="5016" y="2225"/>
                  </a:cubicBezTo>
                  <a:cubicBezTo>
                    <a:pt x="3438" y="2232"/>
                    <a:pt x="1092" y="2256"/>
                    <a:pt x="0" y="2240"/>
                  </a:cubicBezTo>
                  <a:close/>
                </a:path>
              </a:pathLst>
            </a:custGeom>
            <a:gradFill rotWithShape="1">
              <a:gsLst>
                <a:gs pos="58000">
                  <a:srgbClr val="EDF1F9">
                    <a:alpha val="100000"/>
                  </a:srgbClr>
                </a:gs>
                <a:gs pos="0">
                  <a:srgbClr val="4874CB">
                    <a:lumMod val="20000"/>
                    <a:lumOff val="80000"/>
                  </a:srgbClr>
                </a:gs>
                <a:gs pos="99000">
                  <a:sysClr val="window" lastClr="FFFFFF">
                    <a:alpha val="0"/>
                  </a:sys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3679" y="7413"/>
              <a:ext cx="99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gradFill>
                    <a:gsLst>
                      <a:gs pos="21000">
                        <a:srgbClr val="53575C"/>
                      </a:gs>
                      <a:gs pos="88000">
                        <a:srgbClr val="C5C7CA"/>
                      </a:gs>
                    </a:gsLst>
                    <a:lin ang="5400000"/>
                  </a:gradFill>
                  <a:latin typeface="微软雅黑" panose="020B0503020204020204" charset="-122"/>
                </a:rPr>
                <a:t>MCP</a:t>
              </a:r>
              <a:endParaRPr lang="en-US" altLang="zh-CN" sz="8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微软雅黑" panose="020B0503020204020204" charset="-122"/>
              </a:endParaRPr>
            </a:p>
          </p:txBody>
        </p:sp>
      </p:grpSp>
      <p:sp>
        <p:nvSpPr>
          <p:cNvPr id="110" name="梯形 109"/>
          <p:cNvSpPr/>
          <p:nvPr/>
        </p:nvSpPr>
        <p:spPr>
          <a:xfrm>
            <a:off x="3989705" y="4370705"/>
            <a:ext cx="5916295" cy="605790"/>
          </a:xfrm>
          <a:prstGeom prst="trapezoid">
            <a:avLst>
              <a:gd name="adj" fmla="val 200795"/>
            </a:avLst>
          </a:prstGeom>
          <a:gradFill>
            <a:gsLst>
              <a:gs pos="28000">
                <a:srgbClr val="1D78FA">
                  <a:lumMod val="60000"/>
                  <a:lumOff val="40000"/>
                  <a:alpha val="17000"/>
                </a:srgbClr>
              </a:gs>
              <a:gs pos="3000">
                <a:srgbClr val="1D78FA">
                  <a:alpha val="19000"/>
                </a:srgbClr>
              </a:gs>
              <a:gs pos="69000">
                <a:srgbClr val="1D78FA">
                  <a:lumMod val="20000"/>
                  <a:lumOff val="80000"/>
                  <a:alpha val="0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ysClr val="window" lastClr="FFFFFF"/>
              </a:solidFill>
              <a:latin typeface="Roboto Regular" charset="0"/>
              <a:ea typeface="思源黑体 CN Regular" charset="0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989070" y="4617085"/>
            <a:ext cx="5916930" cy="1974215"/>
            <a:chOff x="6672" y="7271"/>
            <a:chExt cx="9318" cy="3109"/>
          </a:xfrm>
        </p:grpSpPr>
        <p:sp>
          <p:nvSpPr>
            <p:cNvPr id="112" name="矩形 111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6672" y="7836"/>
              <a:ext cx="9318" cy="2545"/>
            </a:xfrm>
            <a:prstGeom prst="rect">
              <a:avLst/>
            </a:prstGeom>
            <a:gradFill>
              <a:gsLst>
                <a:gs pos="0">
                  <a:srgbClr val="0082FF">
                    <a:alpha val="13000"/>
                  </a:srgbClr>
                </a:gs>
                <a:gs pos="57000">
                  <a:srgbClr val="0082FF">
                    <a:alpha val="1000"/>
                  </a:srgbClr>
                </a:gs>
              </a:gsLst>
              <a:lin ang="5400000" scaled="1"/>
            </a:gradFill>
            <a:ln w="3175">
              <a:noFill/>
            </a:ln>
          </p:spPr>
          <p:txBody>
            <a:bodyPr lIns="17138" tIns="17138" rIns="17138" bIns="17138" rtlCol="0" anchor="ctr" anchorCtr="0">
              <a:noAutofit/>
            </a:bodyPr>
            <a:lstStyle/>
            <a:p>
              <a:pPr algn="ctr" defTabSz="64135">
                <a:defRPr/>
              </a:pPr>
              <a:endParaRPr lang="en-US" altLang="zh-CN" dirty="0">
                <a:solidFill>
                  <a:srgbClr val="1678FC"/>
                </a:solidFill>
                <a:latin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6672" y="8211"/>
              <a:ext cx="594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solidFill>
                    <a:srgbClr val="0070C0"/>
                  </a:solidFill>
                  <a:latin typeface="微软雅黑" panose="020B0503020204020204" charset="-122"/>
                </a:rPr>
                <a:t>能力</a:t>
              </a:r>
              <a:endParaRPr lang="zh-CN" altLang="en-US" sz="1400" b="1">
                <a:solidFill>
                  <a:srgbClr val="0070C0"/>
                </a:solidFill>
                <a:latin typeface="微软雅黑" panose="020B0503020204020204" charset="-122"/>
              </a:endParaRPr>
            </a:p>
            <a:p>
              <a:r>
                <a:rPr lang="zh-CN" altLang="en-US" sz="1400" b="1">
                  <a:solidFill>
                    <a:srgbClr val="0070C0"/>
                  </a:solidFill>
                  <a:latin typeface="微软雅黑" panose="020B0503020204020204" charset="-122"/>
                </a:rPr>
                <a:t>中心</a:t>
              </a:r>
              <a:endParaRPr lang="zh-CN" altLang="en-US" sz="1400" b="1">
                <a:solidFill>
                  <a:srgbClr val="0070C0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14" name="圆角矩形 129"/>
            <p:cNvSpPr/>
            <p:nvPr>
              <p:custDataLst>
                <p:tags r:id="rId3"/>
              </p:custDataLst>
            </p:nvPr>
          </p:nvSpPr>
          <p:spPr>
            <a:xfrm>
              <a:off x="7212" y="8064"/>
              <a:ext cx="1955" cy="397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质差小区识别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15" name="圆角矩形 131"/>
            <p:cNvSpPr/>
            <p:nvPr>
              <p:custDataLst>
                <p:tags r:id="rId4"/>
              </p:custDataLst>
            </p:nvPr>
          </p:nvSpPr>
          <p:spPr>
            <a:xfrm>
              <a:off x="7212" y="8618"/>
              <a:ext cx="1955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弱覆盖路段识别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16" name="圆角矩形 132"/>
            <p:cNvSpPr/>
            <p:nvPr>
              <p:custDataLst>
                <p:tags r:id="rId5"/>
              </p:custDataLst>
            </p:nvPr>
          </p:nvSpPr>
          <p:spPr>
            <a:xfrm>
              <a:off x="7212" y="9174"/>
              <a:ext cx="1956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en-US" altLang="zh-CN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SINR</a:t>
              </a: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差路段识别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17" name="圆角矩形 134"/>
            <p:cNvSpPr/>
            <p:nvPr>
              <p:custDataLst>
                <p:tags r:id="rId6"/>
              </p:custDataLst>
            </p:nvPr>
          </p:nvSpPr>
          <p:spPr>
            <a:xfrm>
              <a:off x="7212" y="9712"/>
              <a:ext cx="1955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重叠覆盖路段识别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18" name="圆角矩形 142"/>
            <p:cNvSpPr/>
            <p:nvPr>
              <p:custDataLst>
                <p:tags r:id="rId7"/>
              </p:custDataLst>
            </p:nvPr>
          </p:nvSpPr>
          <p:spPr>
            <a:xfrm>
              <a:off x="9336" y="8618"/>
              <a:ext cx="1892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高</a:t>
              </a:r>
              <a:r>
                <a:rPr lang="en-US" altLang="zh-CN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RTP</a:t>
              </a: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丢包识别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19" name="圆角矩形 143"/>
            <p:cNvSpPr/>
            <p:nvPr>
              <p:custDataLst>
                <p:tags r:id="rId8"/>
              </p:custDataLst>
            </p:nvPr>
          </p:nvSpPr>
          <p:spPr>
            <a:xfrm>
              <a:off x="9336" y="9170"/>
              <a:ext cx="1892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上传低速率识别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20" name="圆角矩形 144"/>
            <p:cNvSpPr/>
            <p:nvPr>
              <p:custDataLst>
                <p:tags r:id="rId9"/>
              </p:custDataLst>
            </p:nvPr>
          </p:nvSpPr>
          <p:spPr>
            <a:xfrm>
              <a:off x="11398" y="8064"/>
              <a:ext cx="2081" cy="397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高掉话问题分析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21" name="圆角矩形 145"/>
            <p:cNvSpPr/>
            <p:nvPr>
              <p:custDataLst>
                <p:tags r:id="rId10"/>
              </p:custDataLst>
            </p:nvPr>
          </p:nvSpPr>
          <p:spPr>
            <a:xfrm>
              <a:off x="11398" y="8618"/>
              <a:ext cx="2081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高丢包问题分析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22" name="圆角矩形 146"/>
            <p:cNvSpPr/>
            <p:nvPr>
              <p:custDataLst>
                <p:tags r:id="rId11"/>
              </p:custDataLst>
            </p:nvPr>
          </p:nvSpPr>
          <p:spPr>
            <a:xfrm>
              <a:off x="11398" y="9170"/>
              <a:ext cx="2081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高干扰问题分析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23" name="圆角矩形 147"/>
            <p:cNvSpPr/>
            <p:nvPr>
              <p:custDataLst>
                <p:tags r:id="rId12"/>
              </p:custDataLst>
            </p:nvPr>
          </p:nvSpPr>
          <p:spPr>
            <a:xfrm>
              <a:off x="13650" y="8064"/>
              <a:ext cx="2141" cy="397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高重叠覆盖问题分析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24" name="圆角矩形 148"/>
            <p:cNvSpPr/>
            <p:nvPr>
              <p:custDataLst>
                <p:tags r:id="rId13"/>
              </p:custDataLst>
            </p:nvPr>
          </p:nvSpPr>
          <p:spPr>
            <a:xfrm>
              <a:off x="13650" y="8618"/>
              <a:ext cx="2141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高时延问题分析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25" name="圆角矩形 149"/>
            <p:cNvSpPr/>
            <p:nvPr>
              <p:custDataLst>
                <p:tags r:id="rId14"/>
              </p:custDataLst>
            </p:nvPr>
          </p:nvSpPr>
          <p:spPr>
            <a:xfrm>
              <a:off x="13650" y="9170"/>
              <a:ext cx="2141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低速率问题分析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26" name="圆角矩形 143"/>
            <p:cNvSpPr/>
            <p:nvPr>
              <p:custDataLst>
                <p:tags r:id="rId15"/>
              </p:custDataLst>
            </p:nvPr>
          </p:nvSpPr>
          <p:spPr>
            <a:xfrm>
              <a:off x="9336" y="9712"/>
              <a:ext cx="1892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下载低速率识别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27" name="圆角矩形 149"/>
            <p:cNvSpPr/>
            <p:nvPr>
              <p:custDataLst>
                <p:tags r:id="rId16"/>
              </p:custDataLst>
            </p:nvPr>
          </p:nvSpPr>
          <p:spPr>
            <a:xfrm>
              <a:off x="13650" y="9669"/>
              <a:ext cx="2141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优化效果后评估</a:t>
              </a: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...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28" name="圆角矩形 142"/>
            <p:cNvSpPr/>
            <p:nvPr>
              <p:custDataLst>
                <p:tags r:id="rId17"/>
              </p:custDataLst>
            </p:nvPr>
          </p:nvSpPr>
          <p:spPr>
            <a:xfrm>
              <a:off x="9336" y="8064"/>
              <a:ext cx="1892" cy="397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en-US" altLang="zh-CN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MOS</a:t>
              </a: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质差识别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endParaRPr>
            </a:p>
          </p:txBody>
        </p:sp>
        <p:sp>
          <p:nvSpPr>
            <p:cNvPr id="129" name="圆角矩形 146"/>
            <p:cNvSpPr/>
            <p:nvPr>
              <p:custDataLst>
                <p:tags r:id="rId18"/>
              </p:custDataLst>
            </p:nvPr>
          </p:nvSpPr>
          <p:spPr>
            <a:xfrm>
              <a:off x="11398" y="9712"/>
              <a:ext cx="2081" cy="396"/>
            </a:xfrm>
            <a:prstGeom prst="round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宋体" panose="02010600030101010101" pitchFamily="2" charset="-122"/>
                </a:rPr>
                <a:t>高负荷问题分析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30" name="Freeform 2"/>
            <p:cNvSpPr/>
            <p:nvPr/>
          </p:nvSpPr>
          <p:spPr bwMode="gray">
            <a:xfrm rot="10800000" flipV="1">
              <a:off x="7947" y="7271"/>
              <a:ext cx="7112" cy="597"/>
            </a:xfrm>
            <a:custGeom>
              <a:avLst/>
              <a:gdLst/>
              <a:ahLst/>
              <a:cxnLst>
                <a:cxn ang="0">
                  <a:pos x="0" y="2240"/>
                </a:cxn>
                <a:cxn ang="0">
                  <a:pos x="1122" y="702"/>
                </a:cxn>
                <a:cxn ang="0">
                  <a:pos x="972" y="744"/>
                </a:cxn>
                <a:cxn ang="0">
                  <a:pos x="1140" y="438"/>
                </a:cxn>
                <a:cxn ang="0">
                  <a:pos x="1422" y="642"/>
                </a:cxn>
                <a:cxn ang="0">
                  <a:pos x="1272" y="672"/>
                </a:cxn>
                <a:cxn ang="0">
                  <a:pos x="1968" y="1284"/>
                </a:cxn>
                <a:cxn ang="0">
                  <a:pos x="2466" y="318"/>
                </a:cxn>
                <a:cxn ang="0">
                  <a:pos x="2280" y="318"/>
                </a:cxn>
                <a:cxn ang="0">
                  <a:pos x="2598" y="0"/>
                </a:cxn>
                <a:cxn ang="0">
                  <a:pos x="2898" y="330"/>
                </a:cxn>
                <a:cxn ang="0">
                  <a:pos x="2724" y="324"/>
                </a:cxn>
                <a:cxn ang="0">
                  <a:pos x="3210" y="1302"/>
                </a:cxn>
                <a:cxn ang="0">
                  <a:pos x="3870" y="654"/>
                </a:cxn>
                <a:cxn ang="0">
                  <a:pos x="3702" y="642"/>
                </a:cxn>
                <a:cxn ang="0">
                  <a:pos x="3984" y="420"/>
                </a:cxn>
                <a:cxn ang="0">
                  <a:pos x="4182" y="678"/>
                </a:cxn>
                <a:cxn ang="0">
                  <a:pos x="4026" y="672"/>
                </a:cxn>
                <a:cxn ang="0">
                  <a:pos x="5016" y="2225"/>
                </a:cxn>
                <a:cxn ang="0">
                  <a:pos x="0" y="2240"/>
                </a:cxn>
              </a:cxnLst>
              <a:rect l="0" t="0" r="r" b="b"/>
              <a:pathLst>
                <a:path w="5016" h="2256">
                  <a:moveTo>
                    <a:pt x="0" y="2240"/>
                  </a:moveTo>
                  <a:cubicBezTo>
                    <a:pt x="276" y="2109"/>
                    <a:pt x="1182" y="1474"/>
                    <a:pt x="1122" y="702"/>
                  </a:cubicBezTo>
                  <a:lnTo>
                    <a:pt x="972" y="744"/>
                  </a:lnTo>
                  <a:cubicBezTo>
                    <a:pt x="988" y="702"/>
                    <a:pt x="1140" y="436"/>
                    <a:pt x="1140" y="438"/>
                  </a:cubicBezTo>
                  <a:lnTo>
                    <a:pt x="1422" y="642"/>
                  </a:lnTo>
                  <a:cubicBezTo>
                    <a:pt x="1422" y="642"/>
                    <a:pt x="1260" y="672"/>
                    <a:pt x="1272" y="672"/>
                  </a:cubicBezTo>
                  <a:cubicBezTo>
                    <a:pt x="1428" y="1008"/>
                    <a:pt x="1620" y="1350"/>
                    <a:pt x="1968" y="1284"/>
                  </a:cubicBezTo>
                  <a:cubicBezTo>
                    <a:pt x="2316" y="1218"/>
                    <a:pt x="2460" y="576"/>
                    <a:pt x="2466" y="318"/>
                  </a:cubicBezTo>
                  <a:lnTo>
                    <a:pt x="2280" y="318"/>
                  </a:lnTo>
                  <a:lnTo>
                    <a:pt x="2598" y="0"/>
                  </a:lnTo>
                  <a:lnTo>
                    <a:pt x="2898" y="330"/>
                  </a:lnTo>
                  <a:lnTo>
                    <a:pt x="2724" y="324"/>
                  </a:lnTo>
                  <a:cubicBezTo>
                    <a:pt x="2724" y="325"/>
                    <a:pt x="2760" y="1284"/>
                    <a:pt x="3210" y="1302"/>
                  </a:cubicBezTo>
                  <a:cubicBezTo>
                    <a:pt x="3660" y="1320"/>
                    <a:pt x="3816" y="912"/>
                    <a:pt x="3870" y="654"/>
                  </a:cubicBezTo>
                  <a:lnTo>
                    <a:pt x="3702" y="642"/>
                  </a:lnTo>
                  <a:lnTo>
                    <a:pt x="3984" y="420"/>
                  </a:lnTo>
                  <a:lnTo>
                    <a:pt x="4182" y="678"/>
                  </a:lnTo>
                  <a:lnTo>
                    <a:pt x="4026" y="672"/>
                  </a:lnTo>
                  <a:cubicBezTo>
                    <a:pt x="4032" y="678"/>
                    <a:pt x="3960" y="1862"/>
                    <a:pt x="5016" y="2225"/>
                  </a:cubicBezTo>
                  <a:cubicBezTo>
                    <a:pt x="3438" y="2232"/>
                    <a:pt x="1092" y="2256"/>
                    <a:pt x="0" y="2240"/>
                  </a:cubicBezTo>
                  <a:close/>
                </a:path>
              </a:pathLst>
            </a:custGeom>
            <a:gradFill rotWithShape="1">
              <a:gsLst>
                <a:gs pos="58000">
                  <a:srgbClr val="EDF1F9">
                    <a:alpha val="100000"/>
                  </a:srgbClr>
                </a:gs>
                <a:gs pos="0">
                  <a:srgbClr val="4874CB">
                    <a:lumMod val="20000"/>
                    <a:lumOff val="80000"/>
                  </a:srgbClr>
                </a:gs>
                <a:gs pos="99000">
                  <a:sysClr val="window" lastClr="FFFFFF">
                    <a:alpha val="0"/>
                  </a:sys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10862" y="7412"/>
              <a:ext cx="107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gradFill>
                    <a:gsLst>
                      <a:gs pos="21000">
                        <a:srgbClr val="53575C"/>
                      </a:gs>
                      <a:gs pos="88000">
                        <a:srgbClr val="C5C7CA"/>
                      </a:gs>
                    </a:gsLst>
                    <a:lin ang="5400000"/>
                  </a:gradFill>
                  <a:latin typeface="微软雅黑" panose="020B0503020204020204" charset="-122"/>
                </a:rPr>
                <a:t>MCP</a:t>
              </a:r>
              <a:endParaRPr lang="en-US" altLang="zh-CN" sz="8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微软雅黑" panose="020B0503020204020204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291465" y="2819400"/>
            <a:ext cx="11149965" cy="2099945"/>
            <a:chOff x="459" y="4280"/>
            <a:chExt cx="17559" cy="3307"/>
          </a:xfrm>
        </p:grpSpPr>
        <p:sp>
          <p:nvSpPr>
            <p:cNvPr id="133" name="矩形 132"/>
            <p:cNvSpPr>
              <a:spLocks noChangeAspect="1"/>
            </p:cNvSpPr>
            <p:nvPr>
              <p:custDataLst>
                <p:tags r:id="rId19"/>
              </p:custDataLst>
            </p:nvPr>
          </p:nvSpPr>
          <p:spPr>
            <a:xfrm>
              <a:off x="2062" y="5235"/>
              <a:ext cx="15957" cy="2353"/>
            </a:xfrm>
            <a:prstGeom prst="rect">
              <a:avLst/>
            </a:prstGeom>
            <a:gradFill>
              <a:gsLst>
                <a:gs pos="0">
                  <a:srgbClr val="0082FF">
                    <a:alpha val="13000"/>
                  </a:srgbClr>
                </a:gs>
                <a:gs pos="57000">
                  <a:srgbClr val="0082FF">
                    <a:alpha val="1000"/>
                  </a:srgbClr>
                </a:gs>
              </a:gsLst>
              <a:lin ang="5400000" scaled="1"/>
            </a:gradFill>
            <a:ln w="3175">
              <a:noFill/>
            </a:ln>
          </p:spPr>
          <p:txBody>
            <a:bodyPr lIns="17138" tIns="17138" rIns="17138" bIns="17138" rtlCol="0" anchor="ctr" anchorCtr="0">
              <a:noAutofit/>
            </a:bodyPr>
            <a:lstStyle/>
            <a:p>
              <a:pPr algn="ctr" defTabSz="64135">
                <a:defRPr/>
              </a:pPr>
              <a:endParaRPr lang="en-US" altLang="zh-CN" dirty="0">
                <a:solidFill>
                  <a:srgbClr val="1678FC"/>
                </a:solidFill>
                <a:latin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endParaRPr>
            </a:p>
          </p:txBody>
        </p:sp>
        <p:sp>
          <p:nvSpPr>
            <p:cNvPr id="134" name="梯形 133"/>
            <p:cNvSpPr/>
            <p:nvPr/>
          </p:nvSpPr>
          <p:spPr>
            <a:xfrm>
              <a:off x="2050" y="4280"/>
              <a:ext cx="15968" cy="954"/>
            </a:xfrm>
            <a:prstGeom prst="trapezoid">
              <a:avLst>
                <a:gd name="adj" fmla="val 200795"/>
              </a:avLst>
            </a:prstGeom>
            <a:gradFill>
              <a:gsLst>
                <a:gs pos="28000">
                  <a:srgbClr val="1D78FA">
                    <a:lumMod val="60000"/>
                    <a:lumOff val="40000"/>
                    <a:alpha val="17000"/>
                  </a:srgbClr>
                </a:gs>
                <a:gs pos="3000">
                  <a:srgbClr val="1D78FA">
                    <a:alpha val="19000"/>
                  </a:srgbClr>
                </a:gs>
                <a:gs pos="69000">
                  <a:srgbClr val="1D78FA">
                    <a:lumMod val="20000"/>
                    <a:lumOff val="80000"/>
                    <a:alpha val="0"/>
                  </a:srgb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" lastClr="FFFFFF"/>
                </a:solidFill>
                <a:latin typeface="Roboto Regular" charset="0"/>
                <a:ea typeface="思源黑体 CN Regular" charset="0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2012" y="5566"/>
              <a:ext cx="173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70C0"/>
                  </a:solidFill>
                  <a:latin typeface="微软雅黑" panose="020B0503020204020204" charset="-122"/>
                </a:rPr>
                <a:t>Agent</a:t>
              </a:r>
              <a:r>
                <a:rPr lang="zh-CN" altLang="en-US" sz="1400" b="1">
                  <a:solidFill>
                    <a:srgbClr val="0070C0"/>
                  </a:solidFill>
                  <a:latin typeface="微软雅黑" panose="020B0503020204020204" charset="-122"/>
                </a:rPr>
                <a:t>调度</a:t>
              </a:r>
              <a:endParaRPr lang="zh-CN" altLang="en-US" sz="1400" b="1">
                <a:solidFill>
                  <a:srgbClr val="0070C0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459" y="5948"/>
              <a:ext cx="1232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gradFill>
                    <a:gsLst>
                      <a:gs pos="0">
                        <a:srgbClr val="5B9BD5">
                          <a:lumMod val="50000"/>
                        </a:srgbClr>
                      </a:gs>
                      <a:gs pos="50000">
                        <a:srgbClr val="5B9BD5"/>
                      </a:gs>
                      <a:gs pos="100000">
                        <a:srgbClr val="5B9BD5">
                          <a:lumMod val="60000"/>
                          <a:lumOff val="40000"/>
                        </a:srgb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微软雅黑" panose="020B0503020204020204" charset="-122"/>
                </a:rPr>
                <a:t>AI</a:t>
              </a:r>
              <a:endParaRPr lang="en-US" altLang="zh-CN" sz="1400" b="1" dirty="0">
                <a:gradFill>
                  <a:gsLst>
                    <a:gs pos="0">
                      <a:srgbClr val="5B9BD5">
                        <a:lumMod val="50000"/>
                      </a:srgbClr>
                    </a:gs>
                    <a:gs pos="50000">
                      <a:srgbClr val="5B9BD5"/>
                    </a:gs>
                    <a:gs pos="100000">
                      <a:srgbClr val="5B9BD5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</a:endParaRPr>
            </a:p>
            <a:p>
              <a:pPr algn="ctr"/>
              <a:r>
                <a:rPr lang="zh-CN" altLang="en-US" sz="1400" b="1" dirty="0">
                  <a:gradFill>
                    <a:gsLst>
                      <a:gs pos="0">
                        <a:srgbClr val="5B9BD5">
                          <a:lumMod val="50000"/>
                        </a:srgbClr>
                      </a:gs>
                      <a:gs pos="50000">
                        <a:srgbClr val="5B9BD5"/>
                      </a:gs>
                      <a:gs pos="100000">
                        <a:srgbClr val="5B9BD5">
                          <a:lumMod val="60000"/>
                          <a:lumOff val="40000"/>
                        </a:srgb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微软雅黑" panose="020B0503020204020204" charset="-122"/>
                </a:rPr>
                <a:t>大脑层</a:t>
              </a:r>
              <a:endParaRPr lang="zh-CN" altLang="en-US" sz="1400" b="1" dirty="0">
                <a:gradFill>
                  <a:gsLst>
                    <a:gs pos="0">
                      <a:srgbClr val="5B9BD5">
                        <a:lumMod val="50000"/>
                      </a:srgbClr>
                    </a:gs>
                    <a:gs pos="50000">
                      <a:srgbClr val="5B9BD5"/>
                    </a:gs>
                    <a:gs pos="100000">
                      <a:srgbClr val="5B9BD5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2206" y="6536"/>
              <a:ext cx="12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70C0"/>
                  </a:solidFill>
                  <a:latin typeface="微软雅黑" panose="020B0503020204020204" charset="-122"/>
                </a:rPr>
                <a:t>Skills</a:t>
              </a:r>
              <a:endParaRPr lang="en-US" altLang="zh-CN" sz="1400" b="1">
                <a:solidFill>
                  <a:srgbClr val="0070C0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2283" y="6431"/>
              <a:ext cx="15267" cy="712"/>
            </a:xfrm>
            <a:prstGeom prst="rect">
              <a:avLst/>
            </a:prstGeom>
            <a:noFill/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3339" y="654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数据查询分析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5336" y="654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网络问题感知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1" name="矩形 140"/>
            <p:cNvSpPr/>
            <p:nvPr/>
          </p:nvSpPr>
          <p:spPr>
            <a:xfrm>
              <a:off x="7333" y="654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问题分析定界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9330" y="654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优化方案决策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13406" y="6536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方案执行管控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4" name="矩形 143"/>
            <p:cNvSpPr/>
            <p:nvPr/>
          </p:nvSpPr>
          <p:spPr>
            <a:xfrm>
              <a:off x="15484" y="654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方案效果评估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5" name="矩形 144"/>
            <p:cNvSpPr/>
            <p:nvPr/>
          </p:nvSpPr>
          <p:spPr>
            <a:xfrm>
              <a:off x="11368" y="654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任务智能督办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6" name="矩形 145"/>
            <p:cNvSpPr/>
            <p:nvPr/>
          </p:nvSpPr>
          <p:spPr>
            <a:xfrm>
              <a:off x="3796" y="5566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用户意图识别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7" name="矩形 146"/>
            <p:cNvSpPr/>
            <p:nvPr/>
          </p:nvSpPr>
          <p:spPr>
            <a:xfrm>
              <a:off x="6066" y="557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任务分析拆解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8" name="矩形 147"/>
            <p:cNvSpPr/>
            <p:nvPr/>
          </p:nvSpPr>
          <p:spPr>
            <a:xfrm>
              <a:off x="8293" y="557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en-US" altLang="zh-CN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Skills</a:t>
              </a: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编排调度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49" name="矩形 148"/>
            <p:cNvSpPr/>
            <p:nvPr/>
          </p:nvSpPr>
          <p:spPr>
            <a:xfrm>
              <a:off x="10541" y="5566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工具编排调度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50" name="矩形 149"/>
            <p:cNvSpPr/>
            <p:nvPr/>
          </p:nvSpPr>
          <p:spPr>
            <a:xfrm>
              <a:off x="12761" y="5572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闭环核验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15041" y="5566"/>
              <a:ext cx="1797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知识沉淀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52" name="图片 37"/>
            <p:cNvSpPr/>
            <p:nvPr/>
          </p:nvSpPr>
          <p:spPr>
            <a:xfrm flipH="1" flipV="1">
              <a:off x="5671" y="5678"/>
              <a:ext cx="396" cy="270"/>
            </a:xfrm>
            <a:custGeom>
              <a:avLst/>
              <a:gdLst>
                <a:gd name="connsiteX0" fmla="*/ 392915 w 413649"/>
                <a:gd name="connsiteY0" fmla="*/ 77823 h 240493"/>
                <a:gd name="connsiteX1" fmla="*/ 413649 w 413649"/>
                <a:gd name="connsiteY1" fmla="*/ 99018 h 240493"/>
                <a:gd name="connsiteX2" fmla="*/ 413649 w 413649"/>
                <a:gd name="connsiteY2" fmla="*/ 141469 h 240493"/>
                <a:gd name="connsiteX3" fmla="*/ 392915 w 413649"/>
                <a:gd name="connsiteY3" fmla="*/ 162663 h 240493"/>
                <a:gd name="connsiteX4" fmla="*/ 372242 w 413649"/>
                <a:gd name="connsiteY4" fmla="*/ 141469 h 240493"/>
                <a:gd name="connsiteX5" fmla="*/ 372242 w 413649"/>
                <a:gd name="connsiteY5" fmla="*/ 99018 h 240493"/>
                <a:gd name="connsiteX6" fmla="*/ 392915 w 413649"/>
                <a:gd name="connsiteY6" fmla="*/ 77823 h 240493"/>
                <a:gd name="connsiteX7" fmla="*/ 337799 w 413649"/>
                <a:gd name="connsiteY7" fmla="*/ 77823 h 240493"/>
                <a:gd name="connsiteX8" fmla="*/ 358454 w 413649"/>
                <a:gd name="connsiteY8" fmla="*/ 99018 h 240493"/>
                <a:gd name="connsiteX9" fmla="*/ 358454 w 413649"/>
                <a:gd name="connsiteY9" fmla="*/ 141469 h 240493"/>
                <a:gd name="connsiteX10" fmla="*/ 337799 w 413649"/>
                <a:gd name="connsiteY10" fmla="*/ 162663 h 240493"/>
                <a:gd name="connsiteX11" fmla="*/ 317141 w 413649"/>
                <a:gd name="connsiteY11" fmla="*/ 141469 h 240493"/>
                <a:gd name="connsiteX12" fmla="*/ 317141 w 413649"/>
                <a:gd name="connsiteY12" fmla="*/ 99018 h 240493"/>
                <a:gd name="connsiteX13" fmla="*/ 337799 w 413649"/>
                <a:gd name="connsiteY13" fmla="*/ 77823 h 240493"/>
                <a:gd name="connsiteX14" fmla="*/ 282651 w 413649"/>
                <a:gd name="connsiteY14" fmla="*/ 77823 h 240493"/>
                <a:gd name="connsiteX15" fmla="*/ 303307 w 413649"/>
                <a:gd name="connsiteY15" fmla="*/ 99018 h 240493"/>
                <a:gd name="connsiteX16" fmla="*/ 303307 w 413649"/>
                <a:gd name="connsiteY16" fmla="*/ 141469 h 240493"/>
                <a:gd name="connsiteX17" fmla="*/ 282651 w 413649"/>
                <a:gd name="connsiteY17" fmla="*/ 162663 h 240493"/>
                <a:gd name="connsiteX18" fmla="*/ 261995 w 413649"/>
                <a:gd name="connsiteY18" fmla="*/ 141469 h 240493"/>
                <a:gd name="connsiteX19" fmla="*/ 261995 w 413649"/>
                <a:gd name="connsiteY19" fmla="*/ 99018 h 240493"/>
                <a:gd name="connsiteX20" fmla="*/ 282651 w 413649"/>
                <a:gd name="connsiteY20" fmla="*/ 77823 h 240493"/>
                <a:gd name="connsiteX21" fmla="*/ 161704 w 413649"/>
                <a:gd name="connsiteY21" fmla="*/ 791 h 240493"/>
                <a:gd name="connsiteX22" fmla="*/ 165461 w 413649"/>
                <a:gd name="connsiteY22" fmla="*/ 7070 h 240493"/>
                <a:gd name="connsiteX23" fmla="*/ 165461 w 413649"/>
                <a:gd name="connsiteY23" fmla="*/ 77812 h 240493"/>
                <a:gd name="connsiteX24" fmla="*/ 241254 w 413649"/>
                <a:gd name="connsiteY24" fmla="*/ 77812 h 240493"/>
                <a:gd name="connsiteX25" fmla="*/ 248161 w 413649"/>
                <a:gd name="connsiteY25" fmla="*/ 84836 h 240493"/>
                <a:gd name="connsiteX26" fmla="*/ 248161 w 413649"/>
                <a:gd name="connsiteY26" fmla="*/ 155578 h 240493"/>
                <a:gd name="connsiteX27" fmla="*/ 241254 w 413649"/>
                <a:gd name="connsiteY27" fmla="*/ 162665 h 240493"/>
                <a:gd name="connsiteX28" fmla="*/ 165461 w 413649"/>
                <a:gd name="connsiteY28" fmla="*/ 162665 h 240493"/>
                <a:gd name="connsiteX29" fmla="*/ 165461 w 413649"/>
                <a:gd name="connsiteY29" fmla="*/ 233407 h 240493"/>
                <a:gd name="connsiteX30" fmla="*/ 161704 w 413649"/>
                <a:gd name="connsiteY30" fmla="*/ 239685 h 240493"/>
                <a:gd name="connsiteX31" fmla="*/ 158554 w 413649"/>
                <a:gd name="connsiteY31" fmla="*/ 240493 h 240493"/>
                <a:gd name="connsiteX32" fmla="*/ 154494 w 413649"/>
                <a:gd name="connsiteY32" fmla="*/ 239125 h 240493"/>
                <a:gd name="connsiteX33" fmla="*/ 2848 w 413649"/>
                <a:gd name="connsiteY33" fmla="*/ 125926 h 240493"/>
                <a:gd name="connsiteX34" fmla="*/ 0 w 413649"/>
                <a:gd name="connsiteY34" fmla="*/ 120207 h 240493"/>
                <a:gd name="connsiteX35" fmla="*/ 2848 w 413649"/>
                <a:gd name="connsiteY35" fmla="*/ 114488 h 240493"/>
                <a:gd name="connsiteX36" fmla="*/ 154494 w 413649"/>
                <a:gd name="connsiteY36" fmla="*/ 1350 h 240493"/>
                <a:gd name="connsiteX37" fmla="*/ 161704 w 413649"/>
                <a:gd name="connsiteY37" fmla="*/ 791 h 2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13649" h="240493">
                  <a:moveTo>
                    <a:pt x="392915" y="77823"/>
                  </a:moveTo>
                  <a:cubicBezTo>
                    <a:pt x="404372" y="77823"/>
                    <a:pt x="413649" y="87332"/>
                    <a:pt x="413649" y="99018"/>
                  </a:cubicBezTo>
                  <a:lnTo>
                    <a:pt x="413649" y="141469"/>
                  </a:lnTo>
                  <a:cubicBezTo>
                    <a:pt x="413649" y="153154"/>
                    <a:pt x="404372" y="162663"/>
                    <a:pt x="392915" y="162663"/>
                  </a:cubicBezTo>
                  <a:cubicBezTo>
                    <a:pt x="381518" y="162663"/>
                    <a:pt x="372242" y="153154"/>
                    <a:pt x="372242" y="141469"/>
                  </a:cubicBezTo>
                  <a:lnTo>
                    <a:pt x="372242" y="99018"/>
                  </a:lnTo>
                  <a:cubicBezTo>
                    <a:pt x="372242" y="87332"/>
                    <a:pt x="381518" y="77823"/>
                    <a:pt x="392915" y="77823"/>
                  </a:cubicBezTo>
                  <a:close/>
                  <a:moveTo>
                    <a:pt x="337799" y="77823"/>
                  </a:moveTo>
                  <a:cubicBezTo>
                    <a:pt x="349187" y="77823"/>
                    <a:pt x="358454" y="87332"/>
                    <a:pt x="358454" y="99018"/>
                  </a:cubicBezTo>
                  <a:lnTo>
                    <a:pt x="358454" y="141469"/>
                  </a:lnTo>
                  <a:cubicBezTo>
                    <a:pt x="358454" y="153154"/>
                    <a:pt x="349187" y="162663"/>
                    <a:pt x="337799" y="162663"/>
                  </a:cubicBezTo>
                  <a:cubicBezTo>
                    <a:pt x="326409" y="162663"/>
                    <a:pt x="317141" y="153154"/>
                    <a:pt x="317141" y="141469"/>
                  </a:cubicBezTo>
                  <a:lnTo>
                    <a:pt x="317141" y="99018"/>
                  </a:lnTo>
                  <a:cubicBezTo>
                    <a:pt x="317141" y="87332"/>
                    <a:pt x="326409" y="77823"/>
                    <a:pt x="337799" y="77823"/>
                  </a:cubicBezTo>
                  <a:close/>
                  <a:moveTo>
                    <a:pt x="282651" y="77823"/>
                  </a:moveTo>
                  <a:cubicBezTo>
                    <a:pt x="294040" y="77823"/>
                    <a:pt x="303307" y="87332"/>
                    <a:pt x="303307" y="99018"/>
                  </a:cubicBezTo>
                  <a:lnTo>
                    <a:pt x="303307" y="141469"/>
                  </a:lnTo>
                  <a:cubicBezTo>
                    <a:pt x="303307" y="153154"/>
                    <a:pt x="294040" y="162663"/>
                    <a:pt x="282651" y="162663"/>
                  </a:cubicBezTo>
                  <a:cubicBezTo>
                    <a:pt x="271263" y="162663"/>
                    <a:pt x="261995" y="153154"/>
                    <a:pt x="261995" y="141469"/>
                  </a:cubicBezTo>
                  <a:lnTo>
                    <a:pt x="261995" y="99018"/>
                  </a:lnTo>
                  <a:cubicBezTo>
                    <a:pt x="261995" y="87332"/>
                    <a:pt x="271263" y="77823"/>
                    <a:pt x="282651" y="77823"/>
                  </a:cubicBezTo>
                  <a:close/>
                  <a:moveTo>
                    <a:pt x="161704" y="791"/>
                  </a:moveTo>
                  <a:cubicBezTo>
                    <a:pt x="164006" y="1972"/>
                    <a:pt x="165461" y="4397"/>
                    <a:pt x="165461" y="7070"/>
                  </a:cubicBezTo>
                  <a:lnTo>
                    <a:pt x="165461" y="77812"/>
                  </a:lnTo>
                  <a:lnTo>
                    <a:pt x="241254" y="77812"/>
                  </a:lnTo>
                  <a:cubicBezTo>
                    <a:pt x="245071" y="77812"/>
                    <a:pt x="248161" y="80982"/>
                    <a:pt x="248161" y="84836"/>
                  </a:cubicBezTo>
                  <a:lnTo>
                    <a:pt x="248161" y="155578"/>
                  </a:lnTo>
                  <a:cubicBezTo>
                    <a:pt x="248161" y="159494"/>
                    <a:pt x="245071" y="162665"/>
                    <a:pt x="241254" y="162665"/>
                  </a:cubicBezTo>
                  <a:lnTo>
                    <a:pt x="165461" y="162665"/>
                  </a:lnTo>
                  <a:lnTo>
                    <a:pt x="165461" y="233407"/>
                  </a:lnTo>
                  <a:cubicBezTo>
                    <a:pt x="165461" y="236080"/>
                    <a:pt x="164006" y="238504"/>
                    <a:pt x="161704" y="239685"/>
                  </a:cubicBezTo>
                  <a:cubicBezTo>
                    <a:pt x="160674" y="240183"/>
                    <a:pt x="159644" y="240493"/>
                    <a:pt x="158554" y="240493"/>
                  </a:cubicBezTo>
                  <a:cubicBezTo>
                    <a:pt x="157100" y="240493"/>
                    <a:pt x="155706" y="239997"/>
                    <a:pt x="154494" y="239125"/>
                  </a:cubicBezTo>
                  <a:lnTo>
                    <a:pt x="2848" y="125926"/>
                  </a:lnTo>
                  <a:cubicBezTo>
                    <a:pt x="1030" y="124621"/>
                    <a:pt x="0" y="122506"/>
                    <a:pt x="0" y="120207"/>
                  </a:cubicBezTo>
                  <a:cubicBezTo>
                    <a:pt x="0" y="117970"/>
                    <a:pt x="1030" y="115856"/>
                    <a:pt x="2848" y="114488"/>
                  </a:cubicBezTo>
                  <a:lnTo>
                    <a:pt x="154494" y="1350"/>
                  </a:lnTo>
                  <a:cubicBezTo>
                    <a:pt x="156615" y="-204"/>
                    <a:pt x="159402" y="-452"/>
                    <a:pt x="161704" y="791"/>
                  </a:cubicBezTo>
                  <a:close/>
                </a:path>
              </a:pathLst>
            </a:custGeom>
            <a:gradFill>
              <a:gsLst>
                <a:gs pos="0">
                  <a:srgbClr val="0089F0">
                    <a:alpha val="100000"/>
                  </a:srgbClr>
                </a:gs>
                <a:gs pos="21000">
                  <a:srgbClr val="0089F0">
                    <a:alpha val="40000"/>
                  </a:srgbClr>
                </a:gs>
                <a:gs pos="75000">
                  <a:srgbClr val="49E0FD">
                    <a:alpha val="20000"/>
                  </a:srgbClr>
                </a:gs>
                <a:gs pos="100000">
                  <a:srgbClr val="49E0FD">
                    <a:alpha val="20000"/>
                  </a:srgbClr>
                </a:gs>
              </a:gsLst>
              <a:lin ang="18900000" scaled="1"/>
            </a:gradFill>
            <a:ln w="301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40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53" name="图片 37"/>
            <p:cNvSpPr/>
            <p:nvPr/>
          </p:nvSpPr>
          <p:spPr>
            <a:xfrm flipH="1" flipV="1">
              <a:off x="7863" y="5677"/>
              <a:ext cx="396" cy="270"/>
            </a:xfrm>
            <a:custGeom>
              <a:avLst/>
              <a:gdLst>
                <a:gd name="connsiteX0" fmla="*/ 392915 w 413649"/>
                <a:gd name="connsiteY0" fmla="*/ 77823 h 240493"/>
                <a:gd name="connsiteX1" fmla="*/ 413649 w 413649"/>
                <a:gd name="connsiteY1" fmla="*/ 99018 h 240493"/>
                <a:gd name="connsiteX2" fmla="*/ 413649 w 413649"/>
                <a:gd name="connsiteY2" fmla="*/ 141469 h 240493"/>
                <a:gd name="connsiteX3" fmla="*/ 392915 w 413649"/>
                <a:gd name="connsiteY3" fmla="*/ 162663 h 240493"/>
                <a:gd name="connsiteX4" fmla="*/ 372242 w 413649"/>
                <a:gd name="connsiteY4" fmla="*/ 141469 h 240493"/>
                <a:gd name="connsiteX5" fmla="*/ 372242 w 413649"/>
                <a:gd name="connsiteY5" fmla="*/ 99018 h 240493"/>
                <a:gd name="connsiteX6" fmla="*/ 392915 w 413649"/>
                <a:gd name="connsiteY6" fmla="*/ 77823 h 240493"/>
                <a:gd name="connsiteX7" fmla="*/ 337799 w 413649"/>
                <a:gd name="connsiteY7" fmla="*/ 77823 h 240493"/>
                <a:gd name="connsiteX8" fmla="*/ 358454 w 413649"/>
                <a:gd name="connsiteY8" fmla="*/ 99018 h 240493"/>
                <a:gd name="connsiteX9" fmla="*/ 358454 w 413649"/>
                <a:gd name="connsiteY9" fmla="*/ 141469 h 240493"/>
                <a:gd name="connsiteX10" fmla="*/ 337799 w 413649"/>
                <a:gd name="connsiteY10" fmla="*/ 162663 h 240493"/>
                <a:gd name="connsiteX11" fmla="*/ 317141 w 413649"/>
                <a:gd name="connsiteY11" fmla="*/ 141469 h 240493"/>
                <a:gd name="connsiteX12" fmla="*/ 317141 w 413649"/>
                <a:gd name="connsiteY12" fmla="*/ 99018 h 240493"/>
                <a:gd name="connsiteX13" fmla="*/ 337799 w 413649"/>
                <a:gd name="connsiteY13" fmla="*/ 77823 h 240493"/>
                <a:gd name="connsiteX14" fmla="*/ 282651 w 413649"/>
                <a:gd name="connsiteY14" fmla="*/ 77823 h 240493"/>
                <a:gd name="connsiteX15" fmla="*/ 303307 w 413649"/>
                <a:gd name="connsiteY15" fmla="*/ 99018 h 240493"/>
                <a:gd name="connsiteX16" fmla="*/ 303307 w 413649"/>
                <a:gd name="connsiteY16" fmla="*/ 141469 h 240493"/>
                <a:gd name="connsiteX17" fmla="*/ 282651 w 413649"/>
                <a:gd name="connsiteY17" fmla="*/ 162663 h 240493"/>
                <a:gd name="connsiteX18" fmla="*/ 261995 w 413649"/>
                <a:gd name="connsiteY18" fmla="*/ 141469 h 240493"/>
                <a:gd name="connsiteX19" fmla="*/ 261995 w 413649"/>
                <a:gd name="connsiteY19" fmla="*/ 99018 h 240493"/>
                <a:gd name="connsiteX20" fmla="*/ 282651 w 413649"/>
                <a:gd name="connsiteY20" fmla="*/ 77823 h 240493"/>
                <a:gd name="connsiteX21" fmla="*/ 161704 w 413649"/>
                <a:gd name="connsiteY21" fmla="*/ 791 h 240493"/>
                <a:gd name="connsiteX22" fmla="*/ 165461 w 413649"/>
                <a:gd name="connsiteY22" fmla="*/ 7070 h 240493"/>
                <a:gd name="connsiteX23" fmla="*/ 165461 w 413649"/>
                <a:gd name="connsiteY23" fmla="*/ 77812 h 240493"/>
                <a:gd name="connsiteX24" fmla="*/ 241254 w 413649"/>
                <a:gd name="connsiteY24" fmla="*/ 77812 h 240493"/>
                <a:gd name="connsiteX25" fmla="*/ 248161 w 413649"/>
                <a:gd name="connsiteY25" fmla="*/ 84836 h 240493"/>
                <a:gd name="connsiteX26" fmla="*/ 248161 w 413649"/>
                <a:gd name="connsiteY26" fmla="*/ 155578 h 240493"/>
                <a:gd name="connsiteX27" fmla="*/ 241254 w 413649"/>
                <a:gd name="connsiteY27" fmla="*/ 162665 h 240493"/>
                <a:gd name="connsiteX28" fmla="*/ 165461 w 413649"/>
                <a:gd name="connsiteY28" fmla="*/ 162665 h 240493"/>
                <a:gd name="connsiteX29" fmla="*/ 165461 w 413649"/>
                <a:gd name="connsiteY29" fmla="*/ 233407 h 240493"/>
                <a:gd name="connsiteX30" fmla="*/ 161704 w 413649"/>
                <a:gd name="connsiteY30" fmla="*/ 239685 h 240493"/>
                <a:gd name="connsiteX31" fmla="*/ 158554 w 413649"/>
                <a:gd name="connsiteY31" fmla="*/ 240493 h 240493"/>
                <a:gd name="connsiteX32" fmla="*/ 154494 w 413649"/>
                <a:gd name="connsiteY32" fmla="*/ 239125 h 240493"/>
                <a:gd name="connsiteX33" fmla="*/ 2848 w 413649"/>
                <a:gd name="connsiteY33" fmla="*/ 125926 h 240493"/>
                <a:gd name="connsiteX34" fmla="*/ 0 w 413649"/>
                <a:gd name="connsiteY34" fmla="*/ 120207 h 240493"/>
                <a:gd name="connsiteX35" fmla="*/ 2848 w 413649"/>
                <a:gd name="connsiteY35" fmla="*/ 114488 h 240493"/>
                <a:gd name="connsiteX36" fmla="*/ 154494 w 413649"/>
                <a:gd name="connsiteY36" fmla="*/ 1350 h 240493"/>
                <a:gd name="connsiteX37" fmla="*/ 161704 w 413649"/>
                <a:gd name="connsiteY37" fmla="*/ 791 h 2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13649" h="240493">
                  <a:moveTo>
                    <a:pt x="392915" y="77823"/>
                  </a:moveTo>
                  <a:cubicBezTo>
                    <a:pt x="404372" y="77823"/>
                    <a:pt x="413649" y="87332"/>
                    <a:pt x="413649" y="99018"/>
                  </a:cubicBezTo>
                  <a:lnTo>
                    <a:pt x="413649" y="141469"/>
                  </a:lnTo>
                  <a:cubicBezTo>
                    <a:pt x="413649" y="153154"/>
                    <a:pt x="404372" y="162663"/>
                    <a:pt x="392915" y="162663"/>
                  </a:cubicBezTo>
                  <a:cubicBezTo>
                    <a:pt x="381518" y="162663"/>
                    <a:pt x="372242" y="153154"/>
                    <a:pt x="372242" y="141469"/>
                  </a:cubicBezTo>
                  <a:lnTo>
                    <a:pt x="372242" y="99018"/>
                  </a:lnTo>
                  <a:cubicBezTo>
                    <a:pt x="372242" y="87332"/>
                    <a:pt x="381518" y="77823"/>
                    <a:pt x="392915" y="77823"/>
                  </a:cubicBezTo>
                  <a:close/>
                  <a:moveTo>
                    <a:pt x="337799" y="77823"/>
                  </a:moveTo>
                  <a:cubicBezTo>
                    <a:pt x="349187" y="77823"/>
                    <a:pt x="358454" y="87332"/>
                    <a:pt x="358454" y="99018"/>
                  </a:cubicBezTo>
                  <a:lnTo>
                    <a:pt x="358454" y="141469"/>
                  </a:lnTo>
                  <a:cubicBezTo>
                    <a:pt x="358454" y="153154"/>
                    <a:pt x="349187" y="162663"/>
                    <a:pt x="337799" y="162663"/>
                  </a:cubicBezTo>
                  <a:cubicBezTo>
                    <a:pt x="326409" y="162663"/>
                    <a:pt x="317141" y="153154"/>
                    <a:pt x="317141" y="141469"/>
                  </a:cubicBezTo>
                  <a:lnTo>
                    <a:pt x="317141" y="99018"/>
                  </a:lnTo>
                  <a:cubicBezTo>
                    <a:pt x="317141" y="87332"/>
                    <a:pt x="326409" y="77823"/>
                    <a:pt x="337799" y="77823"/>
                  </a:cubicBezTo>
                  <a:close/>
                  <a:moveTo>
                    <a:pt x="282651" y="77823"/>
                  </a:moveTo>
                  <a:cubicBezTo>
                    <a:pt x="294040" y="77823"/>
                    <a:pt x="303307" y="87332"/>
                    <a:pt x="303307" y="99018"/>
                  </a:cubicBezTo>
                  <a:lnTo>
                    <a:pt x="303307" y="141469"/>
                  </a:lnTo>
                  <a:cubicBezTo>
                    <a:pt x="303307" y="153154"/>
                    <a:pt x="294040" y="162663"/>
                    <a:pt x="282651" y="162663"/>
                  </a:cubicBezTo>
                  <a:cubicBezTo>
                    <a:pt x="271263" y="162663"/>
                    <a:pt x="261995" y="153154"/>
                    <a:pt x="261995" y="141469"/>
                  </a:cubicBezTo>
                  <a:lnTo>
                    <a:pt x="261995" y="99018"/>
                  </a:lnTo>
                  <a:cubicBezTo>
                    <a:pt x="261995" y="87332"/>
                    <a:pt x="271263" y="77823"/>
                    <a:pt x="282651" y="77823"/>
                  </a:cubicBezTo>
                  <a:close/>
                  <a:moveTo>
                    <a:pt x="161704" y="791"/>
                  </a:moveTo>
                  <a:cubicBezTo>
                    <a:pt x="164006" y="1972"/>
                    <a:pt x="165461" y="4397"/>
                    <a:pt x="165461" y="7070"/>
                  </a:cubicBezTo>
                  <a:lnTo>
                    <a:pt x="165461" y="77812"/>
                  </a:lnTo>
                  <a:lnTo>
                    <a:pt x="241254" y="77812"/>
                  </a:lnTo>
                  <a:cubicBezTo>
                    <a:pt x="245071" y="77812"/>
                    <a:pt x="248161" y="80982"/>
                    <a:pt x="248161" y="84836"/>
                  </a:cubicBezTo>
                  <a:lnTo>
                    <a:pt x="248161" y="155578"/>
                  </a:lnTo>
                  <a:cubicBezTo>
                    <a:pt x="248161" y="159494"/>
                    <a:pt x="245071" y="162665"/>
                    <a:pt x="241254" y="162665"/>
                  </a:cubicBezTo>
                  <a:lnTo>
                    <a:pt x="165461" y="162665"/>
                  </a:lnTo>
                  <a:lnTo>
                    <a:pt x="165461" y="233407"/>
                  </a:lnTo>
                  <a:cubicBezTo>
                    <a:pt x="165461" y="236080"/>
                    <a:pt x="164006" y="238504"/>
                    <a:pt x="161704" y="239685"/>
                  </a:cubicBezTo>
                  <a:cubicBezTo>
                    <a:pt x="160674" y="240183"/>
                    <a:pt x="159644" y="240493"/>
                    <a:pt x="158554" y="240493"/>
                  </a:cubicBezTo>
                  <a:cubicBezTo>
                    <a:pt x="157100" y="240493"/>
                    <a:pt x="155706" y="239997"/>
                    <a:pt x="154494" y="239125"/>
                  </a:cubicBezTo>
                  <a:lnTo>
                    <a:pt x="2848" y="125926"/>
                  </a:lnTo>
                  <a:cubicBezTo>
                    <a:pt x="1030" y="124621"/>
                    <a:pt x="0" y="122506"/>
                    <a:pt x="0" y="120207"/>
                  </a:cubicBezTo>
                  <a:cubicBezTo>
                    <a:pt x="0" y="117970"/>
                    <a:pt x="1030" y="115856"/>
                    <a:pt x="2848" y="114488"/>
                  </a:cubicBezTo>
                  <a:lnTo>
                    <a:pt x="154494" y="1350"/>
                  </a:lnTo>
                  <a:cubicBezTo>
                    <a:pt x="156615" y="-204"/>
                    <a:pt x="159402" y="-452"/>
                    <a:pt x="161704" y="791"/>
                  </a:cubicBezTo>
                  <a:close/>
                </a:path>
              </a:pathLst>
            </a:custGeom>
            <a:gradFill>
              <a:gsLst>
                <a:gs pos="0">
                  <a:srgbClr val="0089F0">
                    <a:alpha val="100000"/>
                  </a:srgbClr>
                </a:gs>
                <a:gs pos="21000">
                  <a:srgbClr val="0089F0">
                    <a:alpha val="40000"/>
                  </a:srgbClr>
                </a:gs>
                <a:gs pos="75000">
                  <a:srgbClr val="49E0FD">
                    <a:alpha val="20000"/>
                  </a:srgbClr>
                </a:gs>
                <a:gs pos="100000">
                  <a:srgbClr val="49E0FD">
                    <a:alpha val="20000"/>
                  </a:srgbClr>
                </a:gs>
              </a:gsLst>
              <a:lin ang="18900000" scaled="1"/>
            </a:gradFill>
            <a:ln w="301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40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54" name="图片 37"/>
            <p:cNvSpPr/>
            <p:nvPr/>
          </p:nvSpPr>
          <p:spPr>
            <a:xfrm flipH="1" flipV="1">
              <a:off x="10145" y="5678"/>
              <a:ext cx="396" cy="270"/>
            </a:xfrm>
            <a:custGeom>
              <a:avLst/>
              <a:gdLst>
                <a:gd name="connsiteX0" fmla="*/ 392915 w 413649"/>
                <a:gd name="connsiteY0" fmla="*/ 77823 h 240493"/>
                <a:gd name="connsiteX1" fmla="*/ 413649 w 413649"/>
                <a:gd name="connsiteY1" fmla="*/ 99018 h 240493"/>
                <a:gd name="connsiteX2" fmla="*/ 413649 w 413649"/>
                <a:gd name="connsiteY2" fmla="*/ 141469 h 240493"/>
                <a:gd name="connsiteX3" fmla="*/ 392915 w 413649"/>
                <a:gd name="connsiteY3" fmla="*/ 162663 h 240493"/>
                <a:gd name="connsiteX4" fmla="*/ 372242 w 413649"/>
                <a:gd name="connsiteY4" fmla="*/ 141469 h 240493"/>
                <a:gd name="connsiteX5" fmla="*/ 372242 w 413649"/>
                <a:gd name="connsiteY5" fmla="*/ 99018 h 240493"/>
                <a:gd name="connsiteX6" fmla="*/ 392915 w 413649"/>
                <a:gd name="connsiteY6" fmla="*/ 77823 h 240493"/>
                <a:gd name="connsiteX7" fmla="*/ 337799 w 413649"/>
                <a:gd name="connsiteY7" fmla="*/ 77823 h 240493"/>
                <a:gd name="connsiteX8" fmla="*/ 358454 w 413649"/>
                <a:gd name="connsiteY8" fmla="*/ 99018 h 240493"/>
                <a:gd name="connsiteX9" fmla="*/ 358454 w 413649"/>
                <a:gd name="connsiteY9" fmla="*/ 141469 h 240493"/>
                <a:gd name="connsiteX10" fmla="*/ 337799 w 413649"/>
                <a:gd name="connsiteY10" fmla="*/ 162663 h 240493"/>
                <a:gd name="connsiteX11" fmla="*/ 317141 w 413649"/>
                <a:gd name="connsiteY11" fmla="*/ 141469 h 240493"/>
                <a:gd name="connsiteX12" fmla="*/ 317141 w 413649"/>
                <a:gd name="connsiteY12" fmla="*/ 99018 h 240493"/>
                <a:gd name="connsiteX13" fmla="*/ 337799 w 413649"/>
                <a:gd name="connsiteY13" fmla="*/ 77823 h 240493"/>
                <a:gd name="connsiteX14" fmla="*/ 282651 w 413649"/>
                <a:gd name="connsiteY14" fmla="*/ 77823 h 240493"/>
                <a:gd name="connsiteX15" fmla="*/ 303307 w 413649"/>
                <a:gd name="connsiteY15" fmla="*/ 99018 h 240493"/>
                <a:gd name="connsiteX16" fmla="*/ 303307 w 413649"/>
                <a:gd name="connsiteY16" fmla="*/ 141469 h 240493"/>
                <a:gd name="connsiteX17" fmla="*/ 282651 w 413649"/>
                <a:gd name="connsiteY17" fmla="*/ 162663 h 240493"/>
                <a:gd name="connsiteX18" fmla="*/ 261995 w 413649"/>
                <a:gd name="connsiteY18" fmla="*/ 141469 h 240493"/>
                <a:gd name="connsiteX19" fmla="*/ 261995 w 413649"/>
                <a:gd name="connsiteY19" fmla="*/ 99018 h 240493"/>
                <a:gd name="connsiteX20" fmla="*/ 282651 w 413649"/>
                <a:gd name="connsiteY20" fmla="*/ 77823 h 240493"/>
                <a:gd name="connsiteX21" fmla="*/ 161704 w 413649"/>
                <a:gd name="connsiteY21" fmla="*/ 791 h 240493"/>
                <a:gd name="connsiteX22" fmla="*/ 165461 w 413649"/>
                <a:gd name="connsiteY22" fmla="*/ 7070 h 240493"/>
                <a:gd name="connsiteX23" fmla="*/ 165461 w 413649"/>
                <a:gd name="connsiteY23" fmla="*/ 77812 h 240493"/>
                <a:gd name="connsiteX24" fmla="*/ 241254 w 413649"/>
                <a:gd name="connsiteY24" fmla="*/ 77812 h 240493"/>
                <a:gd name="connsiteX25" fmla="*/ 248161 w 413649"/>
                <a:gd name="connsiteY25" fmla="*/ 84836 h 240493"/>
                <a:gd name="connsiteX26" fmla="*/ 248161 w 413649"/>
                <a:gd name="connsiteY26" fmla="*/ 155578 h 240493"/>
                <a:gd name="connsiteX27" fmla="*/ 241254 w 413649"/>
                <a:gd name="connsiteY27" fmla="*/ 162665 h 240493"/>
                <a:gd name="connsiteX28" fmla="*/ 165461 w 413649"/>
                <a:gd name="connsiteY28" fmla="*/ 162665 h 240493"/>
                <a:gd name="connsiteX29" fmla="*/ 165461 w 413649"/>
                <a:gd name="connsiteY29" fmla="*/ 233407 h 240493"/>
                <a:gd name="connsiteX30" fmla="*/ 161704 w 413649"/>
                <a:gd name="connsiteY30" fmla="*/ 239685 h 240493"/>
                <a:gd name="connsiteX31" fmla="*/ 158554 w 413649"/>
                <a:gd name="connsiteY31" fmla="*/ 240493 h 240493"/>
                <a:gd name="connsiteX32" fmla="*/ 154494 w 413649"/>
                <a:gd name="connsiteY32" fmla="*/ 239125 h 240493"/>
                <a:gd name="connsiteX33" fmla="*/ 2848 w 413649"/>
                <a:gd name="connsiteY33" fmla="*/ 125926 h 240493"/>
                <a:gd name="connsiteX34" fmla="*/ 0 w 413649"/>
                <a:gd name="connsiteY34" fmla="*/ 120207 h 240493"/>
                <a:gd name="connsiteX35" fmla="*/ 2848 w 413649"/>
                <a:gd name="connsiteY35" fmla="*/ 114488 h 240493"/>
                <a:gd name="connsiteX36" fmla="*/ 154494 w 413649"/>
                <a:gd name="connsiteY36" fmla="*/ 1350 h 240493"/>
                <a:gd name="connsiteX37" fmla="*/ 161704 w 413649"/>
                <a:gd name="connsiteY37" fmla="*/ 791 h 2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13649" h="240493">
                  <a:moveTo>
                    <a:pt x="392915" y="77823"/>
                  </a:moveTo>
                  <a:cubicBezTo>
                    <a:pt x="404372" y="77823"/>
                    <a:pt x="413649" y="87332"/>
                    <a:pt x="413649" y="99018"/>
                  </a:cubicBezTo>
                  <a:lnTo>
                    <a:pt x="413649" y="141469"/>
                  </a:lnTo>
                  <a:cubicBezTo>
                    <a:pt x="413649" y="153154"/>
                    <a:pt x="404372" y="162663"/>
                    <a:pt x="392915" y="162663"/>
                  </a:cubicBezTo>
                  <a:cubicBezTo>
                    <a:pt x="381518" y="162663"/>
                    <a:pt x="372242" y="153154"/>
                    <a:pt x="372242" y="141469"/>
                  </a:cubicBezTo>
                  <a:lnTo>
                    <a:pt x="372242" y="99018"/>
                  </a:lnTo>
                  <a:cubicBezTo>
                    <a:pt x="372242" y="87332"/>
                    <a:pt x="381518" y="77823"/>
                    <a:pt x="392915" y="77823"/>
                  </a:cubicBezTo>
                  <a:close/>
                  <a:moveTo>
                    <a:pt x="337799" y="77823"/>
                  </a:moveTo>
                  <a:cubicBezTo>
                    <a:pt x="349187" y="77823"/>
                    <a:pt x="358454" y="87332"/>
                    <a:pt x="358454" y="99018"/>
                  </a:cubicBezTo>
                  <a:lnTo>
                    <a:pt x="358454" y="141469"/>
                  </a:lnTo>
                  <a:cubicBezTo>
                    <a:pt x="358454" y="153154"/>
                    <a:pt x="349187" y="162663"/>
                    <a:pt x="337799" y="162663"/>
                  </a:cubicBezTo>
                  <a:cubicBezTo>
                    <a:pt x="326409" y="162663"/>
                    <a:pt x="317141" y="153154"/>
                    <a:pt x="317141" y="141469"/>
                  </a:cubicBezTo>
                  <a:lnTo>
                    <a:pt x="317141" y="99018"/>
                  </a:lnTo>
                  <a:cubicBezTo>
                    <a:pt x="317141" y="87332"/>
                    <a:pt x="326409" y="77823"/>
                    <a:pt x="337799" y="77823"/>
                  </a:cubicBezTo>
                  <a:close/>
                  <a:moveTo>
                    <a:pt x="282651" y="77823"/>
                  </a:moveTo>
                  <a:cubicBezTo>
                    <a:pt x="294040" y="77823"/>
                    <a:pt x="303307" y="87332"/>
                    <a:pt x="303307" y="99018"/>
                  </a:cubicBezTo>
                  <a:lnTo>
                    <a:pt x="303307" y="141469"/>
                  </a:lnTo>
                  <a:cubicBezTo>
                    <a:pt x="303307" y="153154"/>
                    <a:pt x="294040" y="162663"/>
                    <a:pt x="282651" y="162663"/>
                  </a:cubicBezTo>
                  <a:cubicBezTo>
                    <a:pt x="271263" y="162663"/>
                    <a:pt x="261995" y="153154"/>
                    <a:pt x="261995" y="141469"/>
                  </a:cubicBezTo>
                  <a:lnTo>
                    <a:pt x="261995" y="99018"/>
                  </a:lnTo>
                  <a:cubicBezTo>
                    <a:pt x="261995" y="87332"/>
                    <a:pt x="271263" y="77823"/>
                    <a:pt x="282651" y="77823"/>
                  </a:cubicBezTo>
                  <a:close/>
                  <a:moveTo>
                    <a:pt x="161704" y="791"/>
                  </a:moveTo>
                  <a:cubicBezTo>
                    <a:pt x="164006" y="1972"/>
                    <a:pt x="165461" y="4397"/>
                    <a:pt x="165461" y="7070"/>
                  </a:cubicBezTo>
                  <a:lnTo>
                    <a:pt x="165461" y="77812"/>
                  </a:lnTo>
                  <a:lnTo>
                    <a:pt x="241254" y="77812"/>
                  </a:lnTo>
                  <a:cubicBezTo>
                    <a:pt x="245071" y="77812"/>
                    <a:pt x="248161" y="80982"/>
                    <a:pt x="248161" y="84836"/>
                  </a:cubicBezTo>
                  <a:lnTo>
                    <a:pt x="248161" y="155578"/>
                  </a:lnTo>
                  <a:cubicBezTo>
                    <a:pt x="248161" y="159494"/>
                    <a:pt x="245071" y="162665"/>
                    <a:pt x="241254" y="162665"/>
                  </a:cubicBezTo>
                  <a:lnTo>
                    <a:pt x="165461" y="162665"/>
                  </a:lnTo>
                  <a:lnTo>
                    <a:pt x="165461" y="233407"/>
                  </a:lnTo>
                  <a:cubicBezTo>
                    <a:pt x="165461" y="236080"/>
                    <a:pt x="164006" y="238504"/>
                    <a:pt x="161704" y="239685"/>
                  </a:cubicBezTo>
                  <a:cubicBezTo>
                    <a:pt x="160674" y="240183"/>
                    <a:pt x="159644" y="240493"/>
                    <a:pt x="158554" y="240493"/>
                  </a:cubicBezTo>
                  <a:cubicBezTo>
                    <a:pt x="157100" y="240493"/>
                    <a:pt x="155706" y="239997"/>
                    <a:pt x="154494" y="239125"/>
                  </a:cubicBezTo>
                  <a:lnTo>
                    <a:pt x="2848" y="125926"/>
                  </a:lnTo>
                  <a:cubicBezTo>
                    <a:pt x="1030" y="124621"/>
                    <a:pt x="0" y="122506"/>
                    <a:pt x="0" y="120207"/>
                  </a:cubicBezTo>
                  <a:cubicBezTo>
                    <a:pt x="0" y="117970"/>
                    <a:pt x="1030" y="115856"/>
                    <a:pt x="2848" y="114488"/>
                  </a:cubicBezTo>
                  <a:lnTo>
                    <a:pt x="154494" y="1350"/>
                  </a:lnTo>
                  <a:cubicBezTo>
                    <a:pt x="156615" y="-204"/>
                    <a:pt x="159402" y="-452"/>
                    <a:pt x="161704" y="791"/>
                  </a:cubicBezTo>
                  <a:close/>
                </a:path>
              </a:pathLst>
            </a:custGeom>
            <a:gradFill>
              <a:gsLst>
                <a:gs pos="0">
                  <a:srgbClr val="0089F0">
                    <a:alpha val="100000"/>
                  </a:srgbClr>
                </a:gs>
                <a:gs pos="21000">
                  <a:srgbClr val="0089F0">
                    <a:alpha val="40000"/>
                  </a:srgbClr>
                </a:gs>
                <a:gs pos="75000">
                  <a:srgbClr val="49E0FD">
                    <a:alpha val="20000"/>
                  </a:srgbClr>
                </a:gs>
                <a:gs pos="100000">
                  <a:srgbClr val="49E0FD">
                    <a:alpha val="20000"/>
                  </a:srgbClr>
                </a:gs>
              </a:gsLst>
              <a:lin ang="18900000" scaled="1"/>
            </a:gradFill>
            <a:ln w="301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40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55" name="图片 37"/>
            <p:cNvSpPr/>
            <p:nvPr/>
          </p:nvSpPr>
          <p:spPr>
            <a:xfrm flipH="1" flipV="1">
              <a:off x="12365" y="5678"/>
              <a:ext cx="396" cy="270"/>
            </a:xfrm>
            <a:custGeom>
              <a:avLst/>
              <a:gdLst>
                <a:gd name="connsiteX0" fmla="*/ 392915 w 413649"/>
                <a:gd name="connsiteY0" fmla="*/ 77823 h 240493"/>
                <a:gd name="connsiteX1" fmla="*/ 413649 w 413649"/>
                <a:gd name="connsiteY1" fmla="*/ 99018 h 240493"/>
                <a:gd name="connsiteX2" fmla="*/ 413649 w 413649"/>
                <a:gd name="connsiteY2" fmla="*/ 141469 h 240493"/>
                <a:gd name="connsiteX3" fmla="*/ 392915 w 413649"/>
                <a:gd name="connsiteY3" fmla="*/ 162663 h 240493"/>
                <a:gd name="connsiteX4" fmla="*/ 372242 w 413649"/>
                <a:gd name="connsiteY4" fmla="*/ 141469 h 240493"/>
                <a:gd name="connsiteX5" fmla="*/ 372242 w 413649"/>
                <a:gd name="connsiteY5" fmla="*/ 99018 h 240493"/>
                <a:gd name="connsiteX6" fmla="*/ 392915 w 413649"/>
                <a:gd name="connsiteY6" fmla="*/ 77823 h 240493"/>
                <a:gd name="connsiteX7" fmla="*/ 337799 w 413649"/>
                <a:gd name="connsiteY7" fmla="*/ 77823 h 240493"/>
                <a:gd name="connsiteX8" fmla="*/ 358454 w 413649"/>
                <a:gd name="connsiteY8" fmla="*/ 99018 h 240493"/>
                <a:gd name="connsiteX9" fmla="*/ 358454 w 413649"/>
                <a:gd name="connsiteY9" fmla="*/ 141469 h 240493"/>
                <a:gd name="connsiteX10" fmla="*/ 337799 w 413649"/>
                <a:gd name="connsiteY10" fmla="*/ 162663 h 240493"/>
                <a:gd name="connsiteX11" fmla="*/ 317141 w 413649"/>
                <a:gd name="connsiteY11" fmla="*/ 141469 h 240493"/>
                <a:gd name="connsiteX12" fmla="*/ 317141 w 413649"/>
                <a:gd name="connsiteY12" fmla="*/ 99018 h 240493"/>
                <a:gd name="connsiteX13" fmla="*/ 337799 w 413649"/>
                <a:gd name="connsiteY13" fmla="*/ 77823 h 240493"/>
                <a:gd name="connsiteX14" fmla="*/ 282651 w 413649"/>
                <a:gd name="connsiteY14" fmla="*/ 77823 h 240493"/>
                <a:gd name="connsiteX15" fmla="*/ 303307 w 413649"/>
                <a:gd name="connsiteY15" fmla="*/ 99018 h 240493"/>
                <a:gd name="connsiteX16" fmla="*/ 303307 w 413649"/>
                <a:gd name="connsiteY16" fmla="*/ 141469 h 240493"/>
                <a:gd name="connsiteX17" fmla="*/ 282651 w 413649"/>
                <a:gd name="connsiteY17" fmla="*/ 162663 h 240493"/>
                <a:gd name="connsiteX18" fmla="*/ 261995 w 413649"/>
                <a:gd name="connsiteY18" fmla="*/ 141469 h 240493"/>
                <a:gd name="connsiteX19" fmla="*/ 261995 w 413649"/>
                <a:gd name="connsiteY19" fmla="*/ 99018 h 240493"/>
                <a:gd name="connsiteX20" fmla="*/ 282651 w 413649"/>
                <a:gd name="connsiteY20" fmla="*/ 77823 h 240493"/>
                <a:gd name="connsiteX21" fmla="*/ 161704 w 413649"/>
                <a:gd name="connsiteY21" fmla="*/ 791 h 240493"/>
                <a:gd name="connsiteX22" fmla="*/ 165461 w 413649"/>
                <a:gd name="connsiteY22" fmla="*/ 7070 h 240493"/>
                <a:gd name="connsiteX23" fmla="*/ 165461 w 413649"/>
                <a:gd name="connsiteY23" fmla="*/ 77812 h 240493"/>
                <a:gd name="connsiteX24" fmla="*/ 241254 w 413649"/>
                <a:gd name="connsiteY24" fmla="*/ 77812 h 240493"/>
                <a:gd name="connsiteX25" fmla="*/ 248161 w 413649"/>
                <a:gd name="connsiteY25" fmla="*/ 84836 h 240493"/>
                <a:gd name="connsiteX26" fmla="*/ 248161 w 413649"/>
                <a:gd name="connsiteY26" fmla="*/ 155578 h 240493"/>
                <a:gd name="connsiteX27" fmla="*/ 241254 w 413649"/>
                <a:gd name="connsiteY27" fmla="*/ 162665 h 240493"/>
                <a:gd name="connsiteX28" fmla="*/ 165461 w 413649"/>
                <a:gd name="connsiteY28" fmla="*/ 162665 h 240493"/>
                <a:gd name="connsiteX29" fmla="*/ 165461 w 413649"/>
                <a:gd name="connsiteY29" fmla="*/ 233407 h 240493"/>
                <a:gd name="connsiteX30" fmla="*/ 161704 w 413649"/>
                <a:gd name="connsiteY30" fmla="*/ 239685 h 240493"/>
                <a:gd name="connsiteX31" fmla="*/ 158554 w 413649"/>
                <a:gd name="connsiteY31" fmla="*/ 240493 h 240493"/>
                <a:gd name="connsiteX32" fmla="*/ 154494 w 413649"/>
                <a:gd name="connsiteY32" fmla="*/ 239125 h 240493"/>
                <a:gd name="connsiteX33" fmla="*/ 2848 w 413649"/>
                <a:gd name="connsiteY33" fmla="*/ 125926 h 240493"/>
                <a:gd name="connsiteX34" fmla="*/ 0 w 413649"/>
                <a:gd name="connsiteY34" fmla="*/ 120207 h 240493"/>
                <a:gd name="connsiteX35" fmla="*/ 2848 w 413649"/>
                <a:gd name="connsiteY35" fmla="*/ 114488 h 240493"/>
                <a:gd name="connsiteX36" fmla="*/ 154494 w 413649"/>
                <a:gd name="connsiteY36" fmla="*/ 1350 h 240493"/>
                <a:gd name="connsiteX37" fmla="*/ 161704 w 413649"/>
                <a:gd name="connsiteY37" fmla="*/ 791 h 2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13649" h="240493">
                  <a:moveTo>
                    <a:pt x="392915" y="77823"/>
                  </a:moveTo>
                  <a:cubicBezTo>
                    <a:pt x="404372" y="77823"/>
                    <a:pt x="413649" y="87332"/>
                    <a:pt x="413649" y="99018"/>
                  </a:cubicBezTo>
                  <a:lnTo>
                    <a:pt x="413649" y="141469"/>
                  </a:lnTo>
                  <a:cubicBezTo>
                    <a:pt x="413649" y="153154"/>
                    <a:pt x="404372" y="162663"/>
                    <a:pt x="392915" y="162663"/>
                  </a:cubicBezTo>
                  <a:cubicBezTo>
                    <a:pt x="381518" y="162663"/>
                    <a:pt x="372242" y="153154"/>
                    <a:pt x="372242" y="141469"/>
                  </a:cubicBezTo>
                  <a:lnTo>
                    <a:pt x="372242" y="99018"/>
                  </a:lnTo>
                  <a:cubicBezTo>
                    <a:pt x="372242" y="87332"/>
                    <a:pt x="381518" y="77823"/>
                    <a:pt x="392915" y="77823"/>
                  </a:cubicBezTo>
                  <a:close/>
                  <a:moveTo>
                    <a:pt x="337799" y="77823"/>
                  </a:moveTo>
                  <a:cubicBezTo>
                    <a:pt x="349187" y="77823"/>
                    <a:pt x="358454" y="87332"/>
                    <a:pt x="358454" y="99018"/>
                  </a:cubicBezTo>
                  <a:lnTo>
                    <a:pt x="358454" y="141469"/>
                  </a:lnTo>
                  <a:cubicBezTo>
                    <a:pt x="358454" y="153154"/>
                    <a:pt x="349187" y="162663"/>
                    <a:pt x="337799" y="162663"/>
                  </a:cubicBezTo>
                  <a:cubicBezTo>
                    <a:pt x="326409" y="162663"/>
                    <a:pt x="317141" y="153154"/>
                    <a:pt x="317141" y="141469"/>
                  </a:cubicBezTo>
                  <a:lnTo>
                    <a:pt x="317141" y="99018"/>
                  </a:lnTo>
                  <a:cubicBezTo>
                    <a:pt x="317141" y="87332"/>
                    <a:pt x="326409" y="77823"/>
                    <a:pt x="337799" y="77823"/>
                  </a:cubicBezTo>
                  <a:close/>
                  <a:moveTo>
                    <a:pt x="282651" y="77823"/>
                  </a:moveTo>
                  <a:cubicBezTo>
                    <a:pt x="294040" y="77823"/>
                    <a:pt x="303307" y="87332"/>
                    <a:pt x="303307" y="99018"/>
                  </a:cubicBezTo>
                  <a:lnTo>
                    <a:pt x="303307" y="141469"/>
                  </a:lnTo>
                  <a:cubicBezTo>
                    <a:pt x="303307" y="153154"/>
                    <a:pt x="294040" y="162663"/>
                    <a:pt x="282651" y="162663"/>
                  </a:cubicBezTo>
                  <a:cubicBezTo>
                    <a:pt x="271263" y="162663"/>
                    <a:pt x="261995" y="153154"/>
                    <a:pt x="261995" y="141469"/>
                  </a:cubicBezTo>
                  <a:lnTo>
                    <a:pt x="261995" y="99018"/>
                  </a:lnTo>
                  <a:cubicBezTo>
                    <a:pt x="261995" y="87332"/>
                    <a:pt x="271263" y="77823"/>
                    <a:pt x="282651" y="77823"/>
                  </a:cubicBezTo>
                  <a:close/>
                  <a:moveTo>
                    <a:pt x="161704" y="791"/>
                  </a:moveTo>
                  <a:cubicBezTo>
                    <a:pt x="164006" y="1972"/>
                    <a:pt x="165461" y="4397"/>
                    <a:pt x="165461" y="7070"/>
                  </a:cubicBezTo>
                  <a:lnTo>
                    <a:pt x="165461" y="77812"/>
                  </a:lnTo>
                  <a:lnTo>
                    <a:pt x="241254" y="77812"/>
                  </a:lnTo>
                  <a:cubicBezTo>
                    <a:pt x="245071" y="77812"/>
                    <a:pt x="248161" y="80982"/>
                    <a:pt x="248161" y="84836"/>
                  </a:cubicBezTo>
                  <a:lnTo>
                    <a:pt x="248161" y="155578"/>
                  </a:lnTo>
                  <a:cubicBezTo>
                    <a:pt x="248161" y="159494"/>
                    <a:pt x="245071" y="162665"/>
                    <a:pt x="241254" y="162665"/>
                  </a:cubicBezTo>
                  <a:lnTo>
                    <a:pt x="165461" y="162665"/>
                  </a:lnTo>
                  <a:lnTo>
                    <a:pt x="165461" y="233407"/>
                  </a:lnTo>
                  <a:cubicBezTo>
                    <a:pt x="165461" y="236080"/>
                    <a:pt x="164006" y="238504"/>
                    <a:pt x="161704" y="239685"/>
                  </a:cubicBezTo>
                  <a:cubicBezTo>
                    <a:pt x="160674" y="240183"/>
                    <a:pt x="159644" y="240493"/>
                    <a:pt x="158554" y="240493"/>
                  </a:cubicBezTo>
                  <a:cubicBezTo>
                    <a:pt x="157100" y="240493"/>
                    <a:pt x="155706" y="239997"/>
                    <a:pt x="154494" y="239125"/>
                  </a:cubicBezTo>
                  <a:lnTo>
                    <a:pt x="2848" y="125926"/>
                  </a:lnTo>
                  <a:cubicBezTo>
                    <a:pt x="1030" y="124621"/>
                    <a:pt x="0" y="122506"/>
                    <a:pt x="0" y="120207"/>
                  </a:cubicBezTo>
                  <a:cubicBezTo>
                    <a:pt x="0" y="117970"/>
                    <a:pt x="1030" y="115856"/>
                    <a:pt x="2848" y="114488"/>
                  </a:cubicBezTo>
                  <a:lnTo>
                    <a:pt x="154494" y="1350"/>
                  </a:lnTo>
                  <a:cubicBezTo>
                    <a:pt x="156615" y="-204"/>
                    <a:pt x="159402" y="-452"/>
                    <a:pt x="161704" y="791"/>
                  </a:cubicBezTo>
                  <a:close/>
                </a:path>
              </a:pathLst>
            </a:custGeom>
            <a:gradFill>
              <a:gsLst>
                <a:gs pos="0">
                  <a:srgbClr val="0089F0">
                    <a:alpha val="100000"/>
                  </a:srgbClr>
                </a:gs>
                <a:gs pos="21000">
                  <a:srgbClr val="0089F0">
                    <a:alpha val="40000"/>
                  </a:srgbClr>
                </a:gs>
                <a:gs pos="75000">
                  <a:srgbClr val="49E0FD">
                    <a:alpha val="20000"/>
                  </a:srgbClr>
                </a:gs>
                <a:gs pos="100000">
                  <a:srgbClr val="49E0FD">
                    <a:alpha val="20000"/>
                  </a:srgbClr>
                </a:gs>
              </a:gsLst>
              <a:lin ang="18900000" scaled="1"/>
            </a:gradFill>
            <a:ln w="301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40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56" name="图片 37"/>
            <p:cNvSpPr/>
            <p:nvPr/>
          </p:nvSpPr>
          <p:spPr>
            <a:xfrm flipH="1" flipV="1">
              <a:off x="14558" y="5678"/>
              <a:ext cx="396" cy="270"/>
            </a:xfrm>
            <a:custGeom>
              <a:avLst/>
              <a:gdLst>
                <a:gd name="connsiteX0" fmla="*/ 392915 w 413649"/>
                <a:gd name="connsiteY0" fmla="*/ 77823 h 240493"/>
                <a:gd name="connsiteX1" fmla="*/ 413649 w 413649"/>
                <a:gd name="connsiteY1" fmla="*/ 99018 h 240493"/>
                <a:gd name="connsiteX2" fmla="*/ 413649 w 413649"/>
                <a:gd name="connsiteY2" fmla="*/ 141469 h 240493"/>
                <a:gd name="connsiteX3" fmla="*/ 392915 w 413649"/>
                <a:gd name="connsiteY3" fmla="*/ 162663 h 240493"/>
                <a:gd name="connsiteX4" fmla="*/ 372242 w 413649"/>
                <a:gd name="connsiteY4" fmla="*/ 141469 h 240493"/>
                <a:gd name="connsiteX5" fmla="*/ 372242 w 413649"/>
                <a:gd name="connsiteY5" fmla="*/ 99018 h 240493"/>
                <a:gd name="connsiteX6" fmla="*/ 392915 w 413649"/>
                <a:gd name="connsiteY6" fmla="*/ 77823 h 240493"/>
                <a:gd name="connsiteX7" fmla="*/ 337799 w 413649"/>
                <a:gd name="connsiteY7" fmla="*/ 77823 h 240493"/>
                <a:gd name="connsiteX8" fmla="*/ 358454 w 413649"/>
                <a:gd name="connsiteY8" fmla="*/ 99018 h 240493"/>
                <a:gd name="connsiteX9" fmla="*/ 358454 w 413649"/>
                <a:gd name="connsiteY9" fmla="*/ 141469 h 240493"/>
                <a:gd name="connsiteX10" fmla="*/ 337799 w 413649"/>
                <a:gd name="connsiteY10" fmla="*/ 162663 h 240493"/>
                <a:gd name="connsiteX11" fmla="*/ 317141 w 413649"/>
                <a:gd name="connsiteY11" fmla="*/ 141469 h 240493"/>
                <a:gd name="connsiteX12" fmla="*/ 317141 w 413649"/>
                <a:gd name="connsiteY12" fmla="*/ 99018 h 240493"/>
                <a:gd name="connsiteX13" fmla="*/ 337799 w 413649"/>
                <a:gd name="connsiteY13" fmla="*/ 77823 h 240493"/>
                <a:gd name="connsiteX14" fmla="*/ 282651 w 413649"/>
                <a:gd name="connsiteY14" fmla="*/ 77823 h 240493"/>
                <a:gd name="connsiteX15" fmla="*/ 303307 w 413649"/>
                <a:gd name="connsiteY15" fmla="*/ 99018 h 240493"/>
                <a:gd name="connsiteX16" fmla="*/ 303307 w 413649"/>
                <a:gd name="connsiteY16" fmla="*/ 141469 h 240493"/>
                <a:gd name="connsiteX17" fmla="*/ 282651 w 413649"/>
                <a:gd name="connsiteY17" fmla="*/ 162663 h 240493"/>
                <a:gd name="connsiteX18" fmla="*/ 261995 w 413649"/>
                <a:gd name="connsiteY18" fmla="*/ 141469 h 240493"/>
                <a:gd name="connsiteX19" fmla="*/ 261995 w 413649"/>
                <a:gd name="connsiteY19" fmla="*/ 99018 h 240493"/>
                <a:gd name="connsiteX20" fmla="*/ 282651 w 413649"/>
                <a:gd name="connsiteY20" fmla="*/ 77823 h 240493"/>
                <a:gd name="connsiteX21" fmla="*/ 161704 w 413649"/>
                <a:gd name="connsiteY21" fmla="*/ 791 h 240493"/>
                <a:gd name="connsiteX22" fmla="*/ 165461 w 413649"/>
                <a:gd name="connsiteY22" fmla="*/ 7070 h 240493"/>
                <a:gd name="connsiteX23" fmla="*/ 165461 w 413649"/>
                <a:gd name="connsiteY23" fmla="*/ 77812 h 240493"/>
                <a:gd name="connsiteX24" fmla="*/ 241254 w 413649"/>
                <a:gd name="connsiteY24" fmla="*/ 77812 h 240493"/>
                <a:gd name="connsiteX25" fmla="*/ 248161 w 413649"/>
                <a:gd name="connsiteY25" fmla="*/ 84836 h 240493"/>
                <a:gd name="connsiteX26" fmla="*/ 248161 w 413649"/>
                <a:gd name="connsiteY26" fmla="*/ 155578 h 240493"/>
                <a:gd name="connsiteX27" fmla="*/ 241254 w 413649"/>
                <a:gd name="connsiteY27" fmla="*/ 162665 h 240493"/>
                <a:gd name="connsiteX28" fmla="*/ 165461 w 413649"/>
                <a:gd name="connsiteY28" fmla="*/ 162665 h 240493"/>
                <a:gd name="connsiteX29" fmla="*/ 165461 w 413649"/>
                <a:gd name="connsiteY29" fmla="*/ 233407 h 240493"/>
                <a:gd name="connsiteX30" fmla="*/ 161704 w 413649"/>
                <a:gd name="connsiteY30" fmla="*/ 239685 h 240493"/>
                <a:gd name="connsiteX31" fmla="*/ 158554 w 413649"/>
                <a:gd name="connsiteY31" fmla="*/ 240493 h 240493"/>
                <a:gd name="connsiteX32" fmla="*/ 154494 w 413649"/>
                <a:gd name="connsiteY32" fmla="*/ 239125 h 240493"/>
                <a:gd name="connsiteX33" fmla="*/ 2848 w 413649"/>
                <a:gd name="connsiteY33" fmla="*/ 125926 h 240493"/>
                <a:gd name="connsiteX34" fmla="*/ 0 w 413649"/>
                <a:gd name="connsiteY34" fmla="*/ 120207 h 240493"/>
                <a:gd name="connsiteX35" fmla="*/ 2848 w 413649"/>
                <a:gd name="connsiteY35" fmla="*/ 114488 h 240493"/>
                <a:gd name="connsiteX36" fmla="*/ 154494 w 413649"/>
                <a:gd name="connsiteY36" fmla="*/ 1350 h 240493"/>
                <a:gd name="connsiteX37" fmla="*/ 161704 w 413649"/>
                <a:gd name="connsiteY37" fmla="*/ 791 h 2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13649" h="240493">
                  <a:moveTo>
                    <a:pt x="392915" y="77823"/>
                  </a:moveTo>
                  <a:cubicBezTo>
                    <a:pt x="404372" y="77823"/>
                    <a:pt x="413649" y="87332"/>
                    <a:pt x="413649" y="99018"/>
                  </a:cubicBezTo>
                  <a:lnTo>
                    <a:pt x="413649" y="141469"/>
                  </a:lnTo>
                  <a:cubicBezTo>
                    <a:pt x="413649" y="153154"/>
                    <a:pt x="404372" y="162663"/>
                    <a:pt x="392915" y="162663"/>
                  </a:cubicBezTo>
                  <a:cubicBezTo>
                    <a:pt x="381518" y="162663"/>
                    <a:pt x="372242" y="153154"/>
                    <a:pt x="372242" y="141469"/>
                  </a:cubicBezTo>
                  <a:lnTo>
                    <a:pt x="372242" y="99018"/>
                  </a:lnTo>
                  <a:cubicBezTo>
                    <a:pt x="372242" y="87332"/>
                    <a:pt x="381518" y="77823"/>
                    <a:pt x="392915" y="77823"/>
                  </a:cubicBezTo>
                  <a:close/>
                  <a:moveTo>
                    <a:pt x="337799" y="77823"/>
                  </a:moveTo>
                  <a:cubicBezTo>
                    <a:pt x="349187" y="77823"/>
                    <a:pt x="358454" y="87332"/>
                    <a:pt x="358454" y="99018"/>
                  </a:cubicBezTo>
                  <a:lnTo>
                    <a:pt x="358454" y="141469"/>
                  </a:lnTo>
                  <a:cubicBezTo>
                    <a:pt x="358454" y="153154"/>
                    <a:pt x="349187" y="162663"/>
                    <a:pt x="337799" y="162663"/>
                  </a:cubicBezTo>
                  <a:cubicBezTo>
                    <a:pt x="326409" y="162663"/>
                    <a:pt x="317141" y="153154"/>
                    <a:pt x="317141" y="141469"/>
                  </a:cubicBezTo>
                  <a:lnTo>
                    <a:pt x="317141" y="99018"/>
                  </a:lnTo>
                  <a:cubicBezTo>
                    <a:pt x="317141" y="87332"/>
                    <a:pt x="326409" y="77823"/>
                    <a:pt x="337799" y="77823"/>
                  </a:cubicBezTo>
                  <a:close/>
                  <a:moveTo>
                    <a:pt x="282651" y="77823"/>
                  </a:moveTo>
                  <a:cubicBezTo>
                    <a:pt x="294040" y="77823"/>
                    <a:pt x="303307" y="87332"/>
                    <a:pt x="303307" y="99018"/>
                  </a:cubicBezTo>
                  <a:lnTo>
                    <a:pt x="303307" y="141469"/>
                  </a:lnTo>
                  <a:cubicBezTo>
                    <a:pt x="303307" y="153154"/>
                    <a:pt x="294040" y="162663"/>
                    <a:pt x="282651" y="162663"/>
                  </a:cubicBezTo>
                  <a:cubicBezTo>
                    <a:pt x="271263" y="162663"/>
                    <a:pt x="261995" y="153154"/>
                    <a:pt x="261995" y="141469"/>
                  </a:cubicBezTo>
                  <a:lnTo>
                    <a:pt x="261995" y="99018"/>
                  </a:lnTo>
                  <a:cubicBezTo>
                    <a:pt x="261995" y="87332"/>
                    <a:pt x="271263" y="77823"/>
                    <a:pt x="282651" y="77823"/>
                  </a:cubicBezTo>
                  <a:close/>
                  <a:moveTo>
                    <a:pt x="161704" y="791"/>
                  </a:moveTo>
                  <a:cubicBezTo>
                    <a:pt x="164006" y="1972"/>
                    <a:pt x="165461" y="4397"/>
                    <a:pt x="165461" y="7070"/>
                  </a:cubicBezTo>
                  <a:lnTo>
                    <a:pt x="165461" y="77812"/>
                  </a:lnTo>
                  <a:lnTo>
                    <a:pt x="241254" y="77812"/>
                  </a:lnTo>
                  <a:cubicBezTo>
                    <a:pt x="245071" y="77812"/>
                    <a:pt x="248161" y="80982"/>
                    <a:pt x="248161" y="84836"/>
                  </a:cubicBezTo>
                  <a:lnTo>
                    <a:pt x="248161" y="155578"/>
                  </a:lnTo>
                  <a:cubicBezTo>
                    <a:pt x="248161" y="159494"/>
                    <a:pt x="245071" y="162665"/>
                    <a:pt x="241254" y="162665"/>
                  </a:cubicBezTo>
                  <a:lnTo>
                    <a:pt x="165461" y="162665"/>
                  </a:lnTo>
                  <a:lnTo>
                    <a:pt x="165461" y="233407"/>
                  </a:lnTo>
                  <a:cubicBezTo>
                    <a:pt x="165461" y="236080"/>
                    <a:pt x="164006" y="238504"/>
                    <a:pt x="161704" y="239685"/>
                  </a:cubicBezTo>
                  <a:cubicBezTo>
                    <a:pt x="160674" y="240183"/>
                    <a:pt x="159644" y="240493"/>
                    <a:pt x="158554" y="240493"/>
                  </a:cubicBezTo>
                  <a:cubicBezTo>
                    <a:pt x="157100" y="240493"/>
                    <a:pt x="155706" y="239997"/>
                    <a:pt x="154494" y="239125"/>
                  </a:cubicBezTo>
                  <a:lnTo>
                    <a:pt x="2848" y="125926"/>
                  </a:lnTo>
                  <a:cubicBezTo>
                    <a:pt x="1030" y="124621"/>
                    <a:pt x="0" y="122506"/>
                    <a:pt x="0" y="120207"/>
                  </a:cubicBezTo>
                  <a:cubicBezTo>
                    <a:pt x="0" y="117970"/>
                    <a:pt x="1030" y="115856"/>
                    <a:pt x="2848" y="114488"/>
                  </a:cubicBezTo>
                  <a:lnTo>
                    <a:pt x="154494" y="1350"/>
                  </a:lnTo>
                  <a:cubicBezTo>
                    <a:pt x="156615" y="-204"/>
                    <a:pt x="159402" y="-452"/>
                    <a:pt x="161704" y="791"/>
                  </a:cubicBezTo>
                  <a:close/>
                </a:path>
              </a:pathLst>
            </a:custGeom>
            <a:gradFill>
              <a:gsLst>
                <a:gs pos="0">
                  <a:srgbClr val="0089F0">
                    <a:alpha val="100000"/>
                  </a:srgbClr>
                </a:gs>
                <a:gs pos="21000">
                  <a:srgbClr val="0089F0">
                    <a:alpha val="40000"/>
                  </a:srgbClr>
                </a:gs>
                <a:gs pos="75000">
                  <a:srgbClr val="49E0FD">
                    <a:alpha val="20000"/>
                  </a:srgbClr>
                </a:gs>
                <a:gs pos="100000">
                  <a:srgbClr val="49E0FD">
                    <a:alpha val="20000"/>
                  </a:srgbClr>
                </a:gs>
              </a:gsLst>
              <a:lin ang="18900000" scaled="1"/>
            </a:gradFill>
            <a:ln w="301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sz="140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pic>
          <p:nvPicPr>
            <p:cNvPr id="157" name="图片 156"/>
            <p:cNvPicPr/>
            <p:nvPr/>
          </p:nvPicPr>
          <p:blipFill>
            <a:blip r:embed="rId20"/>
            <a:stretch>
              <a:fillRect/>
            </a:stretch>
          </p:blipFill>
          <p:spPr>
            <a:xfrm rot="16200000">
              <a:off x="8955" y="5506"/>
              <a:ext cx="471" cy="1557"/>
            </a:xfrm>
            <a:prstGeom prst="rect">
              <a:avLst/>
            </a:prstGeom>
          </p:spPr>
        </p:pic>
      </p:grpSp>
      <p:sp>
        <p:nvSpPr>
          <p:cNvPr id="158" name="矩形 157"/>
          <p:cNvSpPr>
            <a:spLocks noChangeAspect="1"/>
          </p:cNvSpPr>
          <p:nvPr>
            <p:custDataLst>
              <p:tags r:id="rId21"/>
            </p:custDataLst>
          </p:nvPr>
        </p:nvSpPr>
        <p:spPr>
          <a:xfrm>
            <a:off x="10013315" y="4975860"/>
            <a:ext cx="1428115" cy="1616075"/>
          </a:xfrm>
          <a:prstGeom prst="rect">
            <a:avLst/>
          </a:prstGeom>
          <a:gradFill>
            <a:gsLst>
              <a:gs pos="0">
                <a:srgbClr val="0082FF">
                  <a:alpha val="13000"/>
                </a:srgbClr>
              </a:gs>
              <a:gs pos="57000">
                <a:srgbClr val="0082FF">
                  <a:alpha val="1000"/>
                </a:srgbClr>
              </a:gs>
            </a:gsLst>
            <a:lin ang="5400000" scaled="1"/>
          </a:gradFill>
          <a:ln w="3175">
            <a:noFill/>
          </a:ln>
        </p:spPr>
        <p:txBody>
          <a:bodyPr lIns="17138" tIns="17138" rIns="17138" bIns="17138" rtlCol="0" anchor="ctr" anchorCtr="0">
            <a:noAutofit/>
          </a:bodyPr>
          <a:lstStyle/>
          <a:p>
            <a:pPr algn="ctr" defTabSz="64135">
              <a:defRPr/>
            </a:pPr>
            <a:endParaRPr lang="en-US" altLang="zh-CN" dirty="0">
              <a:solidFill>
                <a:srgbClr val="1678FC"/>
              </a:solidFill>
              <a:latin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159" name="梯形 158"/>
          <p:cNvSpPr/>
          <p:nvPr/>
        </p:nvSpPr>
        <p:spPr>
          <a:xfrm>
            <a:off x="10012680" y="4370070"/>
            <a:ext cx="1428750" cy="605790"/>
          </a:xfrm>
          <a:prstGeom prst="trapezoid">
            <a:avLst>
              <a:gd name="adj" fmla="val 200795"/>
            </a:avLst>
          </a:prstGeom>
          <a:gradFill>
            <a:gsLst>
              <a:gs pos="28000">
                <a:srgbClr val="1D78FA">
                  <a:lumMod val="60000"/>
                  <a:lumOff val="40000"/>
                  <a:alpha val="17000"/>
                </a:srgbClr>
              </a:gs>
              <a:gs pos="3000">
                <a:srgbClr val="1D78FA">
                  <a:alpha val="19000"/>
                </a:srgbClr>
              </a:gs>
              <a:gs pos="69000">
                <a:srgbClr val="1D78FA">
                  <a:lumMod val="20000"/>
                  <a:lumOff val="80000"/>
                  <a:alpha val="0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ysClr val="window" lastClr="FFFFFF"/>
              </a:solidFill>
              <a:latin typeface="Roboto Regular" charset="0"/>
              <a:ea typeface="思源黑体 CN Regular" charset="0"/>
            </a:endParaRPr>
          </a:p>
        </p:txBody>
      </p:sp>
      <p:sp>
        <p:nvSpPr>
          <p:cNvPr id="160" name="Freeform 2"/>
          <p:cNvSpPr/>
          <p:nvPr/>
        </p:nvSpPr>
        <p:spPr bwMode="gray">
          <a:xfrm rot="10800000" flipV="1">
            <a:off x="10137140" y="4618990"/>
            <a:ext cx="1177925" cy="355600"/>
          </a:xfrm>
          <a:custGeom>
            <a:avLst/>
            <a:gdLst/>
            <a:ahLst/>
            <a:cxnLst>
              <a:cxn ang="0">
                <a:pos x="0" y="2240"/>
              </a:cxn>
              <a:cxn ang="0">
                <a:pos x="1122" y="702"/>
              </a:cxn>
              <a:cxn ang="0">
                <a:pos x="972" y="744"/>
              </a:cxn>
              <a:cxn ang="0">
                <a:pos x="1140" y="438"/>
              </a:cxn>
              <a:cxn ang="0">
                <a:pos x="1422" y="642"/>
              </a:cxn>
              <a:cxn ang="0">
                <a:pos x="1272" y="672"/>
              </a:cxn>
              <a:cxn ang="0">
                <a:pos x="1968" y="1284"/>
              </a:cxn>
              <a:cxn ang="0">
                <a:pos x="2466" y="318"/>
              </a:cxn>
              <a:cxn ang="0">
                <a:pos x="2280" y="318"/>
              </a:cxn>
              <a:cxn ang="0">
                <a:pos x="2598" y="0"/>
              </a:cxn>
              <a:cxn ang="0">
                <a:pos x="2898" y="330"/>
              </a:cxn>
              <a:cxn ang="0">
                <a:pos x="2724" y="324"/>
              </a:cxn>
              <a:cxn ang="0">
                <a:pos x="3210" y="1302"/>
              </a:cxn>
              <a:cxn ang="0">
                <a:pos x="3870" y="654"/>
              </a:cxn>
              <a:cxn ang="0">
                <a:pos x="3702" y="642"/>
              </a:cxn>
              <a:cxn ang="0">
                <a:pos x="3984" y="420"/>
              </a:cxn>
              <a:cxn ang="0">
                <a:pos x="4182" y="678"/>
              </a:cxn>
              <a:cxn ang="0">
                <a:pos x="4026" y="672"/>
              </a:cxn>
              <a:cxn ang="0">
                <a:pos x="5016" y="2225"/>
              </a:cxn>
              <a:cxn ang="0">
                <a:pos x="0" y="2240"/>
              </a:cxn>
            </a:cxnLst>
            <a:rect l="0" t="0" r="r" b="b"/>
            <a:pathLst>
              <a:path w="5016" h="2256">
                <a:moveTo>
                  <a:pt x="0" y="2240"/>
                </a:moveTo>
                <a:cubicBezTo>
                  <a:pt x="276" y="2109"/>
                  <a:pt x="1182" y="1474"/>
                  <a:pt x="1122" y="702"/>
                </a:cubicBezTo>
                <a:lnTo>
                  <a:pt x="972" y="744"/>
                </a:lnTo>
                <a:cubicBezTo>
                  <a:pt x="988" y="702"/>
                  <a:pt x="1140" y="436"/>
                  <a:pt x="1140" y="438"/>
                </a:cubicBezTo>
                <a:lnTo>
                  <a:pt x="1422" y="642"/>
                </a:lnTo>
                <a:cubicBezTo>
                  <a:pt x="1422" y="642"/>
                  <a:pt x="1260" y="672"/>
                  <a:pt x="1272" y="672"/>
                </a:cubicBezTo>
                <a:cubicBezTo>
                  <a:pt x="1428" y="1008"/>
                  <a:pt x="1620" y="1350"/>
                  <a:pt x="1968" y="1284"/>
                </a:cubicBezTo>
                <a:cubicBezTo>
                  <a:pt x="2316" y="1218"/>
                  <a:pt x="2460" y="576"/>
                  <a:pt x="2466" y="318"/>
                </a:cubicBezTo>
                <a:lnTo>
                  <a:pt x="2280" y="318"/>
                </a:lnTo>
                <a:lnTo>
                  <a:pt x="2598" y="0"/>
                </a:lnTo>
                <a:lnTo>
                  <a:pt x="2898" y="330"/>
                </a:lnTo>
                <a:lnTo>
                  <a:pt x="2724" y="324"/>
                </a:lnTo>
                <a:cubicBezTo>
                  <a:pt x="2724" y="325"/>
                  <a:pt x="2760" y="1284"/>
                  <a:pt x="3210" y="1302"/>
                </a:cubicBezTo>
                <a:cubicBezTo>
                  <a:pt x="3660" y="1320"/>
                  <a:pt x="3816" y="912"/>
                  <a:pt x="3870" y="654"/>
                </a:cubicBezTo>
                <a:lnTo>
                  <a:pt x="3702" y="642"/>
                </a:lnTo>
                <a:lnTo>
                  <a:pt x="3984" y="420"/>
                </a:lnTo>
                <a:lnTo>
                  <a:pt x="4182" y="678"/>
                </a:lnTo>
                <a:lnTo>
                  <a:pt x="4026" y="672"/>
                </a:lnTo>
                <a:cubicBezTo>
                  <a:pt x="4032" y="678"/>
                  <a:pt x="3960" y="1862"/>
                  <a:pt x="5016" y="2225"/>
                </a:cubicBezTo>
                <a:cubicBezTo>
                  <a:pt x="3438" y="2232"/>
                  <a:pt x="1092" y="2256"/>
                  <a:pt x="0" y="2240"/>
                </a:cubicBezTo>
                <a:close/>
              </a:path>
            </a:pathLst>
          </a:custGeom>
          <a:gradFill rotWithShape="1">
            <a:gsLst>
              <a:gs pos="58000">
                <a:srgbClr val="EDF1F9">
                  <a:alpha val="100000"/>
                </a:srgbClr>
              </a:gs>
              <a:gs pos="0">
                <a:srgbClr val="4874CB">
                  <a:lumMod val="20000"/>
                  <a:lumOff val="80000"/>
                </a:srgbClr>
              </a:gs>
              <a:gs pos="99000">
                <a:sysClr val="window" lastClr="FFFFFF">
                  <a:alpha val="0"/>
                </a:sysClr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0012680" y="5213985"/>
            <a:ext cx="37719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</a:rPr>
              <a:t>智能体中心</a:t>
            </a:r>
            <a:endParaRPr lang="zh-CN" altLang="en-US" sz="1400" b="1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10389870" y="4707255"/>
            <a:ext cx="6851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微软雅黑" panose="020B0503020204020204" charset="-122"/>
              </a:rPr>
              <a:t>A2A</a:t>
            </a:r>
            <a:endParaRPr lang="en-US" altLang="zh-CN" sz="8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latin typeface="微软雅黑" panose="020B0503020204020204" charset="-122"/>
            </a:endParaRPr>
          </a:p>
        </p:txBody>
      </p:sp>
      <p:sp>
        <p:nvSpPr>
          <p:cNvPr id="163" name="圆角矩形 147"/>
          <p:cNvSpPr/>
          <p:nvPr>
            <p:custDataLst>
              <p:tags r:id="rId22"/>
            </p:custDataLst>
          </p:nvPr>
        </p:nvSpPr>
        <p:spPr>
          <a:xfrm>
            <a:off x="10390505" y="5120640"/>
            <a:ext cx="982345" cy="252095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rPr>
              <a:t>覆盖智能体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64" name="圆角矩形 147"/>
          <p:cNvSpPr/>
          <p:nvPr>
            <p:custDataLst>
              <p:tags r:id="rId23"/>
            </p:custDataLst>
          </p:nvPr>
        </p:nvSpPr>
        <p:spPr>
          <a:xfrm>
            <a:off x="10389870" y="5472430"/>
            <a:ext cx="982345" cy="252095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rPr>
              <a:t>投诉智能体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65" name="圆角矩形 147"/>
          <p:cNvSpPr/>
          <p:nvPr>
            <p:custDataLst>
              <p:tags r:id="rId24"/>
            </p:custDataLst>
          </p:nvPr>
        </p:nvSpPr>
        <p:spPr>
          <a:xfrm>
            <a:off x="10389870" y="5817870"/>
            <a:ext cx="982345" cy="252095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rPr>
              <a:t>参数智能体</a:t>
            </a:r>
            <a:endParaRPr lang="zh-CN" altLang="en-US" sz="1000" b="1" kern="0">
              <a:solidFill>
                <a:prstClr val="black"/>
              </a:solidFill>
              <a:latin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66" name="圆角矩形 147"/>
          <p:cNvSpPr/>
          <p:nvPr>
            <p:custDataLst>
              <p:tags r:id="rId25"/>
            </p:custDataLst>
          </p:nvPr>
        </p:nvSpPr>
        <p:spPr>
          <a:xfrm>
            <a:off x="10389870" y="6139815"/>
            <a:ext cx="982345" cy="252095"/>
          </a:xfrm>
          <a:prstGeom prst="round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rPr>
              <a:t>规划智能体</a:t>
            </a:r>
            <a:r>
              <a:rPr lang="en-US" altLang="zh-CN" sz="1000" b="1" kern="0">
                <a:solidFill>
                  <a:prstClr val="black"/>
                </a:solidFill>
                <a:latin typeface="微软雅黑" panose="020B0503020204020204" charset="-122"/>
                <a:sym typeface="宋体" panose="02010600030101010101" pitchFamily="2" charset="-122"/>
              </a:rPr>
              <a:t>...</a:t>
            </a:r>
            <a:endParaRPr lang="en-US" altLang="zh-CN" sz="1000" b="1" kern="0">
              <a:solidFill>
                <a:prstClr val="black"/>
              </a:solidFill>
              <a:latin typeface="微软雅黑" panose="020B0503020204020204" charset="-122"/>
              <a:sym typeface="宋体" panose="02010600030101010101" pitchFamily="2" charset="-122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291465" y="2287270"/>
            <a:ext cx="11149965" cy="1059180"/>
            <a:chOff x="459" y="3342"/>
            <a:chExt cx="17559" cy="1668"/>
          </a:xfrm>
        </p:grpSpPr>
        <p:sp>
          <p:nvSpPr>
            <p:cNvPr id="168" name="矩形 167"/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2062" y="3342"/>
              <a:ext cx="15956" cy="1668"/>
            </a:xfrm>
            <a:prstGeom prst="rect">
              <a:avLst/>
            </a:prstGeom>
            <a:gradFill>
              <a:gsLst>
                <a:gs pos="0">
                  <a:srgbClr val="0082FF">
                    <a:alpha val="13000"/>
                  </a:srgbClr>
                </a:gs>
                <a:gs pos="57000">
                  <a:srgbClr val="0082FF">
                    <a:alpha val="1000"/>
                  </a:srgbClr>
                </a:gs>
              </a:gsLst>
              <a:lin ang="5400000" scaled="1"/>
            </a:gradFill>
            <a:ln w="3175">
              <a:noFill/>
            </a:ln>
          </p:spPr>
          <p:txBody>
            <a:bodyPr lIns="17138" tIns="17138" rIns="17138" bIns="17138" rtlCol="0" anchor="t" anchorCtr="0">
              <a:noAutofit/>
            </a:bodyPr>
            <a:lstStyle/>
            <a:p>
              <a:pPr algn="ctr" defTabSz="64135">
                <a:defRPr/>
              </a:pPr>
              <a:endPara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9" name="矩形 168"/>
            <p:cNvSpPr/>
            <p:nvPr/>
          </p:nvSpPr>
          <p:spPr>
            <a:xfrm>
              <a:off x="5102" y="4096"/>
              <a:ext cx="2479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问题事件跟踪驾驶舱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459" y="3543"/>
              <a:ext cx="1232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gradFill>
                    <a:gsLst>
                      <a:gs pos="0">
                        <a:srgbClr val="5B9BD5">
                          <a:lumMod val="50000"/>
                        </a:srgbClr>
                      </a:gs>
                      <a:gs pos="50000">
                        <a:srgbClr val="5B9BD5"/>
                      </a:gs>
                      <a:gs pos="100000">
                        <a:srgbClr val="5B9BD5">
                          <a:lumMod val="60000"/>
                          <a:lumOff val="40000"/>
                        </a:srgb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微软雅黑" panose="020B0503020204020204" charset="-122"/>
                </a:rPr>
                <a:t>业务</a:t>
              </a:r>
              <a:br>
                <a:rPr lang="zh-CN" altLang="en-US" sz="1400" b="1" dirty="0">
                  <a:gradFill>
                    <a:gsLst>
                      <a:gs pos="0">
                        <a:srgbClr val="5B9BD5">
                          <a:lumMod val="50000"/>
                        </a:srgbClr>
                      </a:gs>
                      <a:gs pos="50000">
                        <a:srgbClr val="5B9BD5"/>
                      </a:gs>
                      <a:gs pos="100000">
                        <a:srgbClr val="5B9BD5">
                          <a:lumMod val="60000"/>
                          <a:lumOff val="40000"/>
                        </a:srgb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微软雅黑" panose="020B0503020204020204" charset="-122"/>
                </a:rPr>
              </a:br>
              <a:r>
                <a:rPr lang="zh-CN" altLang="en-US" sz="1400" b="1" dirty="0">
                  <a:gradFill>
                    <a:gsLst>
                      <a:gs pos="0">
                        <a:srgbClr val="5B9BD5">
                          <a:lumMod val="50000"/>
                        </a:srgbClr>
                      </a:gs>
                      <a:gs pos="50000">
                        <a:srgbClr val="5B9BD5"/>
                      </a:gs>
                      <a:gs pos="100000">
                        <a:srgbClr val="5B9BD5">
                          <a:lumMod val="60000"/>
                          <a:lumOff val="40000"/>
                        </a:srgb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微软雅黑" panose="020B0503020204020204" charset="-122"/>
                </a:rPr>
                <a:t>应用层</a:t>
              </a:r>
              <a:endParaRPr lang="zh-CN" altLang="en-US" sz="1400" b="1" dirty="0">
                <a:gradFill>
                  <a:gsLst>
                    <a:gs pos="0">
                      <a:srgbClr val="5B9BD5">
                        <a:lumMod val="50000"/>
                      </a:srgbClr>
                    </a:gs>
                    <a:gs pos="50000">
                      <a:srgbClr val="5B9BD5"/>
                    </a:gs>
                    <a:gs pos="100000">
                      <a:srgbClr val="5B9BD5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</a:endParaRPr>
            </a:p>
          </p:txBody>
        </p:sp>
        <p:sp>
          <p:nvSpPr>
            <p:cNvPr id="171" name="矩形 170"/>
            <p:cNvSpPr/>
            <p:nvPr/>
          </p:nvSpPr>
          <p:spPr>
            <a:xfrm>
              <a:off x="7937" y="4096"/>
              <a:ext cx="2112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事件指挥决策中心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2562" y="4096"/>
              <a:ext cx="2184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全局态势管理驾驶舱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73" name="矩形 172"/>
            <p:cNvSpPr/>
            <p:nvPr/>
          </p:nvSpPr>
          <p:spPr>
            <a:xfrm>
              <a:off x="10405" y="4096"/>
              <a:ext cx="2112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指挥协作群组中心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12873" y="4096"/>
              <a:ext cx="2112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案例管理中心</a:t>
              </a:r>
              <a:endParaRPr lang="zh-CN" altLang="en-US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75" name="矩形 174"/>
            <p:cNvSpPr/>
            <p:nvPr/>
          </p:nvSpPr>
          <p:spPr>
            <a:xfrm>
              <a:off x="15341" y="4095"/>
              <a:ext cx="2112" cy="477"/>
            </a:xfrm>
            <a:prstGeom prst="rect">
              <a:avLst/>
            </a:prstGeom>
            <a:gradFill>
              <a:gsLst>
                <a:gs pos="63000">
                  <a:srgbClr val="E1F0FF"/>
                </a:gs>
                <a:gs pos="3000">
                  <a:srgbClr val="91CCFF"/>
                </a:gs>
                <a:gs pos="100000">
                  <a:srgbClr val="93CDFF"/>
                </a:gs>
              </a:gsLst>
              <a:lin ang="189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r>
                <a:rPr lang="zh-CN" altLang="en-US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权限配置管理中心</a:t>
              </a:r>
              <a:r>
                <a:rPr lang="en-US" altLang="zh-CN" sz="1000" b="1" kern="0">
                  <a:solidFill>
                    <a:prstClr val="black"/>
                  </a:solidFill>
                  <a:latin typeface="微软雅黑" panose="020B0503020204020204" charset="-122"/>
                  <a:sym typeface="+mn-ea"/>
                </a:rPr>
                <a:t>...</a:t>
              </a:r>
              <a:endParaRPr lang="en-US" altLang="zh-CN" sz="1000" b="1" kern="0">
                <a:solidFill>
                  <a:prstClr val="black"/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2062" y="3432"/>
              <a:ext cx="1595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4135">
                <a:defRPr/>
              </a:pPr>
              <a:r>
                <a:rPr lang="zh-CN" altLang="en-US" sz="1400" b="1">
                  <a:solidFill>
                    <a:srgbClr val="0070C0"/>
                  </a:solidFill>
                  <a:latin typeface="微软雅黑" panose="020B0503020204020204" charset="-122"/>
                  <a:cs typeface="微软雅黑" panose="020B0503020204020204" charset="-122"/>
                  <a:sym typeface="+mn-ea"/>
                </a:rPr>
                <a:t>以”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charset="-122"/>
                  <a:cs typeface="微软雅黑" panose="020B0503020204020204" charset="-122"/>
                  <a:sym typeface="+mn-ea"/>
                </a:rPr>
                <a:t>AI</a:t>
              </a: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cs typeface="微软雅黑" panose="020B0503020204020204" charset="-122"/>
                  <a:sym typeface="+mn-ea"/>
                </a:rPr>
                <a:t>指挥调度中心</a:t>
              </a:r>
              <a:r>
                <a:rPr lang="zh-CN" altLang="en-US" sz="1400" b="1">
                  <a:solidFill>
                    <a:srgbClr val="0070C0"/>
                  </a:solidFill>
                  <a:latin typeface="微软雅黑" panose="020B0503020204020204" charset="-122"/>
                  <a:cs typeface="微软雅黑" panose="020B0503020204020204" charset="-122"/>
                  <a:sym typeface="+mn-ea"/>
                </a:rPr>
                <a:t>”统领全局</a:t>
              </a:r>
              <a:r>
                <a:rPr lang="zh-CN" altLang="en-US" sz="1400" b="1">
                  <a:solidFill>
                    <a:srgbClr val="0070C0"/>
                  </a:solidFill>
                  <a:latin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，全面提升网络优化质量和效率</a:t>
              </a:r>
              <a:endParaRPr lang="zh-CN" altLang="en-US" sz="14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zh-CN" altLang="en-US" dirty="0"/>
              <a:t>中枢建设内容</a:t>
            </a:r>
            <a:r>
              <a:rPr lang="en-US" altLang="zh-CN" dirty="0"/>
              <a:t> | </a:t>
            </a:r>
            <a:r>
              <a:rPr lang="zh-CN" altLang="en-US" sz="2800" dirty="0">
                <a:sym typeface="+mn-ea"/>
              </a:rPr>
              <a:t>全局运行，任务经理智能调度中心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15" y="894080"/>
            <a:ext cx="11700510" cy="830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以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”AI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任务经理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为核心运行中枢，统一汇聚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个专业分析工具和平台数据能力，通过可视化运行中心实时展示处置全过程的调度状态与执行效率，通过智能对话界面实现自然交互式的问题分析与方案推进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4465" y="5212080"/>
            <a:ext cx="588581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任务经理运行中心，全局态势实时掌控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6" name="圆角矩形 9"/>
          <p:cNvSpPr/>
          <p:nvPr/>
        </p:nvSpPr>
        <p:spPr bwMode="auto">
          <a:xfrm>
            <a:off x="184150" y="5520055"/>
            <a:ext cx="5857875" cy="1049655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任务经理以可视化工作台为运行中枢，集中展示当前执行任务、动作流水、成功率、耗时节省等关键指标，管理层和群成员可随时掌握指挥体系的运转状态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5915" y="6137275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任务聚焦展示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2275" y="6137275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运行指标看板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48635" y="6136640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工作叙事流展示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81195" y="6136005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知识沉淀联动展示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48070" y="5212080"/>
            <a:ext cx="588581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智能对话驱动，结构化分析推进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2" name="圆角矩形 9"/>
          <p:cNvSpPr/>
          <p:nvPr/>
        </p:nvSpPr>
        <p:spPr bwMode="auto">
          <a:xfrm>
            <a:off x="6158230" y="5520055"/>
            <a:ext cx="5857875" cy="1049655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任务经理支持自然语言交互，人员可通过对话提问获取事件进展、根因分析和处置建议，实现"问即有答、答即有据"的人机协同模式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813675" y="6140450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自然语言问数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213850" y="6140450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个人任务查询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614025" y="6139815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任务过程查询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37300" y="6140450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自然语言问答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1793875"/>
            <a:ext cx="5886450" cy="3275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30" y="1799590"/>
            <a:ext cx="5897245" cy="32715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圆角矩形 33"/>
          <p:cNvSpPr/>
          <p:nvPr/>
        </p:nvSpPr>
        <p:spPr bwMode="auto">
          <a:xfrm>
            <a:off x="2099310" y="2315845"/>
            <a:ext cx="3821430" cy="2382520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sp>
        <p:nvSpPr>
          <p:cNvPr id="20" name="圆角矩形 35"/>
          <p:cNvSpPr/>
          <p:nvPr/>
        </p:nvSpPr>
        <p:spPr bwMode="auto">
          <a:xfrm>
            <a:off x="220345" y="2315845"/>
            <a:ext cx="1793240" cy="2755900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sp>
        <p:nvSpPr>
          <p:cNvPr id="21" name="圆角矩形 36"/>
          <p:cNvSpPr/>
          <p:nvPr/>
        </p:nvSpPr>
        <p:spPr bwMode="auto">
          <a:xfrm>
            <a:off x="7091045" y="2684145"/>
            <a:ext cx="3973830" cy="1804670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zh-CN" altLang="en-US" dirty="0"/>
              <a:t>中枢建设内容</a:t>
            </a:r>
            <a:r>
              <a:rPr lang="en-US" altLang="zh-CN" dirty="0"/>
              <a:t> |</a:t>
            </a:r>
            <a:r>
              <a:rPr lang="zh-CN" altLang="en-US" sz="2800" dirty="0"/>
              <a:t>管理视图，全省态势一屏掌控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15" y="894080"/>
            <a:ext cx="11700510" cy="878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以</a:t>
            </a:r>
            <a:r>
              <a:rPr lang="en-US" altLang="zh-CN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GIS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地图为核心汇聚全省网络问题分布、事件严重等级、处置进度和团队负载，将传统的事后问询升级为实时态势感知，支撑管理者快速定位问题、精准调配资源</a:t>
            </a:r>
            <a:endParaRPr lang="zh-CN" altLang="en-US" sz="16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45" y="1964690"/>
            <a:ext cx="8238490" cy="47542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8589010" y="1964690"/>
            <a:ext cx="3425190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全省态势一图可视，问题分布一目了然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6" name="圆角矩形 9"/>
          <p:cNvSpPr/>
          <p:nvPr/>
        </p:nvSpPr>
        <p:spPr bwMode="auto">
          <a:xfrm>
            <a:off x="8589010" y="2252980"/>
            <a:ext cx="3425825" cy="1201420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GIS地图上实时展示各城市事件分布，以五级颜色区分严重等级，管理层在地图上直观掌握全省问题态势，按城市、区域、严重等级、处理状态等维度筛选和下钻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圆角矩形 37"/>
          <p:cNvSpPr/>
          <p:nvPr/>
        </p:nvSpPr>
        <p:spPr bwMode="auto">
          <a:xfrm>
            <a:off x="327660" y="3325495"/>
            <a:ext cx="4782820" cy="3277235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cxnSp>
        <p:nvCxnSpPr>
          <p:cNvPr id="8" name="肘形连接符 38"/>
          <p:cNvCxnSpPr>
            <a:stCxn id="7" idx="0"/>
            <a:endCxn id="5" idx="1"/>
          </p:cNvCxnSpPr>
          <p:nvPr/>
        </p:nvCxnSpPr>
        <p:spPr>
          <a:xfrm rot="16200000">
            <a:off x="5053013" y="-210502"/>
            <a:ext cx="1202055" cy="5869940"/>
          </a:xfrm>
          <a:prstGeom prst="bentConnector2">
            <a:avLst/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  <p:sp>
        <p:nvSpPr>
          <p:cNvPr id="9" name="圆角矩形 39"/>
          <p:cNvSpPr/>
          <p:nvPr/>
        </p:nvSpPr>
        <p:spPr bwMode="auto">
          <a:xfrm>
            <a:off x="327660" y="2665730"/>
            <a:ext cx="8131175" cy="532765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cxnSp>
        <p:nvCxnSpPr>
          <p:cNvPr id="10" name="肘形连接符 40"/>
          <p:cNvCxnSpPr>
            <a:stCxn id="9" idx="2"/>
          </p:cNvCxnSpPr>
          <p:nvPr/>
        </p:nvCxnSpPr>
        <p:spPr>
          <a:xfrm rot="5400000" flipV="1">
            <a:off x="5777865" y="1813560"/>
            <a:ext cx="1413510" cy="4182745"/>
          </a:xfrm>
          <a:prstGeom prst="bentConnector2">
            <a:avLst/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8741410" y="3085465"/>
            <a:ext cx="93472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en-US" altLang="zh-CN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GIS</a:t>
            </a: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分级标注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12020" y="3084830"/>
            <a:ext cx="93472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图层叠加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882630" y="3084195"/>
            <a:ext cx="9632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详情下钻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4" name="圆角矩形 9"/>
          <p:cNvSpPr/>
          <p:nvPr/>
        </p:nvSpPr>
        <p:spPr bwMode="auto">
          <a:xfrm>
            <a:off x="8580120" y="3860800"/>
            <a:ext cx="3425825" cy="1220470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顶部统计卡片集中呈现指挥体系运行的核心管理指标，实时刷新，所有指标支持点击下钻查看明细数据，管理者无需等待汇报即可掌握全局动态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741410" y="4669790"/>
            <a:ext cx="93472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事件看板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12020" y="4669155"/>
            <a:ext cx="93472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事件追踪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882630" y="4668520"/>
            <a:ext cx="9632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明细下钻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8" name="圆角矩形 51"/>
          <p:cNvSpPr/>
          <p:nvPr/>
        </p:nvSpPr>
        <p:spPr bwMode="auto">
          <a:xfrm>
            <a:off x="5233670" y="3325495"/>
            <a:ext cx="3130550" cy="3277870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576310" y="3561080"/>
            <a:ext cx="343852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核心指标快速感知，管理数据一键直达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0" name="圆角矩形 9"/>
          <p:cNvSpPr/>
          <p:nvPr/>
        </p:nvSpPr>
        <p:spPr bwMode="auto">
          <a:xfrm>
            <a:off x="8583930" y="5492750"/>
            <a:ext cx="3425825" cy="1220470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管理者可实时感知各团队工作负载和处置进展，严重/重大事件自动置顶确保优先关注，支持从管理视图一键穿透到具体指挥群查看详情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745220" y="6301740"/>
            <a:ext cx="93472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群组一览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815830" y="6301105"/>
            <a:ext cx="93472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事件督办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886440" y="6300470"/>
            <a:ext cx="9632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一键触达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580120" y="5193030"/>
            <a:ext cx="343471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工作组实时监控，管理视图直达执行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25" name="肘形连接符 65"/>
          <p:cNvCxnSpPr>
            <a:stCxn id="18" idx="3"/>
            <a:endCxn id="24" idx="1"/>
          </p:cNvCxnSpPr>
          <p:nvPr/>
        </p:nvCxnSpPr>
        <p:spPr>
          <a:xfrm>
            <a:off x="8364220" y="4964430"/>
            <a:ext cx="215900" cy="38735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zh-CN" altLang="en-US" dirty="0"/>
              <a:t>中枢建设内容</a:t>
            </a:r>
            <a:r>
              <a:rPr lang="en-US" altLang="zh-CN" dirty="0"/>
              <a:t> |</a:t>
            </a:r>
            <a:r>
              <a:rPr lang="zh-CN" altLang="en-US" sz="2400" dirty="0"/>
              <a:t>协同指挥，一事一群统一作战空间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15" y="894080"/>
            <a:ext cx="11700510" cy="878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以一事一群模式将各类网络问题自动建群、自动组队，</a:t>
            </a:r>
            <a:r>
              <a:rPr lang="en-US" altLang="zh-CN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任务经理持续驱动诊断与方案推进，群内承载</a:t>
            </a:r>
            <a:r>
              <a:rPr lang="en-US" altLang="zh-CN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诊断结论、升级调度、分工指令等完整处置过程，右侧实时展示事件位置、当前阶段、协作成员和处置路级，让每一个事件的态势都清晰可见</a:t>
            </a:r>
            <a:endParaRPr lang="zh-CN" altLang="en-US" sz="16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1964690"/>
            <a:ext cx="7722870" cy="45167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114300" y="1964690"/>
            <a:ext cx="1950085" cy="49149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工作台统一入口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进行中事件一览无遗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6" name="圆角矩形 9"/>
          <p:cNvSpPr/>
          <p:nvPr/>
        </p:nvSpPr>
        <p:spPr bwMode="auto">
          <a:xfrm>
            <a:off x="114300" y="2456180"/>
            <a:ext cx="1950085" cy="1706880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左侧工作台以群组列表形式展示全部进行中事件，每个群标注事件名称、日期、消息数量和当前任务经理状态，支持按我所在的群快速筛选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3515" y="3737610"/>
            <a:ext cx="86804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事件群一览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0615" y="3740785"/>
            <a:ext cx="86804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快速筛选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4300" y="4290060"/>
            <a:ext cx="1950085" cy="49149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群内</a:t>
            </a:r>
            <a:r>
              <a:rPr lang="en-US" altLang="zh-CN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AI</a:t>
            </a:r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结论驱动</a:t>
            </a:r>
            <a:b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</a:br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处置过程透明可溯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114300" y="4781550"/>
            <a:ext cx="1950085" cy="1706880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指挥群内以</a:t>
            </a:r>
            <a:r>
              <a:rPr lang="en-US" altLang="zh-CN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任务经理为主持，自动推送质检复核结论、根因诊断和下一步行动指令，关键升级节点以结构化卡片标记，所有过程完整留痕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3515" y="6062980"/>
            <a:ext cx="86804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指挥调度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10615" y="6066155"/>
            <a:ext cx="86804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脉络可回溯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3" name="圆角矩形 35"/>
          <p:cNvSpPr/>
          <p:nvPr/>
        </p:nvSpPr>
        <p:spPr bwMode="auto">
          <a:xfrm>
            <a:off x="2247900" y="2493645"/>
            <a:ext cx="1178560" cy="3865245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cxnSp>
        <p:nvCxnSpPr>
          <p:cNvPr id="14" name="肘形连接符 38"/>
          <p:cNvCxnSpPr>
            <a:stCxn id="13" idx="0"/>
            <a:endCxn id="5" idx="3"/>
          </p:cNvCxnSpPr>
          <p:nvPr/>
        </p:nvCxnSpPr>
        <p:spPr>
          <a:xfrm rot="16200000" flipV="1">
            <a:off x="2309178" y="1965643"/>
            <a:ext cx="283210" cy="772795"/>
          </a:xfrm>
          <a:prstGeom prst="bentConnector2">
            <a:avLst/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  <p:sp>
        <p:nvSpPr>
          <p:cNvPr id="15" name="圆角矩形 29"/>
          <p:cNvSpPr/>
          <p:nvPr/>
        </p:nvSpPr>
        <p:spPr bwMode="auto">
          <a:xfrm>
            <a:off x="3592195" y="2550795"/>
            <a:ext cx="5125085" cy="3373755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cxnSp>
        <p:nvCxnSpPr>
          <p:cNvPr id="16" name="肘形连接符 31"/>
          <p:cNvCxnSpPr>
            <a:stCxn id="15" idx="1"/>
            <a:endCxn id="9" idx="3"/>
          </p:cNvCxnSpPr>
          <p:nvPr/>
        </p:nvCxnSpPr>
        <p:spPr>
          <a:xfrm rot="10800000" flipV="1">
            <a:off x="2064385" y="4237990"/>
            <a:ext cx="1527810" cy="29781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  <p:sp>
        <p:nvSpPr>
          <p:cNvPr id="17" name="矩形 16"/>
          <p:cNvSpPr/>
          <p:nvPr/>
        </p:nvSpPr>
        <p:spPr>
          <a:xfrm>
            <a:off x="10076180" y="4290060"/>
            <a:ext cx="1950085" cy="49149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事件右栏全景视图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  <a:p>
            <a:pPr algn="ctr"/>
            <a:r>
              <a:rPr lang="zh-CN" altLang="en-US" sz="1400" b="1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关键信息一屏呈现</a:t>
            </a:r>
            <a:endParaRPr lang="zh-CN" altLang="en-US" sz="1400" b="1">
              <a:solidFill>
                <a:prstClr val="white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8" name="圆角矩形 9"/>
          <p:cNvSpPr/>
          <p:nvPr/>
        </p:nvSpPr>
        <p:spPr bwMode="auto">
          <a:xfrm>
            <a:off x="10076180" y="4781550"/>
            <a:ext cx="1950085" cy="1706880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prstClr val="black"/>
                </a:solidFill>
                <a:latin typeface="微软雅黑" panose="020B0503020204020204" charset="-122"/>
                <a:cs typeface="微软雅黑" panose="020B0503020204020204" charset="-122"/>
              </a:rPr>
              <a:t>信息栏集中呈现事件的所有关键要素，从处置阶段到协作成员、从地理位置到处置路级，管理者和处置人员无需切换页面即可全局掌控</a:t>
            </a:r>
            <a:endParaRPr lang="zh-CN" altLang="en-US" sz="1000" b="1">
              <a:solidFill>
                <a:prstClr val="black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145395" y="6062980"/>
            <a:ext cx="86804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元信息结构化展示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072495" y="6066155"/>
            <a:ext cx="86804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r>
              <a:rPr lang="en-US" altLang="zh-CN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GIS</a:t>
            </a:r>
            <a:r>
              <a:rPr lang="zh-CN" altLang="en-US" sz="1000" b="1" kern="0">
                <a:solidFill>
                  <a:srgbClr val="0070C0"/>
                </a:solidFill>
                <a:latin typeface="微软雅黑" panose="020B0503020204020204" charset="-122"/>
                <a:sym typeface="+mn-ea"/>
              </a:rPr>
              <a:t>信息综合呈现</a:t>
            </a:r>
            <a:endParaRPr lang="zh-CN" altLang="en-US" sz="1000" b="1" kern="0">
              <a:solidFill>
                <a:srgbClr val="0070C0"/>
              </a:solidFill>
              <a:latin typeface="微软雅黑" panose="020B0503020204020204" charset="-122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958340"/>
            <a:ext cx="2996565" cy="2095500"/>
          </a:xfrm>
          <a:prstGeom prst="rect">
            <a:avLst/>
          </a:prstGeom>
          <a:ln w="12700" cmpd="sng">
            <a:solidFill>
              <a:srgbClr val="FF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圆角右箭头 39"/>
          <p:cNvSpPr/>
          <p:nvPr/>
        </p:nvSpPr>
        <p:spPr>
          <a:xfrm>
            <a:off x="8883015" y="3477260"/>
            <a:ext cx="377190" cy="397510"/>
          </a:xfrm>
          <a:prstGeom prst="ben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圆角矩形 42"/>
          <p:cNvSpPr/>
          <p:nvPr/>
        </p:nvSpPr>
        <p:spPr bwMode="auto">
          <a:xfrm>
            <a:off x="8805545" y="4652645"/>
            <a:ext cx="1057910" cy="1717040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</a:endParaRPr>
          </a:p>
        </p:txBody>
      </p:sp>
      <p:cxnSp>
        <p:nvCxnSpPr>
          <p:cNvPr id="24" name="肘形连接符 45"/>
          <p:cNvCxnSpPr>
            <a:stCxn id="23" idx="3"/>
            <a:endCxn id="17" idx="1"/>
          </p:cNvCxnSpPr>
          <p:nvPr/>
        </p:nvCxnSpPr>
        <p:spPr>
          <a:xfrm flipV="1">
            <a:off x="9863455" y="4535805"/>
            <a:ext cx="212725" cy="975360"/>
          </a:xfrm>
          <a:prstGeom prst="bentConnector3">
            <a:avLst>
              <a:gd name="adj1" fmla="val 50149"/>
            </a:avLst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  <p:cxnSp>
        <p:nvCxnSpPr>
          <p:cNvPr id="25" name="肘形连接符 46"/>
          <p:cNvCxnSpPr>
            <a:stCxn id="21" idx="2"/>
            <a:endCxn id="17" idx="0"/>
          </p:cNvCxnSpPr>
          <p:nvPr/>
        </p:nvCxnSpPr>
        <p:spPr>
          <a:xfrm rot="5400000" flipV="1">
            <a:off x="10671810" y="3910330"/>
            <a:ext cx="236220" cy="52324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zh-CN" altLang="en-US" dirty="0"/>
              <a:t>中枢建设内容</a:t>
            </a:r>
            <a:r>
              <a:rPr lang="en-US" altLang="zh-CN" dirty="0"/>
              <a:t> |</a:t>
            </a:r>
            <a:r>
              <a:rPr lang="zh-CN" altLang="en-US" sz="2400" dirty="0"/>
              <a:t>工具与数据，能力底座灵活配置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515" y="894080"/>
            <a:ext cx="11700510" cy="878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6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能力编排工作台将专家经验固化为可复用的处置流程，支持按业务场景配置处置步骤、绑定分析工具、设定匹配规则；同时建立统一数据接入通道，实现多平台数据的标准化汇聚，为作战指挥体系构建灵活可配的能力底座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48070" y="5164455"/>
            <a:ext cx="588581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场景模板与工具编排，处置能力标准化复用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9"/>
          <p:cNvSpPr/>
          <p:nvPr/>
        </p:nvSpPr>
        <p:spPr bwMode="auto">
          <a:xfrm>
            <a:off x="6158230" y="5472430"/>
            <a:ext cx="5857875" cy="1049655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按无线网优典型场景预置处置模板，一键启用标准化处置链；任务经理工具分层管理，外部能力池持续扩展，将专家经验固化为可复用的组织能力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13675" y="6092825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能力工具编排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13850" y="6092825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智能体编排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614025" y="6092190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外部能力接入扩展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37300" y="6092825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场景模板库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" y="1812290"/>
            <a:ext cx="5864860" cy="32111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矩形 19"/>
          <p:cNvSpPr/>
          <p:nvPr/>
        </p:nvSpPr>
        <p:spPr>
          <a:xfrm>
            <a:off x="163830" y="5165725"/>
            <a:ext cx="588581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数据能力统一管理，多源数据标准化汇聚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圆角矩形 9"/>
          <p:cNvSpPr/>
          <p:nvPr/>
        </p:nvSpPr>
        <p:spPr bwMode="auto">
          <a:xfrm>
            <a:off x="173990" y="5473700"/>
            <a:ext cx="5857875" cy="1049655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建立统一数据接入通道，实现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平台、集中测试平台、集中参数平台、投诉数据平台、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ICOS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等多专业平台的数据贯通，为作战指挥提供标准化、可查询、可关联的数据底座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29435" y="6094095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平台数据贯通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229610" y="6094095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多维灵活查询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29785" y="6093460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数据质量管控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53060" y="6094095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统一数据标准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2" name="圆角矩形 34"/>
          <p:cNvSpPr/>
          <p:nvPr/>
        </p:nvSpPr>
        <p:spPr bwMode="auto">
          <a:xfrm>
            <a:off x="183515" y="2087245"/>
            <a:ext cx="1092835" cy="2768600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30" y="1814195"/>
            <a:ext cx="5866130" cy="32099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6" name="圆角矩形 17"/>
          <p:cNvSpPr/>
          <p:nvPr/>
        </p:nvSpPr>
        <p:spPr bwMode="auto">
          <a:xfrm>
            <a:off x="7529830" y="2638425"/>
            <a:ext cx="2960370" cy="2320925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68513" tIns="34278" rIns="68513" bIns="34278" rtlCol="0" anchor="ctr">
            <a:noAutofit/>
          </a:bodyPr>
          <a:lstStyle/>
          <a:p>
            <a:pPr lvl="0"/>
            <a:r>
              <a:rPr lang="zh-CN" altLang="en-US" dirty="0"/>
              <a:t>中枢建设内容</a:t>
            </a:r>
            <a:r>
              <a:rPr lang="en-US" altLang="zh-CN" dirty="0"/>
              <a:t> |</a:t>
            </a:r>
            <a:r>
              <a:rPr lang="zh-CN" altLang="en-US" sz="2400" dirty="0">
                <a:sym typeface="+mn-ea"/>
              </a:rPr>
              <a:t>人员架构，角色权限分层管控</a:t>
            </a:r>
            <a:endParaRPr lang="zh-CN" altLang="en-US" dirty="0"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515" y="894080"/>
            <a:ext cx="11700510" cy="878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6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系统角色管理模块建立四级人员架构体系，通过角色编码、菜单权限、功能范围的精细化配置，实现人员投入规模可控、升级路径清晰、权限边界明确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1811020"/>
            <a:ext cx="5885815" cy="32067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/>
        </p:nvSpPr>
        <p:spPr>
          <a:xfrm>
            <a:off x="164465" y="5164455"/>
            <a:ext cx="588581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人员架构升级督办，角色权限灵活可配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184150" y="5472430"/>
            <a:ext cx="5857875" cy="1049655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建立网格级、市级、区级、专题组等多维度人员架构体系，通过可视化角色配置和场景化模板导入，实现组织架构的快速搭建、角色升级路径清晰、权限边界明确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5915" y="6089650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角色按</a:t>
            </a:r>
            <a:r>
              <a:rPr lang="zh-CN" altLang="en-US" sz="1000" b="1" kern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</a:t>
            </a: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入群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2275" y="6089650"/>
            <a:ext cx="11918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升级督办配置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48635" y="6089015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角色节点灵活调整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81195" y="6088380"/>
            <a:ext cx="1268095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责任追溯清晰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0" name="圆角矩形 35"/>
          <p:cNvSpPr/>
          <p:nvPr/>
        </p:nvSpPr>
        <p:spPr bwMode="auto">
          <a:xfrm>
            <a:off x="1315720" y="2090420"/>
            <a:ext cx="3378200" cy="2467610"/>
          </a:xfrm>
          <a:prstGeom prst="roundRect">
            <a:avLst>
              <a:gd name="adj" fmla="val 643"/>
            </a:avLst>
          </a:prstGeom>
          <a:noFill/>
          <a:ln w="6350">
            <a:solidFill>
              <a:srgbClr val="FF0000"/>
            </a:solidFill>
            <a:prstDash val="sysDash"/>
          </a:ln>
        </p:spPr>
        <p:txBody>
          <a:bodyPr rtlCol="0" anchor="ctr"/>
          <a:lstStyle/>
          <a:p>
            <a:pPr marL="360680" indent="-360680" algn="ctr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1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85" y="1815465"/>
            <a:ext cx="5877560" cy="32073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矩形 23"/>
          <p:cNvSpPr/>
          <p:nvPr/>
        </p:nvSpPr>
        <p:spPr>
          <a:xfrm>
            <a:off x="6166485" y="5164455"/>
            <a:ext cx="5885815" cy="317500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多级角色体系与权限配置，分层管控灵活可配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圆角矩形 9"/>
          <p:cNvSpPr/>
          <p:nvPr/>
        </p:nvSpPr>
        <p:spPr bwMode="auto">
          <a:xfrm>
            <a:off x="6186170" y="5472430"/>
            <a:ext cx="5857875" cy="1049655"/>
          </a:xfrm>
          <a:prstGeom prst="rect">
            <a:avLst/>
          </a:prstGeom>
          <a:noFill/>
          <a:ln w="3175">
            <a:solidFill>
              <a:srgbClr val="0070C0"/>
            </a:solidFill>
            <a:prstDash val="solid"/>
          </a:ln>
        </p:spPr>
        <p:txBody>
          <a:bodyPr rtlCol="0" anchor="t" anchorCtr="0"/>
          <a:lstStyle/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建立超级管理员→管理者→业务专家→执行者的四级角色梯队，按无线网优入格处置场景进行权限模板化管理，支持菜单权限模块化配置，实现组织架构清晰、权限边界明确、配置灵活高效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337935" y="6089650"/>
            <a:ext cx="160655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多层级角色架构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56270" y="6089650"/>
            <a:ext cx="160655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菜单权限模块化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174605" y="6088380"/>
            <a:ext cx="1709420" cy="302895"/>
          </a:xfrm>
          <a:prstGeom prst="rect">
            <a:avLst/>
          </a:prstGeom>
          <a:gradFill>
            <a:gsLst>
              <a:gs pos="63000">
                <a:srgbClr val="E1F0FF"/>
              </a:gs>
              <a:gs pos="3000">
                <a:srgbClr val="91CCFF"/>
              </a:gs>
              <a:gs pos="100000">
                <a:srgbClr val="93CDFF"/>
              </a:gs>
            </a:gsLst>
            <a:lin ang="189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三方协同入群</a:t>
            </a: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9588844" y="285728"/>
            <a:ext cx="2603157" cy="524995"/>
          </a:xfrm>
          <a:custGeom>
            <a:avLst/>
            <a:gdLst>
              <a:gd name="T0" fmla="*/ 4660 w 5290"/>
              <a:gd name="T1" fmla="*/ 674 h 1814"/>
              <a:gd name="T2" fmla="*/ 4622 w 5290"/>
              <a:gd name="T3" fmla="*/ 674 h 1814"/>
              <a:gd name="T4" fmla="*/ 4092 w 5290"/>
              <a:gd name="T5" fmla="*/ 1060 h 1814"/>
              <a:gd name="T6" fmla="*/ 3926 w 5290"/>
              <a:gd name="T7" fmla="*/ 1600 h 1814"/>
              <a:gd name="T8" fmla="*/ 3648 w 5290"/>
              <a:gd name="T9" fmla="*/ 0 h 1814"/>
              <a:gd name="T10" fmla="*/ 3470 w 5290"/>
              <a:gd name="T11" fmla="*/ 1082 h 1814"/>
              <a:gd name="T12" fmla="*/ 3244 w 5290"/>
              <a:gd name="T13" fmla="*/ 920 h 1814"/>
              <a:gd name="T14" fmla="*/ 3208 w 5290"/>
              <a:gd name="T15" fmla="*/ 918 h 1814"/>
              <a:gd name="T16" fmla="*/ 2830 w 5290"/>
              <a:gd name="T17" fmla="*/ 1070 h 1814"/>
              <a:gd name="T18" fmla="*/ 3098 w 5290"/>
              <a:gd name="T19" fmla="*/ 1116 h 1814"/>
              <a:gd name="T20" fmla="*/ 3222 w 5290"/>
              <a:gd name="T21" fmla="*/ 972 h 1814"/>
              <a:gd name="T22" fmla="*/ 3322 w 5290"/>
              <a:gd name="T23" fmla="*/ 1128 h 1814"/>
              <a:gd name="T24" fmla="*/ 3512 w 5290"/>
              <a:gd name="T25" fmla="*/ 1108 h 1814"/>
              <a:gd name="T26" fmla="*/ 3896 w 5290"/>
              <a:gd name="T27" fmla="*/ 1700 h 1814"/>
              <a:gd name="T28" fmla="*/ 3942 w 5290"/>
              <a:gd name="T29" fmla="*/ 1702 h 1814"/>
              <a:gd name="T30" fmla="*/ 4396 w 5290"/>
              <a:gd name="T31" fmla="*/ 1104 h 1814"/>
              <a:gd name="T32" fmla="*/ 4640 w 5290"/>
              <a:gd name="T33" fmla="*/ 728 h 1814"/>
              <a:gd name="T34" fmla="*/ 4886 w 5290"/>
              <a:gd name="T35" fmla="*/ 1128 h 1814"/>
              <a:gd name="T36" fmla="*/ 5290 w 5290"/>
              <a:gd name="T37" fmla="*/ 1082 h 1814"/>
              <a:gd name="T38" fmla="*/ 1566 w 5290"/>
              <a:gd name="T39" fmla="*/ 922 h 1814"/>
              <a:gd name="T40" fmla="*/ 1530 w 5290"/>
              <a:gd name="T41" fmla="*/ 918 h 1814"/>
              <a:gd name="T42" fmla="*/ 954 w 5290"/>
              <a:gd name="T43" fmla="*/ 1060 h 1814"/>
              <a:gd name="T44" fmla="*/ 916 w 5290"/>
              <a:gd name="T45" fmla="*/ 1198 h 1814"/>
              <a:gd name="T46" fmla="*/ 836 w 5290"/>
              <a:gd name="T47" fmla="*/ 820 h 1814"/>
              <a:gd name="T48" fmla="*/ 706 w 5290"/>
              <a:gd name="T49" fmla="*/ 1090 h 1814"/>
              <a:gd name="T50" fmla="*/ 536 w 5290"/>
              <a:gd name="T51" fmla="*/ 970 h 1814"/>
              <a:gd name="T52" fmla="*/ 500 w 5290"/>
              <a:gd name="T53" fmla="*/ 968 h 1814"/>
              <a:gd name="T54" fmla="*/ 288 w 5290"/>
              <a:gd name="T55" fmla="*/ 1070 h 1814"/>
              <a:gd name="T56" fmla="*/ 226 w 5290"/>
              <a:gd name="T57" fmla="*/ 1220 h 1814"/>
              <a:gd name="T58" fmla="*/ 176 w 5290"/>
              <a:gd name="T59" fmla="*/ 1064 h 1814"/>
              <a:gd name="T60" fmla="*/ 0 w 5290"/>
              <a:gd name="T61" fmla="*/ 1108 h 1814"/>
              <a:gd name="T62" fmla="*/ 202 w 5290"/>
              <a:gd name="T63" fmla="*/ 1292 h 1814"/>
              <a:gd name="T64" fmla="*/ 244 w 5290"/>
              <a:gd name="T65" fmla="*/ 1294 h 1814"/>
              <a:gd name="T66" fmla="*/ 432 w 5290"/>
              <a:gd name="T67" fmla="*/ 1116 h 1814"/>
              <a:gd name="T68" fmla="*/ 514 w 5290"/>
              <a:gd name="T69" fmla="*/ 1020 h 1814"/>
              <a:gd name="T70" fmla="*/ 578 w 5290"/>
              <a:gd name="T71" fmla="*/ 1126 h 1814"/>
              <a:gd name="T72" fmla="*/ 718 w 5290"/>
              <a:gd name="T73" fmla="*/ 1136 h 1814"/>
              <a:gd name="T74" fmla="*/ 740 w 5290"/>
              <a:gd name="T75" fmla="*/ 1124 h 1814"/>
              <a:gd name="T76" fmla="*/ 890 w 5290"/>
              <a:gd name="T77" fmla="*/ 1298 h 1814"/>
              <a:gd name="T78" fmla="*/ 934 w 5290"/>
              <a:gd name="T79" fmla="*/ 1300 h 1814"/>
              <a:gd name="T80" fmla="*/ 1412 w 5290"/>
              <a:gd name="T81" fmla="*/ 1104 h 1814"/>
              <a:gd name="T82" fmla="*/ 1542 w 5290"/>
              <a:gd name="T83" fmla="*/ 970 h 1814"/>
              <a:gd name="T84" fmla="*/ 1636 w 5290"/>
              <a:gd name="T85" fmla="*/ 1128 h 1814"/>
              <a:gd name="T86" fmla="*/ 1954 w 5290"/>
              <a:gd name="T87" fmla="*/ 1082 h 1814"/>
              <a:gd name="T88" fmla="*/ 1566 w 5290"/>
              <a:gd name="T89" fmla="*/ 922 h 1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0" h="1814">
                <a:moveTo>
                  <a:pt x="4912" y="1082"/>
                </a:moveTo>
                <a:lnTo>
                  <a:pt x="4660" y="674"/>
                </a:lnTo>
                <a:lnTo>
                  <a:pt x="4642" y="644"/>
                </a:lnTo>
                <a:lnTo>
                  <a:pt x="4622" y="674"/>
                </a:lnTo>
                <a:lnTo>
                  <a:pt x="4372" y="1060"/>
                </a:lnTo>
                <a:lnTo>
                  <a:pt x="4092" y="1060"/>
                </a:lnTo>
                <a:lnTo>
                  <a:pt x="4086" y="1074"/>
                </a:lnTo>
                <a:lnTo>
                  <a:pt x="3926" y="1600"/>
                </a:lnTo>
                <a:lnTo>
                  <a:pt x="3672" y="122"/>
                </a:lnTo>
                <a:lnTo>
                  <a:pt x="3648" y="0"/>
                </a:lnTo>
                <a:lnTo>
                  <a:pt x="3628" y="122"/>
                </a:lnTo>
                <a:lnTo>
                  <a:pt x="3470" y="1082"/>
                </a:lnTo>
                <a:lnTo>
                  <a:pt x="3346" y="1082"/>
                </a:lnTo>
                <a:lnTo>
                  <a:pt x="3244" y="920"/>
                </a:lnTo>
                <a:lnTo>
                  <a:pt x="3228" y="896"/>
                </a:lnTo>
                <a:lnTo>
                  <a:pt x="3208" y="918"/>
                </a:lnTo>
                <a:lnTo>
                  <a:pt x="3078" y="1070"/>
                </a:lnTo>
                <a:lnTo>
                  <a:pt x="2830" y="1070"/>
                </a:lnTo>
                <a:lnTo>
                  <a:pt x="2830" y="1116"/>
                </a:lnTo>
                <a:lnTo>
                  <a:pt x="3098" y="1116"/>
                </a:lnTo>
                <a:lnTo>
                  <a:pt x="3104" y="1108"/>
                </a:lnTo>
                <a:lnTo>
                  <a:pt x="3222" y="972"/>
                </a:lnTo>
                <a:lnTo>
                  <a:pt x="3314" y="1118"/>
                </a:lnTo>
                <a:lnTo>
                  <a:pt x="3322" y="1128"/>
                </a:lnTo>
                <a:lnTo>
                  <a:pt x="3508" y="1128"/>
                </a:lnTo>
                <a:lnTo>
                  <a:pt x="3512" y="1108"/>
                </a:lnTo>
                <a:lnTo>
                  <a:pt x="3650" y="268"/>
                </a:lnTo>
                <a:lnTo>
                  <a:pt x="3896" y="1700"/>
                </a:lnTo>
                <a:lnTo>
                  <a:pt x="3910" y="1814"/>
                </a:lnTo>
                <a:lnTo>
                  <a:pt x="3942" y="1702"/>
                </a:lnTo>
                <a:lnTo>
                  <a:pt x="4124" y="1104"/>
                </a:lnTo>
                <a:lnTo>
                  <a:pt x="4396" y="1104"/>
                </a:lnTo>
                <a:lnTo>
                  <a:pt x="4402" y="1094"/>
                </a:lnTo>
                <a:lnTo>
                  <a:pt x="4640" y="728"/>
                </a:lnTo>
                <a:lnTo>
                  <a:pt x="4880" y="1116"/>
                </a:lnTo>
                <a:lnTo>
                  <a:pt x="4886" y="1128"/>
                </a:lnTo>
                <a:lnTo>
                  <a:pt x="5290" y="1128"/>
                </a:lnTo>
                <a:lnTo>
                  <a:pt x="5290" y="1082"/>
                </a:lnTo>
                <a:lnTo>
                  <a:pt x="4912" y="1082"/>
                </a:lnTo>
                <a:close/>
                <a:moveTo>
                  <a:pt x="1566" y="922"/>
                </a:moveTo>
                <a:lnTo>
                  <a:pt x="1552" y="896"/>
                </a:lnTo>
                <a:lnTo>
                  <a:pt x="1530" y="918"/>
                </a:lnTo>
                <a:lnTo>
                  <a:pt x="1394" y="1060"/>
                </a:lnTo>
                <a:lnTo>
                  <a:pt x="954" y="1060"/>
                </a:lnTo>
                <a:lnTo>
                  <a:pt x="950" y="1076"/>
                </a:lnTo>
                <a:lnTo>
                  <a:pt x="916" y="1198"/>
                </a:lnTo>
                <a:lnTo>
                  <a:pt x="850" y="886"/>
                </a:lnTo>
                <a:lnTo>
                  <a:pt x="836" y="820"/>
                </a:lnTo>
                <a:lnTo>
                  <a:pt x="806" y="880"/>
                </a:lnTo>
                <a:lnTo>
                  <a:pt x="706" y="1090"/>
                </a:lnTo>
                <a:lnTo>
                  <a:pt x="606" y="1084"/>
                </a:lnTo>
                <a:lnTo>
                  <a:pt x="536" y="970"/>
                </a:lnTo>
                <a:lnTo>
                  <a:pt x="520" y="944"/>
                </a:lnTo>
                <a:lnTo>
                  <a:pt x="500" y="968"/>
                </a:lnTo>
                <a:lnTo>
                  <a:pt x="410" y="1070"/>
                </a:lnTo>
                <a:lnTo>
                  <a:pt x="288" y="1070"/>
                </a:lnTo>
                <a:lnTo>
                  <a:pt x="284" y="1084"/>
                </a:lnTo>
                <a:lnTo>
                  <a:pt x="226" y="1220"/>
                </a:lnTo>
                <a:lnTo>
                  <a:pt x="182" y="1078"/>
                </a:lnTo>
                <a:lnTo>
                  <a:pt x="176" y="1064"/>
                </a:lnTo>
                <a:lnTo>
                  <a:pt x="0" y="1064"/>
                </a:lnTo>
                <a:lnTo>
                  <a:pt x="0" y="1108"/>
                </a:lnTo>
                <a:lnTo>
                  <a:pt x="144" y="1108"/>
                </a:lnTo>
                <a:lnTo>
                  <a:pt x="202" y="1292"/>
                </a:lnTo>
                <a:lnTo>
                  <a:pt x="222" y="1352"/>
                </a:lnTo>
                <a:lnTo>
                  <a:pt x="244" y="1294"/>
                </a:lnTo>
                <a:lnTo>
                  <a:pt x="320" y="1116"/>
                </a:lnTo>
                <a:lnTo>
                  <a:pt x="432" y="1116"/>
                </a:lnTo>
                <a:lnTo>
                  <a:pt x="438" y="1108"/>
                </a:lnTo>
                <a:lnTo>
                  <a:pt x="514" y="1020"/>
                </a:lnTo>
                <a:lnTo>
                  <a:pt x="572" y="1116"/>
                </a:lnTo>
                <a:lnTo>
                  <a:pt x="578" y="1126"/>
                </a:lnTo>
                <a:lnTo>
                  <a:pt x="590" y="1128"/>
                </a:lnTo>
                <a:lnTo>
                  <a:pt x="718" y="1136"/>
                </a:lnTo>
                <a:lnTo>
                  <a:pt x="734" y="1138"/>
                </a:lnTo>
                <a:lnTo>
                  <a:pt x="740" y="1124"/>
                </a:lnTo>
                <a:lnTo>
                  <a:pt x="818" y="960"/>
                </a:lnTo>
                <a:lnTo>
                  <a:pt x="890" y="1298"/>
                </a:lnTo>
                <a:lnTo>
                  <a:pt x="906" y="1382"/>
                </a:lnTo>
                <a:lnTo>
                  <a:pt x="934" y="1300"/>
                </a:lnTo>
                <a:lnTo>
                  <a:pt x="988" y="1104"/>
                </a:lnTo>
                <a:lnTo>
                  <a:pt x="1412" y="1104"/>
                </a:lnTo>
                <a:lnTo>
                  <a:pt x="1420" y="1098"/>
                </a:lnTo>
                <a:lnTo>
                  <a:pt x="1542" y="970"/>
                </a:lnTo>
                <a:lnTo>
                  <a:pt x="1628" y="1116"/>
                </a:lnTo>
                <a:lnTo>
                  <a:pt x="1636" y="1128"/>
                </a:lnTo>
                <a:lnTo>
                  <a:pt x="1954" y="1128"/>
                </a:lnTo>
                <a:lnTo>
                  <a:pt x="1954" y="1082"/>
                </a:lnTo>
                <a:lnTo>
                  <a:pt x="1662" y="1082"/>
                </a:lnTo>
                <a:lnTo>
                  <a:pt x="1566" y="922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/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229" y="596317"/>
            <a:ext cx="10181968" cy="0"/>
          </a:xfrm>
          <a:prstGeom prst="line">
            <a:avLst/>
          </a:pr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 w="12700" cap="flat" cmpd="sng" algn="ctr">
            <a:solidFill>
              <a:srgbClr val="ADCF3C"/>
            </a:solidFill>
            <a:prstDash val="solid"/>
            <a:miter lim="800000"/>
          </a:ln>
          <a:effectLst/>
        </p:spPr>
      </p:cxnSp>
      <p:sp>
        <p:nvSpPr>
          <p:cNvPr id="10" name="任意多边形 19"/>
          <p:cNvSpPr/>
          <p:nvPr userDrawn="1"/>
        </p:nvSpPr>
        <p:spPr bwMode="auto">
          <a:xfrm>
            <a:off x="10540354" y="412108"/>
            <a:ext cx="512423" cy="232009"/>
          </a:xfrm>
          <a:custGeom>
            <a:avLst/>
            <a:gdLst>
              <a:gd name="connsiteX0" fmla="*/ 488950 w 1746250"/>
              <a:gd name="connsiteY0" fmla="*/ 698500 h 828675"/>
              <a:gd name="connsiteX1" fmla="*/ 596900 w 1746250"/>
              <a:gd name="connsiteY1" fmla="*/ 698500 h 828675"/>
              <a:gd name="connsiteX2" fmla="*/ 596900 w 1746250"/>
              <a:gd name="connsiteY2" fmla="*/ 793750 h 828675"/>
              <a:gd name="connsiteX3" fmla="*/ 488950 w 1746250"/>
              <a:gd name="connsiteY3" fmla="*/ 793750 h 828675"/>
              <a:gd name="connsiteX4" fmla="*/ 774700 w 1746250"/>
              <a:gd name="connsiteY4" fmla="*/ 565150 h 828675"/>
              <a:gd name="connsiteX5" fmla="*/ 882650 w 1746250"/>
              <a:gd name="connsiteY5" fmla="*/ 565150 h 828675"/>
              <a:gd name="connsiteX6" fmla="*/ 882650 w 1746250"/>
              <a:gd name="connsiteY6" fmla="*/ 822325 h 828675"/>
              <a:gd name="connsiteX7" fmla="*/ 774700 w 1746250"/>
              <a:gd name="connsiteY7" fmla="*/ 822325 h 828675"/>
              <a:gd name="connsiteX8" fmla="*/ 1063625 w 1746250"/>
              <a:gd name="connsiteY8" fmla="*/ 381000 h 828675"/>
              <a:gd name="connsiteX9" fmla="*/ 1171575 w 1746250"/>
              <a:gd name="connsiteY9" fmla="*/ 381000 h 828675"/>
              <a:gd name="connsiteX10" fmla="*/ 1171575 w 1746250"/>
              <a:gd name="connsiteY10" fmla="*/ 822325 h 828675"/>
              <a:gd name="connsiteX11" fmla="*/ 1063625 w 1746250"/>
              <a:gd name="connsiteY11" fmla="*/ 822325 h 828675"/>
              <a:gd name="connsiteX12" fmla="*/ 1352550 w 1746250"/>
              <a:gd name="connsiteY12" fmla="*/ 225425 h 828675"/>
              <a:gd name="connsiteX13" fmla="*/ 1460500 w 1746250"/>
              <a:gd name="connsiteY13" fmla="*/ 225425 h 828675"/>
              <a:gd name="connsiteX14" fmla="*/ 1460500 w 1746250"/>
              <a:gd name="connsiteY14" fmla="*/ 822325 h 828675"/>
              <a:gd name="connsiteX15" fmla="*/ 1352550 w 1746250"/>
              <a:gd name="connsiteY15" fmla="*/ 822325 h 828675"/>
              <a:gd name="connsiteX16" fmla="*/ 352425 w 1746250"/>
              <a:gd name="connsiteY16" fmla="*/ 117475 h 828675"/>
              <a:gd name="connsiteX17" fmla="*/ 352425 w 1746250"/>
              <a:gd name="connsiteY17" fmla="*/ 388205 h 828675"/>
              <a:gd name="connsiteX18" fmla="*/ 570125 w 1746250"/>
              <a:gd name="connsiteY18" fmla="*/ 117475 h 828675"/>
              <a:gd name="connsiteX19" fmla="*/ 68050 w 1746250"/>
              <a:gd name="connsiteY19" fmla="*/ 117475 h 828675"/>
              <a:gd name="connsiteX20" fmla="*/ 288925 w 1746250"/>
              <a:gd name="connsiteY20" fmla="*/ 392153 h 828675"/>
              <a:gd name="connsiteX21" fmla="*/ 288925 w 1746250"/>
              <a:gd name="connsiteY21" fmla="*/ 117475 h 828675"/>
              <a:gd name="connsiteX22" fmla="*/ 0 w 1746250"/>
              <a:gd name="connsiteY22" fmla="*/ 50800 h 828675"/>
              <a:gd name="connsiteX23" fmla="*/ 638175 w 1746250"/>
              <a:gd name="connsiteY23" fmla="*/ 50800 h 828675"/>
              <a:gd name="connsiteX24" fmla="*/ 638175 w 1746250"/>
              <a:gd name="connsiteY24" fmla="*/ 92075 h 828675"/>
              <a:gd name="connsiteX25" fmla="*/ 638175 w 1746250"/>
              <a:gd name="connsiteY25" fmla="*/ 117475 h 828675"/>
              <a:gd name="connsiteX26" fmla="*/ 352425 w 1746250"/>
              <a:gd name="connsiteY26" fmla="*/ 476967 h 828675"/>
              <a:gd name="connsiteX27" fmla="*/ 352425 w 1746250"/>
              <a:gd name="connsiteY27" fmla="*/ 828675 h 828675"/>
              <a:gd name="connsiteX28" fmla="*/ 288925 w 1746250"/>
              <a:gd name="connsiteY28" fmla="*/ 828675 h 828675"/>
              <a:gd name="connsiteX29" fmla="*/ 288925 w 1746250"/>
              <a:gd name="connsiteY29" fmla="*/ 480961 h 828675"/>
              <a:gd name="connsiteX30" fmla="*/ 0 w 1746250"/>
              <a:gd name="connsiteY30" fmla="*/ 117475 h 828675"/>
              <a:gd name="connsiteX31" fmla="*/ 0 w 1746250"/>
              <a:gd name="connsiteY31" fmla="*/ 92075 h 828675"/>
              <a:gd name="connsiteX32" fmla="*/ 1638300 w 1746250"/>
              <a:gd name="connsiteY32" fmla="*/ 0 h 828675"/>
              <a:gd name="connsiteX33" fmla="*/ 1746250 w 1746250"/>
              <a:gd name="connsiteY33" fmla="*/ 0 h 828675"/>
              <a:gd name="connsiteX34" fmla="*/ 1746250 w 1746250"/>
              <a:gd name="connsiteY34" fmla="*/ 822325 h 828675"/>
              <a:gd name="connsiteX35" fmla="*/ 1638300 w 1746250"/>
              <a:gd name="connsiteY35" fmla="*/ 822325 h 82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50" h="828675">
                <a:moveTo>
                  <a:pt x="488950" y="698500"/>
                </a:moveTo>
                <a:lnTo>
                  <a:pt x="596900" y="698500"/>
                </a:lnTo>
                <a:lnTo>
                  <a:pt x="596900" y="793750"/>
                </a:lnTo>
                <a:lnTo>
                  <a:pt x="488950" y="793750"/>
                </a:lnTo>
                <a:close/>
                <a:moveTo>
                  <a:pt x="774700" y="565150"/>
                </a:moveTo>
                <a:lnTo>
                  <a:pt x="882650" y="565150"/>
                </a:lnTo>
                <a:lnTo>
                  <a:pt x="882650" y="822325"/>
                </a:lnTo>
                <a:lnTo>
                  <a:pt x="774700" y="822325"/>
                </a:lnTo>
                <a:close/>
                <a:moveTo>
                  <a:pt x="1063625" y="381000"/>
                </a:moveTo>
                <a:lnTo>
                  <a:pt x="1171575" y="381000"/>
                </a:lnTo>
                <a:lnTo>
                  <a:pt x="1171575" y="822325"/>
                </a:lnTo>
                <a:lnTo>
                  <a:pt x="1063625" y="822325"/>
                </a:lnTo>
                <a:close/>
                <a:moveTo>
                  <a:pt x="1352550" y="225425"/>
                </a:moveTo>
                <a:lnTo>
                  <a:pt x="1460500" y="225425"/>
                </a:lnTo>
                <a:lnTo>
                  <a:pt x="1460500" y="822325"/>
                </a:lnTo>
                <a:lnTo>
                  <a:pt x="1352550" y="822325"/>
                </a:lnTo>
                <a:close/>
                <a:moveTo>
                  <a:pt x="352425" y="117475"/>
                </a:moveTo>
                <a:lnTo>
                  <a:pt x="352425" y="388205"/>
                </a:lnTo>
                <a:lnTo>
                  <a:pt x="570125" y="117475"/>
                </a:lnTo>
                <a:close/>
                <a:moveTo>
                  <a:pt x="68050" y="117475"/>
                </a:moveTo>
                <a:lnTo>
                  <a:pt x="288925" y="392153"/>
                </a:lnTo>
                <a:lnTo>
                  <a:pt x="288925" y="117475"/>
                </a:lnTo>
                <a:close/>
                <a:moveTo>
                  <a:pt x="0" y="50800"/>
                </a:moveTo>
                <a:lnTo>
                  <a:pt x="638175" y="50800"/>
                </a:lnTo>
                <a:lnTo>
                  <a:pt x="638175" y="92075"/>
                </a:lnTo>
                <a:lnTo>
                  <a:pt x="638175" y="117475"/>
                </a:lnTo>
                <a:lnTo>
                  <a:pt x="352425" y="476967"/>
                </a:lnTo>
                <a:lnTo>
                  <a:pt x="352425" y="828675"/>
                </a:lnTo>
                <a:lnTo>
                  <a:pt x="288925" y="828675"/>
                </a:lnTo>
                <a:lnTo>
                  <a:pt x="288925" y="480961"/>
                </a:lnTo>
                <a:lnTo>
                  <a:pt x="0" y="117475"/>
                </a:lnTo>
                <a:lnTo>
                  <a:pt x="0" y="92075"/>
                </a:lnTo>
                <a:close/>
                <a:moveTo>
                  <a:pt x="1638300" y="0"/>
                </a:moveTo>
                <a:lnTo>
                  <a:pt x="1746250" y="0"/>
                </a:lnTo>
                <a:lnTo>
                  <a:pt x="1746250" y="822325"/>
                </a:lnTo>
                <a:lnTo>
                  <a:pt x="1638300" y="822325"/>
                </a:lnTo>
                <a:close/>
              </a:path>
            </a:pathLst>
          </a:custGeom>
          <a:gradFill>
            <a:gsLst>
              <a:gs pos="0">
                <a:srgbClr val="94C123"/>
              </a:gs>
              <a:gs pos="100000">
                <a:srgbClr val="0087CF"/>
              </a:gs>
            </a:gsLst>
            <a:lin ang="0" scaled="1"/>
          </a:gradFill>
          <a:ln>
            <a:noFill/>
          </a:ln>
        </p:spPr>
        <p:txBody>
          <a:bodyPr vert="horz" wrap="square" lIns="91351" tIns="45704" rIns="91351" bIns="45704" numCol="1" anchor="t" anchorCtr="0" compatLnSpc="1">
            <a:noAutofit/>
          </a:bodyPr>
          <a:lstStyle/>
          <a:p>
            <a:pPr defTabSz="913130"/>
            <a:endParaRPr lang="zh-CN" altLang="en-US" sz="1865">
              <a:solidFill>
                <a:prstClr val="black"/>
              </a:solidFill>
            </a:endParaRPr>
          </a:p>
        </p:txBody>
      </p:sp>
      <p:pic>
        <p:nvPicPr>
          <p:cNvPr id="17" name="1" descr="D:\360data\重要数据\桌面\666666666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840" y="2834455"/>
            <a:ext cx="1314167" cy="1314167"/>
          </a:xfrm>
          <a:prstGeom prst="rect">
            <a:avLst/>
          </a:prstGeom>
          <a:noFill/>
          <a:effectLst>
            <a:outerShdw blurRad="190500" algn="tl" rotWithShape="0">
              <a:schemeClr val="tx2">
                <a:lumMod val="60000"/>
                <a:lumOff val="40000"/>
                <a:alpha val="52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2" descr="D:\360data\重要数据\桌面\55555555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840" y="2834455"/>
            <a:ext cx="1314167" cy="1314167"/>
          </a:xfrm>
          <a:prstGeom prst="rect">
            <a:avLst/>
          </a:prstGeom>
          <a:noFill/>
          <a:effectLst>
            <a:outerShdw blurRad="190500" algn="tl" rotWithShape="0">
              <a:schemeClr val="tx2">
                <a:lumMod val="60000"/>
                <a:lumOff val="40000"/>
                <a:alpha val="52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3" descr="D:\360data\重要数据\桌面\444444444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840" y="2834455"/>
            <a:ext cx="1314167" cy="1314167"/>
          </a:xfrm>
          <a:prstGeom prst="rect">
            <a:avLst/>
          </a:prstGeom>
          <a:noFill/>
          <a:effectLst>
            <a:outerShdw blurRad="190500" algn="tl" rotWithShape="0">
              <a:schemeClr val="tx2">
                <a:lumMod val="60000"/>
                <a:lumOff val="40000"/>
                <a:alpha val="52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4" descr="D:\360data\重要数据\桌面\33333333333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840" y="2834455"/>
            <a:ext cx="1314167" cy="1314167"/>
          </a:xfrm>
          <a:prstGeom prst="rect">
            <a:avLst/>
          </a:prstGeom>
          <a:noFill/>
          <a:effectLst>
            <a:outerShdw blurRad="190500" algn="tl" rotWithShape="0">
              <a:schemeClr val="tx2">
                <a:lumMod val="60000"/>
                <a:lumOff val="40000"/>
                <a:alpha val="52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5" descr="D:\360data\重要数据\桌面\22222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840" y="2834455"/>
            <a:ext cx="1314167" cy="1314167"/>
          </a:xfrm>
          <a:prstGeom prst="rect">
            <a:avLst/>
          </a:prstGeom>
          <a:noFill/>
          <a:effectLst>
            <a:outerShdw blurRad="190500" algn="tl" rotWithShape="0">
              <a:schemeClr val="tx2">
                <a:lumMod val="60000"/>
                <a:lumOff val="40000"/>
                <a:alpha val="52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 497"/>
          <p:cNvSpPr>
            <a:spLocks noEditPoints="1"/>
          </p:cNvSpPr>
          <p:nvPr/>
        </p:nvSpPr>
        <p:spPr bwMode="auto">
          <a:xfrm>
            <a:off x="5867572" y="3291329"/>
            <a:ext cx="316294" cy="436339"/>
          </a:xfrm>
          <a:custGeom>
            <a:avLst/>
            <a:gdLst>
              <a:gd name="T0" fmla="*/ 125 w 128"/>
              <a:gd name="T1" fmla="*/ 83 h 177"/>
              <a:gd name="T2" fmla="*/ 64 w 128"/>
              <a:gd name="T3" fmla="*/ 177 h 177"/>
              <a:gd name="T4" fmla="*/ 0 w 128"/>
              <a:gd name="T5" fmla="*/ 71 h 177"/>
              <a:gd name="T6" fmla="*/ 0 w 128"/>
              <a:gd name="T7" fmla="*/ 70 h 177"/>
              <a:gd name="T8" fmla="*/ 0 w 128"/>
              <a:gd name="T9" fmla="*/ 64 h 177"/>
              <a:gd name="T10" fmla="*/ 64 w 128"/>
              <a:gd name="T11" fmla="*/ 0 h 177"/>
              <a:gd name="T12" fmla="*/ 128 w 128"/>
              <a:gd name="T13" fmla="*/ 64 h 177"/>
              <a:gd name="T14" fmla="*/ 127 w 128"/>
              <a:gd name="T15" fmla="*/ 68 h 177"/>
              <a:gd name="T16" fmla="*/ 125 w 128"/>
              <a:gd name="T17" fmla="*/ 83 h 177"/>
              <a:gd name="T18" fmla="*/ 64 w 128"/>
              <a:gd name="T19" fmla="*/ 20 h 177"/>
              <a:gd name="T20" fmla="*/ 22 w 128"/>
              <a:gd name="T21" fmla="*/ 62 h 177"/>
              <a:gd name="T22" fmla="*/ 64 w 128"/>
              <a:gd name="T23" fmla="*/ 104 h 177"/>
              <a:gd name="T24" fmla="*/ 106 w 128"/>
              <a:gd name="T25" fmla="*/ 62 h 177"/>
              <a:gd name="T26" fmla="*/ 64 w 128"/>
              <a:gd name="T27" fmla="*/ 20 h 177"/>
              <a:gd name="T28" fmla="*/ 64 w 128"/>
              <a:gd name="T29" fmla="*/ 40 h 177"/>
              <a:gd name="T30" fmla="*/ 44 w 128"/>
              <a:gd name="T31" fmla="*/ 60 h 177"/>
              <a:gd name="T32" fmla="*/ 64 w 128"/>
              <a:gd name="T33" fmla="*/ 80 h 177"/>
              <a:gd name="T34" fmla="*/ 84 w 128"/>
              <a:gd name="T35" fmla="*/ 60 h 177"/>
              <a:gd name="T36" fmla="*/ 64 w 128"/>
              <a:gd name="T37" fmla="*/ 40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" h="177">
                <a:moveTo>
                  <a:pt x="125" y="83"/>
                </a:moveTo>
                <a:cubicBezTo>
                  <a:pt x="120" y="104"/>
                  <a:pt x="105" y="138"/>
                  <a:pt x="64" y="177"/>
                </a:cubicBezTo>
                <a:cubicBezTo>
                  <a:pt x="64" y="177"/>
                  <a:pt x="5" y="122"/>
                  <a:pt x="0" y="71"/>
                </a:cubicBezTo>
                <a:cubicBezTo>
                  <a:pt x="0" y="71"/>
                  <a:pt x="0" y="70"/>
                  <a:pt x="0" y="70"/>
                </a:cubicBezTo>
                <a:cubicBezTo>
                  <a:pt x="0" y="68"/>
                  <a:pt x="0" y="66"/>
                  <a:pt x="0" y="64"/>
                </a:cubicBezTo>
                <a:cubicBezTo>
                  <a:pt x="0" y="29"/>
                  <a:pt x="28" y="0"/>
                  <a:pt x="64" y="0"/>
                </a:cubicBezTo>
                <a:cubicBezTo>
                  <a:pt x="99" y="0"/>
                  <a:pt x="128" y="29"/>
                  <a:pt x="128" y="64"/>
                </a:cubicBezTo>
                <a:cubicBezTo>
                  <a:pt x="128" y="64"/>
                  <a:pt x="128" y="65"/>
                  <a:pt x="127" y="68"/>
                </a:cubicBezTo>
                <a:cubicBezTo>
                  <a:pt x="127" y="73"/>
                  <a:pt x="126" y="78"/>
                  <a:pt x="125" y="83"/>
                </a:cubicBezTo>
                <a:close/>
                <a:moveTo>
                  <a:pt x="64" y="20"/>
                </a:moveTo>
                <a:cubicBezTo>
                  <a:pt x="40" y="20"/>
                  <a:pt x="22" y="39"/>
                  <a:pt x="22" y="62"/>
                </a:cubicBezTo>
                <a:cubicBezTo>
                  <a:pt x="22" y="85"/>
                  <a:pt x="40" y="104"/>
                  <a:pt x="64" y="104"/>
                </a:cubicBezTo>
                <a:cubicBezTo>
                  <a:pt x="87" y="104"/>
                  <a:pt x="106" y="85"/>
                  <a:pt x="106" y="62"/>
                </a:cubicBezTo>
                <a:cubicBezTo>
                  <a:pt x="106" y="39"/>
                  <a:pt x="87" y="20"/>
                  <a:pt x="64" y="20"/>
                </a:cubicBezTo>
                <a:close/>
                <a:moveTo>
                  <a:pt x="64" y="40"/>
                </a:moveTo>
                <a:cubicBezTo>
                  <a:pt x="53" y="40"/>
                  <a:pt x="44" y="49"/>
                  <a:pt x="44" y="60"/>
                </a:cubicBezTo>
                <a:cubicBezTo>
                  <a:pt x="44" y="71"/>
                  <a:pt x="53" y="80"/>
                  <a:pt x="64" y="80"/>
                </a:cubicBezTo>
                <a:cubicBezTo>
                  <a:pt x="75" y="80"/>
                  <a:pt x="84" y="71"/>
                  <a:pt x="84" y="60"/>
                </a:cubicBezTo>
                <a:cubicBezTo>
                  <a:pt x="84" y="49"/>
                  <a:pt x="75" y="40"/>
                  <a:pt x="64" y="40"/>
                </a:cubicBezTo>
                <a:close/>
              </a:path>
            </a:pathLst>
          </a:custGeom>
          <a:solidFill>
            <a:srgbClr val="53D2FF"/>
          </a:solidFill>
          <a:ln>
            <a:noFill/>
          </a:ln>
          <a:effectLst>
            <a:outerShdw blurRad="254000" algn="ctr" rotWithShape="0">
              <a:srgbClr val="53D2FF">
                <a:alpha val="80000"/>
              </a:srgb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-15602" y="5745287"/>
            <a:ext cx="12207602" cy="1103759"/>
          </a:xfrm>
          <a:prstGeom prst="rect">
            <a:avLst/>
          </a:prstGeom>
          <a:solidFill>
            <a:srgbClr val="2E6ED2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endParaRPr lang="zh-CN" altLang="en-US" sz="1400" b="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056" y="5689538"/>
            <a:ext cx="2047875" cy="8763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210784" y="640116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深圳名通科技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17"/>
          <p:cNvSpPr txBox="1"/>
          <p:nvPr/>
        </p:nvSpPr>
        <p:spPr>
          <a:xfrm>
            <a:off x="3934194" y="1803232"/>
            <a:ext cx="417646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altLang="en-US" sz="4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5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6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7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8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9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0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1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2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3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4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5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6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7.xml><?xml version="1.0" encoding="utf-8"?>
<p:tagLst xmlns:p="http://schemas.openxmlformats.org/presentationml/2006/main">
  <p:tag name="KSO_WM_DIAGRAM_VIRTUALLY_FRAME" val="{&quot;height&quot;:269.4,&quot;left&quot;:42,&quot;top&quot;:257,&quot;width&quot;:318.99397998982533}"/>
</p:tagLst>
</file>

<file path=ppt/tags/tag18.xml><?xml version="1.0" encoding="utf-8"?>
<p:tagLst xmlns:p="http://schemas.openxmlformats.org/presentationml/2006/main">
  <p:tag name="MH" val="20191008140506"/>
  <p:tag name="MH_LIBRARY" val="GRAPHIC"/>
  <p:tag name="MH_TYPE" val="SubTitle"/>
  <p:tag name="MH_ORDER" val="1"/>
</p:tagLst>
</file>

<file path=ppt/tags/tag19.xml><?xml version="1.0" encoding="utf-8"?>
<p:tagLst xmlns:p="http://schemas.openxmlformats.org/presentationml/2006/main">
  <p:tag name="MH" val="20191008140506"/>
  <p:tag name="MH_LIBRARY" val="GRAPHIC"/>
  <p:tag name="MH_TYPE" val="SubTitle"/>
  <p:tag name="MH_ORDER" val="1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2.xml><?xml version="1.0" encoding="utf-8"?>
<p:tagLst xmlns:p="http://schemas.openxmlformats.org/presentationml/2006/main">
  <p:tag name="MH" val="20191008140506"/>
  <p:tag name="MH_LIBRARY" val="GRAPHIC"/>
  <p:tag name="MH_TYPE" val="SubTitle"/>
  <p:tag name="MH_ORDER" val="1"/>
</p:tagLst>
</file>

<file path=ppt/tags/tag23.xml><?xml version="1.0" encoding="utf-8"?>
<p:tagLst xmlns:p="http://schemas.openxmlformats.org/presentationml/2006/main">
  <p:tag name="MH" val="20191008140506"/>
  <p:tag name="MH_LIBRARY" val="GRAPHIC"/>
  <p:tag name="MH_TYPE" val="SubTitle"/>
  <p:tag name="MH_ORDER" val="1"/>
</p:tagLst>
</file>

<file path=ppt/tags/tag24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2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2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28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29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0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8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39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0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8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49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0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8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59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0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8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69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0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8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79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0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8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89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0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6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7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5_2*o_h_i*1_4_1"/>
  <p:tag name="KSO_WM_TEMPLATE_CATEGORY" val="diagram"/>
  <p:tag name="KSO_WM_TEMPLATE_INDEX" val="20231105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SUBTYPE" val="d"/>
  <p:tag name="KSO_WM_UNIT_TYPE" val="o_h_i"/>
  <p:tag name="KSO_WM_UNIT_INDEX" val="1_4_1"/>
  <p:tag name="KSO_WM_DIAGRAM_MAX_ITEMCNT" val="6"/>
  <p:tag name="KSO_WM_DIAGRAM_MIN_ITEMCNT" val="3"/>
  <p:tag name="KSO_WM_DIAGRAM_VIRTUALLY_FRAME" val="{&quot;height&quot;:360,&quot;left&quot;:47.85,&quot;top&quot;:148.65,&quot;width&quot;:864.275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5_2*o_h_i*1_2_1"/>
  <p:tag name="KSO_WM_TEMPLATE_CATEGORY" val="diagram"/>
  <p:tag name="KSO_WM_TEMPLATE_INDEX" val="20231105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SUBTYPE" val="d"/>
  <p:tag name="KSO_WM_UNIT_TYPE" val="o_h_i"/>
  <p:tag name="KSO_WM_UNIT_INDEX" val="1_2_1"/>
  <p:tag name="KSO_WM_DIAGRAM_MAX_ITEMCNT" val="6"/>
  <p:tag name="KSO_WM_DIAGRAM_MIN_ITEMCNT" val="3"/>
  <p:tag name="KSO_WM_DIAGRAM_VIRTUALLY_FRAME" val="{&quot;height&quot;:360,&quot;left&quot;:47.85,&quot;top&quot;:148.65,&quot;width&quot;:864.275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105_2*o_h_i*1_1_1"/>
  <p:tag name="KSO_WM_TEMPLATE_CATEGORY" val="diagram"/>
  <p:tag name="KSO_WM_TEMPLATE_INDEX" val="20231105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SUBTYPE" val="d"/>
  <p:tag name="KSO_WM_UNIT_TYPE" val="o_h_i"/>
  <p:tag name="KSO_WM_UNIT_INDEX" val="1_1_1"/>
  <p:tag name="KSO_WM_DIAGRAM_MAX_ITEMCNT" val="6"/>
  <p:tag name="KSO_WM_DIAGRAM_MIN_ITEMCNT" val="3"/>
  <p:tag name="KSO_WM_DIAGRAM_VIRTUALLY_FRAME" val="{&quot;height&quot;:360,&quot;left&quot;:47.85,&quot;top&quot;:148.65,&quot;width&quot;:864.2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101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102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103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104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105.xml><?xml version="1.0" encoding="utf-8"?>
<p:tagLst xmlns:p="http://schemas.openxmlformats.org/presentationml/2006/main">
  <p:tag name="KSO_WM_DIAGRAM_VIRTUALLY_FRAME" val="{&quot;height&quot;:433.05,&quot;left&quot;:7.2,&quot;top&quot;:85.15,&quot;width&quot;:922.5403937007874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DIAGRAM_VIRTUALLY_FRAME" val="{&quot;height&quot;:399.2,&quot;left&quot;:57.35,&quot;top&quot;:105.25,&quot;width&quot;:863}"/>
</p:tagLst>
</file>

<file path=ppt/tags/tag122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23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24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25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26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27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28.xml><?xml version="1.0" encoding="utf-8"?>
<p:tagLst xmlns:p="http://schemas.openxmlformats.org/presentationml/2006/main">
  <p:tag name="KSO_WM_DIAGRAM_VIRTUALLY_FRAME" val="{&quot;height&quot;:399.2,&quot;left&quot;:57.35,&quot;top&quot;:105.25,&quot;width&quot;:863}"/>
</p:tagLst>
</file>

<file path=ppt/tags/tag129.xml><?xml version="1.0" encoding="utf-8"?>
<p:tagLst xmlns:p="http://schemas.openxmlformats.org/presentationml/2006/main">
  <p:tag name="KSO_WM_DIAGRAM_VIRTUALLY_FRAME" val="{&quot;height&quot;:399.2,&quot;left&quot;:57.35,&quot;top&quot;:105.25,&quot;width&quot;:863}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  <p:tag name="KSO_WM_DIAGRAM_VIRTUALLY_FRAME" val="{&quot;height&quot;:407.67771653543304,&quot;left&quot;:8.89992125984252,&quot;top&quot;:125.97228346456693,&quot;width&quot;:943.6662992125985}"/>
</p:tagLst>
</file>

<file path=ppt/tags/tag139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407.67771653543304,&quot;left&quot;:8.89992125984252,&quot;top&quot;:125.97228346456693,&quot;width&quot;:943.6662992125985}"/>
</p:tagLst>
</file>

<file path=ppt/tags/tag144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45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  <p:tag name="KSO_WM_DIAGRAM_VIRTUALLY_FRAME" val="{&quot;height&quot;:407.67771653543304,&quot;left&quot;:8.89992125984252,&quot;top&quot;:125.97228346456693,&quot;width&quot;:943.6662992125985}"/>
</p:tagLst>
</file>

<file path=ppt/tags/tag192.xml><?xml version="1.0" encoding="utf-8"?>
<p:tagLst xmlns:p="http://schemas.openxmlformats.org/presentationml/2006/main">
  <p:tag name="KSO_WM_BEAUTIFY_FLAG" val=""/>
  <p:tag name="KSO_WM_DIAGRAM_VIRTUALLY_FRAME" val="{&quot;height&quot;:407.67771653543304,&quot;left&quot;:8.89992125984252,&quot;top&quot;:125.97228346456693,&quot;width&quot;:943.6662992125985}"/>
</p:tagLst>
</file>

<file path=ppt/tags/tag193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94.xml><?xml version="1.0" encoding="utf-8"?>
<p:tagLst xmlns:p="http://schemas.openxmlformats.org/presentationml/2006/main">
  <p:tag name="KSO_WM_DIAGRAM_VIRTUALLY_FRAME" val="{&quot;height&quot;:410.45,&quot;left&quot;:58.3,&quot;top&quot;:105.75,&quot;width&quot;:886.55}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  <p:tag name="KSO_WM_DIAGRAM_VIRTUALLY_FRAME" val="{&quot;height&quot;:117.53244094488181,&quot;left&quot;:79.9,&quot;top&quot;:233.23338582677167,&quot;width&quot;:546.6984251968504}"/>
</p:tagLst>
</file>

<file path=ppt/tags/tag227.xml><?xml version="1.0" encoding="utf-8"?>
<p:tagLst xmlns:p="http://schemas.openxmlformats.org/presentationml/2006/main">
  <p:tag name="KSO_WM_DIAGRAM_VIRTUALLY_FRAME" val="{&quot;height&quot;:339.23086614173224,&quot;left&quot;:41.3,&quot;top&quot;:166.61913385826773,&quot;width&quot;:881.1}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  <p:tag name="KSO_WM_DIAGRAM_VIRTUALLY_FRAME" val="{&quot;height&quot;:116.83244094488182,&quot;left&quot;:79.9,&quot;top&quot;:233.93338582677166,&quot;width&quot;:543.3}"/>
</p:tagLst>
</file>

<file path=ppt/tags/tag231.xml><?xml version="1.0" encoding="utf-8"?>
<p:tagLst xmlns:p="http://schemas.openxmlformats.org/presentationml/2006/main">
  <p:tag name="KSO_WM_BEAUTIFY_FLAG" val=""/>
  <p:tag name="KSO_WM_DIAGRAM_VIRTUALLY_FRAME" val="{&quot;height&quot;:116.83244094488182,&quot;left&quot;:79.9,&quot;top&quot;:233.93338582677166,&quot;width&quot;:543.3}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DIAGRAM_VIRTUALLY_FRAME" val="{&quot;height&quot;:332.9516535433071,&quot;left&quot;:424.3,&quot;top&quot;:94.40000000000003,&quot;width&quot;:501.5}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59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77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  <p:tag name="KSO_WM_DIAGRAM_VIRTUALLY_FRAME" val="{&quot;height&quot;:144.5,&quot;left&quot;:23.5,&quot;top&quot;:209.45,&quot;width&quot;:559.6}"/>
</p:tagLst>
</file>

<file path=ppt/tags/tag283.xml><?xml version="1.0" encoding="utf-8"?>
<p:tagLst xmlns:p="http://schemas.openxmlformats.org/presentationml/2006/main">
  <p:tag name="COMMONDATA" val="eyJoZGlkIjoiYWNlMmIzZDNmMzlhMmZlZWIxNGFlYTk0MWE2N2IwNmIifQ=="/>
  <p:tag name="RESOURCE_RECORD_KEY" val="{&quot;10&quot;:[4524014],&quot;13&quot;:[4563117,4663468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</a:spPr>
      <a:bodyPr rtlCol="0" anchor="ctr"/>
      <a:lstStyle>
        <a:defPPr algn="ctr">
          <a:defRPr lang="en-US" altLang="zh-CN" sz="900" b="1">
            <a:solidFill>
              <a:schemeClr val="tx1"/>
            </a:solidFill>
            <a:latin typeface="楷体_GB2312" pitchFamily="49" charset="-122"/>
            <a:ea typeface="楷体_GB2312" pitchFamily="49" charset="-122"/>
          </a:defRPr>
        </a:defPPr>
      </a:lstStyle>
      <a:style>
        <a:lnRef idx="0">
          <a:srgbClr val="FFFFFF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13739</Words>
  <Application>WPS 演示</Application>
  <PresentationFormat>宽屏</PresentationFormat>
  <Paragraphs>2369</Paragraphs>
  <Slides>30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60" baseType="lpstr">
      <vt:lpstr>Arial</vt:lpstr>
      <vt:lpstr>宋体</vt:lpstr>
      <vt:lpstr>Wingdings</vt:lpstr>
      <vt:lpstr>楷体_GB2312</vt:lpstr>
      <vt:lpstr>新宋体</vt:lpstr>
      <vt:lpstr>微软雅黑</vt:lpstr>
      <vt:lpstr>方正黑体简体</vt:lpstr>
      <vt:lpstr>等线</vt:lpstr>
      <vt:lpstr>方正兰亭黑简体</vt:lpstr>
      <vt:lpstr>黑体</vt:lpstr>
      <vt:lpstr>Wingdings</vt:lpstr>
      <vt:lpstr>Calibri</vt:lpstr>
      <vt:lpstr>Noto Sans SC</vt:lpstr>
      <vt:lpstr>Roboto Bold</vt:lpstr>
      <vt:lpstr>Segoe Print</vt:lpstr>
      <vt:lpstr>思源黑体 CN Bold</vt:lpstr>
      <vt:lpstr>Roboto Regular</vt:lpstr>
      <vt:lpstr>思源黑体 CN Regular</vt:lpstr>
      <vt:lpstr>Arial</vt:lpstr>
      <vt:lpstr>阿里巴巴普惠体 2.0 45 Light</vt:lpstr>
      <vt:lpstr>Calibri</vt:lpstr>
      <vt:lpstr>Amasis MT Pro</vt:lpstr>
      <vt:lpstr>Arial Unicode MS</vt:lpstr>
      <vt:lpstr>Roboto Regular</vt:lpstr>
      <vt:lpstr>思源黑体 CN Regular</vt:lpstr>
      <vt:lpstr>等线 Light</vt:lpstr>
      <vt:lpstr>Calibri Light</vt:lpstr>
      <vt:lpstr>WPS</vt:lpstr>
      <vt:lpstr>1_Office 主题</vt:lpstr>
      <vt:lpstr>3_Office 主题</vt:lpstr>
      <vt:lpstr>PowerPoint 演示文稿</vt:lpstr>
      <vt:lpstr>PowerPoint 演示文稿</vt:lpstr>
      <vt:lpstr>ARAN AI原生思考</vt:lpstr>
      <vt:lpstr>AI+演进趋势</vt:lpstr>
      <vt:lpstr>AI+传统IT系统的分工协作</vt:lpstr>
      <vt:lpstr>AI产品架构</vt:lpstr>
      <vt:lpstr>智能体创作中心 | 知识工程</vt:lpstr>
      <vt:lpstr>智能体创作中心 | MCP能力管理</vt:lpstr>
      <vt:lpstr>智能体创作中心 | skills技能管理</vt:lpstr>
      <vt:lpstr>智能体创作中心 | 智能体构建编排</vt:lpstr>
      <vt:lpstr>通用智能体 | 智能体网关（A2A）</vt:lpstr>
      <vt:lpstr>PowerPoint 演示文稿</vt:lpstr>
      <vt:lpstr>PowerPoint 演示文稿</vt:lpstr>
      <vt:lpstr>无线专业智能体 | 参数调整</vt:lpstr>
      <vt:lpstr>无线专业智能体 | 覆盖分析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AI任务调度中枢-建设背景</vt:lpstr>
      <vt:lpstr>AI任务调度中枢-建设思路</vt:lpstr>
      <vt:lpstr>AI任务调度中枢-建设架构</vt:lpstr>
      <vt:lpstr>AI任务调度中枢-功能架构</vt:lpstr>
      <vt:lpstr>中枢建设内容 | 全局运行，任务经理智能调度中心</vt:lpstr>
      <vt:lpstr>中枢建设内容 |管理视图，全省态势一屏掌控</vt:lpstr>
      <vt:lpstr>中枢建设内容 |协同指挥，一事一群统一作战空间</vt:lpstr>
      <vt:lpstr>中枢建设内容 |工具与数据，能力底座灵活配置</vt:lpstr>
      <vt:lpstr>中枢建设内容 |人员架构，角色权限分层管控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lvxia</dc:creator>
  <cp:lastModifiedBy> </cp:lastModifiedBy>
  <cp:revision>1828</cp:revision>
  <dcterms:created xsi:type="dcterms:W3CDTF">2026-01-15T08:56:00Z</dcterms:created>
  <dcterms:modified xsi:type="dcterms:W3CDTF">2026-07-10T01:21:17Z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A13919A81BA7468CA7DA67836B9EA287_13</vt:lpwstr>
  </property>
  <property fmtid="{D5CDD505-2E9C-101B-9397-08002B2CF9AE}" pid="3" name="KSOProductBuildVer">
    <vt:lpwstr>2052-12.1.0.24657</vt:lpwstr>
  </property>
</Properties>
</file>